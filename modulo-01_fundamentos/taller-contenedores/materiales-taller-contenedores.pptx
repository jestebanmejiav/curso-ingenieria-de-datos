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7"/>
  </p:notesMasterIdLst>
  <p:sldIdLst>
    <p:sldId id="257" r:id="rId5"/>
    <p:sldId id="376" r:id="rId6"/>
    <p:sldId id="378" r:id="rId7"/>
    <p:sldId id="379" r:id="rId8"/>
    <p:sldId id="381" r:id="rId9"/>
    <p:sldId id="377" r:id="rId10"/>
    <p:sldId id="386" r:id="rId11"/>
    <p:sldId id="380" r:id="rId12"/>
    <p:sldId id="383" r:id="rId13"/>
    <p:sldId id="382" r:id="rId14"/>
    <p:sldId id="385" r:id="rId15"/>
    <p:sldId id="384" r:id="rId16"/>
  </p:sldIdLst>
  <p:sldSz cx="12599988" cy="8999538"/>
  <p:notesSz cx="6858000" cy="9144000"/>
  <p:embeddedFontLs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oppins 1 Bold" panose="020B0604020202020204" charset="0"/>
      <p:regular r:id="rId22"/>
    </p:embeddedFont>
  </p:embeddedFontLst>
  <p:defaultTextStyle>
    <a:defPPr>
      <a:defRPr lang="en-US"/>
    </a:defPPr>
    <a:lvl1pPr marL="0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1pPr>
    <a:lvl2pPr marL="345150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2pPr>
    <a:lvl3pPr marL="690299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3pPr>
    <a:lvl4pPr marL="1035454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4pPr>
    <a:lvl5pPr marL="1380603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5pPr>
    <a:lvl6pPr marL="1725756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6pPr>
    <a:lvl7pPr marL="2070904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7pPr>
    <a:lvl8pPr marL="2416059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8pPr>
    <a:lvl9pPr marL="2761205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89" userDrawn="1">
          <p15:clr>
            <a:srgbClr val="A4A3A4"/>
          </p15:clr>
        </p15:guide>
        <p15:guide id="2" pos="19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73" autoAdjust="0"/>
    <p:restoredTop sz="94622" autoAdjust="0"/>
  </p:normalViewPr>
  <p:slideViewPr>
    <p:cSldViewPr>
      <p:cViewPr varScale="1">
        <p:scale>
          <a:sx n="120" d="100"/>
          <a:sy n="120" d="100"/>
        </p:scale>
        <p:origin x="1686" y="180"/>
      </p:cViewPr>
      <p:guideLst>
        <p:guide orient="horz" pos="1889"/>
        <p:guide pos="19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74950" y="512763"/>
            <a:ext cx="35941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1pPr>
    <a:lvl2pPr marL="345150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2pPr>
    <a:lvl3pPr marL="690299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3pPr>
    <a:lvl4pPr marL="1035454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4pPr>
    <a:lvl5pPr marL="1380603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5pPr>
    <a:lvl6pPr marL="1725756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6pPr>
    <a:lvl7pPr marL="2070904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7pPr>
    <a:lvl8pPr marL="2416059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8pPr>
    <a:lvl9pPr marL="2761205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508" y="1863815"/>
            <a:ext cx="5354996" cy="12860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010" y="3399842"/>
            <a:ext cx="4409997" cy="153325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664" y="3855377"/>
            <a:ext cx="5354996" cy="1191603"/>
          </a:xfrm>
        </p:spPr>
        <p:txBody>
          <a:bodyPr anchor="t"/>
          <a:lstStyle>
            <a:lvl1pPr algn="l">
              <a:defRPr sz="400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664" y="2542931"/>
            <a:ext cx="5354996" cy="1312433"/>
          </a:xfrm>
        </p:spPr>
        <p:txBody>
          <a:bodyPr anchor="b"/>
          <a:lstStyle>
            <a:lvl1pPr marL="0" indent="0">
              <a:buNone/>
              <a:defRPr sz="1993">
                <a:solidFill>
                  <a:schemeClr val="tx1">
                    <a:tint val="75000"/>
                  </a:schemeClr>
                </a:solidFill>
              </a:defRPr>
            </a:lvl1pPr>
            <a:lvl2pPr marL="457188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394" indent="0">
              <a:buNone/>
              <a:defRPr sz="1604">
                <a:solidFill>
                  <a:schemeClr val="tx1">
                    <a:tint val="75000"/>
                  </a:schemeClr>
                </a:solidFill>
              </a:defRPr>
            </a:lvl3pPr>
            <a:lvl4pPr marL="1371582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4pPr>
            <a:lvl5pPr marL="1828783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5pPr>
            <a:lvl6pPr marL="2285972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6pPr>
            <a:lvl7pPr marL="2743177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7pPr>
            <a:lvl8pPr marL="3200367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8pPr>
            <a:lvl9pPr marL="3657554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5008" y="1399944"/>
            <a:ext cx="2782500" cy="3959521"/>
          </a:xfrm>
        </p:spPr>
        <p:txBody>
          <a:bodyPr/>
          <a:lstStyle>
            <a:lvl1pPr>
              <a:defRPr sz="2804"/>
            </a:lvl1pPr>
            <a:lvl2pPr>
              <a:defRPr sz="2398"/>
            </a:lvl2pPr>
            <a:lvl3pPr>
              <a:defRPr sz="1993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02502" y="1399944"/>
            <a:ext cx="2782500" cy="3959521"/>
          </a:xfrm>
        </p:spPr>
        <p:txBody>
          <a:bodyPr/>
          <a:lstStyle>
            <a:lvl1pPr>
              <a:defRPr sz="2804"/>
            </a:lvl1pPr>
            <a:lvl2pPr>
              <a:defRPr sz="2398"/>
            </a:lvl2pPr>
            <a:lvl3pPr>
              <a:defRPr sz="1993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5012" y="1342997"/>
            <a:ext cx="2783591" cy="559695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7188" indent="0">
              <a:buNone/>
              <a:defRPr sz="1993" b="1"/>
            </a:lvl2pPr>
            <a:lvl3pPr marL="914394" indent="0">
              <a:buNone/>
              <a:defRPr sz="1801" b="1"/>
            </a:lvl3pPr>
            <a:lvl4pPr marL="1371582" indent="0">
              <a:buNone/>
              <a:defRPr sz="1604" b="1"/>
            </a:lvl4pPr>
            <a:lvl5pPr marL="1828783" indent="0">
              <a:buNone/>
              <a:defRPr sz="1604" b="1"/>
            </a:lvl5pPr>
            <a:lvl6pPr marL="2285972" indent="0">
              <a:buNone/>
              <a:defRPr sz="1604" b="1"/>
            </a:lvl6pPr>
            <a:lvl7pPr marL="2743177" indent="0">
              <a:buNone/>
              <a:defRPr sz="1604" b="1"/>
            </a:lvl7pPr>
            <a:lvl8pPr marL="3200367" indent="0">
              <a:buNone/>
              <a:defRPr sz="1604" b="1"/>
            </a:lvl8pPr>
            <a:lvl9pPr marL="3657554" indent="0">
              <a:buNone/>
              <a:defRPr sz="16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5012" y="1902681"/>
            <a:ext cx="2783591" cy="3456773"/>
          </a:xfrm>
        </p:spPr>
        <p:txBody>
          <a:bodyPr/>
          <a:lstStyle>
            <a:lvl1pPr>
              <a:defRPr sz="2398"/>
            </a:lvl1pPr>
            <a:lvl2pPr>
              <a:defRPr sz="1993"/>
            </a:lvl2pPr>
            <a:lvl3pPr>
              <a:defRPr sz="1801"/>
            </a:lvl3pPr>
            <a:lvl4pPr>
              <a:defRPr sz="1604"/>
            </a:lvl4pPr>
            <a:lvl5pPr>
              <a:defRPr sz="1604"/>
            </a:lvl5pPr>
            <a:lvl6pPr>
              <a:defRPr sz="1604"/>
            </a:lvl6pPr>
            <a:lvl7pPr>
              <a:defRPr sz="1604"/>
            </a:lvl7pPr>
            <a:lvl8pPr>
              <a:defRPr sz="1604"/>
            </a:lvl8pPr>
            <a:lvl9pPr>
              <a:defRPr sz="160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00315" y="1342997"/>
            <a:ext cx="2784686" cy="559695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7188" indent="0">
              <a:buNone/>
              <a:defRPr sz="1993" b="1"/>
            </a:lvl2pPr>
            <a:lvl3pPr marL="914394" indent="0">
              <a:buNone/>
              <a:defRPr sz="1801" b="1"/>
            </a:lvl3pPr>
            <a:lvl4pPr marL="1371582" indent="0">
              <a:buNone/>
              <a:defRPr sz="1604" b="1"/>
            </a:lvl4pPr>
            <a:lvl5pPr marL="1828783" indent="0">
              <a:buNone/>
              <a:defRPr sz="1604" b="1"/>
            </a:lvl5pPr>
            <a:lvl6pPr marL="2285972" indent="0">
              <a:buNone/>
              <a:defRPr sz="1604" b="1"/>
            </a:lvl6pPr>
            <a:lvl7pPr marL="2743177" indent="0">
              <a:buNone/>
              <a:defRPr sz="1604" b="1"/>
            </a:lvl7pPr>
            <a:lvl8pPr marL="3200367" indent="0">
              <a:buNone/>
              <a:defRPr sz="1604" b="1"/>
            </a:lvl8pPr>
            <a:lvl9pPr marL="3657554" indent="0">
              <a:buNone/>
              <a:defRPr sz="16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00315" y="1902681"/>
            <a:ext cx="2784686" cy="3456773"/>
          </a:xfrm>
        </p:spPr>
        <p:txBody>
          <a:bodyPr/>
          <a:lstStyle>
            <a:lvl1pPr>
              <a:defRPr sz="2398"/>
            </a:lvl1pPr>
            <a:lvl2pPr>
              <a:defRPr sz="1993"/>
            </a:lvl2pPr>
            <a:lvl3pPr>
              <a:defRPr sz="1801"/>
            </a:lvl3pPr>
            <a:lvl4pPr>
              <a:defRPr sz="1604"/>
            </a:lvl4pPr>
            <a:lvl5pPr>
              <a:defRPr sz="1604"/>
            </a:lvl5pPr>
            <a:lvl6pPr>
              <a:defRPr sz="1604"/>
            </a:lvl6pPr>
            <a:lvl7pPr>
              <a:defRPr sz="1604"/>
            </a:lvl7pPr>
            <a:lvl8pPr>
              <a:defRPr sz="1604"/>
            </a:lvl8pPr>
            <a:lvl9pPr>
              <a:defRPr sz="160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09" y="238895"/>
            <a:ext cx="2072656" cy="1016611"/>
          </a:xfrm>
        </p:spPr>
        <p:txBody>
          <a:bodyPr anchor="b"/>
          <a:lstStyle>
            <a:lvl1pPr algn="l">
              <a:defRPr sz="199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3136" y="238893"/>
            <a:ext cx="3521872" cy="5120574"/>
          </a:xfrm>
        </p:spPr>
        <p:txBody>
          <a:bodyPr/>
          <a:lstStyle>
            <a:lvl1pPr>
              <a:defRPr sz="3196"/>
            </a:lvl1pPr>
            <a:lvl2pPr>
              <a:defRPr sz="2804"/>
            </a:lvl2pPr>
            <a:lvl3pPr>
              <a:defRPr sz="2398"/>
            </a:lvl3pPr>
            <a:lvl4pPr>
              <a:defRPr sz="1993"/>
            </a:lvl4pPr>
            <a:lvl5pPr>
              <a:defRPr sz="1993"/>
            </a:lvl5pPr>
            <a:lvl6pPr>
              <a:defRPr sz="1993"/>
            </a:lvl6pPr>
            <a:lvl7pPr>
              <a:defRPr sz="1993"/>
            </a:lvl7pPr>
            <a:lvl8pPr>
              <a:defRPr sz="1993"/>
            </a:lvl8pPr>
            <a:lvl9pPr>
              <a:defRPr sz="199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5009" y="1255505"/>
            <a:ext cx="2072656" cy="4103954"/>
          </a:xfrm>
        </p:spPr>
        <p:txBody>
          <a:bodyPr/>
          <a:lstStyle>
            <a:lvl1pPr marL="0" indent="0">
              <a:buNone/>
              <a:defRPr sz="1501"/>
            </a:lvl1pPr>
            <a:lvl2pPr marL="457188" indent="0">
              <a:buNone/>
              <a:defRPr sz="1501"/>
            </a:lvl2pPr>
            <a:lvl3pPr marL="914394" indent="0">
              <a:buNone/>
              <a:defRPr sz="1501"/>
            </a:lvl3pPr>
            <a:lvl4pPr marL="1371582" indent="0">
              <a:buNone/>
              <a:defRPr sz="1501"/>
            </a:lvl4pPr>
            <a:lvl5pPr marL="1828783" indent="0">
              <a:buNone/>
              <a:defRPr sz="1501"/>
            </a:lvl5pPr>
            <a:lvl6pPr marL="2285972" indent="0">
              <a:buNone/>
              <a:defRPr sz="1501"/>
            </a:lvl6pPr>
            <a:lvl7pPr marL="2743177" indent="0">
              <a:buNone/>
              <a:defRPr sz="1501"/>
            </a:lvl7pPr>
            <a:lvl8pPr marL="3200367" indent="0">
              <a:buNone/>
              <a:defRPr sz="1501"/>
            </a:lvl8pPr>
            <a:lvl9pPr marL="3657554" indent="0">
              <a:buNone/>
              <a:defRPr sz="15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849" y="4199803"/>
            <a:ext cx="3779996" cy="495811"/>
          </a:xfrm>
        </p:spPr>
        <p:txBody>
          <a:bodyPr anchor="b"/>
          <a:lstStyle>
            <a:lvl1pPr algn="l">
              <a:defRPr sz="199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34849" y="536085"/>
            <a:ext cx="3779996" cy="3599815"/>
          </a:xfrm>
        </p:spPr>
        <p:txBody>
          <a:bodyPr/>
          <a:lstStyle>
            <a:lvl1pPr marL="0" indent="0">
              <a:buNone/>
              <a:defRPr sz="3196"/>
            </a:lvl1pPr>
            <a:lvl2pPr marL="457188" indent="0">
              <a:buNone/>
              <a:defRPr sz="2804"/>
            </a:lvl2pPr>
            <a:lvl3pPr marL="914394" indent="0">
              <a:buNone/>
              <a:defRPr sz="2398"/>
            </a:lvl3pPr>
            <a:lvl4pPr marL="1371582" indent="0">
              <a:buNone/>
              <a:defRPr sz="1993"/>
            </a:lvl4pPr>
            <a:lvl5pPr marL="1828783" indent="0">
              <a:buNone/>
              <a:defRPr sz="1993"/>
            </a:lvl5pPr>
            <a:lvl6pPr marL="2285972" indent="0">
              <a:buNone/>
              <a:defRPr sz="1993"/>
            </a:lvl6pPr>
            <a:lvl7pPr marL="2743177" indent="0">
              <a:buNone/>
              <a:defRPr sz="1993"/>
            </a:lvl7pPr>
            <a:lvl8pPr marL="3200367" indent="0">
              <a:buNone/>
              <a:defRPr sz="1993"/>
            </a:lvl8pPr>
            <a:lvl9pPr marL="3657554" indent="0">
              <a:buNone/>
              <a:defRPr sz="199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4849" y="4695611"/>
            <a:ext cx="3779996" cy="704127"/>
          </a:xfrm>
        </p:spPr>
        <p:txBody>
          <a:bodyPr/>
          <a:lstStyle>
            <a:lvl1pPr marL="0" indent="0">
              <a:buNone/>
              <a:defRPr sz="1501"/>
            </a:lvl1pPr>
            <a:lvl2pPr marL="457188" indent="0">
              <a:buNone/>
              <a:defRPr sz="1501"/>
            </a:lvl2pPr>
            <a:lvl3pPr marL="914394" indent="0">
              <a:buNone/>
              <a:defRPr sz="1501"/>
            </a:lvl3pPr>
            <a:lvl4pPr marL="1371582" indent="0">
              <a:buNone/>
              <a:defRPr sz="1501"/>
            </a:lvl4pPr>
            <a:lvl5pPr marL="1828783" indent="0">
              <a:buNone/>
              <a:defRPr sz="1501"/>
            </a:lvl5pPr>
            <a:lvl6pPr marL="2285972" indent="0">
              <a:buNone/>
              <a:defRPr sz="1501"/>
            </a:lvl6pPr>
            <a:lvl7pPr marL="2743177" indent="0">
              <a:buNone/>
              <a:defRPr sz="1501"/>
            </a:lvl7pPr>
            <a:lvl8pPr marL="3200367" indent="0">
              <a:buNone/>
              <a:defRPr sz="1501"/>
            </a:lvl8pPr>
            <a:lvl9pPr marL="3657554" indent="0">
              <a:buNone/>
              <a:defRPr sz="15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67498" y="240267"/>
            <a:ext cx="1417502" cy="511918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5006" y="240267"/>
            <a:ext cx="4147498" cy="51191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5012" y="240264"/>
            <a:ext cx="5669997" cy="999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5012" y="1399944"/>
            <a:ext cx="5669997" cy="3959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5002" y="5560833"/>
            <a:ext cx="1470001" cy="3194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52510" y="5560833"/>
            <a:ext cx="1994997" cy="3194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14997" y="5560833"/>
            <a:ext cx="1470001" cy="3194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94" rtl="0" eaLnBrk="1" latinLnBrk="0" hangingPunct="1"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1" indent="-342901" algn="l" defTabSz="914394" rtl="0" eaLnBrk="1" latinLnBrk="0" hangingPunct="1">
        <a:spcBef>
          <a:spcPct val="20000"/>
        </a:spcBef>
        <a:buFont typeface="Arial" pitchFamily="34" charset="0"/>
        <a:buChar char="•"/>
        <a:defRPr sz="3196" kern="1200">
          <a:solidFill>
            <a:schemeClr val="tx1"/>
          </a:solidFill>
          <a:latin typeface="+mn-lt"/>
          <a:ea typeface="+mn-ea"/>
          <a:cs typeface="+mn-cs"/>
        </a:defRPr>
      </a:lvl1pPr>
      <a:lvl2pPr marL="742944" indent="-285753" algn="l" defTabSz="914394" rtl="0" eaLnBrk="1" latinLnBrk="0" hangingPunct="1">
        <a:spcBef>
          <a:spcPct val="20000"/>
        </a:spcBef>
        <a:buFont typeface="Arial" pitchFamily="34" charset="0"/>
        <a:buChar char="–"/>
        <a:defRPr sz="2804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3" algn="l" defTabSz="914394" rtl="0" eaLnBrk="1" latinLnBrk="0" hangingPunct="1">
        <a:spcBef>
          <a:spcPct val="20000"/>
        </a:spcBef>
        <a:buFont typeface="Arial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600174" indent="-228593" algn="l" defTabSz="914394" rtl="0" eaLnBrk="1" latinLnBrk="0" hangingPunct="1">
        <a:spcBef>
          <a:spcPct val="20000"/>
        </a:spcBef>
        <a:buFont typeface="Arial" pitchFamily="34" charset="0"/>
        <a:buChar char="–"/>
        <a:defRPr sz="1993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0" indent="-228593" algn="l" defTabSz="914394" rtl="0" eaLnBrk="1" latinLnBrk="0" hangingPunct="1">
        <a:spcBef>
          <a:spcPct val="20000"/>
        </a:spcBef>
        <a:buFont typeface="Arial" pitchFamily="34" charset="0"/>
        <a:buChar char="»"/>
        <a:defRPr sz="1993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3" algn="l" defTabSz="914394" rtl="0" eaLnBrk="1" latinLnBrk="0" hangingPunct="1">
        <a:spcBef>
          <a:spcPct val="20000"/>
        </a:spcBef>
        <a:buFont typeface="Arial" pitchFamily="34" charset="0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6pPr>
      <a:lvl7pPr marL="2971770" indent="-228593" algn="l" defTabSz="914394" rtl="0" eaLnBrk="1" latinLnBrk="0" hangingPunct="1">
        <a:spcBef>
          <a:spcPct val="20000"/>
        </a:spcBef>
        <a:buFont typeface="Arial" pitchFamily="34" charset="0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3" indent="-228593" algn="l" defTabSz="914394" rtl="0" eaLnBrk="1" latinLnBrk="0" hangingPunct="1">
        <a:spcBef>
          <a:spcPct val="20000"/>
        </a:spcBef>
        <a:buFont typeface="Arial" pitchFamily="34" charset="0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8pPr>
      <a:lvl9pPr marL="3886148" indent="-228593" algn="l" defTabSz="914394" rtl="0" eaLnBrk="1" latinLnBrk="0" hangingPunct="1">
        <a:spcBef>
          <a:spcPct val="20000"/>
        </a:spcBef>
        <a:buFont typeface="Arial" pitchFamily="34" charset="0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88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94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2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3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2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7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7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4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9.png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10.png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image" Target="../media/image11.png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image" Target="../media/image11.png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6" Type="http://schemas.openxmlformats.org/officeDocument/2006/relationships/image" Target="../media/image12.png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6" Type="http://schemas.openxmlformats.org/officeDocument/2006/relationships/image" Target="../media/image13.png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2391" y="328010"/>
            <a:ext cx="2242514" cy="851674"/>
          </a:xfrm>
          <a:custGeom>
            <a:avLst/>
            <a:gdLst/>
            <a:ahLst/>
            <a:cxnLst/>
            <a:rect l="l" t="t" r="r" b="b"/>
            <a:pathLst>
              <a:path w="3457174" h="138287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6656370" y="0"/>
            <a:ext cx="5943618" cy="8807098"/>
            <a:chOff x="0" y="0"/>
            <a:chExt cx="2079525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</p:spPr>
          <p:txBody>
            <a:bodyPr lIns="50806" tIns="50806" rIns="50806" bIns="50806" rtlCol="0" anchor="ctr"/>
            <a:lstStyle/>
            <a:p>
              <a:pPr algn="ctr">
                <a:lnSpc>
                  <a:spcPts val="2656"/>
                </a:lnSpc>
                <a:spcBef>
                  <a:spcPct val="0"/>
                </a:spcBef>
              </a:pPr>
              <a:endParaRPr sz="1501"/>
            </a:p>
          </p:txBody>
        </p:sp>
      </p:grpSp>
      <p:sp>
        <p:nvSpPr>
          <p:cNvPr id="6" name="Freeform 6"/>
          <p:cNvSpPr/>
          <p:nvPr/>
        </p:nvSpPr>
        <p:spPr>
          <a:xfrm>
            <a:off x="7059072" y="3909752"/>
            <a:ext cx="4777514" cy="4687936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sp>
        <p:nvSpPr>
          <p:cNvPr id="7" name="Freeform 7"/>
          <p:cNvSpPr/>
          <p:nvPr/>
        </p:nvSpPr>
        <p:spPr>
          <a:xfrm rot="-10800000">
            <a:off x="9155509" y="-902465"/>
            <a:ext cx="4777514" cy="4687936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8" name="Group 8"/>
          <p:cNvGrpSpPr/>
          <p:nvPr/>
        </p:nvGrpSpPr>
        <p:grpSpPr>
          <a:xfrm rot="1460314">
            <a:off x="6586865" y="2931283"/>
            <a:ext cx="7356554" cy="1249124"/>
            <a:chOff x="0" y="0"/>
            <a:chExt cx="1937529" cy="3289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</p:spPr>
          <p:txBody>
            <a:bodyPr lIns="50806" tIns="50806" rIns="50806" bIns="50806" rtlCol="0" anchor="ctr"/>
            <a:lstStyle/>
            <a:p>
              <a:pPr algn="ctr">
                <a:lnSpc>
                  <a:spcPts val="2656"/>
                </a:lnSpc>
              </a:pPr>
              <a:endParaRPr sz="1501"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-318398" y="8897886"/>
            <a:ext cx="8704391" cy="134923"/>
            <a:chOff x="0" y="0"/>
            <a:chExt cx="2292514" cy="355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92515" cy="35535"/>
            </a:xfrm>
            <a:custGeom>
              <a:avLst/>
              <a:gdLst/>
              <a:ahLst/>
              <a:cxnLst/>
              <a:rect l="l" t="t" r="r" b="b"/>
              <a:pathLst>
                <a:path w="2292515" h="35535">
                  <a:moveTo>
                    <a:pt x="17768" y="0"/>
                  </a:moveTo>
                  <a:lnTo>
                    <a:pt x="2274747" y="0"/>
                  </a:lnTo>
                  <a:cubicBezTo>
                    <a:pt x="2284560" y="0"/>
                    <a:pt x="2292515" y="7955"/>
                    <a:pt x="2292515" y="17768"/>
                  </a:cubicBezTo>
                  <a:lnTo>
                    <a:pt x="2292515" y="17768"/>
                  </a:lnTo>
                  <a:cubicBezTo>
                    <a:pt x="2292515" y="22480"/>
                    <a:pt x="2290643" y="26999"/>
                    <a:pt x="2287311" y="30331"/>
                  </a:cubicBezTo>
                  <a:cubicBezTo>
                    <a:pt x="2283978" y="33663"/>
                    <a:pt x="2279459" y="35535"/>
                    <a:pt x="2274747" y="35535"/>
                  </a:cubicBezTo>
                  <a:lnTo>
                    <a:pt x="17768" y="35535"/>
                  </a:lnTo>
                  <a:cubicBezTo>
                    <a:pt x="13055" y="35535"/>
                    <a:pt x="8536" y="33663"/>
                    <a:pt x="5204" y="30331"/>
                  </a:cubicBezTo>
                  <a:cubicBezTo>
                    <a:pt x="1872" y="26999"/>
                    <a:pt x="0" y="22480"/>
                    <a:pt x="0" y="17768"/>
                  </a:cubicBezTo>
                  <a:lnTo>
                    <a:pt x="0" y="17768"/>
                  </a:lnTo>
                  <a:cubicBezTo>
                    <a:pt x="0" y="13055"/>
                    <a:pt x="1872" y="8536"/>
                    <a:pt x="5204" y="5204"/>
                  </a:cubicBezTo>
                  <a:cubicBezTo>
                    <a:pt x="8536" y="1872"/>
                    <a:pt x="13055" y="0"/>
                    <a:pt x="177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292514" cy="73635"/>
            </a:xfrm>
            <a:prstGeom prst="rect">
              <a:avLst/>
            </a:prstGeom>
          </p:spPr>
          <p:txBody>
            <a:bodyPr lIns="50806" tIns="50806" rIns="50806" bIns="50806" rtlCol="0" anchor="ctr"/>
            <a:lstStyle/>
            <a:p>
              <a:pPr algn="ctr">
                <a:lnSpc>
                  <a:spcPts val="2656"/>
                </a:lnSpc>
              </a:pPr>
              <a:endParaRPr sz="1501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63402" y="4027292"/>
            <a:ext cx="4903062" cy="15476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4"/>
              </a:lnSpc>
              <a:spcBef>
                <a:spcPct val="0"/>
              </a:spcBef>
            </a:pPr>
            <a:r>
              <a:rPr lang="es-CO" sz="4350" b="1" dirty="0">
                <a:solidFill>
                  <a:srgbClr val="700A89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 1 Bold"/>
              </a:rPr>
              <a:t>Taller Contenedores</a:t>
            </a:r>
            <a:endParaRPr lang="es-CO" sz="4350" b="1" dirty="0">
              <a:solidFill>
                <a:srgbClr val="700A89"/>
              </a:solidFill>
              <a:latin typeface="Poppins 1 Bold"/>
              <a:cs typeface="Poppins 1 Bold"/>
              <a:sym typeface="Poppins 1 Bold"/>
            </a:endParaRPr>
          </a:p>
        </p:txBody>
      </p:sp>
      <p:pic>
        <p:nvPicPr>
          <p:cNvPr id="18" name="Google Shape;88;g2d7c13286f8_0_89">
            <a:extLst>
              <a:ext uri="{FF2B5EF4-FFF2-40B4-BE49-F238E27FC236}">
                <a16:creationId xmlns:a16="http://schemas.microsoft.com/office/drawing/2014/main" id="{27303298-D0A0-4B40-9C53-51AF1C44F47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53990" t="15859" r="8554" b="69322"/>
          <a:stretch/>
        </p:blipFill>
        <p:spPr>
          <a:xfrm>
            <a:off x="2947194" y="328010"/>
            <a:ext cx="3578445" cy="85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28DC8-8A61-1997-0C03-8CF22D5CE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AF2926C-9680-06ED-363B-F861415E01F6}"/>
              </a:ext>
            </a:extLst>
          </p:cNvPr>
          <p:cNvSpPr/>
          <p:nvPr/>
        </p:nvSpPr>
        <p:spPr>
          <a:xfrm>
            <a:off x="11123217" y="45569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920DDC6-8CBC-1FEB-D8FD-DF85197F0250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55064E33-9CA3-3B89-362E-01A947ABBCB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8DD0A30-AACC-3B20-7F13-4996A98CF65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C0F2D55-4E43-16E3-E36F-2314CF48253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E5BC8AB-B507-E1B6-CE38-9C82AEE65913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75CDB8E-8440-FBAC-9088-85B05F2A1B5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9F6166F-EFAE-48BA-9C57-04782D76034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4655A473-0DDA-DFFF-F103-E8D8D6204E4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51B19AC2-FB31-6F9C-5845-672BFFEDED1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DF9D4E89-48FE-06C2-AAA7-5A32B7C171BE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58730" y="323271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196" b="1" dirty="0">
              <a:latin typeface="Poppins 1 Bold" panose="020B0604020202020204" charset="0"/>
              <a:ea typeface="+mn-ea"/>
              <a:cs typeface="Poppins 1 Bold" panose="020B060402020202020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676FA970-30C8-41D4-ABA7-33F59761B1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0280" y="615338"/>
            <a:ext cx="7582937" cy="2964628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146D60D-96C5-95C2-763E-0E691B4873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0222" y="4198777"/>
            <a:ext cx="8063051" cy="447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969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1354F-2BB6-ECF8-3B84-78C92AD30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D6CAB08-474D-2A99-3421-E10D56493404}"/>
              </a:ext>
            </a:extLst>
          </p:cNvPr>
          <p:cNvSpPr/>
          <p:nvPr/>
        </p:nvSpPr>
        <p:spPr>
          <a:xfrm>
            <a:off x="11123217" y="45569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D8C42C9-E786-EBA0-C5D4-74F492E5A026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406A5B64-393F-BB43-91A4-0D587BF2A78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578E1A71-89B6-7BC7-B817-03AADC45FAD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C170C9E-0569-0A83-7579-066AF7365D4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2A509EB-4E2F-88E1-A63B-E6B4F71BDDAA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34FF3E3-FE90-CE2C-0171-544D22FB6F7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80B2AD7E-47B1-64B9-45A6-F687FC81923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EE10A521-F61E-B0D5-88D3-C33FF34CCB2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D9F2A808-88FD-AE4D-5836-FAF77C5EEFE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72A2D0B2-5EA8-5055-2055-0612E9C57AF0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58730" y="323271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196" b="1" dirty="0">
              <a:latin typeface="Poppins 1 Bold" panose="020B0604020202020204" charset="0"/>
              <a:ea typeface="+mn-ea"/>
              <a:cs typeface="Poppins 1 Bold" panose="020B060402020202020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B2911B9-DB03-D57B-4558-801F478EE0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7594" y="1657571"/>
            <a:ext cx="9002872" cy="558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484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8D52A-1728-FEA5-C9B9-16346732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4B9BE0D-E4F4-6DAB-E043-9F58AC24DC8E}"/>
              </a:ext>
            </a:extLst>
          </p:cNvPr>
          <p:cNvSpPr/>
          <p:nvPr/>
        </p:nvSpPr>
        <p:spPr>
          <a:xfrm>
            <a:off x="11123217" y="45569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B4A93F8-6999-D24C-8C73-7EBB84EA2D91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95AFF47-79E7-7A24-8934-1100138365F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E56C7DEA-B29B-E04F-584A-7468BD84A81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0881473A-1909-2E36-0FBD-761FD9A67A2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638E69D-0788-F44C-49DE-DD2E275C653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A93CE5D-187F-3484-6C18-E5185DF9DDE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7F44952-15FE-8D7B-2912-FD6DD9817ED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4CBA7F8C-59E2-1BAE-FD13-36FFFF1F7B2D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E92B99A-1CF9-168D-34A6-D9104F6AB1C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0BD3D7E1-3A44-B8DD-AF56-3E486E3AA88F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58730" y="323271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196" b="1" dirty="0">
              <a:latin typeface="Poppins 1 Bold" panose="020B0604020202020204" charset="0"/>
              <a:ea typeface="+mn-ea"/>
              <a:cs typeface="Poppins 1 Bold" panose="020B060402020202020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FC090B5-B7FB-4845-D5AD-99409B6EF5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6074" y="1451769"/>
            <a:ext cx="6049049" cy="645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217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F4660-B4E7-E459-B3DC-E1E269EB9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127DD36-B34E-2A75-60FD-031770DB4B87}"/>
              </a:ext>
            </a:extLst>
          </p:cNvPr>
          <p:cNvSpPr/>
          <p:nvPr/>
        </p:nvSpPr>
        <p:spPr>
          <a:xfrm>
            <a:off x="11123217" y="45569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7345C81-46D0-9DD5-8F84-7647DFF78F49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C579D1C4-F8A1-6310-7DAC-D6C0E448D42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2BCD9A4F-43BE-E063-BAAA-47D715BA5CD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021E2E29-CA69-6980-6505-1D2EED0DC57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D1E5E68-9E14-5E97-609B-2F302FDD92F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47A453A-8352-4D74-2AED-49B27F1820E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203D85E2-790F-085E-CDB6-C8BF33CF85C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FFF2DB0-A977-CE53-3210-81900367AD8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5CB3DD0D-CE61-4855-D1A2-DA9ADD0896D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BBFB31F4-C992-C7B4-DC26-87522A4BAB21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58730" y="323271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196" b="1" dirty="0">
              <a:latin typeface="Poppins 1 Bold" panose="020B0604020202020204" charset="0"/>
              <a:ea typeface="+mn-ea"/>
              <a:cs typeface="Poppins 1 Bold" panose="020B0604020202020204" charset="0"/>
            </a:endParaRPr>
          </a:p>
        </p:txBody>
      </p:sp>
      <p:grpSp>
        <p:nvGrpSpPr>
          <p:cNvPr id="9670" name="Grupo 9669">
            <a:extLst>
              <a:ext uri="{FF2B5EF4-FFF2-40B4-BE49-F238E27FC236}">
                <a16:creationId xmlns:a16="http://schemas.microsoft.com/office/drawing/2014/main" id="{E81DE3AE-0AEA-92C7-ACB5-7E64C5617504}"/>
              </a:ext>
            </a:extLst>
          </p:cNvPr>
          <p:cNvGrpSpPr/>
          <p:nvPr/>
        </p:nvGrpSpPr>
        <p:grpSpPr>
          <a:xfrm>
            <a:off x="795084" y="1299369"/>
            <a:ext cx="6173946" cy="6111240"/>
            <a:chOff x="2412048" y="2202498"/>
            <a:chExt cx="6173946" cy="6111240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B24032D1-2F62-1522-9251-E27DC0AFD5EE}"/>
                </a:ext>
              </a:extLst>
            </p:cNvPr>
            <p:cNvSpPr/>
            <p:nvPr/>
          </p:nvSpPr>
          <p:spPr>
            <a:xfrm>
              <a:off x="2451894" y="2594769"/>
              <a:ext cx="2819400" cy="3200400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C66C3B7E-7522-5602-CC0A-404829D8919A}"/>
                </a:ext>
              </a:extLst>
            </p:cNvPr>
            <p:cNvSpPr/>
            <p:nvPr/>
          </p:nvSpPr>
          <p:spPr>
            <a:xfrm>
              <a:off x="2947194" y="3051969"/>
              <a:ext cx="1828800" cy="6858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1600" b="1" dirty="0"/>
                <a:t>Docker Client</a:t>
              </a:r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B236C856-B4AE-DC3C-62DD-0690DDDA4D11}"/>
                </a:ext>
              </a:extLst>
            </p:cNvPr>
            <p:cNvSpPr/>
            <p:nvPr/>
          </p:nvSpPr>
          <p:spPr>
            <a:xfrm>
              <a:off x="2953544" y="4684078"/>
              <a:ext cx="1828800" cy="6858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1600" b="1" dirty="0"/>
                <a:t>Docker </a:t>
              </a:r>
              <a:r>
                <a:rPr lang="es-CO" sz="1600" b="1" dirty="0" err="1"/>
                <a:t>daemon</a:t>
              </a:r>
              <a:endParaRPr lang="es-CO" sz="1600" b="1" dirty="0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5185C846-8993-27F1-FDFE-C924C01DB9A9}"/>
                </a:ext>
              </a:extLst>
            </p:cNvPr>
            <p:cNvSpPr/>
            <p:nvPr/>
          </p:nvSpPr>
          <p:spPr>
            <a:xfrm>
              <a:off x="2440464" y="6484938"/>
              <a:ext cx="2819400" cy="1828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Docker </a:t>
              </a:r>
              <a:r>
                <a:rPr lang="es-CO" dirty="0" err="1"/>
                <a:t>Registry</a:t>
              </a:r>
              <a:r>
                <a:rPr lang="es-CO" dirty="0"/>
                <a:t> Privado</a:t>
              </a:r>
            </a:p>
          </p:txBody>
        </p: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BFC441C7-96D8-F08C-1F2C-60165E9229D6}"/>
                </a:ext>
              </a:extLst>
            </p:cNvPr>
            <p:cNvCxnSpPr>
              <a:cxnSpLocks/>
            </p:cNvCxnSpPr>
            <p:nvPr/>
          </p:nvCxnSpPr>
          <p:spPr>
            <a:xfrm>
              <a:off x="5461794" y="2594769"/>
              <a:ext cx="0" cy="548640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7CFA63D9-4F53-7115-201A-E62180459EDA}"/>
                </a:ext>
              </a:extLst>
            </p:cNvPr>
            <p:cNvSpPr/>
            <p:nvPr/>
          </p:nvSpPr>
          <p:spPr>
            <a:xfrm>
              <a:off x="5675155" y="2583497"/>
              <a:ext cx="2819400" cy="57262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E7CE7B07-1549-3CCB-78FE-033B8D5A212A}"/>
                </a:ext>
              </a:extLst>
            </p:cNvPr>
            <p:cNvSpPr/>
            <p:nvPr/>
          </p:nvSpPr>
          <p:spPr>
            <a:xfrm>
              <a:off x="6246655" y="4264978"/>
              <a:ext cx="1676400" cy="152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>
                  <a:solidFill>
                    <a:schemeClr val="tx1"/>
                  </a:solidFill>
                </a:rPr>
                <a:t>Docker Hub</a:t>
              </a:r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1F1A0A94-9BC3-6327-6329-BBBBF9781151}"/>
                </a:ext>
              </a:extLst>
            </p:cNvPr>
            <p:cNvSpPr/>
            <p:nvPr/>
          </p:nvSpPr>
          <p:spPr>
            <a:xfrm>
              <a:off x="6246655" y="6530658"/>
              <a:ext cx="1676400" cy="152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>
                  <a:solidFill>
                    <a:schemeClr val="tx1"/>
                  </a:solidFill>
                </a:rPr>
                <a:t>Otro Docker </a:t>
              </a:r>
              <a:r>
                <a:rPr lang="es-CO" dirty="0" err="1">
                  <a:solidFill>
                    <a:schemeClr val="tx1"/>
                  </a:solidFill>
                </a:rPr>
                <a:t>Registry</a:t>
              </a:r>
              <a:r>
                <a:rPr lang="es-CO" dirty="0">
                  <a:solidFill>
                    <a:schemeClr val="tx1"/>
                  </a:solidFill>
                </a:rPr>
                <a:t> Publico</a:t>
              </a:r>
            </a:p>
          </p:txBody>
        </p: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78ADAB98-3933-5EC0-0703-6C673EFFCFF4}"/>
                </a:ext>
              </a:extLst>
            </p:cNvPr>
            <p:cNvCxnSpPr/>
            <p:nvPr/>
          </p:nvCxnSpPr>
          <p:spPr>
            <a:xfrm flipH="1">
              <a:off x="2412048" y="2583497"/>
              <a:ext cx="6173946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18B0E4E2-3220-CFDC-B92E-081FB648E6A1}"/>
                </a:ext>
              </a:extLst>
            </p:cNvPr>
            <p:cNvSpPr txBox="1"/>
            <p:nvPr/>
          </p:nvSpPr>
          <p:spPr>
            <a:xfrm>
              <a:off x="6680047" y="2202498"/>
              <a:ext cx="945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800" dirty="0"/>
                <a:t>Internet</a:t>
              </a:r>
              <a:endParaRPr lang="es-CO" dirty="0"/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97EAA98B-134D-B486-F06A-8A011DF190AB}"/>
                </a:ext>
              </a:extLst>
            </p:cNvPr>
            <p:cNvSpPr txBox="1"/>
            <p:nvPr/>
          </p:nvSpPr>
          <p:spPr>
            <a:xfrm>
              <a:off x="3328194" y="2206518"/>
              <a:ext cx="12913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800" dirty="0"/>
                <a:t>Red Privada</a:t>
              </a:r>
            </a:p>
          </p:txBody>
        </p:sp>
        <p:sp>
          <p:nvSpPr>
            <p:cNvPr id="9637" name="Rectángulo: esquinas redondeadas 9636">
              <a:extLst>
                <a:ext uri="{FF2B5EF4-FFF2-40B4-BE49-F238E27FC236}">
                  <a16:creationId xmlns:a16="http://schemas.microsoft.com/office/drawing/2014/main" id="{9C4DE4B8-5AC2-676A-90BA-A2FB82DFB07C}"/>
                </a:ext>
              </a:extLst>
            </p:cNvPr>
            <p:cNvSpPr/>
            <p:nvPr/>
          </p:nvSpPr>
          <p:spPr>
            <a:xfrm>
              <a:off x="2953544" y="3051969"/>
              <a:ext cx="1828800" cy="6858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1600" b="1" dirty="0"/>
                <a:t>Docker Client</a:t>
              </a:r>
            </a:p>
          </p:txBody>
        </p:sp>
        <p:cxnSp>
          <p:nvCxnSpPr>
            <p:cNvPr id="9640" name="Conector recto de flecha 9639">
              <a:extLst>
                <a:ext uri="{FF2B5EF4-FFF2-40B4-BE49-F238E27FC236}">
                  <a16:creationId xmlns:a16="http://schemas.microsoft.com/office/drawing/2014/main" id="{732D8835-B924-38FD-2B5C-FC2A42C26F7D}"/>
                </a:ext>
              </a:extLst>
            </p:cNvPr>
            <p:cNvCxnSpPr>
              <a:cxnSpLocks/>
              <a:stCxn id="9637" idx="2"/>
              <a:endCxn id="13" idx="0"/>
            </p:cNvCxnSpPr>
            <p:nvPr/>
          </p:nvCxnSpPr>
          <p:spPr>
            <a:xfrm>
              <a:off x="3867944" y="3737769"/>
              <a:ext cx="0" cy="946309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51" name="Conector recto de flecha 9650">
              <a:extLst>
                <a:ext uri="{FF2B5EF4-FFF2-40B4-BE49-F238E27FC236}">
                  <a16:creationId xmlns:a16="http://schemas.microsoft.com/office/drawing/2014/main" id="{DA69BD59-7F1C-81C3-D36D-A62E89C472F9}"/>
                </a:ext>
              </a:extLst>
            </p:cNvPr>
            <p:cNvCxnSpPr>
              <a:cxnSpLocks/>
            </p:cNvCxnSpPr>
            <p:nvPr/>
          </p:nvCxnSpPr>
          <p:spPr>
            <a:xfrm>
              <a:off x="3328194" y="5389087"/>
              <a:ext cx="0" cy="1095851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56" name="Conector recto de flecha 9655">
              <a:extLst>
                <a:ext uri="{FF2B5EF4-FFF2-40B4-BE49-F238E27FC236}">
                  <a16:creationId xmlns:a16="http://schemas.microsoft.com/office/drawing/2014/main" id="{EA8A2102-D831-67FE-D52C-39649AB21417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4782344" y="5026978"/>
              <a:ext cx="1464311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59" name="Conector recto de flecha 9658">
              <a:extLst>
                <a:ext uri="{FF2B5EF4-FFF2-40B4-BE49-F238E27FC236}">
                  <a16:creationId xmlns:a16="http://schemas.microsoft.com/office/drawing/2014/main" id="{EE208C8E-B7E7-DDD0-4E0C-FAEFBD350E00}"/>
                </a:ext>
              </a:extLst>
            </p:cNvPr>
            <p:cNvCxnSpPr>
              <a:cxnSpLocks/>
              <a:endCxn id="23" idx="1"/>
            </p:cNvCxnSpPr>
            <p:nvPr/>
          </p:nvCxnSpPr>
          <p:spPr>
            <a:xfrm>
              <a:off x="4394994" y="5389087"/>
              <a:ext cx="1851661" cy="1903571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672" name="CuadroTexto 9671">
            <a:extLst>
              <a:ext uri="{FF2B5EF4-FFF2-40B4-BE49-F238E27FC236}">
                <a16:creationId xmlns:a16="http://schemas.microsoft.com/office/drawing/2014/main" id="{7F768251-05AB-6569-8117-429EC8EC200E}"/>
              </a:ext>
            </a:extLst>
          </p:cNvPr>
          <p:cNvSpPr txBox="1"/>
          <p:nvPr/>
        </p:nvSpPr>
        <p:spPr>
          <a:xfrm>
            <a:off x="7399208" y="2148840"/>
            <a:ext cx="5139097" cy="4066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Nuestra máquina</a:t>
            </a:r>
          </a:p>
          <a:p>
            <a:pPr>
              <a:buNone/>
            </a:pPr>
            <a:endParaRPr lang="es-ES" b="1" dirty="0"/>
          </a:p>
          <a:p>
            <a:pPr>
              <a:buNone/>
            </a:pPr>
            <a:endParaRPr lang="es-ES" b="1" dirty="0"/>
          </a:p>
          <a:p>
            <a:pPr>
              <a:buNone/>
            </a:pPr>
            <a:r>
              <a:rPr lang="es-ES" b="1" dirty="0"/>
              <a:t>Docker Client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Es el </a:t>
            </a:r>
            <a:r>
              <a:rPr lang="es-ES" i="1" dirty="0"/>
              <a:t>CLI</a:t>
            </a:r>
            <a:r>
              <a:rPr lang="es-ES" dirty="0"/>
              <a:t> que tú usas: los comandos </a:t>
            </a:r>
            <a:r>
              <a:rPr lang="es-ES" dirty="0" err="1">
                <a:latin typeface="Courier New" panose="02070309020205020404" pitchFamily="49" charset="0"/>
              </a:rPr>
              <a:t>docker</a:t>
            </a:r>
            <a:r>
              <a:rPr lang="es-ES" dirty="0">
                <a:latin typeface="Courier New" panose="02070309020205020404" pitchFamily="49" charset="0"/>
              </a:rPr>
              <a:t> run</a:t>
            </a:r>
            <a:r>
              <a:rPr lang="es-ES" dirty="0"/>
              <a:t>, </a:t>
            </a:r>
            <a:r>
              <a:rPr lang="es-ES" dirty="0" err="1">
                <a:latin typeface="Courier New" panose="02070309020205020404" pitchFamily="49" charset="0"/>
              </a:rPr>
              <a:t>docker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build</a:t>
            </a:r>
            <a:r>
              <a:rPr lang="es-ES" dirty="0"/>
              <a:t>, </a:t>
            </a:r>
            <a:r>
              <a:rPr lang="es-ES" dirty="0" err="1">
                <a:latin typeface="Courier New" panose="02070309020205020404" pitchFamily="49" charset="0"/>
              </a:rPr>
              <a:t>docker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pull</a:t>
            </a:r>
            <a:r>
              <a:rPr lang="es-ES" dirty="0"/>
              <a:t>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Puede ser la terminal, Docker Desktop, o cualquier herramienta que use la API de Docker.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None/>
            </a:pPr>
            <a:r>
              <a:rPr lang="es-ES" b="1" dirty="0"/>
              <a:t>Docker </a:t>
            </a:r>
            <a:r>
              <a:rPr lang="es-ES" b="1" dirty="0" err="1"/>
              <a:t>daemon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Es el servicio en segundo plano que hace el trabajo pesado.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El cliente </a:t>
            </a:r>
            <a:r>
              <a:rPr lang="es-ES" b="1" dirty="0"/>
              <a:t>no habla directo con Docker Hub</a:t>
            </a:r>
            <a:r>
              <a:rPr lang="es-ES" dirty="0"/>
              <a:t>, siempre habla con el </a:t>
            </a:r>
            <a:r>
              <a:rPr lang="es-ES" dirty="0" err="1"/>
              <a:t>daemon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El </a:t>
            </a:r>
            <a:r>
              <a:rPr lang="es-ES" dirty="0" err="1"/>
              <a:t>daemon</a:t>
            </a:r>
            <a:r>
              <a:rPr lang="es-ES" dirty="0"/>
              <a:t> se encarga 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Construir imágenes (</a:t>
            </a:r>
            <a:r>
              <a:rPr lang="es-ES" dirty="0" err="1">
                <a:latin typeface="Courier New" panose="02070309020205020404" pitchFamily="49" charset="0"/>
              </a:rPr>
              <a:t>docker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build</a:t>
            </a:r>
            <a:r>
              <a:rPr lang="es-ES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Crear y arrancar contenedores (</a:t>
            </a:r>
            <a:r>
              <a:rPr lang="es-ES" dirty="0" err="1">
                <a:latin typeface="Courier New" panose="02070309020205020404" pitchFamily="49" charset="0"/>
              </a:rPr>
              <a:t>docker</a:t>
            </a:r>
            <a:r>
              <a:rPr lang="es-ES" dirty="0">
                <a:latin typeface="Courier New" panose="02070309020205020404" pitchFamily="49" charset="0"/>
              </a:rPr>
              <a:t> run</a:t>
            </a:r>
            <a:r>
              <a:rPr lang="es-ES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Subir y bajar imágenes de </a:t>
            </a:r>
            <a:r>
              <a:rPr lang="es-ES" dirty="0" err="1"/>
              <a:t>registries</a:t>
            </a:r>
            <a:r>
              <a:rPr lang="es-ES" dirty="0"/>
              <a:t> (</a:t>
            </a:r>
            <a:r>
              <a:rPr lang="es-ES" dirty="0" err="1">
                <a:latin typeface="Courier New" panose="02070309020205020404" pitchFamily="49" charset="0"/>
              </a:rPr>
              <a:t>docker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pull</a:t>
            </a:r>
            <a:r>
              <a:rPr lang="es-ES" dirty="0"/>
              <a:t>, </a:t>
            </a:r>
            <a:r>
              <a:rPr lang="es-ES" dirty="0" err="1">
                <a:latin typeface="Courier New" panose="02070309020205020404" pitchFamily="49" charset="0"/>
              </a:rPr>
              <a:t>docker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push</a:t>
            </a:r>
            <a:r>
              <a:rPr lang="es-E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159951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3DFD5-3178-E4A6-3DC2-1858695FB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D92B017-6EA1-52E6-46F9-994CF834C0CB}"/>
              </a:ext>
            </a:extLst>
          </p:cNvPr>
          <p:cNvSpPr/>
          <p:nvPr/>
        </p:nvSpPr>
        <p:spPr>
          <a:xfrm>
            <a:off x="11123217" y="45569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69A98B1-8EE5-1A20-5EA4-B59BA40774BF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E24E01B5-C596-DDC6-40C8-C31E5722938A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C16973E4-6802-9632-C6BE-B0817977D2F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5AE8F656-A090-9B12-7C92-53213E92502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38E0E19-90AE-4FA3-08F8-ED724F3B6394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6104BD4-7540-53BB-85A1-463287B34AF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F7FDB1D9-B1C1-D3E3-0E63-A9A4A0FFAD2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99C1752E-B216-BF67-558B-97353A64F28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67E415F-CE02-A3F3-2100-84AC771B857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B4161025-1DBA-60A5-03ED-716F050C3015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58730" y="323271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196" b="1" dirty="0">
              <a:latin typeface="Poppins 1 Bold" panose="020B0604020202020204" charset="0"/>
              <a:ea typeface="+mn-ea"/>
              <a:cs typeface="Poppins 1 Bold" panose="020B060402020202020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E6D447F-B078-FE9E-7135-58F8FEFF2B71}"/>
              </a:ext>
            </a:extLst>
          </p:cNvPr>
          <p:cNvSpPr txBox="1"/>
          <p:nvPr/>
        </p:nvSpPr>
        <p:spPr>
          <a:xfrm>
            <a:off x="1194594" y="904748"/>
            <a:ext cx="4800600" cy="322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Data </a:t>
            </a:r>
            <a:r>
              <a:rPr lang="es-ES" b="1" dirty="0" err="1"/>
              <a:t>quality</a:t>
            </a:r>
            <a:r>
              <a:rPr lang="es-ES" b="1" dirty="0"/>
              <a:t>, pruebas y CI/CD de pipelines</a:t>
            </a:r>
          </a:p>
          <a:p>
            <a:pPr>
              <a:buNone/>
            </a:pPr>
            <a:r>
              <a:rPr lang="es-ES" dirty="0"/>
              <a:t>Muchas herramientas de data </a:t>
            </a:r>
            <a:r>
              <a:rPr lang="es-ES" dirty="0" err="1"/>
              <a:t>quality</a:t>
            </a:r>
            <a:r>
              <a:rPr lang="es-ES" dirty="0"/>
              <a:t> vienen ya con imagen Docker:</a:t>
            </a:r>
          </a:p>
          <a:p>
            <a:r>
              <a:rPr lang="es-ES" dirty="0"/>
              <a:t>Great </a:t>
            </a:r>
            <a:r>
              <a:rPr lang="es-ES" dirty="0" err="1"/>
              <a:t>Expectations</a:t>
            </a:r>
            <a:r>
              <a:rPr lang="es-ES" dirty="0"/>
              <a:t>, Soda Core / Soda </a:t>
            </a:r>
            <a:r>
              <a:rPr lang="es-ES" dirty="0" err="1"/>
              <a:t>Agent,Tests</a:t>
            </a:r>
            <a:r>
              <a:rPr lang="es-ES" dirty="0"/>
              <a:t> de </a:t>
            </a:r>
            <a:r>
              <a:rPr lang="es-ES" dirty="0" err="1"/>
              <a:t>dbt</a:t>
            </a:r>
            <a:r>
              <a:rPr lang="es-ES" dirty="0"/>
              <a:t>, etc.</a:t>
            </a:r>
          </a:p>
          <a:p>
            <a:pPr>
              <a:buNone/>
            </a:pPr>
            <a:r>
              <a:rPr lang="es-ES" dirty="0"/>
              <a:t>Aplicación:</a:t>
            </a:r>
          </a:p>
          <a:p>
            <a:pPr>
              <a:buNone/>
            </a:pPr>
            <a:endParaRPr lang="es-ES" dirty="0"/>
          </a:p>
          <a:p>
            <a:r>
              <a:rPr lang="es-ES" dirty="0"/>
              <a:t>En tu CI (GitHub </a:t>
            </a:r>
            <a:r>
              <a:rPr lang="es-ES" dirty="0" err="1"/>
              <a:t>Actions</a:t>
            </a:r>
            <a:r>
              <a:rPr lang="es-ES" dirty="0"/>
              <a:t>, </a:t>
            </a:r>
            <a:r>
              <a:rPr lang="es-ES" dirty="0" err="1"/>
              <a:t>GitLab</a:t>
            </a:r>
            <a:r>
              <a:rPr lang="es-ES" dirty="0"/>
              <a:t> CI, etc.) ejecutas: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contenedor que corre </a:t>
            </a:r>
            <a:r>
              <a:rPr lang="es-ES" dirty="0" err="1"/>
              <a:t>tests</a:t>
            </a:r>
            <a:r>
              <a:rPr lang="es-ES" dirty="0"/>
              <a:t> de tu código de transformación (</a:t>
            </a:r>
            <a:r>
              <a:rPr lang="es-ES" dirty="0" err="1"/>
              <a:t>pytest</a:t>
            </a:r>
            <a:r>
              <a:rPr lang="es-ES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contenedor que corre </a:t>
            </a:r>
            <a:r>
              <a:rPr lang="es-ES" dirty="0" err="1"/>
              <a:t>tests</a:t>
            </a:r>
            <a:r>
              <a:rPr lang="es-ES" dirty="0"/>
              <a:t> de calidad de datos sobre un </a:t>
            </a:r>
            <a:r>
              <a:rPr lang="es-ES" dirty="0" err="1"/>
              <a:t>Postgres</a:t>
            </a:r>
            <a:r>
              <a:rPr lang="es-ES" dirty="0"/>
              <a:t> temporal.</a:t>
            </a:r>
          </a:p>
          <a:p>
            <a:pPr>
              <a:buNone/>
            </a:pPr>
            <a:r>
              <a:rPr lang="es-ES" b="1" dirty="0"/>
              <a:t>Ventajas:</a:t>
            </a:r>
          </a:p>
          <a:p>
            <a:r>
              <a:rPr lang="es-ES" dirty="0"/>
              <a:t>Pipelines de datos con </a:t>
            </a:r>
            <a:r>
              <a:rPr lang="es-ES" b="1" dirty="0"/>
              <a:t>pruebas automatizadas</a:t>
            </a:r>
            <a:r>
              <a:rPr lang="es-ES" dirty="0"/>
              <a:t> antes de hacer </a:t>
            </a:r>
            <a:r>
              <a:rPr lang="es-ES" dirty="0" err="1"/>
              <a:t>deploy</a:t>
            </a:r>
            <a:r>
              <a:rPr lang="es-ES" dirty="0"/>
              <a:t>.</a:t>
            </a:r>
          </a:p>
          <a:p>
            <a:r>
              <a:rPr lang="es-ES" dirty="0"/>
              <a:t>Entorno de pruebas efímero y limpio en cada run.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BADE3A5-7C56-A3AB-1F10-4BBD8F017572}"/>
              </a:ext>
            </a:extLst>
          </p:cNvPr>
          <p:cNvSpPr txBox="1"/>
          <p:nvPr/>
        </p:nvSpPr>
        <p:spPr>
          <a:xfrm>
            <a:off x="6909594" y="1001267"/>
            <a:ext cx="4581934" cy="2602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b="1" dirty="0"/>
              <a:t>Microservicios de datos y </a:t>
            </a:r>
            <a:r>
              <a:rPr lang="es-CO" b="1" dirty="0" err="1"/>
              <a:t>APIs</a:t>
            </a:r>
            <a:endParaRPr lang="es-CO" b="1" dirty="0"/>
          </a:p>
          <a:p>
            <a:pPr>
              <a:buNone/>
            </a:pPr>
            <a:r>
              <a:rPr lang="es-CO" dirty="0"/>
              <a:t>Muchas arquitecturas de datos modernos exponen: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 err="1"/>
              <a:t>APIs</a:t>
            </a:r>
            <a:r>
              <a:rPr lang="es-CO" dirty="0"/>
              <a:t> para servir </a:t>
            </a:r>
            <a:r>
              <a:rPr lang="es-CO" dirty="0" err="1"/>
              <a:t>features</a:t>
            </a:r>
            <a:r>
              <a:rPr lang="es-CO" dirty="0"/>
              <a:t> de modelos (</a:t>
            </a:r>
            <a:r>
              <a:rPr lang="es-CO" dirty="0" err="1"/>
              <a:t>feature</a:t>
            </a:r>
            <a:r>
              <a:rPr lang="es-CO" dirty="0"/>
              <a:t> store online).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 err="1"/>
              <a:t>APIs</a:t>
            </a:r>
            <a:r>
              <a:rPr lang="es-CO" dirty="0"/>
              <a:t> para </a:t>
            </a:r>
            <a:r>
              <a:rPr lang="es-CO" dirty="0" err="1"/>
              <a:t>scoring</a:t>
            </a:r>
            <a:r>
              <a:rPr lang="es-CO" dirty="0"/>
              <a:t> de modelos.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 err="1"/>
              <a:t>Endpoints</a:t>
            </a:r>
            <a:r>
              <a:rPr lang="es-CO" dirty="0"/>
              <a:t> de “data </a:t>
            </a:r>
            <a:r>
              <a:rPr lang="es-CO" dirty="0" err="1"/>
              <a:t>products</a:t>
            </a:r>
            <a:r>
              <a:rPr lang="es-CO" dirty="0"/>
              <a:t>” (por ejemplo, un </a:t>
            </a:r>
            <a:r>
              <a:rPr lang="es-CO" dirty="0">
                <a:latin typeface="Courier New" panose="02070309020205020404" pitchFamily="49" charset="0"/>
              </a:rPr>
              <a:t>/</a:t>
            </a:r>
            <a:r>
              <a:rPr lang="es-CO" dirty="0" err="1">
                <a:latin typeface="Courier New" panose="02070309020205020404" pitchFamily="49" charset="0"/>
              </a:rPr>
              <a:t>interactions</a:t>
            </a:r>
            <a:r>
              <a:rPr lang="es-CO" dirty="0">
                <a:latin typeface="Courier New" panose="02070309020205020404" pitchFamily="49" charset="0"/>
              </a:rPr>
              <a:t>/{</a:t>
            </a:r>
            <a:r>
              <a:rPr lang="es-CO" dirty="0" err="1">
                <a:latin typeface="Courier New" panose="02070309020205020404" pitchFamily="49" charset="0"/>
              </a:rPr>
              <a:t>account</a:t>
            </a:r>
            <a:r>
              <a:rPr lang="es-CO" dirty="0">
                <a:latin typeface="Courier New" panose="02070309020205020404" pitchFamily="49" charset="0"/>
              </a:rPr>
              <a:t>}</a:t>
            </a:r>
            <a:r>
              <a:rPr lang="es-CO" dirty="0"/>
              <a:t> como el reto que ya armaste).</a:t>
            </a:r>
          </a:p>
          <a:p>
            <a:pPr>
              <a:buNone/>
            </a:pPr>
            <a:r>
              <a:rPr lang="es-CO" dirty="0"/>
              <a:t>Aquí Docker te permite:</a:t>
            </a:r>
          </a:p>
          <a:p>
            <a:r>
              <a:rPr lang="es-CO" dirty="0"/>
              <a:t>Empaquetar esa API (</a:t>
            </a:r>
            <a:r>
              <a:rPr lang="es-CO" dirty="0" err="1"/>
              <a:t>FastAPI</a:t>
            </a:r>
            <a:r>
              <a:rPr lang="es-CO" dirty="0"/>
              <a:t>, </a:t>
            </a:r>
            <a:r>
              <a:rPr lang="es-CO" dirty="0" err="1"/>
              <a:t>Flask</a:t>
            </a:r>
            <a:r>
              <a:rPr lang="es-CO" dirty="0"/>
              <a:t>, etc.) con su modelo y dependencias y desplegarla fácilmente detrás de un </a:t>
            </a:r>
            <a:r>
              <a:rPr lang="es-CO" dirty="0" err="1"/>
              <a:t>gateway</a:t>
            </a:r>
            <a:r>
              <a:rPr lang="es-CO" dirty="0"/>
              <a:t> o en </a:t>
            </a:r>
            <a:r>
              <a:rPr lang="es-CO" dirty="0" err="1"/>
              <a:t>Kubernetes</a:t>
            </a:r>
            <a:r>
              <a:rPr lang="es-CO" dirty="0"/>
              <a:t>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3CFA949-C41E-AFE3-DC4A-5C190B0E923B}"/>
              </a:ext>
            </a:extLst>
          </p:cNvPr>
          <p:cNvSpPr txBox="1"/>
          <p:nvPr/>
        </p:nvSpPr>
        <p:spPr>
          <a:xfrm>
            <a:off x="1195830" y="4865717"/>
            <a:ext cx="4800600" cy="385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b="1" dirty="0"/>
              <a:t>Empaquetar pipelines de datos (ETL/ELT)</a:t>
            </a:r>
          </a:p>
          <a:p>
            <a:pPr>
              <a:buNone/>
            </a:pPr>
            <a:r>
              <a:rPr lang="es-CO" dirty="0"/>
              <a:t>Uso típico: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dirty="0"/>
              <a:t>Tienes un script </a:t>
            </a:r>
            <a:r>
              <a:rPr lang="es-CO" dirty="0">
                <a:latin typeface="Courier New" panose="02070309020205020404" pitchFamily="49" charset="0"/>
              </a:rPr>
              <a:t>pipeline.py</a:t>
            </a:r>
            <a:r>
              <a:rPr lang="es-CO" dirty="0"/>
              <a:t> que: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O" dirty="0"/>
              <a:t>lee CSV de un </a:t>
            </a:r>
            <a:r>
              <a:rPr lang="es-CO" dirty="0" err="1"/>
              <a:t>bucket</a:t>
            </a:r>
            <a:r>
              <a:rPr lang="es-CO" dirty="0"/>
              <a:t> / carpeta,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O" dirty="0"/>
              <a:t>limpia datos,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O" dirty="0"/>
              <a:t>carga a </a:t>
            </a:r>
            <a:r>
              <a:rPr lang="es-CO" dirty="0" err="1"/>
              <a:t>Postgres</a:t>
            </a:r>
            <a:r>
              <a:rPr lang="es-CO" dirty="0"/>
              <a:t>, </a:t>
            </a:r>
            <a:r>
              <a:rPr lang="es-CO" dirty="0" err="1"/>
              <a:t>Redshift</a:t>
            </a:r>
            <a:r>
              <a:rPr lang="es-CO" dirty="0"/>
              <a:t>, </a:t>
            </a:r>
            <a:r>
              <a:rPr lang="es-CO" dirty="0" err="1"/>
              <a:t>Snowflake</a:t>
            </a:r>
            <a:r>
              <a:rPr lang="es-CO" dirty="0"/>
              <a:t>, etc.</a:t>
            </a:r>
          </a:p>
          <a:p>
            <a:r>
              <a:rPr lang="es-CO" dirty="0"/>
              <a:t>Lo metes en una imagen Docker y lo corres como contenedor.</a:t>
            </a:r>
          </a:p>
          <a:p>
            <a:endParaRPr lang="es-CO" dirty="0"/>
          </a:p>
          <a:p>
            <a:pPr>
              <a:buNone/>
            </a:pPr>
            <a:r>
              <a:rPr lang="es-CO" b="1" dirty="0"/>
              <a:t>Ventajas</a:t>
            </a:r>
            <a:r>
              <a:rPr lang="es-CO" dirty="0"/>
              <a:t>:</a:t>
            </a:r>
          </a:p>
          <a:p>
            <a:r>
              <a:rPr lang="es-CO" dirty="0"/>
              <a:t>Mismo código y mismas versiones de librerías 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O" dirty="0"/>
              <a:t>tu laptop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O" dirty="0"/>
              <a:t>el servidor </a:t>
            </a:r>
            <a:r>
              <a:rPr lang="es-CO" dirty="0" err="1"/>
              <a:t>on-prem</a:t>
            </a:r>
            <a:endParaRPr lang="es-CO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O" dirty="0"/>
              <a:t>un </a:t>
            </a:r>
            <a:r>
              <a:rPr lang="es-CO" dirty="0" err="1"/>
              <a:t>job</a:t>
            </a:r>
            <a:r>
              <a:rPr lang="es-CO" dirty="0"/>
              <a:t> en ECS, </a:t>
            </a:r>
            <a:r>
              <a:rPr lang="es-CO" dirty="0" err="1"/>
              <a:t>Kubernetes</a:t>
            </a:r>
            <a:r>
              <a:rPr lang="es-CO" dirty="0"/>
              <a:t>, Cloud Run…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CO" dirty="0"/>
          </a:p>
          <a:p>
            <a:r>
              <a:rPr lang="es-CO" dirty="0"/>
              <a:t>Facilita correr ese pipeline como </a:t>
            </a:r>
            <a:r>
              <a:rPr lang="es-CO" dirty="0" err="1"/>
              <a:t>job</a:t>
            </a:r>
            <a:r>
              <a:rPr lang="es-CO" dirty="0"/>
              <a:t> programado (</a:t>
            </a:r>
            <a:r>
              <a:rPr lang="es-CO" dirty="0" err="1"/>
              <a:t>cronjob</a:t>
            </a:r>
            <a:r>
              <a:rPr lang="es-CO" dirty="0"/>
              <a:t>, </a:t>
            </a:r>
            <a:r>
              <a:rPr lang="es-CO" dirty="0" err="1"/>
              <a:t>Airflow</a:t>
            </a:r>
            <a:r>
              <a:rPr lang="es-CO" dirty="0"/>
              <a:t>, </a:t>
            </a:r>
            <a:r>
              <a:rPr lang="es-CO" dirty="0" err="1"/>
              <a:t>Prefect</a:t>
            </a:r>
            <a:r>
              <a:rPr lang="es-CO" dirty="0"/>
              <a:t>).</a:t>
            </a:r>
          </a:p>
          <a:p>
            <a:pPr>
              <a:buNone/>
            </a:pPr>
            <a:r>
              <a:rPr lang="es-CO" dirty="0"/>
              <a:t>Ejemplo mental: tu </a:t>
            </a:r>
            <a:r>
              <a:rPr lang="es-CO" dirty="0">
                <a:latin typeface="Courier New" panose="02070309020205020404" pitchFamily="49" charset="0"/>
              </a:rPr>
              <a:t>sales-pipeline</a:t>
            </a:r>
            <a:r>
              <a:rPr lang="es-CO" dirty="0"/>
              <a:t> que limpia </a:t>
            </a:r>
            <a:r>
              <a:rPr lang="es-CO" dirty="0">
                <a:latin typeface="Courier New" panose="02070309020205020404" pitchFamily="49" charset="0"/>
              </a:rPr>
              <a:t>sales.csv</a:t>
            </a:r>
            <a:r>
              <a:rPr lang="es-CO" dirty="0"/>
              <a:t> y carga en </a:t>
            </a:r>
            <a:r>
              <a:rPr lang="es-CO" dirty="0" err="1"/>
              <a:t>Postgres</a:t>
            </a:r>
            <a:r>
              <a:rPr lang="es-CO" dirty="0"/>
              <a:t> es exactamente esto.</a:t>
            </a:r>
          </a:p>
        </p:txBody>
      </p:sp>
    </p:spTree>
    <p:extLst>
      <p:ext uri="{BB962C8B-B14F-4D97-AF65-F5344CB8AC3E}">
        <p14:creationId xmlns:p14="http://schemas.microsoft.com/office/powerpoint/2010/main" val="1082174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D871B-B8BC-A0C2-8B73-6B23F22BF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CBD03DB-1F7A-94AF-CA8F-78BE3E9AD418}"/>
              </a:ext>
            </a:extLst>
          </p:cNvPr>
          <p:cNvSpPr/>
          <p:nvPr/>
        </p:nvSpPr>
        <p:spPr>
          <a:xfrm>
            <a:off x="11123217" y="45569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AB28F7B-BA60-7CD0-DFCD-2EF6A3F3E5E8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AC886B8D-114A-3A1B-594F-4B688A1601E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B9F134E6-D1C9-1FB3-4228-23306A6DA3D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6C01798C-0DEA-6D75-AC2A-0C5AE73E1C4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F77466F-1903-21E9-3111-3C4C2E3843B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55A510F-4B8D-4142-8679-A228314DA27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050FA43-E602-B7AF-3D51-6421E03AAC3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FDFCFEC-8EFA-6ACA-4FFC-1078E887C81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E2814212-A5E0-FD15-6272-A158BC0BA8B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4FC7CA65-EB03-AFD5-B140-0110631D9F1E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58730" y="323271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196" b="1" dirty="0">
              <a:latin typeface="Poppins 1 Bold" panose="020B0604020202020204" charset="0"/>
              <a:ea typeface="+mn-ea"/>
              <a:cs typeface="Poppins 1 Bold" panose="020B060402020202020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9CDC47F-4C4B-37D4-0E3B-95273680E5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2119" y="1604169"/>
            <a:ext cx="9135750" cy="596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81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F1352-1697-EC07-F771-A2A817B42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FD1B8EF-D2CF-4017-5E33-08F378A3F9FD}"/>
              </a:ext>
            </a:extLst>
          </p:cNvPr>
          <p:cNvSpPr/>
          <p:nvPr/>
        </p:nvSpPr>
        <p:spPr>
          <a:xfrm>
            <a:off x="11123217" y="45569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07D0E61-5CD6-0A37-A190-5DDB55CC6B6F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56F3950E-8B46-C435-71E9-FCB28F008C5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82A54D60-BBBB-CFC2-160D-5F01CCDC8F4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B44E0722-97E4-8FC7-EA25-D9B9FFC22B0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E24877-CAEB-3534-28B7-CB9EFE3350E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55EE481-BD77-8AD2-5ACC-12F87055E4C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4469D52C-8411-736B-8EDC-C2F78050373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B64A5FE2-9B60-A103-DA68-74F4D36F95D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79E386F-892D-AE0E-0164-43CDA49404F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EC55DCE9-40BD-00BA-C03F-AE512FB0E87F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58730" y="323271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196" b="1" dirty="0">
              <a:latin typeface="Poppins 1 Bold" panose="020B0604020202020204" charset="0"/>
              <a:ea typeface="+mn-ea"/>
              <a:cs typeface="Poppins 1 Bold" panose="020B060402020202020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DFB4ED7-0FB9-B1F8-341F-FB91D8813FAB}"/>
              </a:ext>
            </a:extLst>
          </p:cNvPr>
          <p:cNvSpPr txBox="1"/>
          <p:nvPr/>
        </p:nvSpPr>
        <p:spPr>
          <a:xfrm>
            <a:off x="383733" y="4366069"/>
            <a:ext cx="6525862" cy="4068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200" b="1" dirty="0"/>
              <a:t>1. Descargando la imagen</a:t>
            </a:r>
          </a:p>
          <a:p>
            <a:pPr rtl="0">
              <a:buNone/>
            </a:pPr>
            <a:r>
              <a:rPr lang="es-ES" sz="1200" dirty="0" err="1">
                <a:latin typeface="Courier New" panose="02070309020205020404" pitchFamily="49" charset="0"/>
              </a:rPr>
              <a:t>Unable</a:t>
            </a:r>
            <a:r>
              <a:rPr lang="es-ES" sz="1200" dirty="0">
                <a:latin typeface="Courier New" panose="02070309020205020404" pitchFamily="49" charset="0"/>
              </a:rPr>
              <a:t> </a:t>
            </a:r>
            <a:r>
              <a:rPr lang="es-ES" sz="1200" dirty="0" err="1">
                <a:latin typeface="Courier New" panose="02070309020205020404" pitchFamily="49" charset="0"/>
              </a:rPr>
              <a:t>to</a:t>
            </a:r>
            <a:r>
              <a:rPr lang="es-ES" sz="1200" dirty="0">
                <a:latin typeface="Courier New" panose="02070309020205020404" pitchFamily="49" charset="0"/>
              </a:rPr>
              <a:t> </a:t>
            </a:r>
            <a:r>
              <a:rPr lang="es-ES" sz="1200" dirty="0" err="1">
                <a:latin typeface="Courier New" panose="02070309020205020404" pitchFamily="49" charset="0"/>
              </a:rPr>
              <a:t>find</a:t>
            </a:r>
            <a:r>
              <a:rPr lang="es-ES" sz="1200" dirty="0">
                <a:latin typeface="Courier New" panose="02070309020205020404" pitchFamily="49" charset="0"/>
              </a:rPr>
              <a:t> </a:t>
            </a:r>
            <a:r>
              <a:rPr lang="es-ES" sz="1200" dirty="0" err="1">
                <a:latin typeface="Courier New" panose="02070309020205020404" pitchFamily="49" charset="0"/>
              </a:rPr>
              <a:t>image</a:t>
            </a:r>
            <a:r>
              <a:rPr lang="es-ES" sz="1200" dirty="0">
                <a:latin typeface="Courier New" panose="02070309020205020404" pitchFamily="49" charset="0"/>
              </a:rPr>
              <a:t> '</a:t>
            </a:r>
            <a:r>
              <a:rPr lang="es-ES" sz="1200" dirty="0" err="1">
                <a:latin typeface="Courier New" panose="02070309020205020404" pitchFamily="49" charset="0"/>
              </a:rPr>
              <a:t>hello-world:latest</a:t>
            </a:r>
            <a:r>
              <a:rPr lang="es-ES" sz="1200" dirty="0">
                <a:latin typeface="Courier New" panose="02070309020205020404" pitchFamily="49" charset="0"/>
              </a:rPr>
              <a:t>' </a:t>
            </a:r>
            <a:r>
              <a:rPr lang="es-ES" sz="1200" dirty="0" err="1">
                <a:latin typeface="Courier New" panose="02070309020205020404" pitchFamily="49" charset="0"/>
              </a:rPr>
              <a:t>locally</a:t>
            </a:r>
            <a:endParaRPr lang="es-ES" sz="1200" dirty="0">
              <a:latin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/>
              <a:t>Docker buscó la imagen </a:t>
            </a:r>
            <a:r>
              <a:rPr lang="es-ES" sz="1200" dirty="0" err="1">
                <a:latin typeface="Courier New" panose="02070309020205020404" pitchFamily="49" charset="0"/>
              </a:rPr>
              <a:t>hello-world:latest</a:t>
            </a:r>
            <a:r>
              <a:rPr lang="es-ES" sz="1200" dirty="0"/>
              <a:t> </a:t>
            </a:r>
            <a:r>
              <a:rPr lang="es-ES" sz="1200" b="1" dirty="0"/>
              <a:t>en tu máquina</a:t>
            </a:r>
            <a:r>
              <a:rPr lang="es-E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/>
              <a:t>Como nunca la habías usado, </a:t>
            </a:r>
            <a:r>
              <a:rPr lang="es-ES" sz="1200" b="1" dirty="0"/>
              <a:t>no estaba descargada</a:t>
            </a:r>
            <a:r>
              <a:rPr lang="es-ES" sz="1200" dirty="0"/>
              <a:t>, por eso dice que no la encontró localmente.</a:t>
            </a:r>
          </a:p>
          <a:p>
            <a:pPr rtl="0">
              <a:buNone/>
            </a:pPr>
            <a:r>
              <a:rPr lang="es-ES" sz="1200" dirty="0" err="1">
                <a:latin typeface="Courier New" panose="02070309020205020404" pitchFamily="49" charset="0"/>
              </a:rPr>
              <a:t>latest</a:t>
            </a:r>
            <a:r>
              <a:rPr lang="es-ES" sz="1200" dirty="0">
                <a:latin typeface="Courier New" panose="02070309020205020404" pitchFamily="49" charset="0"/>
              </a:rPr>
              <a:t>: </a:t>
            </a:r>
            <a:r>
              <a:rPr lang="es-ES" sz="1200" dirty="0" err="1">
                <a:latin typeface="Courier New" panose="02070309020205020404" pitchFamily="49" charset="0"/>
              </a:rPr>
              <a:t>Pulling</a:t>
            </a:r>
            <a:r>
              <a:rPr lang="es-ES" sz="1200" dirty="0">
                <a:latin typeface="Courier New" panose="02070309020205020404" pitchFamily="49" charset="0"/>
              </a:rPr>
              <a:t> </a:t>
            </a:r>
            <a:r>
              <a:rPr lang="es-ES" sz="1200" dirty="0" err="1">
                <a:latin typeface="Courier New" panose="02070309020205020404" pitchFamily="49" charset="0"/>
              </a:rPr>
              <a:t>from</a:t>
            </a:r>
            <a:r>
              <a:rPr lang="es-ES" sz="1200" dirty="0">
                <a:latin typeface="Courier New" panose="02070309020205020404" pitchFamily="49" charset="0"/>
              </a:rPr>
              <a:t> </a:t>
            </a:r>
            <a:r>
              <a:rPr lang="es-ES" sz="1200" dirty="0" err="1">
                <a:latin typeface="Courier New" panose="02070309020205020404" pitchFamily="49" charset="0"/>
              </a:rPr>
              <a:t>library</a:t>
            </a:r>
            <a:r>
              <a:rPr lang="es-ES" sz="1200" dirty="0">
                <a:latin typeface="Courier New" panose="02070309020205020404" pitchFamily="49" charset="0"/>
              </a:rPr>
              <a:t>/</a:t>
            </a:r>
            <a:r>
              <a:rPr lang="es-ES" sz="1200" dirty="0" err="1">
                <a:latin typeface="Courier New" panose="02070309020205020404" pitchFamily="49" charset="0"/>
              </a:rPr>
              <a:t>hello-world</a:t>
            </a:r>
            <a:endParaRPr lang="es-ES" sz="1200" dirty="0">
              <a:latin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/>
              <a:t>Va a </a:t>
            </a:r>
            <a:r>
              <a:rPr lang="es-ES" sz="1200" b="1" dirty="0"/>
              <a:t>bajar la imagen desde Docker Hub</a:t>
            </a:r>
            <a:r>
              <a:rPr lang="es-ES" sz="1200" dirty="0"/>
              <a:t> (el repositorio público de imágenes).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 err="1">
                <a:latin typeface="Courier New" panose="02070309020205020404" pitchFamily="49" charset="0"/>
              </a:rPr>
              <a:t>library</a:t>
            </a:r>
            <a:r>
              <a:rPr lang="es-ES" sz="1200" dirty="0">
                <a:latin typeface="Courier New" panose="02070309020205020404" pitchFamily="49" charset="0"/>
              </a:rPr>
              <a:t>/</a:t>
            </a:r>
            <a:r>
              <a:rPr lang="es-ES" sz="1200" dirty="0" err="1">
                <a:latin typeface="Courier New" panose="02070309020205020404" pitchFamily="49" charset="0"/>
              </a:rPr>
              <a:t>hello-world</a:t>
            </a:r>
            <a:r>
              <a:rPr lang="es-ES" sz="1200" dirty="0"/>
              <a:t> significa que es una imagen oficial de Docker (no de un usuario cualquiera).</a:t>
            </a:r>
          </a:p>
          <a:p>
            <a:pPr rtl="0">
              <a:buNone/>
            </a:pPr>
            <a:r>
              <a:rPr lang="es-ES" sz="1200" dirty="0">
                <a:latin typeface="Courier New" panose="02070309020205020404" pitchFamily="49" charset="0"/>
              </a:rPr>
              <a:t>17eec7bbc9d7: </a:t>
            </a:r>
            <a:r>
              <a:rPr lang="es-ES" sz="1200" dirty="0" err="1">
                <a:latin typeface="Courier New" panose="02070309020205020404" pitchFamily="49" charset="0"/>
              </a:rPr>
              <a:t>Pull</a:t>
            </a:r>
            <a:r>
              <a:rPr lang="es-ES" sz="1200" dirty="0">
                <a:latin typeface="Courier New" panose="02070309020205020404" pitchFamily="49" charset="0"/>
              </a:rPr>
              <a:t> complete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/>
              <a:t>Las imágenes se componen de </a:t>
            </a:r>
            <a:r>
              <a:rPr lang="es-ES" sz="1200" b="1" dirty="0"/>
              <a:t>capas</a:t>
            </a:r>
            <a:r>
              <a:rPr lang="es-E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/>
              <a:t>Esta línea indica que </a:t>
            </a:r>
            <a:r>
              <a:rPr lang="es-ES" sz="1200" b="1" dirty="0"/>
              <a:t>se descargó una capa</a:t>
            </a:r>
            <a:r>
              <a:rPr lang="es-ES" sz="1200" dirty="0"/>
              <a:t> de la imagen (identificada por ese hash).</a:t>
            </a:r>
          </a:p>
          <a:p>
            <a:pPr rtl="0">
              <a:buNone/>
            </a:pPr>
            <a:r>
              <a:rPr lang="es-ES" sz="1200" dirty="0" err="1">
                <a:latin typeface="Courier New" panose="02070309020205020404" pitchFamily="49" charset="0"/>
              </a:rPr>
              <a:t>Digest</a:t>
            </a:r>
            <a:r>
              <a:rPr lang="es-ES" sz="1200" dirty="0">
                <a:latin typeface="Courier New" panose="02070309020205020404" pitchFamily="49" charset="0"/>
              </a:rPr>
              <a:t>: sha256:f7931603f70e13dbd844253370742c4fc4202d290c80442b2e68706d8f33ce26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/>
              <a:t>Es un </a:t>
            </a:r>
            <a:r>
              <a:rPr lang="es-ES" sz="1200" b="1" dirty="0"/>
              <a:t>hash (SHA-256)</a:t>
            </a:r>
            <a:r>
              <a:rPr lang="es-ES" sz="1200" dirty="0"/>
              <a:t> que identifica de forma única el contenido de la imagen.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/>
              <a:t>Sirve para verificar que la imagen descargada es exactamente la que debería ser, sin modificaciones.</a:t>
            </a:r>
          </a:p>
          <a:p>
            <a:pPr rtl="0">
              <a:buNone/>
            </a:pPr>
            <a:r>
              <a:rPr lang="es-ES" sz="1200" dirty="0">
                <a:latin typeface="Courier New" panose="02070309020205020404" pitchFamily="49" charset="0"/>
              </a:rPr>
              <a:t>Status: </a:t>
            </a:r>
            <a:r>
              <a:rPr lang="es-ES" sz="1200" dirty="0" err="1">
                <a:latin typeface="Courier New" panose="02070309020205020404" pitchFamily="49" charset="0"/>
              </a:rPr>
              <a:t>Downloaded</a:t>
            </a:r>
            <a:r>
              <a:rPr lang="es-ES" sz="1200" dirty="0">
                <a:latin typeface="Courier New" panose="02070309020205020404" pitchFamily="49" charset="0"/>
              </a:rPr>
              <a:t> </a:t>
            </a:r>
            <a:r>
              <a:rPr lang="es-ES" sz="1200" dirty="0" err="1">
                <a:latin typeface="Courier New" panose="02070309020205020404" pitchFamily="49" charset="0"/>
              </a:rPr>
              <a:t>newer</a:t>
            </a:r>
            <a:r>
              <a:rPr lang="es-ES" sz="1200" dirty="0">
                <a:latin typeface="Courier New" panose="02070309020205020404" pitchFamily="49" charset="0"/>
              </a:rPr>
              <a:t> </a:t>
            </a:r>
            <a:r>
              <a:rPr lang="es-ES" sz="1200" dirty="0" err="1">
                <a:latin typeface="Courier New" panose="02070309020205020404" pitchFamily="49" charset="0"/>
              </a:rPr>
              <a:t>image</a:t>
            </a:r>
            <a:r>
              <a:rPr lang="es-ES" sz="1200" dirty="0">
                <a:latin typeface="Courier New" panose="02070309020205020404" pitchFamily="49" charset="0"/>
              </a:rPr>
              <a:t> </a:t>
            </a:r>
            <a:r>
              <a:rPr lang="es-ES" sz="1200" dirty="0" err="1">
                <a:latin typeface="Courier New" panose="02070309020205020404" pitchFamily="49" charset="0"/>
              </a:rPr>
              <a:t>for</a:t>
            </a:r>
            <a:r>
              <a:rPr lang="es-ES" sz="1200" dirty="0">
                <a:latin typeface="Courier New" panose="02070309020205020404" pitchFamily="49" charset="0"/>
              </a:rPr>
              <a:t> </a:t>
            </a:r>
            <a:r>
              <a:rPr lang="es-ES" sz="1200" dirty="0" err="1">
                <a:latin typeface="Courier New" panose="02070309020205020404" pitchFamily="49" charset="0"/>
              </a:rPr>
              <a:t>hello-world:latest</a:t>
            </a:r>
            <a:endParaRPr lang="es-ES" sz="1200" dirty="0"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s-ES" dirty="0"/>
            </a:br>
            <a:endParaRPr lang="es-ES" dirty="0"/>
          </a:p>
          <a:p>
            <a:pPr>
              <a:buNone/>
            </a:pPr>
            <a:br>
              <a:rPr lang="es-ES" dirty="0"/>
            </a:br>
            <a:endParaRPr lang="es-ES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1E2ABEE-E4A1-D15C-1E10-636E52E362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911" y="0"/>
            <a:ext cx="12567757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02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BCA91-84A5-F8C9-B8AB-E60575F9C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94E5C89-86F2-B648-40ED-CE78D3158962}"/>
              </a:ext>
            </a:extLst>
          </p:cNvPr>
          <p:cNvSpPr/>
          <p:nvPr/>
        </p:nvSpPr>
        <p:spPr>
          <a:xfrm>
            <a:off x="11123217" y="45569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42A941D-9A2F-5080-799F-BF80520AB631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F800656-1F40-EEF2-7CC3-DA8C4E7A49B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9F5D7E8E-8A66-0956-54DE-335027F4164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458B4FDD-FF41-3658-8C9E-D4E99B2E553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B99D1E7-6B3A-4C57-950E-F3A0BD7E979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29564CC-D72F-258B-8041-97C4BC924DDA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3F8B25ED-6098-629E-661F-6A06E02FEED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C81C49D-41FD-E73D-5FA5-31CBB7DD5E19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4932D17-ED75-3FC4-EBA1-13E18D6FDB1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A51E6EB3-427F-AAC8-3AE9-6B35F6A1001B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58730" y="323271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196" b="1" dirty="0">
              <a:latin typeface="Poppins 1 Bold" panose="020B0604020202020204" charset="0"/>
              <a:ea typeface="+mn-ea"/>
              <a:cs typeface="Poppins 1 Bold" panose="020B060402020202020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23A4A8C-A075-2EA5-3C01-FC385B8E858E}"/>
              </a:ext>
            </a:extLst>
          </p:cNvPr>
          <p:cNvSpPr txBox="1"/>
          <p:nvPr/>
        </p:nvSpPr>
        <p:spPr>
          <a:xfrm>
            <a:off x="383733" y="4366069"/>
            <a:ext cx="6525862" cy="5321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3. Qué hizo Docker exactamente (los pasos 1–4)</a:t>
            </a:r>
          </a:p>
          <a:p>
            <a:pPr>
              <a:buNone/>
            </a:pPr>
            <a:r>
              <a:rPr lang="es-ES" dirty="0"/>
              <a:t>El texto lo resume, pero te lo traduzco a “arquitectura Docker”:</a:t>
            </a:r>
          </a:p>
          <a:p>
            <a:r>
              <a:rPr lang="es-ES" dirty="0" err="1">
                <a:latin typeface="Courier New" panose="02070309020205020404" pitchFamily="49" charset="0"/>
              </a:rPr>
              <a:t>To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generate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this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message</a:t>
            </a:r>
            <a:r>
              <a:rPr lang="es-ES" dirty="0">
                <a:latin typeface="Courier New" panose="02070309020205020404" pitchFamily="49" charset="0"/>
              </a:rPr>
              <a:t>, Docker </a:t>
            </a:r>
            <a:r>
              <a:rPr lang="es-ES" dirty="0" err="1">
                <a:latin typeface="Courier New" panose="02070309020205020404" pitchFamily="49" charset="0"/>
              </a:rPr>
              <a:t>took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the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following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steps</a:t>
            </a:r>
            <a:r>
              <a:rPr lang="es-ES" dirty="0">
                <a:latin typeface="Courier New" panose="02070309020205020404" pitchFamily="49" charset="0"/>
              </a:rPr>
              <a:t>:</a:t>
            </a:r>
          </a:p>
          <a:p>
            <a:r>
              <a:rPr lang="es-ES" dirty="0">
                <a:latin typeface="Courier New" panose="02070309020205020404" pitchFamily="49" charset="0"/>
              </a:rPr>
              <a:t> 1. </a:t>
            </a:r>
            <a:r>
              <a:rPr lang="es-ES" dirty="0" err="1">
                <a:latin typeface="Courier New" panose="02070309020205020404" pitchFamily="49" charset="0"/>
              </a:rPr>
              <a:t>The</a:t>
            </a:r>
            <a:r>
              <a:rPr lang="es-ES" dirty="0">
                <a:latin typeface="Courier New" panose="02070309020205020404" pitchFamily="49" charset="0"/>
              </a:rPr>
              <a:t> Docker </a:t>
            </a:r>
            <a:r>
              <a:rPr lang="es-ES" dirty="0" err="1">
                <a:latin typeface="Courier New" panose="02070309020205020404" pitchFamily="49" charset="0"/>
              </a:rPr>
              <a:t>client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contacted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the</a:t>
            </a:r>
            <a:r>
              <a:rPr lang="es-ES" dirty="0">
                <a:latin typeface="Courier New" panose="02070309020205020404" pitchFamily="49" charset="0"/>
              </a:rPr>
              <a:t> Docker </a:t>
            </a:r>
            <a:r>
              <a:rPr lang="es-ES" dirty="0" err="1">
                <a:latin typeface="Courier New" panose="02070309020205020404" pitchFamily="49" charset="0"/>
              </a:rPr>
              <a:t>daemon</a:t>
            </a:r>
            <a:r>
              <a:rPr lang="es-ES" dirty="0">
                <a:latin typeface="Courier New" panose="02070309020205020404" pitchFamily="49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Docker </a:t>
            </a:r>
            <a:r>
              <a:rPr lang="es-ES" b="1" dirty="0" err="1"/>
              <a:t>client</a:t>
            </a:r>
            <a:r>
              <a:rPr lang="es-ES" dirty="0"/>
              <a:t>: el comando que tú escribes (</a:t>
            </a:r>
            <a:r>
              <a:rPr lang="es-ES" dirty="0" err="1">
                <a:latin typeface="Courier New" panose="02070309020205020404" pitchFamily="49" charset="0"/>
              </a:rPr>
              <a:t>docker</a:t>
            </a:r>
            <a:r>
              <a:rPr lang="es-ES" dirty="0">
                <a:latin typeface="Courier New" panose="02070309020205020404" pitchFamily="49" charset="0"/>
              </a:rPr>
              <a:t> run </a:t>
            </a:r>
            <a:r>
              <a:rPr lang="es-ES" dirty="0" err="1">
                <a:latin typeface="Courier New" panose="02070309020205020404" pitchFamily="49" charset="0"/>
              </a:rPr>
              <a:t>hello-world</a:t>
            </a:r>
            <a:r>
              <a:rPr lang="es-ES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Docker </a:t>
            </a:r>
            <a:r>
              <a:rPr lang="es-ES" b="1" dirty="0" err="1"/>
              <a:t>daemon</a:t>
            </a:r>
            <a:r>
              <a:rPr lang="es-ES" dirty="0"/>
              <a:t>: el servicio que corre en segundo plano (en Docker Desktop o en Linux como </a:t>
            </a:r>
            <a:r>
              <a:rPr lang="es-ES" dirty="0" err="1">
                <a:latin typeface="Courier New" panose="02070309020205020404" pitchFamily="49" charset="0"/>
              </a:rPr>
              <a:t>dockerd</a:t>
            </a:r>
            <a:r>
              <a:rPr lang="es-ES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Paso 1: el cliente le dice al </a:t>
            </a:r>
            <a:r>
              <a:rPr lang="es-ES" dirty="0" err="1"/>
              <a:t>daemon</a:t>
            </a:r>
            <a:r>
              <a:rPr lang="es-ES" dirty="0"/>
              <a:t>: </a:t>
            </a:r>
            <a:r>
              <a:rPr lang="es-ES" i="1" dirty="0"/>
              <a:t>“por favor corre un contenedor de </a:t>
            </a:r>
            <a:r>
              <a:rPr lang="es-ES" i="1" dirty="0" err="1">
                <a:latin typeface="Courier New" panose="02070309020205020404" pitchFamily="49" charset="0"/>
              </a:rPr>
              <a:t>hello-world</a:t>
            </a:r>
            <a:r>
              <a:rPr lang="es-ES" i="1" dirty="0"/>
              <a:t>”</a:t>
            </a:r>
            <a:r>
              <a:rPr lang="es-ES" dirty="0"/>
              <a:t>.</a:t>
            </a:r>
          </a:p>
          <a:p>
            <a:r>
              <a:rPr lang="es-ES" dirty="0">
                <a:latin typeface="Courier New" panose="02070309020205020404" pitchFamily="49" charset="0"/>
              </a:rPr>
              <a:t> 2. </a:t>
            </a:r>
            <a:r>
              <a:rPr lang="es-ES" dirty="0" err="1">
                <a:latin typeface="Courier New" panose="02070309020205020404" pitchFamily="49" charset="0"/>
              </a:rPr>
              <a:t>The</a:t>
            </a:r>
            <a:r>
              <a:rPr lang="es-ES" dirty="0">
                <a:latin typeface="Courier New" panose="02070309020205020404" pitchFamily="49" charset="0"/>
              </a:rPr>
              <a:t> Docker </a:t>
            </a:r>
            <a:r>
              <a:rPr lang="es-ES" dirty="0" err="1">
                <a:latin typeface="Courier New" panose="02070309020205020404" pitchFamily="49" charset="0"/>
              </a:rPr>
              <a:t>daemon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pulled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the</a:t>
            </a:r>
            <a:r>
              <a:rPr lang="es-ES" dirty="0">
                <a:latin typeface="Courier New" panose="02070309020205020404" pitchFamily="49" charset="0"/>
              </a:rPr>
              <a:t> "</a:t>
            </a:r>
            <a:r>
              <a:rPr lang="es-ES" dirty="0" err="1">
                <a:latin typeface="Courier New" panose="02070309020205020404" pitchFamily="49" charset="0"/>
              </a:rPr>
              <a:t>hello-world</a:t>
            </a:r>
            <a:r>
              <a:rPr lang="es-ES" dirty="0">
                <a:latin typeface="Courier New" panose="02070309020205020404" pitchFamily="49" charset="0"/>
              </a:rPr>
              <a:t>" </a:t>
            </a:r>
            <a:r>
              <a:rPr lang="es-ES" dirty="0" err="1">
                <a:latin typeface="Courier New" panose="02070309020205020404" pitchFamily="49" charset="0"/>
              </a:rPr>
              <a:t>image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from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the</a:t>
            </a:r>
            <a:r>
              <a:rPr lang="es-ES" dirty="0">
                <a:latin typeface="Courier New" panose="02070309020205020404" pitchFamily="49" charset="0"/>
              </a:rPr>
              <a:t> Docker Hub.</a:t>
            </a:r>
          </a:p>
          <a:p>
            <a:r>
              <a:rPr lang="es-ES" dirty="0">
                <a:latin typeface="Courier New" panose="02070309020205020404" pitchFamily="49" charset="0"/>
              </a:rPr>
              <a:t>    (amd64)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Como la imagen no estaba local, el </a:t>
            </a:r>
            <a:r>
              <a:rPr lang="es-ES" dirty="0" err="1"/>
              <a:t>daemon</a:t>
            </a:r>
            <a:r>
              <a:rPr lang="es-ES" dirty="0"/>
              <a:t> la </a:t>
            </a:r>
            <a:r>
              <a:rPr lang="es-ES" b="1" dirty="0"/>
              <a:t>descargó de Docker Hub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latin typeface="Courier New" panose="02070309020205020404" pitchFamily="49" charset="0"/>
              </a:rPr>
              <a:t>amd64</a:t>
            </a:r>
            <a:r>
              <a:rPr lang="es-ES" dirty="0"/>
              <a:t> es la </a:t>
            </a:r>
            <a:r>
              <a:rPr lang="es-ES" b="1" dirty="0"/>
              <a:t>arquitectura</a:t>
            </a:r>
            <a:r>
              <a:rPr lang="es-ES" dirty="0"/>
              <a:t> de tu máquina (x86_64 típica de PC/laptop).</a:t>
            </a:r>
          </a:p>
          <a:p>
            <a:r>
              <a:rPr lang="es-ES" dirty="0">
                <a:latin typeface="Courier New" panose="02070309020205020404" pitchFamily="49" charset="0"/>
              </a:rPr>
              <a:t> 3. </a:t>
            </a:r>
            <a:r>
              <a:rPr lang="es-ES" dirty="0" err="1">
                <a:latin typeface="Courier New" panose="02070309020205020404" pitchFamily="49" charset="0"/>
              </a:rPr>
              <a:t>The</a:t>
            </a:r>
            <a:r>
              <a:rPr lang="es-ES" dirty="0">
                <a:latin typeface="Courier New" panose="02070309020205020404" pitchFamily="49" charset="0"/>
              </a:rPr>
              <a:t> Docker </a:t>
            </a:r>
            <a:r>
              <a:rPr lang="es-ES" dirty="0" err="1">
                <a:latin typeface="Courier New" panose="02070309020205020404" pitchFamily="49" charset="0"/>
              </a:rPr>
              <a:t>daemon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created</a:t>
            </a:r>
            <a:r>
              <a:rPr lang="es-ES" dirty="0">
                <a:latin typeface="Courier New" panose="02070309020205020404" pitchFamily="49" charset="0"/>
              </a:rPr>
              <a:t> a new container </a:t>
            </a:r>
            <a:r>
              <a:rPr lang="es-ES" dirty="0" err="1">
                <a:latin typeface="Courier New" panose="02070309020205020404" pitchFamily="49" charset="0"/>
              </a:rPr>
              <a:t>from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that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image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which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runs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the</a:t>
            </a:r>
            <a:endParaRPr lang="es-ES" dirty="0">
              <a:latin typeface="Courier New" panose="02070309020205020404" pitchFamily="49" charset="0"/>
            </a:endParaRPr>
          </a:p>
          <a:p>
            <a:r>
              <a:rPr lang="es-ES" dirty="0">
                <a:latin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</a:rPr>
              <a:t>executable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that</a:t>
            </a:r>
            <a:r>
              <a:rPr lang="es-ES" dirty="0">
                <a:latin typeface="Courier New" panose="02070309020205020404" pitchFamily="49" charset="0"/>
              </a:rPr>
              <a:t> produces </a:t>
            </a:r>
            <a:r>
              <a:rPr lang="es-ES" dirty="0" err="1">
                <a:latin typeface="Courier New" panose="02070309020205020404" pitchFamily="49" charset="0"/>
              </a:rPr>
              <a:t>the</a:t>
            </a:r>
            <a:r>
              <a:rPr lang="es-ES" dirty="0">
                <a:latin typeface="Courier New" panose="02070309020205020404" pitchFamily="49" charset="0"/>
              </a:rPr>
              <a:t> output </a:t>
            </a:r>
            <a:r>
              <a:rPr lang="es-ES" dirty="0" err="1">
                <a:latin typeface="Courier New" panose="02070309020205020404" pitchFamily="49" charset="0"/>
              </a:rPr>
              <a:t>you</a:t>
            </a:r>
            <a:r>
              <a:rPr lang="es-ES" dirty="0">
                <a:latin typeface="Courier New" panose="02070309020205020404" pitchFamily="49" charset="0"/>
              </a:rPr>
              <a:t> are </a:t>
            </a:r>
            <a:r>
              <a:rPr lang="es-ES" dirty="0" err="1">
                <a:latin typeface="Courier New" panose="02070309020205020404" pitchFamily="49" charset="0"/>
              </a:rPr>
              <a:t>currently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reading</a:t>
            </a:r>
            <a:r>
              <a:rPr lang="es-ES" dirty="0">
                <a:latin typeface="Courier New" panose="02070309020205020404" pitchFamily="49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Con la imagen ya descargada, el </a:t>
            </a:r>
            <a:r>
              <a:rPr lang="es-ES" dirty="0" err="1"/>
              <a:t>daemon</a:t>
            </a:r>
            <a:r>
              <a:rPr lang="es-E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Crea un contenedor</a:t>
            </a:r>
            <a:r>
              <a:rPr lang="es-ES" dirty="0"/>
              <a:t> (una instancia de la imagen).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Dentro del contenedor se ejecuta un programa muy simple que solo imprime el mensaje que ves.</a:t>
            </a:r>
          </a:p>
          <a:p>
            <a:pPr>
              <a:buNone/>
            </a:pPr>
            <a:br>
              <a:rPr lang="es-ES" dirty="0"/>
            </a:br>
            <a:endParaRPr lang="es-ES" dirty="0"/>
          </a:p>
          <a:p>
            <a:pPr>
              <a:buNone/>
            </a:pPr>
            <a:br>
              <a:rPr lang="es-ES" dirty="0"/>
            </a:br>
            <a:endParaRPr lang="es-ES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D764F99-4DEA-C6BC-20A3-64E745411E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911" y="0"/>
            <a:ext cx="12567757" cy="394390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41A444E7-72CC-999F-40BB-D01E486AF70D}"/>
              </a:ext>
            </a:extLst>
          </p:cNvPr>
          <p:cNvSpPr txBox="1"/>
          <p:nvPr/>
        </p:nvSpPr>
        <p:spPr>
          <a:xfrm>
            <a:off x="7611374" y="4514412"/>
            <a:ext cx="4229883" cy="2602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dirty="0">
                <a:latin typeface="Courier New" panose="02070309020205020404" pitchFamily="49" charset="0"/>
              </a:rPr>
              <a:t>4. </a:t>
            </a:r>
            <a:r>
              <a:rPr lang="es-ES" dirty="0" err="1">
                <a:latin typeface="Courier New" panose="02070309020205020404" pitchFamily="49" charset="0"/>
              </a:rPr>
              <a:t>The</a:t>
            </a:r>
            <a:r>
              <a:rPr lang="es-ES" dirty="0">
                <a:latin typeface="Courier New" panose="02070309020205020404" pitchFamily="49" charset="0"/>
              </a:rPr>
              <a:t> Docker </a:t>
            </a:r>
            <a:r>
              <a:rPr lang="es-ES" dirty="0" err="1">
                <a:latin typeface="Courier New" panose="02070309020205020404" pitchFamily="49" charset="0"/>
              </a:rPr>
              <a:t>daemon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streamed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that</a:t>
            </a:r>
            <a:r>
              <a:rPr lang="es-ES" dirty="0">
                <a:latin typeface="Courier New" panose="02070309020205020404" pitchFamily="49" charset="0"/>
              </a:rPr>
              <a:t> output </a:t>
            </a:r>
            <a:r>
              <a:rPr lang="es-ES" dirty="0" err="1">
                <a:latin typeface="Courier New" panose="02070309020205020404" pitchFamily="49" charset="0"/>
              </a:rPr>
              <a:t>to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the</a:t>
            </a:r>
            <a:r>
              <a:rPr lang="es-ES" dirty="0">
                <a:latin typeface="Courier New" panose="02070309020205020404" pitchFamily="49" charset="0"/>
              </a:rPr>
              <a:t> Docker </a:t>
            </a:r>
            <a:r>
              <a:rPr lang="es-ES" dirty="0" err="1">
                <a:latin typeface="Courier New" panose="02070309020205020404" pitchFamily="49" charset="0"/>
              </a:rPr>
              <a:t>client</a:t>
            </a:r>
            <a:r>
              <a:rPr lang="es-ES" dirty="0">
                <a:latin typeface="Courier New" panose="02070309020205020404" pitchFamily="49" charset="0"/>
              </a:rPr>
              <a:t>, </a:t>
            </a:r>
            <a:r>
              <a:rPr lang="es-ES" dirty="0" err="1">
                <a:latin typeface="Courier New" panose="02070309020205020404" pitchFamily="49" charset="0"/>
              </a:rPr>
              <a:t>which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sent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it</a:t>
            </a:r>
            <a:endParaRPr lang="es-ES" dirty="0">
              <a:latin typeface="Courier New" panose="02070309020205020404" pitchFamily="49" charset="0"/>
            </a:endParaRPr>
          </a:p>
          <a:p>
            <a:r>
              <a:rPr lang="es-ES" dirty="0">
                <a:latin typeface="Courier New" panose="02070309020205020404" pitchFamily="49" charset="0"/>
              </a:rPr>
              <a:t>    </a:t>
            </a:r>
            <a:r>
              <a:rPr lang="es-ES" dirty="0" err="1">
                <a:latin typeface="Courier New" panose="02070309020205020404" pitchFamily="49" charset="0"/>
              </a:rPr>
              <a:t>to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your</a:t>
            </a:r>
            <a:r>
              <a:rPr lang="es-ES" dirty="0">
                <a:latin typeface="Courier New" panose="02070309020205020404" pitchFamily="49" charset="0"/>
              </a:rPr>
              <a:t> terminal.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Lo que el programa dentro del contenedor imprime </a:t>
            </a:r>
            <a:r>
              <a:rPr lang="es-ES" b="1" dirty="0"/>
              <a:t>sale por </a:t>
            </a:r>
            <a:r>
              <a:rPr lang="es-ES" b="1" dirty="0" err="1"/>
              <a:t>stdout</a:t>
            </a:r>
            <a:r>
              <a:rPr lang="es-ES" b="1" dirty="0"/>
              <a:t> en el contenedor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El </a:t>
            </a:r>
            <a:r>
              <a:rPr lang="es-ES" dirty="0" err="1"/>
              <a:t>daemon</a:t>
            </a:r>
            <a:r>
              <a:rPr lang="es-ES" dirty="0"/>
              <a:t> captura eso y se lo pasa al cliente.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El cliente lo muestra en tu </a:t>
            </a:r>
            <a:r>
              <a:rPr lang="es-ES" b="1" dirty="0"/>
              <a:t>terminal</a:t>
            </a:r>
            <a:r>
              <a:rPr lang="es-ES" dirty="0"/>
              <a:t>.</a:t>
            </a:r>
          </a:p>
          <a:p>
            <a:pPr>
              <a:buNone/>
            </a:pPr>
            <a:r>
              <a:rPr lang="es-ES" dirty="0"/>
              <a:t>Resumen:</a:t>
            </a:r>
            <a:br>
              <a:rPr lang="es-ES" dirty="0"/>
            </a:br>
            <a:r>
              <a:rPr lang="es-ES" dirty="0"/>
              <a:t>Tu comando habla con el </a:t>
            </a:r>
            <a:r>
              <a:rPr lang="es-ES" dirty="0" err="1"/>
              <a:t>daemon</a:t>
            </a:r>
            <a:r>
              <a:rPr lang="es-ES" dirty="0"/>
              <a:t>, el </a:t>
            </a:r>
            <a:r>
              <a:rPr lang="es-ES" dirty="0" err="1"/>
              <a:t>daemon</a:t>
            </a:r>
            <a:r>
              <a:rPr lang="es-ES" dirty="0"/>
              <a:t> baja la imagen, crea el contenedor, corre el programa y te muestra lo que imprime.</a:t>
            </a:r>
          </a:p>
        </p:txBody>
      </p:sp>
    </p:spTree>
    <p:extLst>
      <p:ext uri="{BB962C8B-B14F-4D97-AF65-F5344CB8AC3E}">
        <p14:creationId xmlns:p14="http://schemas.microsoft.com/office/powerpoint/2010/main" val="3959119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24A3A-A386-995E-4B64-8FBC7BDFD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B0561F1-7E6D-92A0-E451-CB0D23D5919A}"/>
              </a:ext>
            </a:extLst>
          </p:cNvPr>
          <p:cNvSpPr/>
          <p:nvPr/>
        </p:nvSpPr>
        <p:spPr>
          <a:xfrm>
            <a:off x="11123217" y="45569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6F6EFC4-FDAB-6AEF-4C06-4DA8FFB06A1E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5AB43815-9EC2-1A72-49E5-87CC922044BA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2797B1F2-5BEF-E908-DA53-8BDC7E67ED9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C5982374-3965-19B6-B42F-375C98D721A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0C24526-09C5-E72A-4166-1D7AF064E37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A57A73A-13E3-489D-354F-9200A343BF9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9A3B1EB-3B2C-73D7-4A85-38356AF758BE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D91ED411-D459-BDF1-CFBA-47D95ADBBF1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EF639895-505B-3FF0-A8B7-8F824932570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C38982F5-39DB-2ABF-9D67-BCCCC60F9540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58730" y="323271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196" b="1" dirty="0">
              <a:latin typeface="Poppins 1 Bold" panose="020B0604020202020204" charset="0"/>
              <a:ea typeface="+mn-ea"/>
              <a:cs typeface="Poppins 1 Bold" panose="020B060402020202020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08D2B7A-3D56-6C43-5E67-72E641EBAEB8}"/>
              </a:ext>
            </a:extLst>
          </p:cNvPr>
          <p:cNvSpPr txBox="1"/>
          <p:nvPr/>
        </p:nvSpPr>
        <p:spPr>
          <a:xfrm>
            <a:off x="4775994" y="1041686"/>
            <a:ext cx="7311797" cy="719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s-ES" dirty="0"/>
          </a:p>
          <a:p>
            <a:pPr>
              <a:buNone/>
            </a:pPr>
            <a:br>
              <a:rPr lang="es-ES" dirty="0"/>
            </a:br>
            <a:endParaRPr lang="es-ES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298117F4-8227-3A50-C6D9-05FBAD9278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170" y="1870502"/>
            <a:ext cx="11269648" cy="52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071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FE033-D5E8-F8BE-C5D0-45A058CB7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B23A61F-8C82-8D89-EF6A-CFBCFE4A0BA8}"/>
              </a:ext>
            </a:extLst>
          </p:cNvPr>
          <p:cNvSpPr/>
          <p:nvPr/>
        </p:nvSpPr>
        <p:spPr>
          <a:xfrm>
            <a:off x="11123217" y="45569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1514D8D-3CD7-2D1E-EC26-33F4A801EEDA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3EC32381-23D0-B425-ACAE-9951B17D14A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9885B55C-830D-DC1C-FA8D-40DB55CAA71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A4E35ABB-D0DA-B0F3-EBDC-1756C0ADCF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EFF73D2-2266-8A63-6BDE-9805C664F21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2144BAD-E508-2CAF-BBA5-2A640C2E22D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5C099D3-629B-6D6E-183B-3B07840B4F6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4B6F891E-4559-6828-7389-CF151A5B1A7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A9FB9455-2720-25ED-4C19-D5A0F379536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A4167C85-830B-797B-ADEE-94A81B8D49A3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58730" y="323271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196" b="1" dirty="0">
              <a:latin typeface="Poppins 1 Bold" panose="020B0604020202020204" charset="0"/>
              <a:ea typeface="+mn-ea"/>
              <a:cs typeface="Poppins 1 Bold" panose="020B060402020202020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A926B65-1A3E-496E-27E5-85E5F95C016B}"/>
              </a:ext>
            </a:extLst>
          </p:cNvPr>
          <p:cNvSpPr txBox="1"/>
          <p:nvPr/>
        </p:nvSpPr>
        <p:spPr>
          <a:xfrm>
            <a:off x="4775994" y="1041686"/>
            <a:ext cx="7311797" cy="719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s-ES" dirty="0"/>
          </a:p>
          <a:p>
            <a:pPr>
              <a:buNone/>
            </a:pPr>
            <a:br>
              <a:rPr lang="es-ES" dirty="0"/>
            </a:br>
            <a:endParaRPr lang="es-E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F4C909B-4E0E-60ED-9ADA-D0022E45C3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7604" y="934233"/>
            <a:ext cx="8034453" cy="638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50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23340-653A-A66D-6FCC-A55093309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24953F8-84A8-DD17-B00D-FAD21D0CCA57}"/>
              </a:ext>
            </a:extLst>
          </p:cNvPr>
          <p:cNvSpPr/>
          <p:nvPr/>
        </p:nvSpPr>
        <p:spPr>
          <a:xfrm>
            <a:off x="11123217" y="45569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A42D88F-3859-5EFC-5D3E-A6AAA23391CA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D8B50ADA-9467-AC19-EF1A-CAA7707D2EF9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B32FE6E-65F4-32AB-724C-6F5E8BD931C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B2E02657-1623-614A-D6CF-CE4F730F519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606F1DA-B6E3-727D-A57D-4B1564AA4E0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1E0FFEC-2042-D971-6B4B-6675BAA2D03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5CAF6BD-0E99-4610-FDDA-64DFCACF6B6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454EAB82-0468-4D99-89E2-ACD37FDD632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EA977280-7FDF-97FF-2AFC-9DECFEDB844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B34CBB8F-976D-7A43-69ED-8E6E44D33B25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58730" y="323271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196" b="1" dirty="0">
              <a:latin typeface="Poppins 1 Bold" panose="020B0604020202020204" charset="0"/>
              <a:ea typeface="+mn-ea"/>
              <a:cs typeface="Poppins 1 Bold" panose="020B060402020202020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A496D03-473C-5C61-95B5-E487B182F042}"/>
              </a:ext>
            </a:extLst>
          </p:cNvPr>
          <p:cNvSpPr txBox="1"/>
          <p:nvPr/>
        </p:nvSpPr>
        <p:spPr>
          <a:xfrm>
            <a:off x="4775994" y="1041686"/>
            <a:ext cx="7311797" cy="719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s-ES" dirty="0"/>
          </a:p>
          <a:p>
            <a:pPr>
              <a:buNone/>
            </a:pP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165285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d0e0202-030e-462a-aa27-6a6a82479e70" xsi:nil="true"/>
    <lcf76f155ced4ddcb4097134ff3c332f xmlns="6c275f7e-0654-4a6d-8904-2cca8e28e71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E0DDBAFD1725F409D01B56EA32EFDE3" ma:contentTypeVersion="7" ma:contentTypeDescription="Crear nuevo documento." ma:contentTypeScope="" ma:versionID="0e3a372f9aebe1af25825ebaa0c18744">
  <xsd:schema xmlns:xsd="http://www.w3.org/2001/XMLSchema" xmlns:xs="http://www.w3.org/2001/XMLSchema" xmlns:p="http://schemas.microsoft.com/office/2006/metadata/properties" xmlns:ns2="6c275f7e-0654-4a6d-8904-2cca8e28e712" xmlns:ns3="cd0e0202-030e-462a-aa27-6a6a82479e70" targetNamespace="http://schemas.microsoft.com/office/2006/metadata/properties" ma:root="true" ma:fieldsID="0eaab62a3d55c6ce655e721a70c7681c" ns2:_="" ns3:_="">
    <xsd:import namespace="6c275f7e-0654-4a6d-8904-2cca8e28e712"/>
    <xsd:import namespace="cd0e0202-030e-462a-aa27-6a6a82479e7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275f7e-0654-4a6d-8904-2cca8e28e71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Etiquetas de imagen" ma:readOnly="false" ma:fieldId="{5cf76f15-5ced-4ddc-b409-7134ff3c332f}" ma:taxonomyMulti="true" ma:sspId="39d08eb0-6654-4c6a-ad6e-6625fbda6b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0e0202-030e-462a-aa27-6a6a82479e7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821bf81b-0d50-4df5-8eec-576b1a7382f6}" ma:internalName="TaxCatchAll" ma:showField="CatchAllData" ma:web="cd0e0202-030e-462a-aa27-6a6a82479e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23B340-D820-43E7-9E27-6EAE6AACC6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E0BB8D-833E-4C50-9216-ACEFA67B89FD}">
  <ds:schemaRefs>
    <ds:schemaRef ds:uri="http://purl.org/dc/dcmitype/"/>
    <ds:schemaRef ds:uri="http://schemas.microsoft.com/office/2006/metadata/properties"/>
    <ds:schemaRef ds:uri="http://purl.org/dc/terms/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cd0e0202-030e-462a-aa27-6a6a82479e70"/>
    <ds:schemaRef ds:uri="6c275f7e-0654-4a6d-8904-2cca8e28e712"/>
  </ds:schemaRefs>
</ds:datastoreItem>
</file>

<file path=customXml/itemProps3.xml><?xml version="1.0" encoding="utf-8"?>
<ds:datastoreItem xmlns:ds="http://schemas.openxmlformats.org/officeDocument/2006/customXml" ds:itemID="{ECB2B6EA-D349-4B2F-B929-6B75BC50FC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275f7e-0654-4a6d-8904-2cca8e28e712"/>
    <ds:schemaRef ds:uri="cd0e0202-030e-462a-aa27-6a6a82479e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2994</TotalTime>
  <Words>883</Words>
  <Application>Microsoft Office PowerPoint</Application>
  <PresentationFormat>Personalizado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Poppins 1 Bold</vt:lpstr>
      <vt:lpstr>Arial</vt:lpstr>
      <vt:lpstr>Poppins</vt:lpstr>
      <vt:lpstr>Courier New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Enyoi ChildTech - Pitch final</dc:title>
  <dc:creator>Administrador</dc:creator>
  <cp:lastModifiedBy>Juan Esteban Mejia Velasquez</cp:lastModifiedBy>
  <cp:revision>21</cp:revision>
  <dcterms:created xsi:type="dcterms:W3CDTF">2006-08-16T00:00:00Z</dcterms:created>
  <dcterms:modified xsi:type="dcterms:W3CDTF">2025-11-20T23:37:37Z</dcterms:modified>
  <dc:identifier>DAGn2ZVma2Y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0x0101009E0DDBAFD1725F409D01B56EA32EFDE3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GUID">
    <vt:lpwstr>5a9a97e6-a690-4e83-b95e-999d38ef2ce5</vt:lpwstr>
  </property>
  <property fmtid="{D5CDD505-2E9C-101B-9397-08002B2CF9AE}" pid="11" name="SharedWithUsers">
    <vt:lpwstr/>
  </property>
</Properties>
</file>