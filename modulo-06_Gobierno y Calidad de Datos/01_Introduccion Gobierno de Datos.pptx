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37"/>
  </p:notesMasterIdLst>
  <p:sldIdLst>
    <p:sldId id="257" r:id="rId5"/>
    <p:sldId id="332" r:id="rId6"/>
    <p:sldId id="331" r:id="rId7"/>
    <p:sldId id="333" r:id="rId8"/>
    <p:sldId id="378" r:id="rId9"/>
    <p:sldId id="379" r:id="rId10"/>
    <p:sldId id="389" r:id="rId11"/>
    <p:sldId id="390" r:id="rId12"/>
    <p:sldId id="380" r:id="rId13"/>
    <p:sldId id="391" r:id="rId14"/>
    <p:sldId id="367" r:id="rId15"/>
    <p:sldId id="368" r:id="rId16"/>
    <p:sldId id="285" r:id="rId17"/>
    <p:sldId id="370" r:id="rId18"/>
    <p:sldId id="385" r:id="rId19"/>
    <p:sldId id="369" r:id="rId20"/>
    <p:sldId id="371" r:id="rId21"/>
    <p:sldId id="386" r:id="rId22"/>
    <p:sldId id="372" r:id="rId23"/>
    <p:sldId id="375" r:id="rId24"/>
    <p:sldId id="376" r:id="rId25"/>
    <p:sldId id="387" r:id="rId26"/>
    <p:sldId id="374" r:id="rId27"/>
    <p:sldId id="377" r:id="rId28"/>
    <p:sldId id="388" r:id="rId29"/>
    <p:sldId id="373" r:id="rId30"/>
    <p:sldId id="381" r:id="rId31"/>
    <p:sldId id="382" r:id="rId32"/>
    <p:sldId id="383" r:id="rId33"/>
    <p:sldId id="384" r:id="rId34"/>
    <p:sldId id="278" r:id="rId35"/>
    <p:sldId id="342" r:id="rId36"/>
  </p:sldIdLst>
  <p:sldSz cx="18288000" cy="10287000"/>
  <p:notesSz cx="6858000" cy="9144000"/>
  <p:embeddedFontLst>
    <p:embeddedFont>
      <p:font typeface="Poppins" panose="00000500000000000000" pitchFamily="2" charset="0"/>
      <p:regular r:id="rId38"/>
      <p:bold r:id="rId39"/>
      <p:italic r:id="rId40"/>
      <p:boldItalic r:id="rId41"/>
    </p:embeddedFont>
    <p:embeddedFont>
      <p:font typeface="Poppins 1 Bold" panose="020B0604020202020204" charset="0"/>
      <p:regular r:id="rId42"/>
    </p:embeddedFont>
    <p:embeddedFont>
      <p:font typeface="Poppins 2" panose="020B0604020202020204" charset="0"/>
      <p:regular r:id="rId43"/>
    </p:embeddedFont>
    <p:embeddedFont>
      <p:font typeface="Poppins 3" panose="020B0604020202020204" charset="0"/>
      <p:regular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22" autoAdjust="0"/>
  </p:normalViewPr>
  <p:slideViewPr>
    <p:cSldViewPr>
      <p:cViewPr varScale="1">
        <p:scale>
          <a:sx n="56" d="100"/>
          <a:sy n="56" d="100"/>
        </p:scale>
        <p:origin x="374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2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5.fntdata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1.fntdata"/><Relationship Id="rId46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7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6.fntdata"/><Relationship Id="rId48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E1977C-FF14-4958-8BC7-1B81CF1D5F4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s-CO"/>
        </a:p>
      </dgm:t>
    </dgm:pt>
    <dgm:pt modelId="{0C477011-7E2C-4A98-8DA5-11444F49AC0D}">
      <dgm:prSet/>
      <dgm:spPr/>
      <dgm:t>
        <a:bodyPr/>
        <a:lstStyle/>
        <a:p>
          <a:r>
            <a:rPr lang="es-ES" b="1" i="0"/>
            <a:t>Definición:</a:t>
          </a:r>
          <a:r>
            <a:rPr lang="es-ES" b="0" i="0"/>
            <a:t> Conjunto de procesos y políticas que aseguran que los datos estén en la condición adecuada para respaldar las iniciativas del negocio.</a:t>
          </a:r>
          <a:endParaRPr lang="es-CO"/>
        </a:p>
      </dgm:t>
    </dgm:pt>
    <dgm:pt modelId="{BE03061A-6EF3-4535-8125-A96A5DD892F6}" type="parTrans" cxnId="{23B1DCBE-488D-4F3C-BA26-8CEEA8E8F468}">
      <dgm:prSet/>
      <dgm:spPr/>
      <dgm:t>
        <a:bodyPr/>
        <a:lstStyle/>
        <a:p>
          <a:endParaRPr lang="es-CO"/>
        </a:p>
      </dgm:t>
    </dgm:pt>
    <dgm:pt modelId="{37C44FF0-B837-4133-87F2-8FBE1744BC63}" type="sibTrans" cxnId="{23B1DCBE-488D-4F3C-BA26-8CEEA8E8F468}">
      <dgm:prSet/>
      <dgm:spPr/>
      <dgm:t>
        <a:bodyPr/>
        <a:lstStyle/>
        <a:p>
          <a:endParaRPr lang="es-CO"/>
        </a:p>
      </dgm:t>
    </dgm:pt>
    <dgm:pt modelId="{759AF98A-6BA7-4E1C-857A-387CBDBD6C7B}">
      <dgm:prSet/>
      <dgm:spPr/>
      <dgm:t>
        <a:bodyPr/>
        <a:lstStyle/>
        <a:p>
          <a:r>
            <a:rPr lang="es-ES" b="1" i="0"/>
            <a:t>Propósito:</a:t>
          </a:r>
          <a:r>
            <a:rPr lang="es-ES" b="0" i="0"/>
            <a:t> Determina roles, responsabilidades y estándares (quién puede hacer qué, con qué datos, usando qué métodos y en qué situaciones).</a:t>
          </a:r>
          <a:endParaRPr lang="es-CO"/>
        </a:p>
      </dgm:t>
    </dgm:pt>
    <dgm:pt modelId="{C4000DA7-67C3-49E3-9157-176F8F5F3F25}" type="parTrans" cxnId="{AE3831D8-1EB4-4004-8A93-9CE57310822E}">
      <dgm:prSet/>
      <dgm:spPr/>
      <dgm:t>
        <a:bodyPr/>
        <a:lstStyle/>
        <a:p>
          <a:endParaRPr lang="es-CO"/>
        </a:p>
      </dgm:t>
    </dgm:pt>
    <dgm:pt modelId="{105567E1-0417-4A42-881D-7B286FAC1774}" type="sibTrans" cxnId="{AE3831D8-1EB4-4004-8A93-9CE57310822E}">
      <dgm:prSet/>
      <dgm:spPr/>
      <dgm:t>
        <a:bodyPr/>
        <a:lstStyle/>
        <a:p>
          <a:endParaRPr lang="es-CO"/>
        </a:p>
      </dgm:t>
    </dgm:pt>
    <dgm:pt modelId="{CDEB26E9-CB56-4F37-9AA7-2E341328AF40}">
      <dgm:prSet/>
      <dgm:spPr/>
      <dgm:t>
        <a:bodyPr/>
        <a:lstStyle/>
        <a:p>
          <a:r>
            <a:rPr lang="es-ES" b="1" i="0" dirty="0"/>
            <a:t>Contexto actual:</a:t>
          </a:r>
          <a:r>
            <a:rPr lang="es-ES" b="0" i="0" dirty="0"/>
            <a:t> Con el auge de la IA y el Machine </a:t>
          </a:r>
          <a:r>
            <a:rPr lang="es-ES" b="0" i="0" dirty="0" err="1"/>
            <a:t>Learning</a:t>
          </a:r>
          <a:r>
            <a:rPr lang="es-ES" b="0" i="0" dirty="0"/>
            <a:t>, es vital que el uso de los datos cumpla con requisitos éticos y normativos.</a:t>
          </a:r>
          <a:endParaRPr lang="es-CO" dirty="0"/>
        </a:p>
      </dgm:t>
    </dgm:pt>
    <dgm:pt modelId="{895655BD-149D-488B-9C70-5ED426643F2C}" type="parTrans" cxnId="{9F4EC6A9-03B7-45DE-A2F2-44FB986175AF}">
      <dgm:prSet/>
      <dgm:spPr/>
      <dgm:t>
        <a:bodyPr/>
        <a:lstStyle/>
        <a:p>
          <a:endParaRPr lang="es-CO"/>
        </a:p>
      </dgm:t>
    </dgm:pt>
    <dgm:pt modelId="{1581D727-7B1D-41C8-9593-2B29B065B455}" type="sibTrans" cxnId="{9F4EC6A9-03B7-45DE-A2F2-44FB986175AF}">
      <dgm:prSet/>
      <dgm:spPr/>
      <dgm:t>
        <a:bodyPr/>
        <a:lstStyle/>
        <a:p>
          <a:endParaRPr lang="es-CO"/>
        </a:p>
      </dgm:t>
    </dgm:pt>
    <dgm:pt modelId="{5618D1C1-6006-4319-89B7-8EEF915DDDA3}" type="pres">
      <dgm:prSet presAssocID="{84E1977C-FF14-4958-8BC7-1B81CF1D5F40}" presName="linear" presStyleCnt="0">
        <dgm:presLayoutVars>
          <dgm:animLvl val="lvl"/>
          <dgm:resizeHandles val="exact"/>
        </dgm:presLayoutVars>
      </dgm:prSet>
      <dgm:spPr/>
    </dgm:pt>
    <dgm:pt modelId="{0721920C-7906-4AB7-ADE0-0986A502BF4D}" type="pres">
      <dgm:prSet presAssocID="{0C477011-7E2C-4A98-8DA5-11444F49AC0D}" presName="parentText" presStyleLbl="node1" presStyleIdx="0" presStyleCnt="3" custLinFactY="-8411" custLinFactNeighborX="-5435" custLinFactNeighborY="-100000">
        <dgm:presLayoutVars>
          <dgm:chMax val="0"/>
          <dgm:bulletEnabled val="1"/>
        </dgm:presLayoutVars>
      </dgm:prSet>
      <dgm:spPr/>
    </dgm:pt>
    <dgm:pt modelId="{5D11C3E7-CCC2-4F43-AD6D-560B49784775}" type="pres">
      <dgm:prSet presAssocID="{37C44FF0-B837-4133-87F2-8FBE1744BC63}" presName="spacer" presStyleCnt="0"/>
      <dgm:spPr/>
    </dgm:pt>
    <dgm:pt modelId="{7C819170-AF3B-4E0B-A93C-4418BE4CA7B0}" type="pres">
      <dgm:prSet presAssocID="{759AF98A-6BA7-4E1C-857A-387CBDBD6C7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1C23C47-0321-406B-870A-6E1B07F1C20B}" type="pres">
      <dgm:prSet presAssocID="{105567E1-0417-4A42-881D-7B286FAC1774}" presName="spacer" presStyleCnt="0"/>
      <dgm:spPr/>
    </dgm:pt>
    <dgm:pt modelId="{6BB8D66D-C109-4AD4-A2DE-9A3164AA39CD}" type="pres">
      <dgm:prSet presAssocID="{CDEB26E9-CB56-4F37-9AA7-2E341328AF4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8E22742-A232-4D6E-898B-3A9EAC5B2503}" type="presOf" srcId="{84E1977C-FF14-4958-8BC7-1B81CF1D5F40}" destId="{5618D1C1-6006-4319-89B7-8EEF915DDDA3}" srcOrd="0" destOrd="0" presId="urn:microsoft.com/office/officeart/2005/8/layout/vList2"/>
    <dgm:cxn modelId="{3FA59D49-70DC-4937-A2B5-4CDD9176D960}" type="presOf" srcId="{759AF98A-6BA7-4E1C-857A-387CBDBD6C7B}" destId="{7C819170-AF3B-4E0B-A93C-4418BE4CA7B0}" srcOrd="0" destOrd="0" presId="urn:microsoft.com/office/officeart/2005/8/layout/vList2"/>
    <dgm:cxn modelId="{9F4EC6A9-03B7-45DE-A2F2-44FB986175AF}" srcId="{84E1977C-FF14-4958-8BC7-1B81CF1D5F40}" destId="{CDEB26E9-CB56-4F37-9AA7-2E341328AF40}" srcOrd="2" destOrd="0" parTransId="{895655BD-149D-488B-9C70-5ED426643F2C}" sibTransId="{1581D727-7B1D-41C8-9593-2B29B065B455}"/>
    <dgm:cxn modelId="{23B1DCBE-488D-4F3C-BA26-8CEEA8E8F468}" srcId="{84E1977C-FF14-4958-8BC7-1B81CF1D5F40}" destId="{0C477011-7E2C-4A98-8DA5-11444F49AC0D}" srcOrd="0" destOrd="0" parTransId="{BE03061A-6EF3-4535-8125-A96A5DD892F6}" sibTransId="{37C44FF0-B837-4133-87F2-8FBE1744BC63}"/>
    <dgm:cxn modelId="{5B157AD1-92B4-4C29-B4F2-D395462E6300}" type="presOf" srcId="{0C477011-7E2C-4A98-8DA5-11444F49AC0D}" destId="{0721920C-7906-4AB7-ADE0-0986A502BF4D}" srcOrd="0" destOrd="0" presId="urn:microsoft.com/office/officeart/2005/8/layout/vList2"/>
    <dgm:cxn modelId="{AE3831D8-1EB4-4004-8A93-9CE57310822E}" srcId="{84E1977C-FF14-4958-8BC7-1B81CF1D5F40}" destId="{759AF98A-6BA7-4E1C-857A-387CBDBD6C7B}" srcOrd="1" destOrd="0" parTransId="{C4000DA7-67C3-49E3-9157-176F8F5F3F25}" sibTransId="{105567E1-0417-4A42-881D-7B286FAC1774}"/>
    <dgm:cxn modelId="{629EA9DE-36DF-40CB-9F65-D2CEC7B18611}" type="presOf" srcId="{CDEB26E9-CB56-4F37-9AA7-2E341328AF40}" destId="{6BB8D66D-C109-4AD4-A2DE-9A3164AA39CD}" srcOrd="0" destOrd="0" presId="urn:microsoft.com/office/officeart/2005/8/layout/vList2"/>
    <dgm:cxn modelId="{2348E21E-9F2C-4E98-96FA-F340025999CB}" type="presParOf" srcId="{5618D1C1-6006-4319-89B7-8EEF915DDDA3}" destId="{0721920C-7906-4AB7-ADE0-0986A502BF4D}" srcOrd="0" destOrd="0" presId="urn:microsoft.com/office/officeart/2005/8/layout/vList2"/>
    <dgm:cxn modelId="{2B14F118-017E-4A1F-8D32-24CBF4AF7894}" type="presParOf" srcId="{5618D1C1-6006-4319-89B7-8EEF915DDDA3}" destId="{5D11C3E7-CCC2-4F43-AD6D-560B49784775}" srcOrd="1" destOrd="0" presId="urn:microsoft.com/office/officeart/2005/8/layout/vList2"/>
    <dgm:cxn modelId="{F841B2D8-A3F0-4ADE-9FEE-7002F718EF31}" type="presParOf" srcId="{5618D1C1-6006-4319-89B7-8EEF915DDDA3}" destId="{7C819170-AF3B-4E0B-A93C-4418BE4CA7B0}" srcOrd="2" destOrd="0" presId="urn:microsoft.com/office/officeart/2005/8/layout/vList2"/>
    <dgm:cxn modelId="{8A94C27E-E0D6-4991-9D00-D7B9798F930C}" type="presParOf" srcId="{5618D1C1-6006-4319-89B7-8EEF915DDDA3}" destId="{11C23C47-0321-406B-870A-6E1B07F1C20B}" srcOrd="3" destOrd="0" presId="urn:microsoft.com/office/officeart/2005/8/layout/vList2"/>
    <dgm:cxn modelId="{03A6927F-7C92-46E5-9ECE-30D63BC4C593}" type="presParOf" srcId="{5618D1C1-6006-4319-89B7-8EEF915DDDA3}" destId="{6BB8D66D-C109-4AD4-A2DE-9A3164AA39C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21920C-7906-4AB7-ADE0-0986A502BF4D}">
      <dsp:nvSpPr>
        <dsp:cNvPr id="0" name=""/>
        <dsp:cNvSpPr/>
      </dsp:nvSpPr>
      <dsp:spPr>
        <a:xfrm>
          <a:off x="0" y="0"/>
          <a:ext cx="14020800" cy="22545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100" b="1" i="0" kern="1200"/>
            <a:t>Definición:</a:t>
          </a:r>
          <a:r>
            <a:rPr lang="es-ES" sz="4100" b="0" i="0" kern="1200"/>
            <a:t> Conjunto de procesos y políticas que aseguran que los datos estén en la condición adecuada para respaldar las iniciativas del negocio.</a:t>
          </a:r>
          <a:endParaRPr lang="es-CO" sz="4100" kern="1200"/>
        </a:p>
      </dsp:txBody>
      <dsp:txXfrm>
        <a:off x="110060" y="110060"/>
        <a:ext cx="13800680" cy="2034470"/>
      </dsp:txXfrm>
    </dsp:sp>
    <dsp:sp modelId="{7C819170-AF3B-4E0B-A93C-4418BE4CA7B0}">
      <dsp:nvSpPr>
        <dsp:cNvPr id="0" name=""/>
        <dsp:cNvSpPr/>
      </dsp:nvSpPr>
      <dsp:spPr>
        <a:xfrm>
          <a:off x="0" y="2456429"/>
          <a:ext cx="14020800" cy="22545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100" b="1" i="0" kern="1200"/>
            <a:t>Propósito:</a:t>
          </a:r>
          <a:r>
            <a:rPr lang="es-ES" sz="4100" b="0" i="0" kern="1200"/>
            <a:t> Determina roles, responsabilidades y estándares (quién puede hacer qué, con qué datos, usando qué métodos y en qué situaciones).</a:t>
          </a:r>
          <a:endParaRPr lang="es-CO" sz="4100" kern="1200"/>
        </a:p>
      </dsp:txBody>
      <dsp:txXfrm>
        <a:off x="110060" y="2566489"/>
        <a:ext cx="13800680" cy="2034470"/>
      </dsp:txXfrm>
    </dsp:sp>
    <dsp:sp modelId="{6BB8D66D-C109-4AD4-A2DE-9A3164AA39CD}">
      <dsp:nvSpPr>
        <dsp:cNvPr id="0" name=""/>
        <dsp:cNvSpPr/>
      </dsp:nvSpPr>
      <dsp:spPr>
        <a:xfrm>
          <a:off x="0" y="4829099"/>
          <a:ext cx="14020800" cy="22545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100" b="1" i="0" kern="1200" dirty="0"/>
            <a:t>Contexto actual:</a:t>
          </a:r>
          <a:r>
            <a:rPr lang="es-ES" sz="4100" b="0" i="0" kern="1200" dirty="0"/>
            <a:t> Con el auge de la IA y el Machine </a:t>
          </a:r>
          <a:r>
            <a:rPr lang="es-ES" sz="4100" b="0" i="0" kern="1200" dirty="0" err="1"/>
            <a:t>Learning</a:t>
          </a:r>
          <a:r>
            <a:rPr lang="es-ES" sz="4100" b="0" i="0" kern="1200" dirty="0"/>
            <a:t>, es vital que el uso de los datos cumpla con requisitos éticos y normativos.</a:t>
          </a:r>
          <a:endParaRPr lang="es-CO" sz="4100" kern="1200" dirty="0"/>
        </a:p>
      </dsp:txBody>
      <dsp:txXfrm>
        <a:off x="110060" y="4939159"/>
        <a:ext cx="13800680" cy="20344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23.02.2026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5.svg"/><Relationship Id="rId9" Type="http://schemas.microsoft.com/office/2007/relationships/diagramDrawing" Target="../diagrams/drawing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5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5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5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5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nstagram.com/enyoi.co/" TargetMode="External"/><Relationship Id="rId13" Type="http://schemas.openxmlformats.org/officeDocument/2006/relationships/image" Target="../media/image18.svg"/><Relationship Id="rId3" Type="http://schemas.openxmlformats.org/officeDocument/2006/relationships/image" Target="../media/image5.svg"/><Relationship Id="rId7" Type="http://schemas.openxmlformats.org/officeDocument/2006/relationships/image" Target="../media/image14.svg"/><Relationship Id="rId12" Type="http://schemas.openxmlformats.org/officeDocument/2006/relationships/image" Target="../media/image17.png"/><Relationship Id="rId17" Type="http://schemas.openxmlformats.org/officeDocument/2006/relationships/image" Target="../media/image1.png"/><Relationship Id="rId2" Type="http://schemas.openxmlformats.org/officeDocument/2006/relationships/image" Target="../media/image2.png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hyperlink" Target="http://www.enyoi.co" TargetMode="External"/><Relationship Id="rId5" Type="http://schemas.openxmlformats.org/officeDocument/2006/relationships/hyperlink" Target="https://wa.me/573206649412" TargetMode="External"/><Relationship Id="rId15" Type="http://schemas.openxmlformats.org/officeDocument/2006/relationships/hyperlink" Target="https://www.tiktok.com/@enyoi.co" TargetMode="External"/><Relationship Id="rId10" Type="http://schemas.openxmlformats.org/officeDocument/2006/relationships/image" Target="../media/image16.svg"/><Relationship Id="rId4" Type="http://schemas.openxmlformats.org/officeDocument/2006/relationships/hyperlink" Target="mailto:eduardo.tamayo@enyoi.co" TargetMode="External"/><Relationship Id="rId9" Type="http://schemas.openxmlformats.org/officeDocument/2006/relationships/image" Target="../media/image15.png"/><Relationship Id="rId14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58764" y="455568"/>
            <a:ext cx="3004519" cy="1201808"/>
          </a:xfrm>
          <a:custGeom>
            <a:avLst/>
            <a:gdLst/>
            <a:ahLst/>
            <a:cxnLst/>
            <a:rect l="l" t="t" r="r" b="b"/>
            <a:pathLst>
              <a:path w="3457174" h="1382870">
                <a:moveTo>
                  <a:pt x="0" y="0"/>
                </a:moveTo>
                <a:lnTo>
                  <a:pt x="3457174" y="0"/>
                </a:lnTo>
                <a:lnTo>
                  <a:pt x="3457174" y="1382870"/>
                </a:lnTo>
                <a:lnTo>
                  <a:pt x="0" y="13828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10392303" y="0"/>
            <a:ext cx="7895697" cy="10287000"/>
            <a:chOff x="0" y="0"/>
            <a:chExt cx="2079525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79525" cy="2709333"/>
            </a:xfrm>
            <a:custGeom>
              <a:avLst/>
              <a:gdLst/>
              <a:ahLst/>
              <a:cxnLst/>
              <a:rect l="l" t="t" r="r" b="b"/>
              <a:pathLst>
                <a:path w="2079525" h="2709333">
                  <a:moveTo>
                    <a:pt x="0" y="0"/>
                  </a:moveTo>
                  <a:lnTo>
                    <a:pt x="2079525" y="0"/>
                  </a:lnTo>
                  <a:lnTo>
                    <a:pt x="2079525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7952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9562641" y="4953536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>
                <a:moveTo>
                  <a:pt x="0" y="0"/>
                </a:moveTo>
                <a:lnTo>
                  <a:pt x="4777511" y="0"/>
                </a:lnTo>
                <a:lnTo>
                  <a:pt x="4777511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7" name="Freeform 7"/>
          <p:cNvSpPr/>
          <p:nvPr/>
        </p:nvSpPr>
        <p:spPr>
          <a:xfrm rot="-10800000">
            <a:off x="14340152" y="455568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>
                <a:moveTo>
                  <a:pt x="0" y="0"/>
                </a:moveTo>
                <a:lnTo>
                  <a:pt x="4777510" y="0"/>
                </a:lnTo>
                <a:lnTo>
                  <a:pt x="4777510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8" name="Group 8"/>
          <p:cNvGrpSpPr/>
          <p:nvPr/>
        </p:nvGrpSpPr>
        <p:grpSpPr>
          <a:xfrm rot="1460314">
            <a:off x="10661875" y="4518938"/>
            <a:ext cx="7356554" cy="1249125"/>
            <a:chOff x="0" y="0"/>
            <a:chExt cx="1937529" cy="3289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37528" cy="328988"/>
            </a:xfrm>
            <a:custGeom>
              <a:avLst/>
              <a:gdLst/>
              <a:ahLst/>
              <a:cxnLst/>
              <a:rect l="l" t="t" r="r" b="b"/>
              <a:pathLst>
                <a:path w="1937528" h="328988">
                  <a:moveTo>
                    <a:pt x="105238" y="0"/>
                  </a:moveTo>
                  <a:lnTo>
                    <a:pt x="1832290" y="0"/>
                  </a:lnTo>
                  <a:cubicBezTo>
                    <a:pt x="1860201" y="0"/>
                    <a:pt x="1886969" y="11088"/>
                    <a:pt x="1906705" y="30824"/>
                  </a:cubicBezTo>
                  <a:cubicBezTo>
                    <a:pt x="1926441" y="50560"/>
                    <a:pt x="1937528" y="77327"/>
                    <a:pt x="1937528" y="105238"/>
                  </a:cubicBezTo>
                  <a:lnTo>
                    <a:pt x="1937528" y="223749"/>
                  </a:lnTo>
                  <a:cubicBezTo>
                    <a:pt x="1937528" y="281871"/>
                    <a:pt x="1890412" y="328988"/>
                    <a:pt x="1832290" y="328988"/>
                  </a:cubicBezTo>
                  <a:lnTo>
                    <a:pt x="105238" y="328988"/>
                  </a:lnTo>
                  <a:cubicBezTo>
                    <a:pt x="77327" y="328988"/>
                    <a:pt x="50560" y="317900"/>
                    <a:pt x="30824" y="298164"/>
                  </a:cubicBezTo>
                  <a:cubicBezTo>
                    <a:pt x="11088" y="278428"/>
                    <a:pt x="0" y="251660"/>
                    <a:pt x="0" y="223749"/>
                  </a:cubicBezTo>
                  <a:lnTo>
                    <a:pt x="0" y="105238"/>
                  </a:lnTo>
                  <a:cubicBezTo>
                    <a:pt x="0" y="47117"/>
                    <a:pt x="47117" y="0"/>
                    <a:pt x="10523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937529" cy="3670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10800000">
            <a:off x="-536257" y="9574006"/>
            <a:ext cx="8704391" cy="134923"/>
            <a:chOff x="0" y="0"/>
            <a:chExt cx="2292514" cy="3553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92515" cy="35535"/>
            </a:xfrm>
            <a:custGeom>
              <a:avLst/>
              <a:gdLst/>
              <a:ahLst/>
              <a:cxnLst/>
              <a:rect l="l" t="t" r="r" b="b"/>
              <a:pathLst>
                <a:path w="2292515" h="35535">
                  <a:moveTo>
                    <a:pt x="17768" y="0"/>
                  </a:moveTo>
                  <a:lnTo>
                    <a:pt x="2274747" y="0"/>
                  </a:lnTo>
                  <a:cubicBezTo>
                    <a:pt x="2284560" y="0"/>
                    <a:pt x="2292515" y="7955"/>
                    <a:pt x="2292515" y="17768"/>
                  </a:cubicBezTo>
                  <a:lnTo>
                    <a:pt x="2292515" y="17768"/>
                  </a:lnTo>
                  <a:cubicBezTo>
                    <a:pt x="2292515" y="22480"/>
                    <a:pt x="2290643" y="26999"/>
                    <a:pt x="2287311" y="30331"/>
                  </a:cubicBezTo>
                  <a:cubicBezTo>
                    <a:pt x="2283978" y="33663"/>
                    <a:pt x="2279459" y="35535"/>
                    <a:pt x="2274747" y="35535"/>
                  </a:cubicBezTo>
                  <a:lnTo>
                    <a:pt x="17768" y="35535"/>
                  </a:lnTo>
                  <a:cubicBezTo>
                    <a:pt x="13055" y="35535"/>
                    <a:pt x="8536" y="33663"/>
                    <a:pt x="5204" y="30331"/>
                  </a:cubicBezTo>
                  <a:cubicBezTo>
                    <a:pt x="1872" y="26999"/>
                    <a:pt x="0" y="22480"/>
                    <a:pt x="0" y="17768"/>
                  </a:cubicBezTo>
                  <a:lnTo>
                    <a:pt x="0" y="17768"/>
                  </a:lnTo>
                  <a:cubicBezTo>
                    <a:pt x="0" y="13055"/>
                    <a:pt x="1872" y="8536"/>
                    <a:pt x="5204" y="5204"/>
                  </a:cubicBezTo>
                  <a:cubicBezTo>
                    <a:pt x="8536" y="1872"/>
                    <a:pt x="13055" y="0"/>
                    <a:pt x="1776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292514" cy="736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61465" y="4619586"/>
            <a:ext cx="8321721" cy="15476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s-CO" sz="4350" b="1" noProof="0" dirty="0">
                <a:solidFill>
                  <a:srgbClr val="700A89"/>
                </a:solidFill>
                <a:latin typeface="Poppins" panose="00000500000000000000" pitchFamily="2" charset="0"/>
                <a:cs typeface="Poppins" panose="00000500000000000000" pitchFamily="2" charset="0"/>
                <a:sym typeface="Poppins 1 Bold"/>
              </a:rPr>
              <a:t>Introducción </a:t>
            </a:r>
          </a:p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s-CO" sz="4350" b="1" dirty="0">
                <a:solidFill>
                  <a:srgbClr val="700A89"/>
                </a:solidFill>
                <a:latin typeface="Poppins" panose="00000500000000000000" pitchFamily="2" charset="0"/>
                <a:cs typeface="Poppins" panose="00000500000000000000" pitchFamily="2" charset="0"/>
                <a:sym typeface="Poppins 1 Bold"/>
              </a:rPr>
              <a:t>Al Gobierno de Datos</a:t>
            </a:r>
            <a:endParaRPr lang="es-CO" sz="4350" b="1" noProof="0" dirty="0">
              <a:solidFill>
                <a:srgbClr val="700A89"/>
              </a:solidFill>
              <a:latin typeface="Poppins 1 Bold"/>
              <a:cs typeface="Poppins 1 Bold"/>
              <a:sym typeface="Poppins 1 Bold"/>
            </a:endParaRPr>
          </a:p>
        </p:txBody>
      </p:sp>
      <p:pic>
        <p:nvPicPr>
          <p:cNvPr id="18" name="Google Shape;88;g2d7c13286f8_0_89">
            <a:extLst>
              <a:ext uri="{FF2B5EF4-FFF2-40B4-BE49-F238E27FC236}">
                <a16:creationId xmlns:a16="http://schemas.microsoft.com/office/drawing/2014/main" id="{27303298-D0A0-4B40-9C53-51AF1C44F47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53990" t="15859" r="8554" b="69322"/>
          <a:stretch/>
        </p:blipFill>
        <p:spPr>
          <a:xfrm>
            <a:off x="5181600" y="609324"/>
            <a:ext cx="4721448" cy="1048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1EC2D-CC15-1BC1-30D0-D14EFB623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E2E2753-61EF-6902-23C1-D1188C235BF8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17B99F0-DF08-043E-32EA-0700AFA8089F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014AE4B9-3FFA-A795-90E9-B1B001AB8F1D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6D0CA364-AB4C-4622-BFF6-E8AD30030BA1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0DF0665E-10AB-9040-B06E-B406849BFDC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FC060FF-E0B3-88DE-D40A-36B9D6BC891B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CC9AE82-8B1D-D875-E75A-B6962ACD39C4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AC0CE72D-58F6-0C19-D2FB-83BCC72F7EC9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30A2E158-AC94-3BA6-6C2D-75D53DCCA429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27578B53-3142-A744-FED6-B5A8AF9A0B2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00DC911-3CE3-067B-1826-0882AB709803}"/>
              </a:ext>
            </a:extLst>
          </p:cNvPr>
          <p:cNvSpPr txBox="1"/>
          <p:nvPr/>
        </p:nvSpPr>
        <p:spPr>
          <a:xfrm>
            <a:off x="2631439" y="1866900"/>
            <a:ext cx="14554200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b="1" dirty="0">
                <a:latin typeface="Poppins 1 Bold" panose="020B0604020202020204" charset="0"/>
                <a:cs typeface="Poppins 1 Bold" panose="020B0604020202020204" charset="0"/>
              </a:rPr>
              <a:t>Agenda</a:t>
            </a:r>
          </a:p>
          <a:p>
            <a:endParaRPr lang="es-ES" sz="3600" b="1" dirty="0">
              <a:latin typeface="Poppins 1 Bold" panose="020B0604020202020204" charset="0"/>
              <a:cs typeface="Poppins 1 Bold" panose="020B0604020202020204" charset="0"/>
            </a:endParaRPr>
          </a:p>
          <a:p>
            <a:endParaRPr lang="es-ES" sz="3600" b="1" dirty="0">
              <a:latin typeface="Poppins 1 Bold" panose="020B0604020202020204" charset="0"/>
              <a:cs typeface="Poppins 1 Bold" panose="020B0604020202020204" charset="0"/>
            </a:endParaRPr>
          </a:p>
          <a:p>
            <a:r>
              <a:rPr lang="es-ES" sz="3600" dirty="0">
                <a:latin typeface="Poppins" panose="00000500000000000000" pitchFamily="2" charset="0"/>
                <a:cs typeface="Poppins" panose="00000500000000000000" pitchFamily="2" charset="0"/>
              </a:rPr>
              <a:t>1. Presentación de integrantes</a:t>
            </a:r>
          </a:p>
          <a:p>
            <a:pPr lvl="0"/>
            <a:r>
              <a:rPr lang="es-MX" sz="3600" dirty="0">
                <a:latin typeface="Poppins" panose="00000500000000000000" pitchFamily="2" charset="0"/>
                <a:cs typeface="Poppins" panose="00000500000000000000" pitchFamily="2" charset="0"/>
              </a:rPr>
              <a:t>2. ¿Qué es la ingeniería de datos? </a:t>
            </a:r>
            <a:r>
              <a:rPr lang="es-MX" sz="3600" b="1" i="1" dirty="0">
                <a:latin typeface="Poppins" panose="00000500000000000000" pitchFamily="2" charset="0"/>
                <a:cs typeface="Poppins" panose="00000500000000000000" pitchFamily="2" charset="0"/>
              </a:rPr>
              <a:t>1 iteración</a:t>
            </a:r>
          </a:p>
          <a:p>
            <a:r>
              <a:rPr lang="es-MX" sz="3600" dirty="0">
                <a:latin typeface="Poppins" panose="00000500000000000000" pitchFamily="2" charset="0"/>
                <a:cs typeface="Poppins" panose="00000500000000000000" pitchFamily="2" charset="0"/>
              </a:rPr>
              <a:t>3. ¿Por qué es interesante la ingeniería de datos? </a:t>
            </a:r>
            <a:r>
              <a:rPr lang="es-MX" sz="3600" b="1" i="1" dirty="0">
                <a:latin typeface="Poppins" panose="00000500000000000000" pitchFamily="2" charset="0"/>
                <a:cs typeface="Poppins" panose="00000500000000000000" pitchFamily="2" charset="0"/>
              </a:rPr>
              <a:t>1 iteración</a:t>
            </a:r>
          </a:p>
          <a:p>
            <a:r>
              <a:rPr lang="es-MX" sz="3600" dirty="0">
                <a:latin typeface="Poppins" panose="00000500000000000000" pitchFamily="2" charset="0"/>
                <a:cs typeface="Poppins" panose="00000500000000000000" pitchFamily="2" charset="0"/>
              </a:rPr>
              <a:t>4. ¿Como formarnos en ingeniería de datos? </a:t>
            </a:r>
            <a:r>
              <a:rPr lang="es-MX" sz="3600" b="1" i="1" dirty="0">
                <a:latin typeface="Poppins" panose="00000500000000000000" pitchFamily="2" charset="0"/>
                <a:cs typeface="Poppins" panose="00000500000000000000" pitchFamily="2" charset="0"/>
              </a:rPr>
              <a:t>1 iteración</a:t>
            </a:r>
          </a:p>
          <a:p>
            <a:r>
              <a:rPr lang="es-MX" sz="3600" dirty="0">
                <a:latin typeface="Poppins" panose="00000500000000000000" pitchFamily="2" charset="0"/>
                <a:cs typeface="Poppins" panose="00000500000000000000" pitchFamily="2" charset="0"/>
              </a:rPr>
              <a:t>5 2-3 refinados por una </a:t>
            </a:r>
            <a:r>
              <a:rPr lang="es-MX" sz="3600" b="1" dirty="0">
                <a:latin typeface="Poppins" panose="00000500000000000000" pitchFamily="2" charset="0"/>
                <a:cs typeface="Poppins" panose="00000500000000000000" pitchFamily="2" charset="0"/>
              </a:rPr>
              <a:t>segunda iteración</a:t>
            </a:r>
          </a:p>
          <a:p>
            <a:r>
              <a:rPr lang="es-MX" sz="3600" dirty="0">
                <a:latin typeface="Poppins" panose="00000500000000000000" pitchFamily="2" charset="0"/>
                <a:cs typeface="Poppins" panose="00000500000000000000" pitchFamily="2" charset="0"/>
              </a:rPr>
              <a:t>6. Relación de ingeniero/a de datos con otros roles</a:t>
            </a:r>
          </a:p>
          <a:p>
            <a:r>
              <a:rPr lang="es-MX" sz="3600" dirty="0">
                <a:latin typeface="Poppins" panose="00000500000000000000" pitchFamily="2" charset="0"/>
                <a:cs typeface="Poppins" panose="00000500000000000000" pitchFamily="2" charset="0"/>
              </a:rPr>
              <a:t>7. Mi forma de entender la educación</a:t>
            </a:r>
            <a:endParaRPr lang="es-CO" sz="3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s-CO" sz="3600" dirty="0"/>
          </a:p>
          <a:p>
            <a:pPr lvl="0"/>
            <a:endParaRPr lang="es-CO" sz="3600" dirty="0"/>
          </a:p>
          <a:p>
            <a:endParaRPr lang="es-ES" sz="2400" dirty="0"/>
          </a:p>
          <a:p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1614828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629EE-1985-2225-31E2-050DC896E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8E846FC-1099-F5A4-7D4D-94754DDF4519}"/>
              </a:ext>
            </a:extLst>
          </p:cNvPr>
          <p:cNvSpPr/>
          <p:nvPr/>
        </p:nvSpPr>
        <p:spPr>
          <a:xfrm>
            <a:off x="-437361" y="8801100"/>
            <a:ext cx="1656562" cy="1607056"/>
          </a:xfrm>
          <a:custGeom>
            <a:avLst/>
            <a:gdLst/>
            <a:ahLst/>
            <a:cxnLst/>
            <a:rect l="l" t="t" r="r" b="b"/>
            <a:pathLst>
              <a:path w="2052835" h="2064911">
                <a:moveTo>
                  <a:pt x="0" y="0"/>
                </a:moveTo>
                <a:lnTo>
                  <a:pt x="2052835" y="0"/>
                </a:lnTo>
                <a:lnTo>
                  <a:pt x="2052835" y="2064910"/>
                </a:lnTo>
                <a:lnTo>
                  <a:pt x="0" y="20649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848" t="-49459" r="-26429" b="-59444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433B88B-431D-F520-8A64-604BAC5A4F71}"/>
              </a:ext>
            </a:extLst>
          </p:cNvPr>
          <p:cNvSpPr/>
          <p:nvPr/>
        </p:nvSpPr>
        <p:spPr>
          <a:xfrm rot="-10800000">
            <a:off x="16136495" y="-695866"/>
            <a:ext cx="1607799" cy="1648365"/>
          </a:xfrm>
          <a:custGeom>
            <a:avLst/>
            <a:gdLst/>
            <a:ahLst/>
            <a:cxnLst/>
            <a:rect l="l" t="t" r="r" b="b"/>
            <a:pathLst>
              <a:path w="1607799" h="1648365">
                <a:moveTo>
                  <a:pt x="0" y="0"/>
                </a:moveTo>
                <a:lnTo>
                  <a:pt x="1607799" y="0"/>
                </a:lnTo>
                <a:lnTo>
                  <a:pt x="1607799" y="1648364"/>
                </a:lnTo>
                <a:lnTo>
                  <a:pt x="0" y="1648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892" t="-49695" r="-28270" b="-60205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9" name="Freeform 21">
            <a:extLst>
              <a:ext uri="{FF2B5EF4-FFF2-40B4-BE49-F238E27FC236}">
                <a16:creationId xmlns:a16="http://schemas.microsoft.com/office/drawing/2014/main" id="{1D05F255-F2E3-68A0-D911-D29FFBA02339}"/>
              </a:ext>
            </a:extLst>
          </p:cNvPr>
          <p:cNvSpPr/>
          <p:nvPr/>
        </p:nvSpPr>
        <p:spPr>
          <a:xfrm>
            <a:off x="14954160" y="7813562"/>
            <a:ext cx="2743200" cy="2438400"/>
          </a:xfrm>
          <a:custGeom>
            <a:avLst/>
            <a:gdLst/>
            <a:ahLst/>
            <a:cxnLst/>
            <a:rect l="l" t="t" r="r" b="b"/>
            <a:pathLst>
              <a:path w="5397947" h="4972858">
                <a:moveTo>
                  <a:pt x="0" y="0"/>
                </a:moveTo>
                <a:lnTo>
                  <a:pt x="5397947" y="0"/>
                </a:lnTo>
                <a:lnTo>
                  <a:pt x="5397947" y="4972859"/>
                </a:lnTo>
                <a:lnTo>
                  <a:pt x="0" y="49728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96DCFA7-361F-02A9-70F0-6BC7CADA3C28}"/>
              </a:ext>
            </a:extLst>
          </p:cNvPr>
          <p:cNvSpPr txBox="1"/>
          <p:nvPr/>
        </p:nvSpPr>
        <p:spPr>
          <a:xfrm>
            <a:off x="2133600" y="2552700"/>
            <a:ext cx="1367471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>
                <a:latin typeface="Poppins" panose="00000500000000000000" pitchFamily="2" charset="0"/>
                <a:cs typeface="Poppins" panose="00000500000000000000" pitchFamily="2" charset="0"/>
              </a:rPr>
              <a:t>Objetivo para hoy</a:t>
            </a:r>
          </a:p>
          <a:p>
            <a:endParaRPr lang="es-MX" sz="28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s-MX" sz="28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just"/>
            <a:r>
              <a:rPr lang="es-CO" sz="3600" noProof="0" dirty="0">
                <a:latin typeface="Poppins" panose="00000500000000000000" pitchFamily="2" charset="0"/>
                <a:cs typeface="Poppins" panose="00000500000000000000" pitchFamily="2" charset="0"/>
              </a:rPr>
              <a:t>Estudiar la ingeniería de datos como sistema complejo adaptativo y así definirla, entender su importancia y plantear como abordaremos el estudio de esta.</a:t>
            </a:r>
          </a:p>
          <a:p>
            <a:endParaRPr lang="es-MX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461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F57EA-AB2A-D230-8269-26A12105E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763BEABA-6A1E-0588-6E8E-B829C74E8AAA}"/>
              </a:ext>
            </a:extLst>
          </p:cNvPr>
          <p:cNvGrpSpPr/>
          <p:nvPr/>
        </p:nvGrpSpPr>
        <p:grpSpPr>
          <a:xfrm rot="-10800000">
            <a:off x="10392303" y="0"/>
            <a:ext cx="7895697" cy="10287000"/>
            <a:chOff x="0" y="0"/>
            <a:chExt cx="2079525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4725FA9-DB41-09A5-DF03-37153937910A}"/>
                </a:ext>
              </a:extLst>
            </p:cNvPr>
            <p:cNvSpPr/>
            <p:nvPr/>
          </p:nvSpPr>
          <p:spPr>
            <a:xfrm>
              <a:off x="0" y="0"/>
              <a:ext cx="2079525" cy="2709333"/>
            </a:xfrm>
            <a:custGeom>
              <a:avLst/>
              <a:gdLst/>
              <a:ahLst/>
              <a:cxnLst/>
              <a:rect l="l" t="t" r="r" b="b"/>
              <a:pathLst>
                <a:path w="2079525" h="2709333">
                  <a:moveTo>
                    <a:pt x="0" y="0"/>
                  </a:moveTo>
                  <a:lnTo>
                    <a:pt x="2079525" y="0"/>
                  </a:lnTo>
                  <a:lnTo>
                    <a:pt x="2079525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12FEF42-0636-3E17-8A6D-0E140C7E4274}"/>
                </a:ext>
              </a:extLst>
            </p:cNvPr>
            <p:cNvSpPr txBox="1"/>
            <p:nvPr/>
          </p:nvSpPr>
          <p:spPr>
            <a:xfrm>
              <a:off x="0" y="-38100"/>
              <a:ext cx="207952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70C63301-6F78-06FB-FAD1-BFAE730F4912}"/>
              </a:ext>
            </a:extLst>
          </p:cNvPr>
          <p:cNvSpPr/>
          <p:nvPr/>
        </p:nvSpPr>
        <p:spPr>
          <a:xfrm>
            <a:off x="9562641" y="4953536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>
                <a:moveTo>
                  <a:pt x="0" y="0"/>
                </a:moveTo>
                <a:lnTo>
                  <a:pt x="4777511" y="0"/>
                </a:lnTo>
                <a:lnTo>
                  <a:pt x="4777511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2FFCCEB-96B9-EDFB-AFD6-2797FA7C98E5}"/>
              </a:ext>
            </a:extLst>
          </p:cNvPr>
          <p:cNvSpPr/>
          <p:nvPr/>
        </p:nvSpPr>
        <p:spPr>
          <a:xfrm rot="-10800000">
            <a:off x="14340152" y="455568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>
                <a:moveTo>
                  <a:pt x="0" y="0"/>
                </a:moveTo>
                <a:lnTo>
                  <a:pt x="4777510" y="0"/>
                </a:lnTo>
                <a:lnTo>
                  <a:pt x="4777510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62AE8F99-2121-ACCC-DE87-9D8E38E2B656}"/>
              </a:ext>
            </a:extLst>
          </p:cNvPr>
          <p:cNvGrpSpPr/>
          <p:nvPr/>
        </p:nvGrpSpPr>
        <p:grpSpPr>
          <a:xfrm rot="1460314">
            <a:off x="10661875" y="4518938"/>
            <a:ext cx="7356554" cy="1249125"/>
            <a:chOff x="0" y="0"/>
            <a:chExt cx="1937529" cy="32898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137C37D5-46E2-C18B-B79F-62EFE65E0F7C}"/>
                </a:ext>
              </a:extLst>
            </p:cNvPr>
            <p:cNvSpPr/>
            <p:nvPr/>
          </p:nvSpPr>
          <p:spPr>
            <a:xfrm>
              <a:off x="0" y="0"/>
              <a:ext cx="1937528" cy="328988"/>
            </a:xfrm>
            <a:custGeom>
              <a:avLst/>
              <a:gdLst/>
              <a:ahLst/>
              <a:cxnLst/>
              <a:rect l="l" t="t" r="r" b="b"/>
              <a:pathLst>
                <a:path w="1937528" h="328988">
                  <a:moveTo>
                    <a:pt x="105238" y="0"/>
                  </a:moveTo>
                  <a:lnTo>
                    <a:pt x="1832290" y="0"/>
                  </a:lnTo>
                  <a:cubicBezTo>
                    <a:pt x="1860201" y="0"/>
                    <a:pt x="1886969" y="11088"/>
                    <a:pt x="1906705" y="30824"/>
                  </a:cubicBezTo>
                  <a:cubicBezTo>
                    <a:pt x="1926441" y="50560"/>
                    <a:pt x="1937528" y="77327"/>
                    <a:pt x="1937528" y="105238"/>
                  </a:cubicBezTo>
                  <a:lnTo>
                    <a:pt x="1937528" y="223749"/>
                  </a:lnTo>
                  <a:cubicBezTo>
                    <a:pt x="1937528" y="281871"/>
                    <a:pt x="1890412" y="328988"/>
                    <a:pt x="1832290" y="328988"/>
                  </a:cubicBezTo>
                  <a:lnTo>
                    <a:pt x="105238" y="328988"/>
                  </a:lnTo>
                  <a:cubicBezTo>
                    <a:pt x="77327" y="328988"/>
                    <a:pt x="50560" y="317900"/>
                    <a:pt x="30824" y="298164"/>
                  </a:cubicBezTo>
                  <a:cubicBezTo>
                    <a:pt x="11088" y="278428"/>
                    <a:pt x="0" y="251660"/>
                    <a:pt x="0" y="223749"/>
                  </a:cubicBezTo>
                  <a:lnTo>
                    <a:pt x="0" y="105238"/>
                  </a:lnTo>
                  <a:cubicBezTo>
                    <a:pt x="0" y="47117"/>
                    <a:pt x="47117" y="0"/>
                    <a:pt x="10523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927D3582-B0C4-6E41-AA2D-FD73D127DDD6}"/>
                </a:ext>
              </a:extLst>
            </p:cNvPr>
            <p:cNvSpPr txBox="1"/>
            <p:nvPr/>
          </p:nvSpPr>
          <p:spPr>
            <a:xfrm>
              <a:off x="0" y="-38100"/>
              <a:ext cx="1937529" cy="3670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D7A6C202-C67A-41DC-7499-D28D188D03E6}"/>
              </a:ext>
            </a:extLst>
          </p:cNvPr>
          <p:cNvGrpSpPr/>
          <p:nvPr/>
        </p:nvGrpSpPr>
        <p:grpSpPr>
          <a:xfrm rot="-10800000">
            <a:off x="-536257" y="9574006"/>
            <a:ext cx="8704391" cy="134923"/>
            <a:chOff x="0" y="0"/>
            <a:chExt cx="2292514" cy="3553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D0807688-3D2E-8BBD-9C7C-BB692B82F405}"/>
                </a:ext>
              </a:extLst>
            </p:cNvPr>
            <p:cNvSpPr/>
            <p:nvPr/>
          </p:nvSpPr>
          <p:spPr>
            <a:xfrm>
              <a:off x="0" y="0"/>
              <a:ext cx="2292515" cy="35535"/>
            </a:xfrm>
            <a:custGeom>
              <a:avLst/>
              <a:gdLst/>
              <a:ahLst/>
              <a:cxnLst/>
              <a:rect l="l" t="t" r="r" b="b"/>
              <a:pathLst>
                <a:path w="2292515" h="35535">
                  <a:moveTo>
                    <a:pt x="17768" y="0"/>
                  </a:moveTo>
                  <a:lnTo>
                    <a:pt x="2274747" y="0"/>
                  </a:lnTo>
                  <a:cubicBezTo>
                    <a:pt x="2284560" y="0"/>
                    <a:pt x="2292515" y="7955"/>
                    <a:pt x="2292515" y="17768"/>
                  </a:cubicBezTo>
                  <a:lnTo>
                    <a:pt x="2292515" y="17768"/>
                  </a:lnTo>
                  <a:cubicBezTo>
                    <a:pt x="2292515" y="22480"/>
                    <a:pt x="2290643" y="26999"/>
                    <a:pt x="2287311" y="30331"/>
                  </a:cubicBezTo>
                  <a:cubicBezTo>
                    <a:pt x="2283978" y="33663"/>
                    <a:pt x="2279459" y="35535"/>
                    <a:pt x="2274747" y="35535"/>
                  </a:cubicBezTo>
                  <a:lnTo>
                    <a:pt x="17768" y="35535"/>
                  </a:lnTo>
                  <a:cubicBezTo>
                    <a:pt x="13055" y="35535"/>
                    <a:pt x="8536" y="33663"/>
                    <a:pt x="5204" y="30331"/>
                  </a:cubicBezTo>
                  <a:cubicBezTo>
                    <a:pt x="1872" y="26999"/>
                    <a:pt x="0" y="22480"/>
                    <a:pt x="0" y="17768"/>
                  </a:cubicBezTo>
                  <a:lnTo>
                    <a:pt x="0" y="17768"/>
                  </a:lnTo>
                  <a:cubicBezTo>
                    <a:pt x="0" y="13055"/>
                    <a:pt x="1872" y="8536"/>
                    <a:pt x="5204" y="5204"/>
                  </a:cubicBezTo>
                  <a:cubicBezTo>
                    <a:pt x="8536" y="1872"/>
                    <a:pt x="13055" y="0"/>
                    <a:pt x="1776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EDE14CBD-71F3-CE58-1900-5B5A694C35F2}"/>
                </a:ext>
              </a:extLst>
            </p:cNvPr>
            <p:cNvSpPr txBox="1"/>
            <p:nvPr/>
          </p:nvSpPr>
          <p:spPr>
            <a:xfrm>
              <a:off x="0" y="-38100"/>
              <a:ext cx="2292514" cy="736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53F83F89-F8AE-E23F-84E0-1F8B85266321}"/>
              </a:ext>
            </a:extLst>
          </p:cNvPr>
          <p:cNvSpPr txBox="1"/>
          <p:nvPr/>
        </p:nvSpPr>
        <p:spPr>
          <a:xfrm>
            <a:off x="958498" y="4953536"/>
            <a:ext cx="8321721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ES" sz="4400" b="1" dirty="0">
                <a:latin typeface="Inter"/>
              </a:rPr>
              <a:t>¿Qué es el Gobierno de Datos?</a:t>
            </a:r>
          </a:p>
        </p:txBody>
      </p:sp>
    </p:spTree>
    <p:extLst>
      <p:ext uri="{BB962C8B-B14F-4D97-AF65-F5344CB8AC3E}">
        <p14:creationId xmlns:p14="http://schemas.microsoft.com/office/powerpoint/2010/main" val="2938131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397BD-E430-5F4E-B878-6A7282AE0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C4C6914-0E66-AE3D-F238-D95E5A03EFA1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EEC0936-86B5-DEDD-1A00-4B87A81889C0}"/>
              </a:ext>
            </a:extLst>
          </p:cNvPr>
          <p:cNvGrpSpPr/>
          <p:nvPr/>
        </p:nvGrpSpPr>
        <p:grpSpPr>
          <a:xfrm flipV="1">
            <a:off x="-762000" y="1516854"/>
            <a:ext cx="84582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B47B394-C1FD-D8AA-0CD4-5A3FDE3444F0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1C4D0DC-3047-EE73-0998-AC646E5B18A7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73E443E2-E43C-126F-3566-A735E89A659A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34118CB2-95E2-415C-689E-D99AB0EB37EC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DB849AFC-BA5F-C678-1255-29B19B334FED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5ACBC215-1F84-2860-4D4B-9E065F60DAB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9BC2DE0-5365-7DBF-57F4-97B29EE87EE9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94E99C1-E838-AF45-24C4-02EA9F8D2EED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310D6957-F37B-F5C8-C305-DCE50CDA5261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A9A31580-FB5F-AB6B-CC09-58E1F0797B8C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8F5107FE-30E9-953F-6EE2-C78D02F83FF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9" name="Diagrama 18">
            <a:extLst>
              <a:ext uri="{FF2B5EF4-FFF2-40B4-BE49-F238E27FC236}">
                <a16:creationId xmlns:a16="http://schemas.microsoft.com/office/drawing/2014/main" id="{A6CDC6B2-5F30-FB02-D17E-18E7B183C1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9623602"/>
              </p:ext>
            </p:extLst>
          </p:nvPr>
        </p:nvGraphicFramePr>
        <p:xfrm>
          <a:off x="1219200" y="2336780"/>
          <a:ext cx="14020800" cy="71674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8" name="CuadroTexto 17">
            <a:extLst>
              <a:ext uri="{FF2B5EF4-FFF2-40B4-BE49-F238E27FC236}">
                <a16:creationId xmlns:a16="http://schemas.microsoft.com/office/drawing/2014/main" id="{057A4BD2-95B4-058C-9D84-10D8BCC20B40}"/>
              </a:ext>
            </a:extLst>
          </p:cNvPr>
          <p:cNvSpPr txBox="1"/>
          <p:nvPr/>
        </p:nvSpPr>
        <p:spPr>
          <a:xfrm>
            <a:off x="990600" y="553466"/>
            <a:ext cx="95602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s-ES" sz="3200" b="1" i="0" dirty="0">
                <a:effectLst/>
                <a:latin typeface="Inter"/>
              </a:rPr>
              <a:t>¿Qué es el Gobierno de Datos?</a:t>
            </a:r>
          </a:p>
        </p:txBody>
      </p:sp>
    </p:spTree>
    <p:extLst>
      <p:ext uri="{BB962C8B-B14F-4D97-AF65-F5344CB8AC3E}">
        <p14:creationId xmlns:p14="http://schemas.microsoft.com/office/powerpoint/2010/main" val="1542834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76AAD-C036-E7B8-9A5B-BAB1AFAF6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78B4943-5722-D414-0874-D70B2BEE48D2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ABA8470-C06C-6B4F-56D0-D54A3FC7459C}"/>
              </a:ext>
            </a:extLst>
          </p:cNvPr>
          <p:cNvGrpSpPr/>
          <p:nvPr/>
        </p:nvGrpSpPr>
        <p:grpSpPr>
          <a:xfrm flipV="1">
            <a:off x="-762000" y="1516854"/>
            <a:ext cx="84582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6696087-4427-CE1D-24D9-F158A4E993CC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A783ABF-FB2E-EC40-1C85-AF0EE57F827A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2FD70D74-263B-11F9-6C88-51BBB33FCB7F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D0B92539-F5D0-3F0B-68EB-799128BD8E9A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56960412-C663-A223-2B2A-36A07C81547E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765A6C28-2DD0-3F24-A6F5-3102EB8C6D4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3D5BED4-A9D4-5E4F-A774-70D93CF06E5C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E49301A-E95F-9011-BA79-0815C8A14C10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3A9CEC69-A852-DF88-FF13-4B6D424F9E6E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097E7076-6EEF-610F-C50D-3DF3824AD5CA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0F7BD3E2-E306-D130-3A83-F3655D49678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EEDAC7A-56AC-0D8D-9527-CF3DE1972976}"/>
              </a:ext>
            </a:extLst>
          </p:cNvPr>
          <p:cNvSpPr txBox="1"/>
          <p:nvPr/>
        </p:nvSpPr>
        <p:spPr>
          <a:xfrm>
            <a:off x="1143000" y="2095500"/>
            <a:ext cx="14544413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b="1" dirty="0"/>
              <a:t>El paradigma anterior:</a:t>
            </a:r>
            <a:r>
              <a:rPr lang="es-ES" sz="3600" dirty="0"/>
              <a:t> Históricamente se usaba para "bloquear" los datos en silos por seguridad, lo que asfixiaba la innovación.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3600" dirty="0"/>
          </a:p>
          <a:p>
            <a:r>
              <a:rPr lang="es-ES" sz="3600" b="1" dirty="0"/>
              <a:t>El objetivo moderno:</a:t>
            </a:r>
            <a:r>
              <a:rPr lang="es-ES" sz="3600" dirty="0"/>
              <a:t> Encontrar el equilibrio perfecto entre </a:t>
            </a:r>
            <a:r>
              <a:rPr lang="es-ES" sz="3600" b="1" dirty="0"/>
              <a:t>Acceso y Control</a:t>
            </a:r>
            <a:r>
              <a:rPr lang="es-ES" sz="3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3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600" i="1" dirty="0"/>
              <a:t>Demasiado control:</a:t>
            </a:r>
            <a:r>
              <a:rPr lang="es-ES" sz="3600" dirty="0"/>
              <a:t> Crea silos de datos y sistemas informáticos "en la sombra" (</a:t>
            </a:r>
            <a:r>
              <a:rPr lang="es-ES" sz="3600" dirty="0" err="1"/>
              <a:t>shadow</a:t>
            </a:r>
            <a:r>
              <a:rPr lang="es-ES" sz="3600" dirty="0"/>
              <a:t> IT).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600" i="1" dirty="0"/>
              <a:t>Demasiado acceso:</a:t>
            </a:r>
            <a:r>
              <a:rPr lang="es-ES" sz="3600" dirty="0"/>
              <a:t> Aumenta el riesgo de accesos no autorizados y disminuye la calidad de los datos.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3600" dirty="0"/>
          </a:p>
          <a:p>
            <a:r>
              <a:rPr lang="es-ES" sz="3600" b="1" dirty="0"/>
              <a:t>Impacto:</a:t>
            </a:r>
            <a:r>
              <a:rPr lang="es-ES" sz="3600" dirty="0"/>
              <a:t> Da a los usuarios confianza en los datos mientras fomenta el descubrimiento, la curaduría y el uso compartido seguro.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3329601-837E-63D6-3001-96EC43C97E13}"/>
              </a:ext>
            </a:extLst>
          </p:cNvPr>
          <p:cNvSpPr txBox="1"/>
          <p:nvPr/>
        </p:nvSpPr>
        <p:spPr>
          <a:xfrm>
            <a:off x="838200" y="484044"/>
            <a:ext cx="95602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4000" b="1" dirty="0"/>
              <a:t>¿Por qué es importante?</a:t>
            </a:r>
          </a:p>
        </p:txBody>
      </p:sp>
    </p:spTree>
    <p:extLst>
      <p:ext uri="{BB962C8B-B14F-4D97-AF65-F5344CB8AC3E}">
        <p14:creationId xmlns:p14="http://schemas.microsoft.com/office/powerpoint/2010/main" val="2411319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1DCB0-97B1-8BC4-D3BF-7FCABC384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BE3B91B-1E27-FBAF-E1E1-5E357935BE4F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757563B-E489-BC61-2C9A-EF5982C86953}"/>
              </a:ext>
            </a:extLst>
          </p:cNvPr>
          <p:cNvGrpSpPr/>
          <p:nvPr/>
        </p:nvGrpSpPr>
        <p:grpSpPr>
          <a:xfrm flipV="1">
            <a:off x="-762000" y="1516854"/>
            <a:ext cx="84582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ADC17F3-D5DE-E49A-66C1-ACD28A304D5B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9428196-5565-488D-B071-6FD18EF75DA7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138327D2-CD7E-0D22-C80C-AF0D20F17D24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F0AF1C25-2E9D-98EE-6BC3-DBACCCEDB3BF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795EC1A0-1504-176F-E3FA-4B9404CCA88F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7FCF3427-AB7D-36F7-DAD3-5FDA7C557F6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7D5299B-60E8-A5E6-3ED0-E5D619F4AF8C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4E9C79A-8EB7-DFA8-52A5-9BA95049413C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5B77B79B-B5E4-69F3-ABCE-5EF32C5D25ED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018CCF04-3C73-C3D9-EA12-4ED35349A15C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192A63F8-40B8-93D1-32E2-D926434F4C1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8E42223-A35B-7966-B626-658B596FB233}"/>
              </a:ext>
            </a:extLst>
          </p:cNvPr>
          <p:cNvSpPr txBox="1"/>
          <p:nvPr/>
        </p:nvSpPr>
        <p:spPr>
          <a:xfrm>
            <a:off x="990600" y="2550286"/>
            <a:ext cx="156972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s-ES" sz="3600" b="1" dirty="0"/>
              <a:t>Mejora la calidad de los datos:</a:t>
            </a:r>
            <a:r>
              <a:rPr lang="es-ES" sz="3600" dirty="0"/>
              <a:t> Establece estándares de precisión y coherencia, reduciendo errores en la toma de decisiones.</a:t>
            </a:r>
          </a:p>
          <a:p>
            <a:pPr>
              <a:buFont typeface="+mj-lt"/>
              <a:buAutoNum type="arabicPeriod"/>
            </a:pPr>
            <a:endParaRPr lang="es-ES" sz="3600" dirty="0"/>
          </a:p>
          <a:p>
            <a:pPr>
              <a:buFont typeface="+mj-lt"/>
              <a:buAutoNum type="arabicPeriod"/>
            </a:pPr>
            <a:r>
              <a:rPr lang="es-ES" sz="3600" b="1" dirty="0"/>
              <a:t>Apoya una cultura basada en datos:</a:t>
            </a:r>
            <a:r>
              <a:rPr lang="es-ES" sz="3600" dirty="0"/>
              <a:t> Fomenta la alfabetización de datos (Data </a:t>
            </a:r>
            <a:r>
              <a:rPr lang="es-ES" sz="3600" dirty="0" err="1"/>
              <a:t>Literacy</a:t>
            </a:r>
            <a:r>
              <a:rPr lang="es-ES" sz="3600" dirty="0"/>
              <a:t>) y la colaboración entre áreas.</a:t>
            </a:r>
          </a:p>
          <a:p>
            <a:pPr>
              <a:buFont typeface="+mj-lt"/>
              <a:buAutoNum type="arabicPeriod"/>
            </a:pPr>
            <a:endParaRPr lang="es-ES" sz="3600" dirty="0"/>
          </a:p>
          <a:p>
            <a:pPr>
              <a:buFont typeface="+mj-lt"/>
              <a:buAutoNum type="arabicPeriod"/>
            </a:pPr>
            <a:r>
              <a:rPr lang="es-ES" sz="3600" b="1" dirty="0"/>
              <a:t>Aumenta la eficiencia operativa:</a:t>
            </a:r>
            <a:r>
              <a:rPr lang="es-ES" sz="3600" dirty="0"/>
              <a:t> Reduce duplicaciones de trabajo, baja costos operativos y define claramente a los dueños de la información.</a:t>
            </a:r>
          </a:p>
          <a:p>
            <a:pPr>
              <a:buFont typeface="+mj-lt"/>
              <a:buAutoNum type="arabicPeriod"/>
            </a:pPr>
            <a:endParaRPr lang="es-ES" sz="3600" dirty="0"/>
          </a:p>
          <a:p>
            <a:pPr>
              <a:buFont typeface="+mj-lt"/>
              <a:buAutoNum type="arabicPeriod"/>
            </a:pPr>
            <a:r>
              <a:rPr lang="es-ES" sz="3600" b="1" dirty="0"/>
              <a:t>Respalda el cumplimiento normativo:</a:t>
            </a:r>
            <a:r>
              <a:rPr lang="es-ES" sz="3600" dirty="0"/>
              <a:t> Ayuda a gestionar riesgos de forma proactiva y a cumplir con regulaciones de privacidad de datos.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AEAB6EC-95BB-7213-ED9A-58F3D19026A7}"/>
              </a:ext>
            </a:extLst>
          </p:cNvPr>
          <p:cNvSpPr txBox="1"/>
          <p:nvPr/>
        </p:nvSpPr>
        <p:spPr>
          <a:xfrm>
            <a:off x="990600" y="484044"/>
            <a:ext cx="956025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4400" b="1" dirty="0"/>
              <a:t>Beneficios del Gobierno de Datos</a:t>
            </a:r>
          </a:p>
        </p:txBody>
      </p:sp>
    </p:spTree>
    <p:extLst>
      <p:ext uri="{BB962C8B-B14F-4D97-AF65-F5344CB8AC3E}">
        <p14:creationId xmlns:p14="http://schemas.microsoft.com/office/powerpoint/2010/main" val="2494664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BA64B-5C91-BCD8-9ECF-7AB2F8CAA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BC20012-2A9E-8997-48C4-B7FF614309FF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96DFF9F-24A8-885E-E159-E4C9BD0E149F}"/>
              </a:ext>
            </a:extLst>
          </p:cNvPr>
          <p:cNvGrpSpPr/>
          <p:nvPr/>
        </p:nvGrpSpPr>
        <p:grpSpPr>
          <a:xfrm flipV="1">
            <a:off x="-762000" y="1516854"/>
            <a:ext cx="84582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3F9726D-5D77-5FBC-04FE-A8AEC62FB7E8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8CD81F4-ACD6-B2B3-3813-FD9BF4A276FB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AE90CDA6-361F-ED0B-A117-4953B2CA8CF4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D4EE68AD-12C5-04E4-DB9B-FEF0989A55F2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CA9367B4-9500-7C5D-AF06-9A1293B35DE5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99D3AB01-C0A2-6D29-90FB-5626918BE42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2FE8F80-3828-3F97-219C-54FC5AFD9045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887A6233-ED37-2036-5DDD-D00485CF2518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6DDF4AA0-DC8F-60E8-9F1B-0575C7D3E6A5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BE025D4D-1D2A-9E5D-DCDA-2D31727029AF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1A4913A3-0385-8333-BF25-9DA178FA718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6E3E06B-9E53-21E7-7AF0-C27E17B101C6}"/>
              </a:ext>
            </a:extLst>
          </p:cNvPr>
          <p:cNvSpPr txBox="1"/>
          <p:nvPr/>
        </p:nvSpPr>
        <p:spPr>
          <a:xfrm>
            <a:off x="1143000" y="2524432"/>
            <a:ext cx="14439726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3600" b="1" dirty="0"/>
              <a:t>Patrocinadores Ejecutivos (Executive sponsors):</a:t>
            </a:r>
            <a:r>
              <a:rPr lang="es-ES" sz="3600" dirty="0"/>
              <a:t> Establecen los principios y alinean las prioridades de los datos con los objetivos del negocio.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36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3600" b="1" dirty="0"/>
              <a:t>Propietarios de los Datos (Data </a:t>
            </a:r>
            <a:r>
              <a:rPr lang="es-ES" sz="3600" b="1" dirty="0" err="1"/>
              <a:t>owners</a:t>
            </a:r>
            <a:r>
              <a:rPr lang="es-ES" sz="3600" b="1" dirty="0"/>
              <a:t>):</a:t>
            </a:r>
            <a:r>
              <a:rPr lang="es-ES" sz="3600" dirty="0"/>
              <a:t> Definen políticas de acceso, regulaciones y la administración técnica de los conjuntos de datos.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36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3600" b="1" dirty="0"/>
              <a:t>Administradores de Datos (Data </a:t>
            </a:r>
            <a:r>
              <a:rPr lang="es-ES" sz="3600" b="1" dirty="0" err="1"/>
              <a:t>stewards</a:t>
            </a:r>
            <a:r>
              <a:rPr lang="es-ES" sz="3600" b="1" dirty="0"/>
              <a:t>):</a:t>
            </a:r>
            <a:r>
              <a:rPr lang="es-ES" sz="3600" dirty="0"/>
              <a:t> Implementan el gobierno en el día a día de los proyectos, monitoreando el cumplimiento y resolviendo problemas de calidad.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36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3600" b="1" dirty="0"/>
              <a:t>Ingenieros de Datos (Data </a:t>
            </a:r>
            <a:r>
              <a:rPr lang="es-ES" sz="3600" b="1" dirty="0" err="1"/>
              <a:t>engineers</a:t>
            </a:r>
            <a:r>
              <a:rPr lang="es-ES" sz="3600" b="1" dirty="0"/>
              <a:t>):</a:t>
            </a:r>
            <a:r>
              <a:rPr lang="es-ES" sz="3600" dirty="0"/>
              <a:t> Desde TI, seleccionan e implementan las herramientas para integrar, asegurar y catalogar los datos.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99AD1C0-7C32-C184-C051-30926C9A9E9A}"/>
              </a:ext>
            </a:extLst>
          </p:cNvPr>
          <p:cNvSpPr txBox="1"/>
          <p:nvPr/>
        </p:nvSpPr>
        <p:spPr>
          <a:xfrm>
            <a:off x="685800" y="572345"/>
            <a:ext cx="128903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600" b="1" dirty="0"/>
              <a:t>¿Quiénes construyen el Gobierno de Datos? (Roles Clave)</a:t>
            </a:r>
          </a:p>
        </p:txBody>
      </p:sp>
    </p:spTree>
    <p:extLst>
      <p:ext uri="{BB962C8B-B14F-4D97-AF65-F5344CB8AC3E}">
        <p14:creationId xmlns:p14="http://schemas.microsoft.com/office/powerpoint/2010/main" val="3063198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43173-75EF-0A30-767E-3F3BCFB2E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5ED7932-CC75-760B-23F4-49BD680E9308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008745C-A0A9-20C1-3741-270985567CFD}"/>
              </a:ext>
            </a:extLst>
          </p:cNvPr>
          <p:cNvGrpSpPr/>
          <p:nvPr/>
        </p:nvGrpSpPr>
        <p:grpSpPr>
          <a:xfrm flipV="1">
            <a:off x="-762000" y="1516854"/>
            <a:ext cx="84582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4CEC8EF-0E67-1F7D-7EAD-B0D230453F46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4BD98F5-6BED-F71A-8285-635F4B4A18AE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58C14B50-E78B-DD37-2115-F59ADCC57F38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58570995-A17F-DD54-D0B1-5787EDCCB759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DF7E69CC-D3B8-BDE0-0ECB-149B8944B211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EBF60157-B1AA-334F-7999-0AC19B54B98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F3215B0-BDB1-64DF-8B69-9E5BD542ADC7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8F5F448-0D1C-D7AC-6789-7143A9302E40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E35C6FE6-4749-D1CD-C10D-946E0922BAB0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0B8363FA-345E-8EA1-9FE6-B916DF7A5D56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9163BE4E-F4C9-89D4-BF9E-238A5538988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E9A09ED-E4EE-AE28-B417-B43D1C674AF6}"/>
              </a:ext>
            </a:extLst>
          </p:cNvPr>
          <p:cNvSpPr txBox="1"/>
          <p:nvPr/>
        </p:nvSpPr>
        <p:spPr>
          <a:xfrm>
            <a:off x="990600" y="2552700"/>
            <a:ext cx="153924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dirty="0"/>
              <a:t>Las empresas suelen utilizar una mezcla de estos modelos según sus necesidades:</a:t>
            </a:r>
          </a:p>
          <a:p>
            <a:pPr>
              <a:buNone/>
            </a:pPr>
            <a:endParaRPr lang="es-E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3200" b="1" dirty="0"/>
              <a:t>Centralizado:</a:t>
            </a:r>
            <a:r>
              <a:rPr lang="es-ES" sz="3200" dirty="0"/>
              <a:t> Un equipo central es el máximo responsable de las políticas, aunque las operaciones diarias se deleguen a las líneas de negocio.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3200" b="1" dirty="0"/>
              <a:t>Federado:</a:t>
            </a:r>
            <a:r>
              <a:rPr lang="es-ES" sz="3200" dirty="0"/>
              <a:t> Las unidades de negocio operan según sus necesidades específicas, pero apoyadas por un equipo central para problemas transversales (ej. herramientas de calidad corporativas).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3200" b="1" dirty="0"/>
              <a:t>Descentralizado / Autoservicio:</a:t>
            </a:r>
            <a:r>
              <a:rPr lang="es-ES" sz="3200" dirty="0"/>
              <a:t> Alineado con conceptos como </a:t>
            </a:r>
            <a:r>
              <a:rPr lang="es-ES" sz="3200" i="1" dirty="0"/>
              <a:t>Data </a:t>
            </a:r>
            <a:r>
              <a:rPr lang="es-ES" sz="3200" i="1" dirty="0" err="1"/>
              <a:t>Mesh</a:t>
            </a:r>
            <a:r>
              <a:rPr lang="es-ES" sz="3200" dirty="0"/>
              <a:t>. Cada departamento gestiona sus datos cumpliendo con políticas centrales, ideal para promover la agilidad.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FF43CE0-EE31-A78D-2906-B6456DB9296F}"/>
              </a:ext>
            </a:extLst>
          </p:cNvPr>
          <p:cNvSpPr txBox="1"/>
          <p:nvPr/>
        </p:nvSpPr>
        <p:spPr>
          <a:xfrm>
            <a:off x="609600" y="619028"/>
            <a:ext cx="95602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600" b="1" dirty="0"/>
              <a:t>Estilos de Gobierno de Datos</a:t>
            </a:r>
          </a:p>
        </p:txBody>
      </p:sp>
    </p:spTree>
    <p:extLst>
      <p:ext uri="{BB962C8B-B14F-4D97-AF65-F5344CB8AC3E}">
        <p14:creationId xmlns:p14="http://schemas.microsoft.com/office/powerpoint/2010/main" val="3423987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88ACE-0934-647C-8FCF-121E882F0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BEF84AEF-807A-B5DE-42ED-1785323DE85C}"/>
              </a:ext>
            </a:extLst>
          </p:cNvPr>
          <p:cNvGrpSpPr/>
          <p:nvPr/>
        </p:nvGrpSpPr>
        <p:grpSpPr>
          <a:xfrm rot="-10800000">
            <a:off x="10392303" y="0"/>
            <a:ext cx="7895697" cy="10287000"/>
            <a:chOff x="0" y="0"/>
            <a:chExt cx="2079525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7CC4582-EB5A-35C4-227E-3E31C66AC0B0}"/>
                </a:ext>
              </a:extLst>
            </p:cNvPr>
            <p:cNvSpPr/>
            <p:nvPr/>
          </p:nvSpPr>
          <p:spPr>
            <a:xfrm>
              <a:off x="0" y="0"/>
              <a:ext cx="2079525" cy="2709333"/>
            </a:xfrm>
            <a:custGeom>
              <a:avLst/>
              <a:gdLst/>
              <a:ahLst/>
              <a:cxnLst/>
              <a:rect l="l" t="t" r="r" b="b"/>
              <a:pathLst>
                <a:path w="2079525" h="2709333">
                  <a:moveTo>
                    <a:pt x="0" y="0"/>
                  </a:moveTo>
                  <a:lnTo>
                    <a:pt x="2079525" y="0"/>
                  </a:lnTo>
                  <a:lnTo>
                    <a:pt x="2079525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6CEA01E-93D8-5B7C-8300-467FC9212128}"/>
                </a:ext>
              </a:extLst>
            </p:cNvPr>
            <p:cNvSpPr txBox="1"/>
            <p:nvPr/>
          </p:nvSpPr>
          <p:spPr>
            <a:xfrm>
              <a:off x="0" y="-38100"/>
              <a:ext cx="207952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B31202AB-6ABA-521E-EC5A-944AB28253B4}"/>
              </a:ext>
            </a:extLst>
          </p:cNvPr>
          <p:cNvSpPr/>
          <p:nvPr/>
        </p:nvSpPr>
        <p:spPr>
          <a:xfrm>
            <a:off x="9562641" y="4953536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>
                <a:moveTo>
                  <a:pt x="0" y="0"/>
                </a:moveTo>
                <a:lnTo>
                  <a:pt x="4777511" y="0"/>
                </a:lnTo>
                <a:lnTo>
                  <a:pt x="4777511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432B313-B9A6-8BDB-8B78-FF15D5121508}"/>
              </a:ext>
            </a:extLst>
          </p:cNvPr>
          <p:cNvSpPr/>
          <p:nvPr/>
        </p:nvSpPr>
        <p:spPr>
          <a:xfrm rot="-10800000">
            <a:off x="14340152" y="455568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>
                <a:moveTo>
                  <a:pt x="0" y="0"/>
                </a:moveTo>
                <a:lnTo>
                  <a:pt x="4777510" y="0"/>
                </a:lnTo>
                <a:lnTo>
                  <a:pt x="4777510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6F2461D1-DC62-F542-FFA3-22E8F0C3E806}"/>
              </a:ext>
            </a:extLst>
          </p:cNvPr>
          <p:cNvGrpSpPr/>
          <p:nvPr/>
        </p:nvGrpSpPr>
        <p:grpSpPr>
          <a:xfrm rot="1460314">
            <a:off x="10661875" y="4518938"/>
            <a:ext cx="7356554" cy="1249125"/>
            <a:chOff x="0" y="0"/>
            <a:chExt cx="1937529" cy="32898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2D82D9F8-CBB4-CF7D-5984-E4588ECC4998}"/>
                </a:ext>
              </a:extLst>
            </p:cNvPr>
            <p:cNvSpPr/>
            <p:nvPr/>
          </p:nvSpPr>
          <p:spPr>
            <a:xfrm>
              <a:off x="0" y="0"/>
              <a:ext cx="1937528" cy="328988"/>
            </a:xfrm>
            <a:custGeom>
              <a:avLst/>
              <a:gdLst/>
              <a:ahLst/>
              <a:cxnLst/>
              <a:rect l="l" t="t" r="r" b="b"/>
              <a:pathLst>
                <a:path w="1937528" h="328988">
                  <a:moveTo>
                    <a:pt x="105238" y="0"/>
                  </a:moveTo>
                  <a:lnTo>
                    <a:pt x="1832290" y="0"/>
                  </a:lnTo>
                  <a:cubicBezTo>
                    <a:pt x="1860201" y="0"/>
                    <a:pt x="1886969" y="11088"/>
                    <a:pt x="1906705" y="30824"/>
                  </a:cubicBezTo>
                  <a:cubicBezTo>
                    <a:pt x="1926441" y="50560"/>
                    <a:pt x="1937528" y="77327"/>
                    <a:pt x="1937528" y="105238"/>
                  </a:cubicBezTo>
                  <a:lnTo>
                    <a:pt x="1937528" y="223749"/>
                  </a:lnTo>
                  <a:cubicBezTo>
                    <a:pt x="1937528" y="281871"/>
                    <a:pt x="1890412" y="328988"/>
                    <a:pt x="1832290" y="328988"/>
                  </a:cubicBezTo>
                  <a:lnTo>
                    <a:pt x="105238" y="328988"/>
                  </a:lnTo>
                  <a:cubicBezTo>
                    <a:pt x="77327" y="328988"/>
                    <a:pt x="50560" y="317900"/>
                    <a:pt x="30824" y="298164"/>
                  </a:cubicBezTo>
                  <a:cubicBezTo>
                    <a:pt x="11088" y="278428"/>
                    <a:pt x="0" y="251660"/>
                    <a:pt x="0" y="223749"/>
                  </a:cubicBezTo>
                  <a:lnTo>
                    <a:pt x="0" y="105238"/>
                  </a:lnTo>
                  <a:cubicBezTo>
                    <a:pt x="0" y="47117"/>
                    <a:pt x="47117" y="0"/>
                    <a:pt x="10523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8F7C098D-42FF-08DA-AF5B-B27E87EE6C14}"/>
                </a:ext>
              </a:extLst>
            </p:cNvPr>
            <p:cNvSpPr txBox="1"/>
            <p:nvPr/>
          </p:nvSpPr>
          <p:spPr>
            <a:xfrm>
              <a:off x="0" y="-38100"/>
              <a:ext cx="1937529" cy="3670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5D52CD3B-B1FB-5A39-7926-1783EA512620}"/>
              </a:ext>
            </a:extLst>
          </p:cNvPr>
          <p:cNvGrpSpPr/>
          <p:nvPr/>
        </p:nvGrpSpPr>
        <p:grpSpPr>
          <a:xfrm rot="-10800000">
            <a:off x="-536257" y="9574006"/>
            <a:ext cx="8704391" cy="134923"/>
            <a:chOff x="0" y="0"/>
            <a:chExt cx="2292514" cy="3553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B3B82B96-B0B3-EDFD-EBE1-2B0CA9DA1981}"/>
                </a:ext>
              </a:extLst>
            </p:cNvPr>
            <p:cNvSpPr/>
            <p:nvPr/>
          </p:nvSpPr>
          <p:spPr>
            <a:xfrm>
              <a:off x="0" y="0"/>
              <a:ext cx="2292515" cy="35535"/>
            </a:xfrm>
            <a:custGeom>
              <a:avLst/>
              <a:gdLst/>
              <a:ahLst/>
              <a:cxnLst/>
              <a:rect l="l" t="t" r="r" b="b"/>
              <a:pathLst>
                <a:path w="2292515" h="35535">
                  <a:moveTo>
                    <a:pt x="17768" y="0"/>
                  </a:moveTo>
                  <a:lnTo>
                    <a:pt x="2274747" y="0"/>
                  </a:lnTo>
                  <a:cubicBezTo>
                    <a:pt x="2284560" y="0"/>
                    <a:pt x="2292515" y="7955"/>
                    <a:pt x="2292515" y="17768"/>
                  </a:cubicBezTo>
                  <a:lnTo>
                    <a:pt x="2292515" y="17768"/>
                  </a:lnTo>
                  <a:cubicBezTo>
                    <a:pt x="2292515" y="22480"/>
                    <a:pt x="2290643" y="26999"/>
                    <a:pt x="2287311" y="30331"/>
                  </a:cubicBezTo>
                  <a:cubicBezTo>
                    <a:pt x="2283978" y="33663"/>
                    <a:pt x="2279459" y="35535"/>
                    <a:pt x="2274747" y="35535"/>
                  </a:cubicBezTo>
                  <a:lnTo>
                    <a:pt x="17768" y="35535"/>
                  </a:lnTo>
                  <a:cubicBezTo>
                    <a:pt x="13055" y="35535"/>
                    <a:pt x="8536" y="33663"/>
                    <a:pt x="5204" y="30331"/>
                  </a:cubicBezTo>
                  <a:cubicBezTo>
                    <a:pt x="1872" y="26999"/>
                    <a:pt x="0" y="22480"/>
                    <a:pt x="0" y="17768"/>
                  </a:cubicBezTo>
                  <a:lnTo>
                    <a:pt x="0" y="17768"/>
                  </a:lnTo>
                  <a:cubicBezTo>
                    <a:pt x="0" y="13055"/>
                    <a:pt x="1872" y="8536"/>
                    <a:pt x="5204" y="5204"/>
                  </a:cubicBezTo>
                  <a:cubicBezTo>
                    <a:pt x="8536" y="1872"/>
                    <a:pt x="13055" y="0"/>
                    <a:pt x="1776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BAD4412D-5693-E3AA-D106-377EBC613354}"/>
                </a:ext>
              </a:extLst>
            </p:cNvPr>
            <p:cNvSpPr txBox="1"/>
            <p:nvPr/>
          </p:nvSpPr>
          <p:spPr>
            <a:xfrm>
              <a:off x="0" y="-38100"/>
              <a:ext cx="2292514" cy="736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ABE0AB94-776F-2C13-6497-74ED6134EEEE}"/>
              </a:ext>
            </a:extLst>
          </p:cNvPr>
          <p:cNvSpPr txBox="1"/>
          <p:nvPr/>
        </p:nvSpPr>
        <p:spPr>
          <a:xfrm>
            <a:off x="790434" y="4457700"/>
            <a:ext cx="8321721" cy="23426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s-ES" sz="4400" b="1" dirty="0"/>
              <a:t>Fundamentos del Catálogo y Gobierno de Datos</a:t>
            </a:r>
          </a:p>
          <a:p>
            <a:pPr algn="ctr">
              <a:lnSpc>
                <a:spcPts val="6159"/>
              </a:lnSpc>
              <a:spcBef>
                <a:spcPct val="0"/>
              </a:spcBef>
            </a:pPr>
            <a:endParaRPr lang="es-CO" sz="4350" b="1" noProof="0" dirty="0">
              <a:solidFill>
                <a:srgbClr val="700A89"/>
              </a:solidFill>
              <a:latin typeface="Poppins 1 Bold"/>
              <a:cs typeface="Poppins 1 Bold"/>
              <a:sym typeface="Poppins 1 Bold"/>
            </a:endParaRPr>
          </a:p>
        </p:txBody>
      </p:sp>
    </p:spTree>
    <p:extLst>
      <p:ext uri="{BB962C8B-B14F-4D97-AF65-F5344CB8AC3E}">
        <p14:creationId xmlns:p14="http://schemas.microsoft.com/office/powerpoint/2010/main" val="1275157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EFC6E-A5CD-9E5C-4311-FF65B43EF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CC49C0E-1754-9F32-2373-EC45F069D606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9337439-6C28-FBCA-4F0C-5E4A2EE9A447}"/>
              </a:ext>
            </a:extLst>
          </p:cNvPr>
          <p:cNvGrpSpPr/>
          <p:nvPr/>
        </p:nvGrpSpPr>
        <p:grpSpPr>
          <a:xfrm flipV="1">
            <a:off x="-762000" y="1516854"/>
            <a:ext cx="84582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1D743D3-CA48-1123-7331-BA57B6C2D700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7807437-F125-3B9C-4F31-3570A28EFA56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31044BC0-693B-691C-3219-35747D6A8A35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0C9CA8E9-5F04-4FCE-7D1D-8A68AC35FC77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E711F5DD-7AB1-8A81-F7E2-373F97A20AB5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BA55F2D7-D7D9-82D4-F9A6-E6D7C913735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FB331B8-4917-F854-3846-36D0781CECD8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82BF2E0-25BC-0029-251E-069D8EA2E7D6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00DB9B39-18D7-B8B7-1D1E-B569F2543D6A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EA788FAC-38FC-FE05-B21F-35A28AE29CDC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5584151F-3190-7AB1-C98A-F0C2BBB8AF1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09C7E0D-B603-D015-945F-4A6AD4A7A8C4}"/>
              </a:ext>
            </a:extLst>
          </p:cNvPr>
          <p:cNvSpPr txBox="1"/>
          <p:nvPr/>
        </p:nvSpPr>
        <p:spPr>
          <a:xfrm>
            <a:off x="609600" y="2476500"/>
            <a:ext cx="15322680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3200" b="1" dirty="0"/>
              <a:t>Necesidad de un Framework:</a:t>
            </a:r>
            <a:r>
              <a:rPr lang="es-ES" sz="3200" dirty="0"/>
              <a:t> Las organizaciones requieren un marco de gobierno de datos para extraer </a:t>
            </a:r>
            <a:r>
              <a:rPr lang="es-ES" sz="3200" i="1" dirty="0" err="1"/>
              <a:t>insights</a:t>
            </a:r>
            <a:r>
              <a:rPr lang="es-ES" sz="3200" dirty="0"/>
              <a:t> técnicos y de negocio profundos de sus activos de información.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3200" b="1" dirty="0"/>
              <a:t>El Núcleo son los Metadatos:</a:t>
            </a:r>
            <a:r>
              <a:rPr lang="es-ES" sz="3200" dirty="0"/>
              <a:t> Un catálogo de gobierno gira en torno a dos categorías principales: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200" b="1" dirty="0"/>
              <a:t>Metadatos Técnicos:</a:t>
            </a:r>
            <a:r>
              <a:rPr lang="es-ES" sz="3200" dirty="0"/>
              <a:t> Información operativa como autor, fechas de creación/modificación, sistema de origen y tamaño del </a:t>
            </a:r>
            <a:r>
              <a:rPr lang="es-ES" sz="3200" i="1" dirty="0" err="1"/>
              <a:t>dataset</a:t>
            </a:r>
            <a:r>
              <a:rPr lang="es-ES" sz="32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200" b="1" dirty="0"/>
              <a:t>Metadatos de Negocio:</a:t>
            </a:r>
            <a:r>
              <a:rPr lang="es-ES" sz="3200" dirty="0"/>
              <a:t> Contexto que enriquece al dato, incluyendo clasificación, estructura, taxonomía y periodos de retención.</a:t>
            </a:r>
          </a:p>
          <a:p>
            <a:pPr lvl="1"/>
            <a:endParaRPr lang="es-E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3200" b="1" dirty="0"/>
              <a:t>Cultura "Data-</a:t>
            </a:r>
            <a:r>
              <a:rPr lang="es-ES" sz="3200" b="1" dirty="0" err="1"/>
              <a:t>Driven</a:t>
            </a:r>
            <a:r>
              <a:rPr lang="es-ES" sz="3200" b="1" dirty="0"/>
              <a:t>":</a:t>
            </a:r>
            <a:r>
              <a:rPr lang="es-ES" sz="3200" dirty="0"/>
              <a:t> La falta de decisiones basadas en datos limita el potencial de la empresa, relegando las estrategias a simples suposiciones. Un enfoque centrado en los datos optimiza la logística, las ventas y la interacción con el cliente.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DC8DC18-E4EB-5F51-703F-64513938A365}"/>
              </a:ext>
            </a:extLst>
          </p:cNvPr>
          <p:cNvSpPr txBox="1"/>
          <p:nvPr/>
        </p:nvSpPr>
        <p:spPr>
          <a:xfrm>
            <a:off x="381000" y="594478"/>
            <a:ext cx="95602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600" b="1" dirty="0"/>
              <a:t>Fundamentos del Catálogo y Gobierno de Datos</a:t>
            </a:r>
          </a:p>
        </p:txBody>
      </p:sp>
    </p:spTree>
    <p:extLst>
      <p:ext uri="{BB962C8B-B14F-4D97-AF65-F5344CB8AC3E}">
        <p14:creationId xmlns:p14="http://schemas.microsoft.com/office/powerpoint/2010/main" val="3670276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BE28B-0CE5-28FA-BCFF-C540D9F9D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A7FB4C0-74B8-CDAE-AEE1-8F3ECA64A559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BAA6E729-A622-C758-4524-499092E20907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BFC01CBA-0C53-AF50-CC28-1C49692B8A93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5C5EF550-0EB9-904C-643C-CA364E4233B4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3B311155-4F4E-0982-90B5-4C030508858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DA5ED550-7BE2-38D0-D0F7-54DE7B96E641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4F1C78F5-13AA-E0D8-ED91-5D78770062DE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068FC52D-90DA-3BD8-9243-E3835DEE5273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517ECF9D-7942-4952-DE6D-C0BC9A6A997C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A5C363F1-4C61-2E52-54FB-370D18DB876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6" name="Rectangle 2">
            <a:extLst>
              <a:ext uri="{FF2B5EF4-FFF2-40B4-BE49-F238E27FC236}">
                <a16:creationId xmlns:a16="http://schemas.microsoft.com/office/drawing/2014/main" id="{4D32F7CA-AB7B-A80F-A026-C8F86CD58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968983"/>
            <a:ext cx="15925800" cy="78483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Beneficios del Catálogo de Datos:</a:t>
            </a:r>
            <a:endParaRPr kumimoji="0" lang="es-CO" altLang="es-CO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Alinea </a:t>
            </a:r>
            <a:r>
              <a:rPr kumimoji="0" lang="es-CO" altLang="es-CO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personas, procesos y tecnología</a:t>
            </a:r>
            <a:r>
              <a:rPr kumimoji="0" lang="es-CO" altLang="es-CO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Proporciona visibilidad para cumplir con las normativas globales de privacidad.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Mejora la calidad del dato, el cumplimiento normativo y orquesta los flujos de trabajo técnicos.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s-CO" altLang="es-CO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Propiedad de los Datos (</a:t>
            </a:r>
            <a:r>
              <a:rPr kumimoji="0" lang="es-CO" altLang="es-CO" sz="36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</a:t>
            </a:r>
            <a:r>
              <a:rPr kumimoji="0" lang="es-CO" altLang="es-CO" sz="36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Ownership</a:t>
            </a:r>
            <a:r>
              <a:rPr kumimoji="0" lang="es-CO" altLang="es-CO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r>
              <a:rPr kumimoji="0" lang="es-CO" altLang="es-CO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Garantiza que existan responsables claros (en marketing, finanzas, cadena de suministro, etc.) del origen, la definición, los atributos y las dependencias de cada dato.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Colaboración Estratégica:</a:t>
            </a:r>
            <a:r>
              <a:rPr kumimoji="0" lang="es-CO" altLang="es-CO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 identificar a los dueños y democratizar el acceso seguro, se rompen los silos entre unidades de negocio. Esto acelera el lanzamiento de productos y permite campañas mucho más precisas.</a:t>
            </a:r>
          </a:p>
        </p:txBody>
      </p:sp>
    </p:spTree>
    <p:extLst>
      <p:ext uri="{BB962C8B-B14F-4D97-AF65-F5344CB8AC3E}">
        <p14:creationId xmlns:p14="http://schemas.microsoft.com/office/powerpoint/2010/main" val="2197396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E51A3-A820-8E4D-23FA-668BE238D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04FDE0C-282D-F03F-8614-2545F33E7318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2169E9FE-DE0B-5F18-9AE3-C91B460C78FE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20EE7F84-4092-14EC-5905-7B56164442D4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779E20F7-D575-A25C-812D-413AA2CEDAAD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7729B9A3-E443-0136-5C57-C407DF494C5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604CE29-AC43-A11E-19DC-ED64601DFE61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D09B085B-67A1-19A1-7068-E6D442E153CD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59DC143B-9810-C8AF-4298-A0B1E3959251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7C0167D1-BE17-2783-1E0D-3D360F02F8D3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6A2C3C46-2004-2222-629A-CDC6FA806BA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pic>
        <p:nvPicPr>
          <p:cNvPr id="21" name="Imagen 20" descr="Diagrama&#10;&#10;El contenido generado por IA puede ser incorrecto.">
            <a:extLst>
              <a:ext uri="{FF2B5EF4-FFF2-40B4-BE49-F238E27FC236}">
                <a16:creationId xmlns:a16="http://schemas.microsoft.com/office/drawing/2014/main" id="{7EEED434-B105-0B11-824A-28A70B5EE6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736" y="280517"/>
            <a:ext cx="16061329" cy="9801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374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E1534-16B0-6ACB-7BB5-35227B68A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E16758B-C722-AE61-841C-F6B0874F5AF1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43EC275-76AE-1710-FEB8-CF00D16F6258}"/>
              </a:ext>
            </a:extLst>
          </p:cNvPr>
          <p:cNvGrpSpPr/>
          <p:nvPr/>
        </p:nvGrpSpPr>
        <p:grpSpPr>
          <a:xfrm flipV="1">
            <a:off x="-762000" y="1516854"/>
            <a:ext cx="84582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7E0D2AD-8269-B096-F302-F38995D65653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03B1706-4A39-3374-E0C8-1608FBF300ED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3A91B2FC-1068-5146-ACC7-1DF11C32DAF0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5B907327-1977-CF43-E8DA-93115654E062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DB1F06BF-E8E6-D681-C175-A1F64918E212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22C7DA90-F657-01A3-8409-5B8FDB48272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743681C-0E01-074E-C881-A60AE87D8F4B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E6F052B8-409A-AB24-8F8D-4CC996C63C61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4DDBDE6A-A71F-C6CB-A503-5BDA830FEE78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FEB371FE-6027-AF64-9C76-64B5D5C8E7F7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C91E0956-5F8A-050E-3228-A073876322B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E9DC6B8-1475-455C-64D4-A50991B47D45}"/>
              </a:ext>
            </a:extLst>
          </p:cNvPr>
          <p:cNvSpPr txBox="1"/>
          <p:nvPr/>
        </p:nvSpPr>
        <p:spPr>
          <a:xfrm>
            <a:off x="1143000" y="2400300"/>
            <a:ext cx="144780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3600" b="1" dirty="0"/>
              <a:t>Superación de Ineficiencias Operativas:</a:t>
            </a:r>
            <a:endParaRPr lang="es-ES" sz="3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600" dirty="0"/>
              <a:t>Resuelve las fricciones que sufren los equipos al intentar usar los datos para la transformación digital.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600" dirty="0"/>
              <a:t>Reduce drásticamente el tiempo y esfuerzo invertido en buscar los datos correctos.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36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3600" b="1" dirty="0"/>
              <a:t>Visión Unificada del Ecosistema de Datos:</a:t>
            </a:r>
            <a:endParaRPr lang="es-ES" sz="3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600" dirty="0"/>
              <a:t>Combina metadatos técnicos y de negocio (usando ontologías) para dar un contexto completo.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600" dirty="0"/>
              <a:t>Democratiza el descubrimiento y acceso a los datos de forma segura para todas las unidades de negocio.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4D9DA0D-A121-606C-AD61-E309A126D62C}"/>
              </a:ext>
            </a:extLst>
          </p:cNvPr>
          <p:cNvSpPr txBox="1"/>
          <p:nvPr/>
        </p:nvSpPr>
        <p:spPr>
          <a:xfrm>
            <a:off x="838200" y="584262"/>
            <a:ext cx="1478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4400" b="1" dirty="0"/>
              <a:t>Beneficios del Catálogo de Datos para el Negocio</a:t>
            </a:r>
          </a:p>
        </p:txBody>
      </p:sp>
    </p:spTree>
    <p:extLst>
      <p:ext uri="{BB962C8B-B14F-4D97-AF65-F5344CB8AC3E}">
        <p14:creationId xmlns:p14="http://schemas.microsoft.com/office/powerpoint/2010/main" val="18205538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A1841-E7B2-5D10-B8D9-527FEF8DB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9E04E5A-6FF9-A560-B2EF-C52A44353E83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8984C51-8081-71EA-6F92-8CF3D0220C93}"/>
              </a:ext>
            </a:extLst>
          </p:cNvPr>
          <p:cNvGrpSpPr/>
          <p:nvPr/>
        </p:nvGrpSpPr>
        <p:grpSpPr>
          <a:xfrm flipV="1">
            <a:off x="-762000" y="1516854"/>
            <a:ext cx="84582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C886257-8549-F0B0-4871-CE18B2CC2039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D29007E-F119-6116-E24F-4A0C307CF648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F9BC2351-41BA-6A89-7375-FE9A1C9DD5F2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856070C3-223D-0049-7B54-45C4ED4A294A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E9BCC2CC-831D-A222-B3A5-403B1E57DBCB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3734D68F-5404-09A6-A1A6-8750F5FC185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6C0B8D2-913B-3C21-B29C-42FB05F22DC1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8831A05A-2953-329A-C42B-2B528F51A3C1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E8F399B3-88D4-FB9D-69C3-6CDC7AA29E89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E6E57489-AF39-BA38-B571-8DE0124A271B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7F5E6F7D-2511-CD83-B077-E7A4D0A0E73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C907681-83C8-B422-7637-607B2C2EA552}"/>
              </a:ext>
            </a:extLst>
          </p:cNvPr>
          <p:cNvSpPr txBox="1"/>
          <p:nvPr/>
        </p:nvSpPr>
        <p:spPr>
          <a:xfrm>
            <a:off x="1295400" y="1914705"/>
            <a:ext cx="13654105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b="1" dirty="0"/>
              <a:t>Capacidades Clave habilitadas por los Metadatos:</a:t>
            </a:r>
          </a:p>
          <a:p>
            <a:endParaRPr lang="es-E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b="1" dirty="0"/>
              <a:t>Clasificación de Datos:</a:t>
            </a:r>
            <a:r>
              <a:rPr lang="es-ES" sz="3600" dirty="0"/>
              <a:t> Etiqueta los </a:t>
            </a:r>
            <a:r>
              <a:rPr lang="es-ES" sz="3600" i="1" dirty="0" err="1"/>
              <a:t>datasets</a:t>
            </a:r>
            <a:r>
              <a:rPr lang="es-ES" sz="3600" dirty="0"/>
              <a:t> por dominios de negocio y áreas temáticas para facilitar su comprensión.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b="1" dirty="0"/>
              <a:t>Gestión de Políticas:</a:t>
            </a:r>
            <a:r>
              <a:rPr lang="es-ES" sz="3600" dirty="0"/>
              <a:t> Define reglas claras para que el dato sea preciso, seguro y consistente. Incluye asignación de responsables, controles de acceso, retención, gestión de riesgos y principios de ética de datos.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b="1" dirty="0"/>
              <a:t>Linaje de Negocio:</a:t>
            </a:r>
            <a:r>
              <a:rPr lang="es-ES" sz="3600" dirty="0"/>
              <a:t> Traza cómo se transforma y agrega la información. Permite analizar rápidamente el impacto visual si un sistema o proceso cambia.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b="1" dirty="0"/>
              <a:t>Reportes y </a:t>
            </a:r>
            <a:r>
              <a:rPr lang="es-ES" sz="3600" b="1" dirty="0" err="1"/>
              <a:t>Dashboards</a:t>
            </a:r>
            <a:r>
              <a:rPr lang="es-ES" sz="3600" b="1" dirty="0"/>
              <a:t>:</a:t>
            </a:r>
            <a:r>
              <a:rPr lang="es-ES" sz="3600" dirty="0"/>
              <a:t> Proporciona métricas visuales sobre el volumen, uso, relaciones y estado de los activos de datos.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B33B0B9-5E2D-7F65-B478-6CC393FDDEE8}"/>
              </a:ext>
            </a:extLst>
          </p:cNvPr>
          <p:cNvSpPr txBox="1"/>
          <p:nvPr/>
        </p:nvSpPr>
        <p:spPr>
          <a:xfrm>
            <a:off x="838200" y="584262"/>
            <a:ext cx="1478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4400" b="1" dirty="0"/>
              <a:t>Beneficios del Catálogo de Datos para el Negocio</a:t>
            </a:r>
          </a:p>
        </p:txBody>
      </p:sp>
    </p:spTree>
    <p:extLst>
      <p:ext uri="{BB962C8B-B14F-4D97-AF65-F5344CB8AC3E}">
        <p14:creationId xmlns:p14="http://schemas.microsoft.com/office/powerpoint/2010/main" val="3633357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FC42D-0363-01EF-7451-23968EF3F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FB3EB21-A1AA-7129-05D1-804841E6AEDA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BAA0BF6-13DA-DB31-991F-89FE2B9AA014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5442EC18-2440-B8D0-2CA9-12AE31A66AD3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713A2E6D-9817-D3DB-2248-477D8D7AF4C5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35A1ADFC-4B65-26AB-0B71-F43C51B7777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4B3437F-7106-8BFE-3D26-6A321C02D157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105CE5A-394C-6E8C-0E92-5F06B92C328D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18D64ECC-3B53-10E8-EC3D-9000DC6D6909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6683E7E9-68E8-61B4-97C9-9F7BDB30E7DF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DB151081-9E57-417C-E7C6-7E7B64DCBBC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pic>
        <p:nvPicPr>
          <p:cNvPr id="15" name="Imagen 14">
            <a:extLst>
              <a:ext uri="{FF2B5EF4-FFF2-40B4-BE49-F238E27FC236}">
                <a16:creationId xmlns:a16="http://schemas.microsoft.com/office/drawing/2014/main" id="{C91D40CC-2FF9-3D15-FDE5-778EB5C361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15449"/>
            <a:ext cx="15011400" cy="1007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929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5C32B-6AA0-D284-AD0C-D25604026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9A7C414-B360-93FD-3652-4FAFC7BC0B27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370F48F-7BD1-5944-EEA5-700234880ECC}"/>
              </a:ext>
            </a:extLst>
          </p:cNvPr>
          <p:cNvGrpSpPr/>
          <p:nvPr/>
        </p:nvGrpSpPr>
        <p:grpSpPr>
          <a:xfrm flipV="1">
            <a:off x="-762000" y="1516854"/>
            <a:ext cx="84582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D1E96DE-1995-D764-5430-65B2D22B884E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B814A78-BE6D-F803-1C94-CC328D0DF937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CE21CC49-AFC6-4176-D4CC-141B30E0FA6D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421CE450-36B0-534C-2B15-13E6998F0ED6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AD4D7974-2062-8A21-5D34-B19190CBADA4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360EF667-5528-6D1C-8D8F-61290E66C5F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D9C66155-48AD-8AFF-33F6-9C83E0E0A862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971BA0-2B42-B2C7-3A76-6BAA9B0D1A4B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DE61B78F-7C4B-72FE-BC4D-CA97973249D0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9525ADF1-43F1-D62D-FDFD-9C13F1113963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A12E8CE4-5F4C-8D01-ADF8-B18E7C07BC4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08CFD97-A7A1-1FEB-B47F-557601248A84}"/>
              </a:ext>
            </a:extLst>
          </p:cNvPr>
          <p:cNvSpPr txBox="1"/>
          <p:nvPr/>
        </p:nvSpPr>
        <p:spPr>
          <a:xfrm>
            <a:off x="914400" y="2382556"/>
            <a:ext cx="15621000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4000" b="1" dirty="0"/>
              <a:t>Aceleración Radical de la Analítica:</a:t>
            </a:r>
            <a:endParaRPr lang="es-ES" sz="4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4000" dirty="0"/>
              <a:t>Minimiza el esfuerzo técnico en la búsqueda y preparación de información.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4000" dirty="0"/>
              <a:t>Reduce el tiempo invertido en preparar datos del 80% al 20% (según </a:t>
            </a:r>
            <a:r>
              <a:rPr lang="es-ES" sz="4000" i="1" dirty="0" err="1"/>
              <a:t>Eckerson</a:t>
            </a:r>
            <a:r>
              <a:rPr lang="es-ES" sz="4000" i="1" dirty="0"/>
              <a:t> </a:t>
            </a:r>
            <a:r>
              <a:rPr lang="es-ES" sz="4000" i="1" dirty="0" err="1"/>
              <a:t>Group</a:t>
            </a:r>
            <a:r>
              <a:rPr lang="es-ES" sz="4000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40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4000" b="1" dirty="0"/>
              <a:t>Contexto de Negocio para la Ingeniería:</a:t>
            </a:r>
            <a:endParaRPr lang="es-ES" sz="4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4000" dirty="0"/>
              <a:t>Unifica y estandariza las definiciones a través de diccionarios de datos y glosarios de negocio.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4000" dirty="0"/>
              <a:t>Agiliza la exploración para construir </a:t>
            </a:r>
            <a:r>
              <a:rPr lang="es-ES" sz="4000" i="1" dirty="0"/>
              <a:t>pipelines</a:t>
            </a:r>
            <a:r>
              <a:rPr lang="es-ES" sz="4000" dirty="0"/>
              <a:t> robustos y acelerar el despliegue de aplicaciones </a:t>
            </a:r>
            <a:r>
              <a:rPr lang="es-ES" sz="4000" i="1" dirty="0"/>
              <a:t>data-</a:t>
            </a:r>
            <a:r>
              <a:rPr lang="es-ES" sz="4000" i="1" dirty="0" err="1"/>
              <a:t>driven</a:t>
            </a:r>
            <a:r>
              <a:rPr lang="es-ES" sz="4000" dirty="0"/>
              <a:t>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04FA5DF-7AAD-10E8-3396-9C40CED1D8E3}"/>
              </a:ext>
            </a:extLst>
          </p:cNvPr>
          <p:cNvSpPr txBox="1"/>
          <p:nvPr/>
        </p:nvSpPr>
        <p:spPr>
          <a:xfrm>
            <a:off x="533400" y="607507"/>
            <a:ext cx="13106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4000" b="1" dirty="0"/>
              <a:t>Beneficios del Catálogo de Datos para Perfiles Técnicos</a:t>
            </a:r>
          </a:p>
        </p:txBody>
      </p:sp>
    </p:spTree>
    <p:extLst>
      <p:ext uri="{BB962C8B-B14F-4D97-AF65-F5344CB8AC3E}">
        <p14:creationId xmlns:p14="http://schemas.microsoft.com/office/powerpoint/2010/main" val="16300919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F13C2-C0D5-E5B5-B7BD-390486F58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9D28457-1755-415E-169D-B8587B266487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148574C-32AD-970C-E1B4-45D06716B453}"/>
              </a:ext>
            </a:extLst>
          </p:cNvPr>
          <p:cNvGrpSpPr/>
          <p:nvPr/>
        </p:nvGrpSpPr>
        <p:grpSpPr>
          <a:xfrm flipV="1">
            <a:off x="-762000" y="1516854"/>
            <a:ext cx="84582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80180C9-FD89-A58E-270B-A72E82B5AE39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B8935C5-1E23-BDD4-DF7D-3425188842C9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E7D76AD9-CB43-2D8A-0DBC-E354155DB62B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A0D84B24-2F47-45FF-8415-B0ACDC4EEBBE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69314857-FBB0-8117-3504-AD379419F8D8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DC991D56-085E-A147-F7B5-0607977E3B8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2778D22-9A99-A282-86F5-FE4C37537FC1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D20A2FFA-F791-5914-3558-A42B70AF4EE2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59624B9A-4F69-A475-2CBA-159EA7699C75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4417D89C-E136-BB10-038E-A0F08FC372B1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CDCB3CE8-142C-B1CB-6D74-5354AAA1AB1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7678DFF-C0EA-08D8-F5A7-1C380D04E1A0}"/>
              </a:ext>
            </a:extLst>
          </p:cNvPr>
          <p:cNvSpPr txBox="1"/>
          <p:nvPr/>
        </p:nvSpPr>
        <p:spPr>
          <a:xfrm>
            <a:off x="480670" y="474835"/>
            <a:ext cx="12344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4000" b="1" dirty="0"/>
              <a:t>Beneficios del Catálogo de Datos para Perfiles Técnicos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0CE44B6-E4AA-100A-AFA3-F2EE9128F599}"/>
              </a:ext>
            </a:extLst>
          </p:cNvPr>
          <p:cNvSpPr txBox="1"/>
          <p:nvPr/>
        </p:nvSpPr>
        <p:spPr>
          <a:xfrm>
            <a:off x="1143000" y="2476500"/>
            <a:ext cx="14173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s-ES" sz="4000" dirty="0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DE8D8101-88F8-B423-D689-FE0FA713A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100005"/>
            <a:ext cx="15952831" cy="7263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Gobernanza Nativa y Confiabilidad:</a:t>
            </a:r>
            <a:endParaRPr kumimoji="0" lang="es-CO" altLang="es-CO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Garantiza que los equipos técnicos trabajen siempre con versiones actualizadas y precisas.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Asegura un uso de la información trazable y alineado con las normativas corporativas.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s-CO" altLang="es-CO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Linaje Técnico y Análisis de Impacto:</a:t>
            </a:r>
            <a:endParaRPr kumimoji="0" lang="es-CO" altLang="es-CO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Mapea visualmente todo el ciclo de vida del dato, desde el sistema de origen hasta su punto de consumo.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Permite evaluar instantáneamente cómo los cambios en una fuente (ej. modificaciones en el tipo o longitud de un atributo) afectarán a los sistemas dependientes (</a:t>
            </a:r>
            <a:r>
              <a:rPr kumimoji="0" lang="es-CO" altLang="es-CO" sz="3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downstream</a:t>
            </a:r>
            <a:r>
              <a:rPr kumimoji="0" lang="es-CO" altLang="es-CO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Elimina el trabajo manual y tedioso de rastrear dependencias y posibles fallos tras una actualización.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99321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5B5D5-53A2-1DC1-EBD9-F2BF1F7FA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7C2E1E5-C06D-5E50-41B1-CD9E3428A49B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31EE0F1-09EB-8EF0-201C-1008A40C875B}"/>
              </a:ext>
            </a:extLst>
          </p:cNvPr>
          <p:cNvGrpSpPr/>
          <p:nvPr/>
        </p:nvGrpSpPr>
        <p:grpSpPr>
          <a:xfrm flipV="1">
            <a:off x="-762000" y="1516854"/>
            <a:ext cx="84582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FDDAD47-8911-6C0A-9843-78B109DD0FC4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0A7317A-6995-EDCE-732E-012A5F273067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2C3BADC6-F1F3-3241-0B75-459F0B25B73A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1AA3C5A4-0BF6-56D1-7B72-E58D370F91C1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5555798C-F940-C226-D0E4-44D08A9BCF9C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38C1A50D-C0DA-F12F-9EEF-304938590B5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D9101EA-0C32-9FB6-297E-A1ACEE13B1CF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602CEA1-02FB-9430-552A-388FAF87BF05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0E8A66CD-5187-7F42-202B-D6DC50D5FDDA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E90A47B8-8B5E-F2F5-B9B6-24AAED1DF90E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FA709D4E-A2EE-BD8E-F9BD-90495B073AB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858BB81-B13B-4238-32AC-6FE3B227FA14}"/>
              </a:ext>
            </a:extLst>
          </p:cNvPr>
          <p:cNvSpPr txBox="1"/>
          <p:nvPr/>
        </p:nvSpPr>
        <p:spPr>
          <a:xfrm>
            <a:off x="1371600" y="2229370"/>
            <a:ext cx="144018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3600" b="1" dirty="0"/>
              <a:t>Equipo Multidisciplinario y Especializado: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3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600" dirty="0"/>
              <a:t>Debe existir un equilibrio entre </a:t>
            </a:r>
            <a:r>
              <a:rPr lang="es-ES" sz="3600" b="1" dirty="0"/>
              <a:t>expertos técnicos</a:t>
            </a:r>
            <a:r>
              <a:rPr lang="es-ES" sz="3600" dirty="0"/>
              <a:t> y </a:t>
            </a:r>
            <a:r>
              <a:rPr lang="es-ES" sz="3600" b="1" dirty="0"/>
              <a:t>conocedores del negocio</a:t>
            </a:r>
            <a:r>
              <a:rPr lang="es-ES" sz="36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600" dirty="0"/>
              <a:t>Es fundamental contar con experiencia en </a:t>
            </a:r>
            <a:r>
              <a:rPr lang="es-ES" sz="3600" b="1" dirty="0"/>
              <a:t>integración de datos</a:t>
            </a:r>
            <a:r>
              <a:rPr lang="es-ES" sz="3600" dirty="0"/>
              <a:t> (la capacidad de consolidar fuentes dispares en </a:t>
            </a:r>
            <a:r>
              <a:rPr lang="es-ES" sz="3600" dirty="0" err="1"/>
              <a:t>datasets</a:t>
            </a:r>
            <a:r>
              <a:rPr lang="es-ES" sz="3600" dirty="0"/>
              <a:t> unificados y consistentes).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600" i="1" dirty="0"/>
              <a:t>El valor:</a:t>
            </a:r>
            <a:r>
              <a:rPr lang="es-ES" sz="3600" dirty="0"/>
              <a:t> Un equipo con profundo conocimiento del dominio de datos reduce drásticamente el tiempo de implementación (</a:t>
            </a:r>
            <a:r>
              <a:rPr lang="es-ES" sz="3600" i="1" dirty="0" err="1"/>
              <a:t>onboarding</a:t>
            </a:r>
            <a:r>
              <a:rPr lang="es-ES" sz="3600" dirty="0"/>
              <a:t>) y mantenimiento del catálogo.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59ABF1A-03F5-6947-0059-26368048F941}"/>
              </a:ext>
            </a:extLst>
          </p:cNvPr>
          <p:cNvSpPr txBox="1"/>
          <p:nvPr/>
        </p:nvSpPr>
        <p:spPr>
          <a:xfrm>
            <a:off x="457200" y="507248"/>
            <a:ext cx="13792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4000" b="1" dirty="0"/>
              <a:t>Consideraciones Clave al Construir un Catálogo de Datos</a:t>
            </a:r>
          </a:p>
        </p:txBody>
      </p:sp>
    </p:spTree>
    <p:extLst>
      <p:ext uri="{BB962C8B-B14F-4D97-AF65-F5344CB8AC3E}">
        <p14:creationId xmlns:p14="http://schemas.microsoft.com/office/powerpoint/2010/main" val="19329857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B69B2-31CA-661D-059C-763446B20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D89F3ED-9530-F648-7623-48173FBC660B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BF8176B-5E6F-4B4B-94F8-FB7E934223BB}"/>
              </a:ext>
            </a:extLst>
          </p:cNvPr>
          <p:cNvGrpSpPr/>
          <p:nvPr/>
        </p:nvGrpSpPr>
        <p:grpSpPr>
          <a:xfrm flipV="1">
            <a:off x="-762000" y="1516854"/>
            <a:ext cx="84582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CAF8D5E-C0ED-A492-567A-DEDE532516C9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581263C-5CD4-8F34-A15B-5867786649C6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0CA9A6FB-BF7D-3D5E-DEAD-DDB8B4F40C35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9E614DB3-F176-B170-7340-5535133108DF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2BF10FE4-0877-5CD0-57DC-2D7977D70BEB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31DC7FBA-4EB8-1607-6608-3E50DB3B39B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663AB44-C2FA-D20D-3B20-ED1E6EA3552E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3B7E34C-35DE-51DD-6775-81CFA8AD4AAF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092FB37C-6658-FF50-589C-A3EE330B29E5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BE4FA77C-29F7-C1F1-85A3-EB07BB94DF28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84212415-345D-4905-31F8-77EE5FB98B0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16907D4-383C-0009-78CC-7830BC8D94A0}"/>
              </a:ext>
            </a:extLst>
          </p:cNvPr>
          <p:cNvSpPr txBox="1"/>
          <p:nvPr/>
        </p:nvSpPr>
        <p:spPr>
          <a:xfrm>
            <a:off x="1066800" y="2400300"/>
            <a:ext cx="14904594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3600" b="1" dirty="0"/>
              <a:t>Opción 1: Desarrollo a Medida (</a:t>
            </a:r>
            <a:r>
              <a:rPr lang="es-ES" sz="3600" b="1" i="1" dirty="0" err="1"/>
              <a:t>Custom</a:t>
            </a:r>
            <a:r>
              <a:rPr lang="es-ES" sz="3600" b="1" i="1" dirty="0"/>
              <a:t> </a:t>
            </a:r>
            <a:r>
              <a:rPr lang="es-ES" sz="3600" b="1" i="1" dirty="0" err="1"/>
              <a:t>Build</a:t>
            </a:r>
            <a:r>
              <a:rPr lang="es-ES" sz="3600" b="1" dirty="0"/>
              <a:t>):</a:t>
            </a:r>
            <a:endParaRPr lang="es-ES" sz="3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600" i="1" dirty="0"/>
              <a:t>Ventaja:</a:t>
            </a:r>
            <a:r>
              <a:rPr lang="es-ES" sz="3600" dirty="0"/>
              <a:t> Menor costo general en licencias y adquisición de herramientas.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600" i="1" dirty="0"/>
              <a:t>Desventaja:</a:t>
            </a:r>
            <a:r>
              <a:rPr lang="es-ES" sz="3600" dirty="0"/>
              <a:t> Exige una alta carga de trabajo y esfuerzo manual de ingeniería para la ingesta, procesamiento y presentación del catálogo a los usuarios.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36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3600" b="1" dirty="0"/>
              <a:t>Opción 2: Herramientas de Terceros (</a:t>
            </a:r>
            <a:r>
              <a:rPr lang="es-ES" sz="3600" b="1" i="1" dirty="0" err="1"/>
              <a:t>Third-Party</a:t>
            </a:r>
            <a:r>
              <a:rPr lang="es-ES" sz="3600" b="1" i="1" dirty="0"/>
              <a:t> Tools</a:t>
            </a:r>
            <a:r>
              <a:rPr lang="es-ES" sz="3600" b="1" dirty="0"/>
              <a:t>):</a:t>
            </a:r>
            <a:endParaRPr lang="es-ES" sz="3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600" i="1" dirty="0"/>
              <a:t>Ventaja:</a:t>
            </a:r>
            <a:r>
              <a:rPr lang="es-ES" sz="3600" dirty="0"/>
              <a:t> Acelera drásticamente el tiempo de descubrimiento, procesamiento y visualización gracias a sus capacidades listas para usar (</a:t>
            </a:r>
            <a:r>
              <a:rPr lang="es-ES" sz="3600" i="1" dirty="0" err="1"/>
              <a:t>out</a:t>
            </a:r>
            <a:r>
              <a:rPr lang="es-ES" sz="3600" i="1" dirty="0"/>
              <a:t>-</a:t>
            </a:r>
            <a:r>
              <a:rPr lang="es-ES" sz="3600" i="1" dirty="0" err="1"/>
              <a:t>of</a:t>
            </a:r>
            <a:r>
              <a:rPr lang="es-ES" sz="3600" i="1" dirty="0"/>
              <a:t>-</a:t>
            </a:r>
            <a:r>
              <a:rPr lang="es-ES" sz="3600" i="1" dirty="0" err="1"/>
              <a:t>the</a:t>
            </a:r>
            <a:r>
              <a:rPr lang="es-ES" sz="3600" i="1" dirty="0"/>
              <a:t>-box</a:t>
            </a:r>
            <a:r>
              <a:rPr lang="es-ES" sz="3600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600" i="1" dirty="0"/>
              <a:t>Desventaja:</a:t>
            </a:r>
            <a:r>
              <a:rPr lang="es-ES" sz="3600" dirty="0"/>
              <a:t> Representa una inversión mayor en costos de licencias y plataformas.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924B727-AB79-3DEB-31F7-377D737F0AD0}"/>
              </a:ext>
            </a:extLst>
          </p:cNvPr>
          <p:cNvSpPr txBox="1"/>
          <p:nvPr/>
        </p:nvSpPr>
        <p:spPr>
          <a:xfrm>
            <a:off x="457200" y="617975"/>
            <a:ext cx="151137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600" b="1" dirty="0"/>
              <a:t>Estrategia Tecnológica y Herramientas (El Enfoque de Construcción):</a:t>
            </a:r>
            <a:endParaRPr lang="es-ES" sz="3600" dirty="0"/>
          </a:p>
        </p:txBody>
      </p:sp>
    </p:spTree>
    <p:extLst>
      <p:ext uri="{BB962C8B-B14F-4D97-AF65-F5344CB8AC3E}">
        <p14:creationId xmlns:p14="http://schemas.microsoft.com/office/powerpoint/2010/main" val="1175956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35BCD-300A-8A66-C276-91FCE2D9B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DCC5C9C-4CCB-26CB-98EA-0500F169457E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339708E-5948-7335-6222-EE1100E82E03}"/>
              </a:ext>
            </a:extLst>
          </p:cNvPr>
          <p:cNvGrpSpPr/>
          <p:nvPr/>
        </p:nvGrpSpPr>
        <p:grpSpPr>
          <a:xfrm flipV="1">
            <a:off x="-762000" y="1516854"/>
            <a:ext cx="84582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E1BE3A1-2E64-A89B-527C-ED994539B7C4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B438E76-0476-6BA1-F6F5-B261B5120475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D68A6B84-E4BB-896A-1AA9-970653068BAB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88DE0AAB-86E1-F931-84A2-43FFA8A95E34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D4B96A07-86A7-FAC4-B4FB-50EF60729DB1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3E8B4056-696F-33AC-D79C-44284EEDC6A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A98DBAD-A58E-E5D1-4528-04DA885CF56C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E3D0CA85-52C1-C7E3-1F2D-6A48105FA78F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EE850B94-1E9A-17FD-2F27-041F92EFBF6F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9CADD541-D7C6-EEC7-F724-4E4A44810398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A21C90EB-6AEA-8940-E478-FB3AFDAB415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E660420-A06C-2A53-CE20-38388095DA1A}"/>
              </a:ext>
            </a:extLst>
          </p:cNvPr>
          <p:cNvSpPr txBox="1"/>
          <p:nvPr/>
        </p:nvSpPr>
        <p:spPr>
          <a:xfrm>
            <a:off x="1066800" y="2276061"/>
            <a:ext cx="13688404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3200" b="1" dirty="0"/>
              <a:t>El Enfoque Arquitectónico:</a:t>
            </a:r>
            <a:endParaRPr lang="es-ES" sz="3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200" dirty="0"/>
              <a:t>Implementación de alto nivel de un Catálogo de Datos construido a medida.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200" b="1" dirty="0" err="1"/>
              <a:t>Stack</a:t>
            </a:r>
            <a:r>
              <a:rPr lang="es-ES" sz="3200" b="1" dirty="0"/>
              <a:t> Tecnológico:</a:t>
            </a:r>
            <a:r>
              <a:rPr lang="es-ES" sz="3200" dirty="0"/>
              <a:t> Utiliza bases de datos relacionales como repositorio central (ej. Amazon Aurora PostgreSQL o MySQL) junto con herramientas de integración de datos como AWS </a:t>
            </a:r>
            <a:r>
              <a:rPr lang="es-ES" sz="3200" dirty="0" err="1"/>
              <a:t>Glue</a:t>
            </a:r>
            <a:r>
              <a:rPr lang="es-ES" sz="32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3200" b="1" dirty="0"/>
              <a:t>Gestión de Metadatos (El Flujo de Datos):</a:t>
            </a:r>
            <a:endParaRPr lang="es-ES" sz="3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200" b="1" dirty="0"/>
              <a:t>Metadatos Técnicos (Automatizados):</a:t>
            </a:r>
            <a:r>
              <a:rPr lang="es-ES" sz="3200" dirty="0"/>
              <a:t> Tablas, atributos y definiciones se extraen de forma programada (</a:t>
            </a:r>
            <a:r>
              <a:rPr lang="es-ES" sz="3200" i="1" dirty="0" err="1"/>
              <a:t>scheduled</a:t>
            </a:r>
            <a:r>
              <a:rPr lang="es-ES" sz="3200" dirty="0"/>
              <a:t>) desde diversos diccionarios de datos de origen heterogéneos.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200" b="1" dirty="0"/>
              <a:t>Metadatos de Negocio (Curados):</a:t>
            </a:r>
            <a:r>
              <a:rPr lang="es-ES" sz="3200" dirty="0"/>
              <a:t> El contexto de negocio es preparado y recopilado por los </a:t>
            </a:r>
            <a:r>
              <a:rPr lang="es-ES" sz="3200" i="1" dirty="0"/>
              <a:t>Data </a:t>
            </a:r>
            <a:r>
              <a:rPr lang="es-ES" sz="3200" i="1" dirty="0" err="1"/>
              <a:t>Stewards</a:t>
            </a:r>
            <a:r>
              <a:rPr lang="es-ES" sz="3200" dirty="0"/>
              <a:t> (arquitectos de datos, gerentes de producto y analistas).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C0AF4D6-315E-FB95-E529-C8CA4C43D6C6}"/>
              </a:ext>
            </a:extLst>
          </p:cNvPr>
          <p:cNvSpPr txBox="1"/>
          <p:nvPr/>
        </p:nvSpPr>
        <p:spPr>
          <a:xfrm>
            <a:off x="525493" y="619028"/>
            <a:ext cx="11887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b="1" dirty="0"/>
              <a:t>Arquitectura de Referencia: Enfoque a Medida (</a:t>
            </a:r>
            <a:r>
              <a:rPr lang="es-ES" sz="3200" b="1" i="1" dirty="0" err="1"/>
              <a:t>Custom</a:t>
            </a:r>
            <a:r>
              <a:rPr lang="es-ES" sz="3200" b="1" i="1" dirty="0"/>
              <a:t> </a:t>
            </a:r>
            <a:r>
              <a:rPr lang="es-ES" sz="3200" b="1" i="1" dirty="0" err="1"/>
              <a:t>Build</a:t>
            </a:r>
            <a:r>
              <a:rPr lang="es-ES" sz="32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882312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3D580-D7FB-2574-D58D-DFFC431A2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76D5004-52A7-DB5D-F8E1-8EC39E7C2DE2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2AC38A8-00FB-A1D9-D3EC-DF3A86583F50}"/>
              </a:ext>
            </a:extLst>
          </p:cNvPr>
          <p:cNvGrpSpPr/>
          <p:nvPr/>
        </p:nvGrpSpPr>
        <p:grpSpPr>
          <a:xfrm flipV="1">
            <a:off x="-762000" y="1516854"/>
            <a:ext cx="84582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940AFF8-FBDB-0AD9-F882-97BA7BD10435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E5728E8-8DAB-6CB8-1A5D-E21C59969A2E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1CB0B14D-B5D1-F727-C22C-31316A985AF0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08377A22-8656-AA5F-9BE6-63C69DA13402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D2BB3719-80F9-549D-3495-8B2AAEC7413E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333EA251-5D9B-479C-80BC-36CC5BDF073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0AA7F2E-3AD0-E43F-EE58-B7031D7F008C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8F4A3D51-DF84-7F83-8559-70F97FB5EF3B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F9E7D3B2-C3AF-78F9-0ABA-2F312A675EFF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AA52A1D8-E00C-E921-79F3-7754954C7CF8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7A61A429-4E1A-35F7-921A-DC5DC1F9DE3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C263303-45CB-F0D4-3AE8-A91E57BB07A7}"/>
              </a:ext>
            </a:extLst>
          </p:cNvPr>
          <p:cNvSpPr txBox="1"/>
          <p:nvPr/>
        </p:nvSpPr>
        <p:spPr>
          <a:xfrm>
            <a:off x="525493" y="619028"/>
            <a:ext cx="11887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600" b="1" dirty="0"/>
              <a:t>Arquitectura de Referencia: Enfoque a Medida (</a:t>
            </a:r>
            <a:r>
              <a:rPr lang="es-ES" sz="3600" b="1" i="1" dirty="0" err="1"/>
              <a:t>Custom</a:t>
            </a:r>
            <a:r>
              <a:rPr lang="es-ES" sz="3600" b="1" i="1" dirty="0"/>
              <a:t> </a:t>
            </a:r>
            <a:r>
              <a:rPr lang="es-ES" sz="3600" b="1" i="1" dirty="0" err="1"/>
              <a:t>Build</a:t>
            </a:r>
            <a:r>
              <a:rPr lang="es-ES" sz="3600" b="1" dirty="0"/>
              <a:t>)</a:t>
            </a: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2923AF19-3B5D-DE35-04AA-95AC489C6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340680"/>
            <a:ext cx="15763278" cy="6463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Única Versión de la Verdad (</a:t>
            </a:r>
            <a:r>
              <a:rPr kumimoji="0" lang="es-CO" altLang="es-CO" sz="36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 </a:t>
            </a:r>
            <a:r>
              <a:rPr kumimoji="0" lang="es-CO" altLang="es-CO" sz="36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</a:t>
            </a:r>
            <a:r>
              <a:rPr kumimoji="0" lang="es-CO" altLang="es-CO" sz="36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36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CO" altLang="es-CO" sz="36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36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Truth</a:t>
            </a:r>
            <a:r>
              <a:rPr kumimoji="0" lang="es-CO" altLang="es-CO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endParaRPr kumimoji="0" lang="es-CO" altLang="es-CO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plataforma fusiona los metadatos técnicos y de negocio en un repositorio unificado.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Esta integración es lo que habilita capacidades avanzadas: clasificación de datos, gestión de datos de referencia, el glosario de negocio y la gestión de la seguridad.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Concepto Clave: Taxonomía de Datos:</a:t>
            </a:r>
            <a:endParaRPr kumimoji="0" lang="es-CO" altLang="es-CO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 la clasificación estructural de la información basada en </a:t>
            </a:r>
            <a:r>
              <a:rPr kumimoji="0" lang="es-CO" altLang="es-CO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dominios de datos, áreas temáticas y facetas</a:t>
            </a:r>
            <a:r>
              <a:rPr kumimoji="0" lang="es-CO" altLang="es-CO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 objetivo es introducir una semántica y terminología común que estandarice cómo se entienden los datos a través de múltiples sistemas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53815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E5EC4-3B81-5A02-8FA7-2D56640AA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8FC6B11-7604-EFB1-6AF8-05D125D32C79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91353B6-4CD7-D676-EF62-66329DC47037}"/>
              </a:ext>
            </a:extLst>
          </p:cNvPr>
          <p:cNvGrpSpPr/>
          <p:nvPr/>
        </p:nvGrpSpPr>
        <p:grpSpPr>
          <a:xfrm flipV="1">
            <a:off x="-762000" y="1516854"/>
            <a:ext cx="84582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8C8E463-D812-CE00-C036-1BFE29B6B56D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5CFFECC-DF5F-1560-F696-0BF63BA20925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A2B7F674-DBD8-0102-D528-086041FFABA6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2B4780EC-A305-63D4-61F7-8506148873DE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FCCE9E35-821E-06B1-6559-34C42B45C095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7701638B-8ABB-5CFA-E126-896A64D51BB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3744545-C355-204A-669A-11C1359C1509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44C13D2-685A-8259-725A-C871D7CA599D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6A7627B6-3866-3400-F018-6209837075F9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62458C4B-0B40-FDB1-863F-FD41C4938047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4E7D34A9-2E85-0E6D-E0D1-56848E5D735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pic>
        <p:nvPicPr>
          <p:cNvPr id="16" name="Imagen 15" descr="Diagrama&#10;&#10;El contenido generado por IA puede ser incorrecto.">
            <a:extLst>
              <a:ext uri="{FF2B5EF4-FFF2-40B4-BE49-F238E27FC236}">
                <a16:creationId xmlns:a16="http://schemas.microsoft.com/office/drawing/2014/main" id="{C7DAD64E-0D9E-1939-26DB-045F16F6D5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741" y="76991"/>
            <a:ext cx="15808335" cy="100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2317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84834-5A92-BE35-B127-18994C1A3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E29108E-137F-8339-43D4-F878338D5635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98CABF6-BE58-EA82-DAE6-8A0625018451}"/>
              </a:ext>
            </a:extLst>
          </p:cNvPr>
          <p:cNvGrpSpPr/>
          <p:nvPr/>
        </p:nvGrpSpPr>
        <p:grpSpPr>
          <a:xfrm flipV="1">
            <a:off x="-762000" y="1516854"/>
            <a:ext cx="84582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5FC41A8-8122-6EF3-5B4F-C00EA66D46F8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3E9D1FC-8A02-DA82-D917-5EBF67E9475F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40FB96A6-0468-354F-CFA9-E7A017154994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0D776194-CD26-6E0D-BA35-2E7B1AFFAAC2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9AF307D8-46EF-E910-8E90-9EACDB013249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227A8F90-B5E0-1263-936D-94F404EF32F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9F79F03-2128-18CA-57E4-02002E7FEF9F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3E66508-7DAA-4903-F16C-E041C1A03AD1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CE920D4F-5DE8-DCB8-924C-D81C22A50EDF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AAA4D7B1-6452-55FB-4AFA-F4AAF8F5474C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5967B3AA-04D2-877A-EAB9-999F998C439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54650B4-B8C7-5DEB-C71D-504040D36D1D}"/>
              </a:ext>
            </a:extLst>
          </p:cNvPr>
          <p:cNvSpPr txBox="1"/>
          <p:nvPr/>
        </p:nvSpPr>
        <p:spPr>
          <a:xfrm>
            <a:off x="1143000" y="2259445"/>
            <a:ext cx="14097000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3200" b="1" dirty="0"/>
              <a:t>El Enfoque Arquitectónico:</a:t>
            </a:r>
            <a:endParaRPr lang="es-ES" sz="3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200" dirty="0"/>
              <a:t>Implementación de alto nivel utilizando plataformas de gobierno empresarial (como </a:t>
            </a:r>
            <a:r>
              <a:rPr lang="es-ES" sz="3200" b="1" dirty="0" err="1"/>
              <a:t>Collibra</a:t>
            </a:r>
            <a:r>
              <a:rPr lang="es-ES" sz="3200" dirty="0"/>
              <a:t>) en conjunto con bases de datos relacionales (Amazon Aurora PostgreSQL/MySQL) y </a:t>
            </a:r>
            <a:r>
              <a:rPr lang="es-ES" sz="3200" i="1" dirty="0"/>
              <a:t>pipelines</a:t>
            </a:r>
            <a:r>
              <a:rPr lang="es-ES" sz="3200" dirty="0"/>
              <a:t> de integración (AWS </a:t>
            </a:r>
            <a:r>
              <a:rPr lang="es-ES" sz="3200" dirty="0" err="1"/>
              <a:t>Glue</a:t>
            </a:r>
            <a:r>
              <a:rPr lang="es-ES" sz="3200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200" b="1" dirty="0"/>
              <a:t>Propósito:</a:t>
            </a:r>
            <a:r>
              <a:rPr lang="es-ES" sz="3200" dirty="0"/>
              <a:t> Desbloquear el valor de la información sin importar dónde o cómo esté almacenada, facilitando la toma de decisiones.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3200" b="1" dirty="0"/>
              <a:t>Flujo y Gestión de Metadatos:</a:t>
            </a:r>
            <a:endParaRPr lang="es-ES" sz="3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200" b="1" dirty="0"/>
              <a:t>Captura Automatizada:</a:t>
            </a:r>
            <a:r>
              <a:rPr lang="es-ES" sz="3200" dirty="0"/>
              <a:t> Los metadatos técnicos (tablas, atributos, diccionarios) se extraen periódicamente desde sistemas heterogéneos mediante conexiones API y JDBC.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200" b="1" dirty="0"/>
              <a:t>Enriquecimiento y Certificación:</a:t>
            </a:r>
            <a:r>
              <a:rPr lang="es-ES" sz="3200" dirty="0"/>
              <a:t> La herramienta centraliza los metadatos técnicos y los enriquece con el contexto de negocio, certificando la confiabilidad de los activos.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39C423C-BD9D-ADC9-F300-5AF1106736F2}"/>
              </a:ext>
            </a:extLst>
          </p:cNvPr>
          <p:cNvSpPr txBox="1"/>
          <p:nvPr/>
        </p:nvSpPr>
        <p:spPr>
          <a:xfrm>
            <a:off x="762000" y="587735"/>
            <a:ext cx="13030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b="1" dirty="0"/>
              <a:t>Arquitectura de Referencia: Herramientas de Terceros (ej. </a:t>
            </a:r>
            <a:r>
              <a:rPr lang="es-ES" sz="3200" b="1" dirty="0" err="1"/>
              <a:t>Collibra</a:t>
            </a:r>
            <a:r>
              <a:rPr lang="es-ES" sz="32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199437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2CA87-91B4-BD7C-5D34-3E7FB7C56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7880F13-39F7-078C-56E1-4EDCE74B68A8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224141D-20F9-F24A-177D-3AA91D9F6909}"/>
              </a:ext>
            </a:extLst>
          </p:cNvPr>
          <p:cNvGrpSpPr/>
          <p:nvPr/>
        </p:nvGrpSpPr>
        <p:grpSpPr>
          <a:xfrm flipV="1">
            <a:off x="-762000" y="1516854"/>
            <a:ext cx="84582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319C4CB-0D50-B7DB-E55E-9BA7C2D293C6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C0CC0AA-5993-5D37-E6F9-8B8A87849282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0A6EB48C-318B-F620-A2F7-4FC5DC8D29C2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053C54F4-5057-E263-A622-900722C9CA15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F9A6DBBE-C72B-1048-86AF-785211DA86B3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D7671CFB-666C-BAF6-B688-625AA73625B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EBB94EA-8461-EDA8-5473-5354C539C7E7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1ECCF091-900B-2BFA-1B23-F964310604EA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A83F6354-1C36-72FB-6A69-51BA345711A9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0913166F-CBF9-F152-0136-55E955B15DD5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A95C4130-FF11-C1FC-4E35-AF307A70737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E7B43FC-F53A-4ABE-5E87-C35FF2DCAF62}"/>
              </a:ext>
            </a:extLst>
          </p:cNvPr>
          <p:cNvSpPr txBox="1"/>
          <p:nvPr/>
        </p:nvSpPr>
        <p:spPr>
          <a:xfrm>
            <a:off x="762000" y="587735"/>
            <a:ext cx="13030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b="1" dirty="0"/>
              <a:t>Arquitectura de Referencia: Herramientas de Terceros (ej. </a:t>
            </a:r>
            <a:r>
              <a:rPr lang="es-ES" sz="3200" b="1" dirty="0" err="1"/>
              <a:t>Collibra</a:t>
            </a:r>
            <a:r>
              <a:rPr lang="es-ES" sz="3200" b="1" dirty="0"/>
              <a:t>)</a:t>
            </a: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E22ECA48-7F9B-335E-B873-8F8E943CA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7006" y="1658685"/>
            <a:ext cx="15063716" cy="7755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32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Capacidades Avanzadas (</a:t>
            </a:r>
            <a:r>
              <a:rPr kumimoji="0" lang="es-CO" altLang="es-CO" sz="3200" b="1" i="1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</a:t>
            </a:r>
            <a:r>
              <a:rPr kumimoji="0" lang="es-CO" altLang="es-CO" sz="3200" b="1" i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es-CO" altLang="es-CO" sz="3200" b="1" i="1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CO" altLang="es-CO" sz="3200" b="1" i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es-CO" altLang="es-CO" sz="3200" b="1" i="1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3200" b="1" i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-box</a:t>
            </a:r>
            <a:r>
              <a:rPr kumimoji="0" lang="es-CO" altLang="es-CO" sz="32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32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32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Interfaz Gráfica (GUI) Nativa:</a:t>
            </a:r>
            <a:r>
              <a:rPr kumimoji="0" lang="es-CO" altLang="es-CO" sz="32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Entorno visual listo para usar que permite a los </a:t>
            </a:r>
            <a:r>
              <a:rPr kumimoji="0" lang="es-CO" altLang="es-CO" sz="3200" b="0" i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</a:t>
            </a:r>
            <a:r>
              <a:rPr kumimoji="0" lang="es-CO" altLang="es-CO" sz="3200" b="0" i="1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Stewards</a:t>
            </a:r>
            <a:r>
              <a:rPr kumimoji="0" lang="es-CO" altLang="es-CO" sz="32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usuarios de negocio visualizar, actualizar y gestionar los metadatos sin fricción.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32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Automatización con Machine </a:t>
            </a:r>
            <a:r>
              <a:rPr kumimoji="0" lang="es-CO" altLang="es-CO" sz="3200" b="1" i="0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</a:t>
            </a:r>
            <a:r>
              <a:rPr kumimoji="0" lang="es-CO" altLang="es-CO" sz="32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CO" altLang="es-CO" sz="32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Capacidades inteligentes para identificar patrones similares en los datos, permitiendo heredar automáticamente clasificaciones y definiciones (reduciendo el trabajo manual).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32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Reportes Integrados:</a:t>
            </a:r>
            <a:r>
              <a:rPr kumimoji="0" lang="es-CO" altLang="es-CO" sz="32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Generación inmediata de métricas y reportes sobre los metadatos recopilados y gobernados.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32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Valor Final:</a:t>
            </a:r>
            <a:endParaRPr kumimoji="0" lang="es-CO" altLang="es-CO" sz="32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32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 igual que en el modelo a medida, la combinación de metadatos técnicos y de negocio proporciona a los usuarios un </a:t>
            </a:r>
            <a:r>
              <a:rPr kumimoji="0" lang="es-CO" altLang="es-CO" sz="32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contexto significativo</a:t>
            </a:r>
            <a:r>
              <a:rPr kumimoji="0" lang="es-CO" altLang="es-CO" sz="32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una visión unificada de todos los activos de la organización, pero con un despliegue mucho más rápido.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3481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48635-3002-90DF-1FE3-19D9C7882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3A54E48-89E0-5802-ABA2-FB2D3934FC42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FAFD4B3-4DFD-8C69-B765-ADAA9139F15C}"/>
              </a:ext>
            </a:extLst>
          </p:cNvPr>
          <p:cNvGrpSpPr/>
          <p:nvPr/>
        </p:nvGrpSpPr>
        <p:grpSpPr>
          <a:xfrm flipV="1">
            <a:off x="-762000" y="1516854"/>
            <a:ext cx="84582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B9543F6-916C-75F2-0C80-8C4A7586E170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D369C93-FB35-30F2-2A57-10D1DF1C4CBF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F57BF1A0-4211-E5E7-87B2-1D32878F6CCA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AA65AAFD-FE50-12F8-0FD1-01E038AB7DE3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F5E00BAF-B047-7F70-77FD-DC9ABF0C488A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7FBAB0EB-F67B-9F79-0E12-3DD7939C925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E6527057-82B9-FBA1-8981-1DD343A3D576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03EE747-07CB-9C45-4C49-6CD9336B2D97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68CE3611-480D-CB47-F6DF-E97CD22AEA83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79A965E2-A2B5-913C-E006-7A00E1FF22D6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8FED9DFD-7C29-FD5F-7ADE-5F8DD28A583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pic>
        <p:nvPicPr>
          <p:cNvPr id="16" name="Imagen 15" descr="Diagrama&#10;&#10;El contenido generado por IA puede ser incorrecto.">
            <a:extLst>
              <a:ext uri="{FF2B5EF4-FFF2-40B4-BE49-F238E27FC236}">
                <a16:creationId xmlns:a16="http://schemas.microsoft.com/office/drawing/2014/main" id="{604DCA0F-6109-A901-DC4F-C4E5D3E47A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39" y="84274"/>
            <a:ext cx="15331378" cy="9973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6074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2EE1B-71F6-8EA6-D6EC-B04A68DAB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FF80995-4BF5-190E-0BF0-9CF4D9699F77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9822242-175D-7BFB-91F0-BC6DB41183ED}"/>
              </a:ext>
            </a:extLst>
          </p:cNvPr>
          <p:cNvGrpSpPr/>
          <p:nvPr/>
        </p:nvGrpSpPr>
        <p:grpSpPr>
          <a:xfrm flipV="1">
            <a:off x="-762000" y="1516854"/>
            <a:ext cx="84582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1D02388-CF5F-5D11-7521-E0C9D7436163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BAE81F5-1D47-583B-BD74-C2467FA61569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041FF01E-2428-EA8C-7556-8F682746EC0E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A9209E42-828D-F106-BE43-E1D93E6F87D3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ACDCCC9D-2BAA-E3E9-655A-33818B879621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29825524-9E01-A29B-459C-ED1F21C55F2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71A9E9A-6EDC-3384-07AE-19A83BB875F9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ECBA0CE-7874-5E01-7FD0-FC83227B3022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866925B8-1027-9009-1001-0B460B8F20C9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282E713C-9D5E-B092-CD80-5D02F6CE31CE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08239A2F-F4D7-D48D-AFC3-326C15A8FA4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598174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4733E-560D-D380-4BC8-0081D984C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4983F65-DBF1-9571-3802-96AE3FA98CCA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183C6A0-B7F5-648A-547C-8B274F3AFCC5}"/>
              </a:ext>
            </a:extLst>
          </p:cNvPr>
          <p:cNvGrpSpPr/>
          <p:nvPr/>
        </p:nvGrpSpPr>
        <p:grpSpPr>
          <a:xfrm flipV="1">
            <a:off x="-762000" y="1516854"/>
            <a:ext cx="84582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28254DE-DE1C-0A63-445A-FC3AB0AFC59D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3B1033E-CF5B-9E8C-DF00-E48D0F83EDA3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5D038398-CCEA-A60C-619F-22F0E5BBAB6F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B81D75D5-9AEF-452E-AC32-83EE02901882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50E2B077-A2BF-FAB0-B1B2-CCB2618E1F2D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E4682A4F-F140-D5EA-2DDD-C67AE65FC43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17B42BE-2F15-26D8-7E5B-F675F25B596C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AC95182-6F0E-D5B9-4325-67D16690F351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ECAC86C8-0D7E-3DC7-EB3B-B7C62D082D58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D5873FA1-197F-5F0A-CC98-241D89B63736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8FF30897-6A49-DD6C-5453-40131C00367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577747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3280F-4A68-F4EF-02EC-531BFCB49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CA9036F-C852-EFB3-A91E-641DDB14D036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37A1A17-36E3-196A-C515-0FB083419B6B}"/>
              </a:ext>
            </a:extLst>
          </p:cNvPr>
          <p:cNvGrpSpPr/>
          <p:nvPr/>
        </p:nvGrpSpPr>
        <p:grpSpPr>
          <a:xfrm flipV="1">
            <a:off x="-762000" y="1516854"/>
            <a:ext cx="84582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72AD009-6712-7B08-6563-B9C9C19B6691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9B29224-0C8F-902F-9E8A-205DF27B0E82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DE28528D-BB9B-FF0B-EC31-D2BBA7341CFF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CFFE4F85-E8CC-9E65-3F67-022D6557A36C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DE25595F-0903-B5BC-EBCF-663910EA8AA0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47AC3159-FEB7-4674-00E4-411C08E00BD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091EB33-2B6A-E05B-24B5-F34DAE516C0A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1722A66-D005-F4D0-0A02-8E6D589D8DD6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0E272BAF-6A69-7F5F-48EF-EA0BCE027063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D9C892C9-E8A3-D9BE-C615-6CBFF8F73084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FB175B11-A2AF-DF04-94CE-533EB7453A8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737941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8FB3B-95D0-A0C2-C40D-9BAB0C219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03B4F4A-EDFF-0B90-E647-25EB8E7B8BEF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88888A3-5F19-2CDC-7B42-8C724D988813}"/>
              </a:ext>
            </a:extLst>
          </p:cNvPr>
          <p:cNvGrpSpPr/>
          <p:nvPr/>
        </p:nvGrpSpPr>
        <p:grpSpPr>
          <a:xfrm flipV="1">
            <a:off x="-762000" y="1516854"/>
            <a:ext cx="84582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EBE2720-CB0E-5ECA-799C-4E203F21B3BA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BCB53E8-5351-93C7-AD16-79648EE2598C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28053F00-112F-B734-18A0-55F4360A121C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10A196E1-4B5F-6974-70EA-83D3BEE2E590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C9050EF9-03B1-B8D1-5B27-C4BB58A00F7F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4809C166-F0F1-D151-409A-F90BF0D906E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1387179-1319-4ABC-DEB3-62A0A5ED2A98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4469292-5E33-6B6C-CBFC-33AA4BFA3690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560E4F73-7C45-8DB2-4FD0-A469EC714CF7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31811B8D-5329-DDC9-2940-6B960DD7AB42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CF85E6DB-8B2B-D04E-A38C-4B962FAE3FB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529406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 rot="-10800000">
            <a:off x="10392303" y="0"/>
            <a:ext cx="7895697" cy="10287000"/>
            <a:chOff x="0" y="0"/>
            <a:chExt cx="2079525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79525" cy="2709333"/>
            </a:xfrm>
            <a:custGeom>
              <a:avLst/>
              <a:gdLst/>
              <a:ahLst/>
              <a:cxnLst/>
              <a:rect l="l" t="t" r="r" b="b"/>
              <a:pathLst>
                <a:path w="2079525" h="2709333">
                  <a:moveTo>
                    <a:pt x="0" y="0"/>
                  </a:moveTo>
                  <a:lnTo>
                    <a:pt x="2079525" y="0"/>
                  </a:lnTo>
                  <a:lnTo>
                    <a:pt x="2079525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7952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9562641" y="4953536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>
                <a:moveTo>
                  <a:pt x="0" y="0"/>
                </a:moveTo>
                <a:lnTo>
                  <a:pt x="4777511" y="0"/>
                </a:lnTo>
                <a:lnTo>
                  <a:pt x="4777511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7" name="Freeform 7"/>
          <p:cNvSpPr/>
          <p:nvPr/>
        </p:nvSpPr>
        <p:spPr>
          <a:xfrm rot="-10800000">
            <a:off x="14340152" y="455568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>
                <a:moveTo>
                  <a:pt x="0" y="0"/>
                </a:moveTo>
                <a:lnTo>
                  <a:pt x="4777510" y="0"/>
                </a:lnTo>
                <a:lnTo>
                  <a:pt x="4777510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8" name="Group 8"/>
          <p:cNvGrpSpPr/>
          <p:nvPr/>
        </p:nvGrpSpPr>
        <p:grpSpPr>
          <a:xfrm rot="1460314">
            <a:off x="11000950" y="4587964"/>
            <a:ext cx="7356554" cy="1249125"/>
            <a:chOff x="0" y="0"/>
            <a:chExt cx="1937529" cy="3289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37528" cy="328988"/>
            </a:xfrm>
            <a:custGeom>
              <a:avLst/>
              <a:gdLst/>
              <a:ahLst/>
              <a:cxnLst/>
              <a:rect l="l" t="t" r="r" b="b"/>
              <a:pathLst>
                <a:path w="1937528" h="328988">
                  <a:moveTo>
                    <a:pt x="105238" y="0"/>
                  </a:moveTo>
                  <a:lnTo>
                    <a:pt x="1832290" y="0"/>
                  </a:lnTo>
                  <a:cubicBezTo>
                    <a:pt x="1860201" y="0"/>
                    <a:pt x="1886969" y="11088"/>
                    <a:pt x="1906705" y="30824"/>
                  </a:cubicBezTo>
                  <a:cubicBezTo>
                    <a:pt x="1926441" y="50560"/>
                    <a:pt x="1937528" y="77327"/>
                    <a:pt x="1937528" y="105238"/>
                  </a:cubicBezTo>
                  <a:lnTo>
                    <a:pt x="1937528" y="223749"/>
                  </a:lnTo>
                  <a:cubicBezTo>
                    <a:pt x="1937528" y="281871"/>
                    <a:pt x="1890412" y="328988"/>
                    <a:pt x="1832290" y="328988"/>
                  </a:cubicBezTo>
                  <a:lnTo>
                    <a:pt x="105238" y="328988"/>
                  </a:lnTo>
                  <a:cubicBezTo>
                    <a:pt x="77327" y="328988"/>
                    <a:pt x="50560" y="317900"/>
                    <a:pt x="30824" y="298164"/>
                  </a:cubicBezTo>
                  <a:cubicBezTo>
                    <a:pt x="11088" y="278428"/>
                    <a:pt x="0" y="251660"/>
                    <a:pt x="0" y="223749"/>
                  </a:cubicBezTo>
                  <a:lnTo>
                    <a:pt x="0" y="105238"/>
                  </a:lnTo>
                  <a:cubicBezTo>
                    <a:pt x="0" y="47117"/>
                    <a:pt x="47117" y="0"/>
                    <a:pt x="10523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937529" cy="3670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068637" y="3413680"/>
            <a:ext cx="6434234" cy="2520100"/>
            <a:chOff x="0" y="0"/>
            <a:chExt cx="8578979" cy="3360133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8578979" cy="3360133"/>
              <a:chOff x="0" y="0"/>
              <a:chExt cx="582801" cy="22826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82801" cy="228266"/>
              </a:xfrm>
              <a:custGeom>
                <a:avLst/>
                <a:gdLst/>
                <a:ahLst/>
                <a:cxnLst/>
                <a:rect l="l" t="t" r="r" b="b"/>
                <a:pathLst>
                  <a:path w="582801" h="228266">
                    <a:moveTo>
                      <a:pt x="87467" y="0"/>
                    </a:moveTo>
                    <a:lnTo>
                      <a:pt x="495335" y="0"/>
                    </a:lnTo>
                    <a:cubicBezTo>
                      <a:pt x="543641" y="0"/>
                      <a:pt x="582801" y="39160"/>
                      <a:pt x="582801" y="87467"/>
                    </a:cubicBezTo>
                    <a:lnTo>
                      <a:pt x="582801" y="140800"/>
                    </a:lnTo>
                    <a:cubicBezTo>
                      <a:pt x="582801" y="189106"/>
                      <a:pt x="543641" y="228266"/>
                      <a:pt x="495335" y="228266"/>
                    </a:cubicBezTo>
                    <a:lnTo>
                      <a:pt x="87467" y="228266"/>
                    </a:lnTo>
                    <a:cubicBezTo>
                      <a:pt x="39160" y="228266"/>
                      <a:pt x="0" y="189106"/>
                      <a:pt x="0" y="140800"/>
                    </a:cubicBezTo>
                    <a:lnTo>
                      <a:pt x="0" y="87467"/>
                    </a:lnTo>
                    <a:cubicBezTo>
                      <a:pt x="0" y="39160"/>
                      <a:pt x="39160" y="0"/>
                      <a:pt x="8746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gradFill>
                  <a:gsLst>
                    <a:gs pos="0">
                      <a:srgbClr val="6B1374">
                        <a:alpha val="100000"/>
                      </a:srgbClr>
                    </a:gs>
                    <a:gs pos="33333">
                      <a:srgbClr val="700A89">
                        <a:alpha val="100000"/>
                      </a:srgbClr>
                    </a:gs>
                    <a:gs pos="66667">
                      <a:srgbClr val="C20052">
                        <a:alpha val="100000"/>
                      </a:srgbClr>
                    </a:gs>
                    <a:gs pos="100000">
                      <a:srgbClr val="FF0055">
                        <a:alpha val="100000"/>
                      </a:srgbClr>
                    </a:gs>
                  </a:gsLst>
                  <a:lin ang="2700000"/>
                </a:gradFill>
                <a:prstDash val="solid"/>
                <a:round/>
              </a:ln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82801" cy="2663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355297" y="630412"/>
              <a:ext cx="7868384" cy="20253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0"/>
                </a:lnSpc>
              </a:pPr>
              <a:r>
                <a:rPr lang="en-US" sz="2400" dirty="0">
                  <a:solidFill>
                    <a:srgbClr val="1F1F1D"/>
                  </a:solidFill>
                  <a:latin typeface="Poppins 2"/>
                  <a:ea typeface="Poppins 2"/>
                  <a:cs typeface="Poppins 2"/>
                  <a:sym typeface="Poppins 2"/>
                </a:rPr>
                <a:t>Juan Esteban Mejía Velásquez</a:t>
              </a:r>
            </a:p>
            <a:p>
              <a:pPr algn="ctr">
                <a:lnSpc>
                  <a:spcPts val="3600"/>
                </a:lnSpc>
              </a:pPr>
              <a:r>
                <a:rPr lang="en-US" sz="2000" dirty="0" err="1">
                  <a:solidFill>
                    <a:srgbClr val="1F1F1D"/>
                  </a:solidFill>
                  <a:latin typeface="Poppins 3"/>
                  <a:ea typeface="Poppins 3"/>
                  <a:cs typeface="Poppins 3"/>
                  <a:sym typeface="Poppins 3"/>
                </a:rPr>
                <a:t>Docente</a:t>
              </a:r>
              <a:endParaRPr lang="en-US" sz="2000" dirty="0">
                <a:solidFill>
                  <a:srgbClr val="1F1F1D"/>
                </a:solidFill>
                <a:latin typeface="Poppins 3"/>
                <a:ea typeface="Poppins 3"/>
                <a:cs typeface="Poppins 3"/>
                <a:sym typeface="Poppins 3"/>
              </a:endParaRPr>
            </a:p>
            <a:p>
              <a:pPr algn="ctr">
                <a:lnSpc>
                  <a:spcPts val="4320"/>
                </a:lnSpc>
              </a:pPr>
              <a:r>
                <a:rPr lang="en-US" sz="2400" u="sng" dirty="0">
                  <a:solidFill>
                    <a:srgbClr val="1F1F1D"/>
                  </a:solidFill>
                  <a:latin typeface="Poppins 3"/>
                  <a:ea typeface="Poppins 3"/>
                  <a:cs typeface="Poppins 3"/>
                  <a:sym typeface="Poppins 3"/>
                  <a:hlinkClick r:id="rId4" tooltip="mailto:eduardo.tamayo@enyoi.co"/>
                </a:rPr>
                <a:t>Nombre.apellido@enyoi.co</a:t>
              </a:r>
            </a:p>
          </p:txBody>
        </p:sp>
      </p:grpSp>
      <p:sp>
        <p:nvSpPr>
          <p:cNvPr id="16" name="Freeform 16">
            <a:hlinkClick r:id="rId5" tooltip="https://wa.me/573206649412"/>
          </p:cNvPr>
          <p:cNvSpPr/>
          <p:nvPr/>
        </p:nvSpPr>
        <p:spPr>
          <a:xfrm>
            <a:off x="2068637" y="6536925"/>
            <a:ext cx="360000" cy="332550"/>
          </a:xfrm>
          <a:custGeom>
            <a:avLst/>
            <a:gdLst/>
            <a:ahLst/>
            <a:cxnLst/>
            <a:rect l="l" t="t" r="r" b="b"/>
            <a:pathLst>
              <a:path w="360000" h="332550">
                <a:moveTo>
                  <a:pt x="0" y="0"/>
                </a:moveTo>
                <a:lnTo>
                  <a:pt x="360000" y="0"/>
                </a:lnTo>
                <a:lnTo>
                  <a:pt x="360000" y="332550"/>
                </a:lnTo>
                <a:lnTo>
                  <a:pt x="0" y="3325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7" name="Freeform 17">
            <a:hlinkClick r:id="rId8" tooltip="https://www.instagram.com/enyoi.co/"/>
          </p:cNvPr>
          <p:cNvSpPr/>
          <p:nvPr/>
        </p:nvSpPr>
        <p:spPr>
          <a:xfrm>
            <a:off x="5758126" y="6535688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360000" h="360000">
                <a:moveTo>
                  <a:pt x="0" y="0"/>
                </a:moveTo>
                <a:lnTo>
                  <a:pt x="360000" y="0"/>
                </a:lnTo>
                <a:lnTo>
                  <a:pt x="360000" y="360000"/>
                </a:lnTo>
                <a:lnTo>
                  <a:pt x="0" y="3600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8" name="Freeform 18">
            <a:hlinkClick r:id="rId11" tooltip="http://www.enyoi.co"/>
          </p:cNvPr>
          <p:cNvSpPr/>
          <p:nvPr/>
        </p:nvSpPr>
        <p:spPr>
          <a:xfrm>
            <a:off x="5775261" y="7145700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360000" h="360000">
                <a:moveTo>
                  <a:pt x="0" y="0"/>
                </a:moveTo>
                <a:lnTo>
                  <a:pt x="360000" y="0"/>
                </a:lnTo>
                <a:lnTo>
                  <a:pt x="360000" y="360000"/>
                </a:lnTo>
                <a:lnTo>
                  <a:pt x="0" y="3600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9" name="Freeform 19"/>
          <p:cNvSpPr/>
          <p:nvPr/>
        </p:nvSpPr>
        <p:spPr>
          <a:xfrm>
            <a:off x="2096214" y="7144126"/>
            <a:ext cx="332423" cy="332422"/>
          </a:xfrm>
          <a:custGeom>
            <a:avLst/>
            <a:gdLst/>
            <a:ahLst/>
            <a:cxnLst/>
            <a:rect l="l" t="t" r="r" b="b"/>
            <a:pathLst>
              <a:path w="332423" h="332422">
                <a:moveTo>
                  <a:pt x="0" y="0"/>
                </a:moveTo>
                <a:lnTo>
                  <a:pt x="332423" y="0"/>
                </a:lnTo>
                <a:lnTo>
                  <a:pt x="332423" y="332423"/>
                </a:lnTo>
                <a:lnTo>
                  <a:pt x="0" y="33242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20" name="TextBox 20"/>
          <p:cNvSpPr txBox="1"/>
          <p:nvPr/>
        </p:nvSpPr>
        <p:spPr>
          <a:xfrm>
            <a:off x="6214196" y="7136825"/>
            <a:ext cx="1721048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F1F1D"/>
                </a:solidFill>
                <a:latin typeface="Poppins 3"/>
                <a:ea typeface="Poppins 3"/>
                <a:cs typeface="Poppins 3"/>
                <a:sym typeface="Poppins 3"/>
                <a:hlinkClick r:id="rId11" tooltip="http://www.enyoi.co"/>
              </a:rPr>
              <a:t>www.enyoi.co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212929" y="6526813"/>
            <a:ext cx="1048048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F1F1D"/>
                </a:solidFill>
                <a:latin typeface="Poppins 3"/>
                <a:ea typeface="Poppins 3"/>
                <a:cs typeface="Poppins 3"/>
                <a:sym typeface="Poppins 3"/>
                <a:hlinkClick r:id="rId8" tooltip="https://www.instagram.com/enyoi.co/"/>
              </a:rPr>
              <a:t>enyoi.co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520238" y="6526813"/>
            <a:ext cx="2467846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dirty="0">
                <a:solidFill>
                  <a:srgbClr val="1F1F1D"/>
                </a:solidFill>
                <a:latin typeface="Poppins 3"/>
                <a:ea typeface="Poppins 3"/>
                <a:cs typeface="Poppins 3"/>
                <a:sym typeface="Poppins 3"/>
                <a:hlinkClick r:id="rId5" tooltip="https://wa.me/573206649412"/>
              </a:rPr>
              <a:t>+57 3016736729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520164" y="7136825"/>
            <a:ext cx="1048048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F1F1D"/>
                </a:solidFill>
                <a:latin typeface="Poppins 3"/>
                <a:ea typeface="Poppins 3"/>
                <a:cs typeface="Poppins 3"/>
                <a:sym typeface="Poppins 3"/>
                <a:hlinkClick r:id="rId15" tooltip="https://www.tiktok.com/@enyoi.co"/>
              </a:rPr>
              <a:t>enyoi.co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2068637" y="7010382"/>
            <a:ext cx="2744745" cy="47625"/>
            <a:chOff x="0" y="0"/>
            <a:chExt cx="722896" cy="1254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22896" cy="12543"/>
            </a:xfrm>
            <a:custGeom>
              <a:avLst/>
              <a:gdLst/>
              <a:ahLst/>
              <a:cxnLst/>
              <a:rect l="l" t="t" r="r" b="b"/>
              <a:pathLst>
                <a:path w="722896" h="12543">
                  <a:moveTo>
                    <a:pt x="6272" y="0"/>
                  </a:moveTo>
                  <a:lnTo>
                    <a:pt x="716624" y="0"/>
                  </a:lnTo>
                  <a:cubicBezTo>
                    <a:pt x="718288" y="0"/>
                    <a:pt x="719883" y="661"/>
                    <a:pt x="721059" y="1837"/>
                  </a:cubicBezTo>
                  <a:cubicBezTo>
                    <a:pt x="722235" y="3013"/>
                    <a:pt x="722896" y="4608"/>
                    <a:pt x="722896" y="6272"/>
                  </a:cubicBezTo>
                  <a:lnTo>
                    <a:pt x="722896" y="6272"/>
                  </a:lnTo>
                  <a:cubicBezTo>
                    <a:pt x="722896" y="7935"/>
                    <a:pt x="722235" y="9530"/>
                    <a:pt x="721059" y="10706"/>
                  </a:cubicBezTo>
                  <a:cubicBezTo>
                    <a:pt x="719883" y="11882"/>
                    <a:pt x="718288" y="12543"/>
                    <a:pt x="716624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722896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758126" y="7010382"/>
            <a:ext cx="2744745" cy="47625"/>
            <a:chOff x="0" y="0"/>
            <a:chExt cx="722896" cy="1254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22896" cy="12543"/>
            </a:xfrm>
            <a:custGeom>
              <a:avLst/>
              <a:gdLst/>
              <a:ahLst/>
              <a:cxnLst/>
              <a:rect l="l" t="t" r="r" b="b"/>
              <a:pathLst>
                <a:path w="722896" h="12543">
                  <a:moveTo>
                    <a:pt x="6272" y="0"/>
                  </a:moveTo>
                  <a:lnTo>
                    <a:pt x="716624" y="0"/>
                  </a:lnTo>
                  <a:cubicBezTo>
                    <a:pt x="718288" y="0"/>
                    <a:pt x="719883" y="661"/>
                    <a:pt x="721059" y="1837"/>
                  </a:cubicBezTo>
                  <a:cubicBezTo>
                    <a:pt x="722235" y="3013"/>
                    <a:pt x="722896" y="4608"/>
                    <a:pt x="722896" y="6272"/>
                  </a:cubicBezTo>
                  <a:lnTo>
                    <a:pt x="722896" y="6272"/>
                  </a:lnTo>
                  <a:cubicBezTo>
                    <a:pt x="722896" y="7935"/>
                    <a:pt x="722235" y="9530"/>
                    <a:pt x="721059" y="10706"/>
                  </a:cubicBezTo>
                  <a:cubicBezTo>
                    <a:pt x="719883" y="11882"/>
                    <a:pt x="718288" y="12543"/>
                    <a:pt x="716624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722896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30" name="Google Shape;88;g2d7c13286f8_0_89">
            <a:extLst>
              <a:ext uri="{FF2B5EF4-FFF2-40B4-BE49-F238E27FC236}">
                <a16:creationId xmlns:a16="http://schemas.microsoft.com/office/drawing/2014/main" id="{F3EF8E1B-3B38-49F0-B0E1-90804987FDB4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 l="53990" t="15859" r="8554" b="69322"/>
          <a:stretch/>
        </p:blipFill>
        <p:spPr>
          <a:xfrm>
            <a:off x="5001939" y="578151"/>
            <a:ext cx="4721448" cy="1048052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Freeform 2">
            <a:extLst>
              <a:ext uri="{FF2B5EF4-FFF2-40B4-BE49-F238E27FC236}">
                <a16:creationId xmlns:a16="http://schemas.microsoft.com/office/drawing/2014/main" id="{8698B696-E24B-4998-B961-AC408298D752}"/>
              </a:ext>
            </a:extLst>
          </p:cNvPr>
          <p:cNvSpPr/>
          <p:nvPr/>
        </p:nvSpPr>
        <p:spPr>
          <a:xfrm>
            <a:off x="729281" y="455568"/>
            <a:ext cx="3004519" cy="1201808"/>
          </a:xfrm>
          <a:custGeom>
            <a:avLst/>
            <a:gdLst/>
            <a:ahLst/>
            <a:cxnLst/>
            <a:rect l="l" t="t" r="r" b="b"/>
            <a:pathLst>
              <a:path w="3457174" h="1382870">
                <a:moveTo>
                  <a:pt x="0" y="0"/>
                </a:moveTo>
                <a:lnTo>
                  <a:pt x="3457174" y="0"/>
                </a:lnTo>
                <a:lnTo>
                  <a:pt x="3457174" y="1382870"/>
                </a:lnTo>
                <a:lnTo>
                  <a:pt x="0" y="138287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>
            <a:extLst>
              <a:ext uri="{FF2B5EF4-FFF2-40B4-BE49-F238E27FC236}">
                <a16:creationId xmlns:a16="http://schemas.microsoft.com/office/drawing/2014/main" id="{D3DB85D7-B0D6-C5B6-1162-4B12C76A7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1943100"/>
            <a:ext cx="5756580" cy="716750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7289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d0e0202-030e-462a-aa27-6a6a82479e70" xsi:nil="true"/>
    <lcf76f155ced4ddcb4097134ff3c332f xmlns="6c275f7e-0654-4a6d-8904-2cca8e28e712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E0DDBAFD1725F409D01B56EA32EFDE3" ma:contentTypeVersion="7" ma:contentTypeDescription="Crear nuevo documento." ma:contentTypeScope="" ma:versionID="0e3a372f9aebe1af25825ebaa0c18744">
  <xsd:schema xmlns:xsd="http://www.w3.org/2001/XMLSchema" xmlns:xs="http://www.w3.org/2001/XMLSchema" xmlns:p="http://schemas.microsoft.com/office/2006/metadata/properties" xmlns:ns2="6c275f7e-0654-4a6d-8904-2cca8e28e712" xmlns:ns3="cd0e0202-030e-462a-aa27-6a6a82479e70" targetNamespace="http://schemas.microsoft.com/office/2006/metadata/properties" ma:root="true" ma:fieldsID="0eaab62a3d55c6ce655e721a70c7681c" ns2:_="" ns3:_="">
    <xsd:import namespace="6c275f7e-0654-4a6d-8904-2cca8e28e712"/>
    <xsd:import namespace="cd0e0202-030e-462a-aa27-6a6a82479e70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275f7e-0654-4a6d-8904-2cca8e28e712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Etiquetas de imagen" ma:readOnly="false" ma:fieldId="{5cf76f15-5ced-4ddc-b409-7134ff3c332f}" ma:taxonomyMulti="true" ma:sspId="39d08eb0-6654-4c6a-ad6e-6625fbda6bf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0e0202-030e-462a-aa27-6a6a82479e70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821bf81b-0d50-4df5-8eec-576b1a7382f6}" ma:internalName="TaxCatchAll" ma:showField="CatchAllData" ma:web="cd0e0202-030e-462a-aa27-6a6a82479e7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6E0BB8D-833E-4C50-9216-ACEFA67B89FD}">
  <ds:schemaRefs>
    <ds:schemaRef ds:uri="http://purl.org/dc/dcmitype/"/>
    <ds:schemaRef ds:uri="http://schemas.microsoft.com/office/2006/metadata/properties"/>
    <ds:schemaRef ds:uri="http://purl.org/dc/terms/"/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cd0e0202-030e-462a-aa27-6a6a82479e70"/>
    <ds:schemaRef ds:uri="6c275f7e-0654-4a6d-8904-2cca8e28e712"/>
  </ds:schemaRefs>
</ds:datastoreItem>
</file>

<file path=customXml/itemProps2.xml><?xml version="1.0" encoding="utf-8"?>
<ds:datastoreItem xmlns:ds="http://schemas.openxmlformats.org/officeDocument/2006/customXml" ds:itemID="{ECB2B6EA-D349-4B2F-B929-6B75BC50FCA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c275f7e-0654-4a6d-8904-2cca8e28e712"/>
    <ds:schemaRef ds:uri="cd0e0202-030e-462a-aa27-6a6a82479e7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A23B340-D820-43E7-9E27-6EAE6AACC61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2899</TotalTime>
  <Words>1980</Words>
  <Application>Microsoft Office PowerPoint</Application>
  <PresentationFormat>Personalizado</PresentationFormat>
  <Paragraphs>157</Paragraphs>
  <Slides>32</Slides>
  <Notes>0</Notes>
  <HiddenSlides>1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40" baseType="lpstr">
      <vt:lpstr>Calibri</vt:lpstr>
      <vt:lpstr>Arial</vt:lpstr>
      <vt:lpstr>Poppins 3</vt:lpstr>
      <vt:lpstr>Poppins 1 Bold</vt:lpstr>
      <vt:lpstr>Inter</vt:lpstr>
      <vt:lpstr>Poppins</vt:lpstr>
      <vt:lpstr>Poppins 2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Enyoi ChildTech - Pitch final</dc:title>
  <dc:creator>Administrador</dc:creator>
  <cp:lastModifiedBy>Juan Esteban Mejia Velasquez</cp:lastModifiedBy>
  <cp:revision>17</cp:revision>
  <dcterms:created xsi:type="dcterms:W3CDTF">2006-08-16T00:00:00Z</dcterms:created>
  <dcterms:modified xsi:type="dcterms:W3CDTF">2026-02-23T22:52:44Z</dcterms:modified>
  <dc:identifier>DAGn2ZVma2Y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0x0101009E0DDBAFD1725F409D01B56EA32EFDE3</vt:lpwstr>
  </property>
  <property fmtid="{D5CDD505-2E9C-101B-9397-08002B2CF9AE}" pid="3" name="MediaServiceImageTags">
    <vt:lpwstr/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bool>false</vt:bool>
  </property>
  <property fmtid="{D5CDD505-2E9C-101B-9397-08002B2CF9AE}" pid="10" name="GUID">
    <vt:lpwstr>5a9a97e6-a690-4e83-b95e-999d38ef2ce5</vt:lpwstr>
  </property>
  <property fmtid="{D5CDD505-2E9C-101B-9397-08002B2CF9AE}" pid="11" name="SharedWithUsers">
    <vt:lpwstr/>
  </property>
</Properties>
</file>