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91"/>
  </p:notesMasterIdLst>
  <p:sldIdLst>
    <p:sldId id="257" r:id="rId5"/>
    <p:sldId id="333" r:id="rId6"/>
    <p:sldId id="378" r:id="rId7"/>
    <p:sldId id="393" r:id="rId8"/>
    <p:sldId id="394" r:id="rId9"/>
    <p:sldId id="395" r:id="rId10"/>
    <p:sldId id="396" r:id="rId11"/>
    <p:sldId id="397" r:id="rId12"/>
    <p:sldId id="483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84" r:id="rId22"/>
    <p:sldId id="408" r:id="rId23"/>
    <p:sldId id="409" r:id="rId24"/>
    <p:sldId id="410" r:id="rId25"/>
    <p:sldId id="485" r:id="rId26"/>
    <p:sldId id="412" r:id="rId27"/>
    <p:sldId id="413" r:id="rId28"/>
    <p:sldId id="414" r:id="rId29"/>
    <p:sldId id="486" r:id="rId30"/>
    <p:sldId id="416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424" r:id="rId39"/>
    <p:sldId id="425" r:id="rId40"/>
    <p:sldId id="426" r:id="rId41"/>
    <p:sldId id="427" r:id="rId42"/>
    <p:sldId id="428" r:id="rId43"/>
    <p:sldId id="429" r:id="rId44"/>
    <p:sldId id="430" r:id="rId45"/>
    <p:sldId id="431" r:id="rId46"/>
    <p:sldId id="432" r:id="rId47"/>
    <p:sldId id="433" r:id="rId48"/>
    <p:sldId id="434" r:id="rId49"/>
    <p:sldId id="435" r:id="rId50"/>
    <p:sldId id="436" r:id="rId51"/>
    <p:sldId id="437" r:id="rId52"/>
    <p:sldId id="438" r:id="rId53"/>
    <p:sldId id="439" r:id="rId54"/>
    <p:sldId id="440" r:id="rId55"/>
    <p:sldId id="441" r:id="rId56"/>
    <p:sldId id="442" r:id="rId57"/>
    <p:sldId id="443" r:id="rId58"/>
    <p:sldId id="444" r:id="rId59"/>
    <p:sldId id="445" r:id="rId60"/>
    <p:sldId id="446" r:id="rId61"/>
    <p:sldId id="447" r:id="rId62"/>
    <p:sldId id="449" r:id="rId63"/>
    <p:sldId id="450" r:id="rId64"/>
    <p:sldId id="451" r:id="rId65"/>
    <p:sldId id="452" r:id="rId66"/>
    <p:sldId id="453" r:id="rId67"/>
    <p:sldId id="454" r:id="rId68"/>
    <p:sldId id="455" r:id="rId69"/>
    <p:sldId id="456" r:id="rId70"/>
    <p:sldId id="457" r:id="rId71"/>
    <p:sldId id="458" r:id="rId72"/>
    <p:sldId id="459" r:id="rId73"/>
    <p:sldId id="460" r:id="rId74"/>
    <p:sldId id="461" r:id="rId75"/>
    <p:sldId id="462" r:id="rId76"/>
    <p:sldId id="463" r:id="rId77"/>
    <p:sldId id="464" r:id="rId78"/>
    <p:sldId id="465" r:id="rId79"/>
    <p:sldId id="466" r:id="rId80"/>
    <p:sldId id="467" r:id="rId81"/>
    <p:sldId id="468" r:id="rId82"/>
    <p:sldId id="469" r:id="rId83"/>
    <p:sldId id="470" r:id="rId84"/>
    <p:sldId id="471" r:id="rId85"/>
    <p:sldId id="472" r:id="rId86"/>
    <p:sldId id="473" r:id="rId87"/>
    <p:sldId id="474" r:id="rId88"/>
    <p:sldId id="482" r:id="rId89"/>
    <p:sldId id="278" r:id="rId90"/>
  </p:sldIdLst>
  <p:sldSz cx="18288000" cy="10287000"/>
  <p:notesSz cx="6858000" cy="9144000"/>
  <p:embeddedFontLst>
    <p:embeddedFont>
      <p:font typeface="Poppins" panose="00000500000000000000" pitchFamily="2" charset="0"/>
      <p:regular r:id="rId92"/>
      <p:bold r:id="rId93"/>
      <p:italic r:id="rId94"/>
      <p:boldItalic r:id="rId95"/>
    </p:embeddedFont>
    <p:embeddedFont>
      <p:font typeface="Poppins 1 Bold" panose="020B0604020202020204" charset="0"/>
      <p:regular r:id="rId96"/>
    </p:embeddedFont>
    <p:embeddedFont>
      <p:font typeface="Poppins 2" panose="020B0604020202020204" charset="0"/>
      <p:regular r:id="rId97"/>
    </p:embeddedFont>
    <p:embeddedFont>
      <p:font typeface="Poppins 3" panose="020B0604020202020204" charset="0"/>
      <p:regular r:id="rId9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97" Type="http://schemas.openxmlformats.org/officeDocument/2006/relationships/font" Target="fonts/font6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102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font" Target="fonts/font4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font" Target="fonts/font2.fntdata"/><Relationship Id="rId98" Type="http://schemas.openxmlformats.org/officeDocument/2006/relationships/font" Target="fonts/font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notesMaster" Target="notesMasters/notesMaster1.xml"/><Relationship Id="rId96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font" Target="fonts/font3.fntdata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package" Target="../embeddings/Microsoft_Word_Document.docx"/><Relationship Id="rId4" Type="http://schemas.openxmlformats.org/officeDocument/2006/relationships/image" Target="../media/image5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enyoi.co/" TargetMode="External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11.svg"/><Relationship Id="rId12" Type="http://schemas.openxmlformats.org/officeDocument/2006/relationships/image" Target="../media/image14.png"/><Relationship Id="rId17" Type="http://schemas.openxmlformats.org/officeDocument/2006/relationships/image" Target="../media/image1.png"/><Relationship Id="rId2" Type="http://schemas.openxmlformats.org/officeDocument/2006/relationships/image" Target="../media/image2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hyperlink" Target="http://www.enyoi.co" TargetMode="External"/><Relationship Id="rId5" Type="http://schemas.openxmlformats.org/officeDocument/2006/relationships/hyperlink" Target="https://wa.me/573206649412" TargetMode="External"/><Relationship Id="rId15" Type="http://schemas.openxmlformats.org/officeDocument/2006/relationships/hyperlink" Target="https://www.tiktok.com/@enyoi.co" TargetMode="External"/><Relationship Id="rId10" Type="http://schemas.openxmlformats.org/officeDocument/2006/relationships/image" Target="../media/image13.svg"/><Relationship Id="rId4" Type="http://schemas.openxmlformats.org/officeDocument/2006/relationships/hyperlink" Target="mailto:eduardo.tamayo@enyoi.co" TargetMode="External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8764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10661875" y="4518938"/>
            <a:ext cx="7356554" cy="1249125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536257" y="9574006"/>
            <a:ext cx="8704391" cy="134923"/>
            <a:chOff x="0" y="0"/>
            <a:chExt cx="2292514" cy="355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1465" y="4619586"/>
            <a:ext cx="8321721" cy="752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s-CO" sz="4350" b="1" noProof="0" dirty="0">
                <a:solidFill>
                  <a:srgbClr val="700A89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1 Bold"/>
              </a:rPr>
              <a:t>Calidad de Datos</a:t>
            </a:r>
            <a:endParaRPr lang="es-CO" sz="4350" b="1" noProof="0" dirty="0">
              <a:solidFill>
                <a:srgbClr val="700A89"/>
              </a:solidFill>
              <a:latin typeface="Poppins 1 Bold"/>
              <a:cs typeface="Poppins 1 Bold"/>
              <a:sym typeface="Poppins 1 Bold"/>
            </a:endParaRPr>
          </a:p>
        </p:txBody>
      </p:sp>
      <p:pic>
        <p:nvPicPr>
          <p:cNvPr id="18" name="Google Shape;88;g2d7c13286f8_0_89">
            <a:extLst>
              <a:ext uri="{FF2B5EF4-FFF2-40B4-BE49-F238E27FC236}">
                <a16:creationId xmlns:a16="http://schemas.microsoft.com/office/drawing/2014/main" id="{27303298-D0A0-4B40-9C53-51AF1C44F47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5181600" y="609324"/>
            <a:ext cx="4721448" cy="104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F57EA-AB2A-D230-8269-26A12105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63BEABA-6A1E-0588-6E8E-B829C74E8AAA}"/>
              </a:ext>
            </a:extLst>
          </p:cNvPr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4725FA9-DB41-09A5-DF03-37153937910A}"/>
                </a:ext>
              </a:extLst>
            </p:cNvPr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12FEF42-0636-3E17-8A6D-0E140C7E4274}"/>
                </a:ext>
              </a:extLst>
            </p:cNvPr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0C63301-6F78-06FB-FAD1-BFAE730F4912}"/>
              </a:ext>
            </a:extLst>
          </p:cNvPr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2FFCCEB-96B9-EDFB-AFD6-2797FA7C98E5}"/>
              </a:ext>
            </a:extLst>
          </p:cNvPr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62AE8F99-2121-ACCC-DE87-9D8E38E2B656}"/>
              </a:ext>
            </a:extLst>
          </p:cNvPr>
          <p:cNvGrpSpPr/>
          <p:nvPr/>
        </p:nvGrpSpPr>
        <p:grpSpPr>
          <a:xfrm rot="1460314">
            <a:off x="10661875" y="4518938"/>
            <a:ext cx="7356554" cy="1249125"/>
            <a:chOff x="0" y="0"/>
            <a:chExt cx="1937529" cy="328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37C37D5-46E2-C18B-B79F-62EFE65E0F7C}"/>
                </a:ext>
              </a:extLst>
            </p:cNvPr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27D3582-B0C4-6E41-AA2D-FD73D127DDD6}"/>
                </a:ext>
              </a:extLst>
            </p:cNvPr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7A6C202-C67A-41DC-7499-D28D188D03E6}"/>
              </a:ext>
            </a:extLst>
          </p:cNvPr>
          <p:cNvGrpSpPr/>
          <p:nvPr/>
        </p:nvGrpSpPr>
        <p:grpSpPr>
          <a:xfrm rot="-10800000">
            <a:off x="-536257" y="9574006"/>
            <a:ext cx="8704391" cy="134923"/>
            <a:chOff x="0" y="0"/>
            <a:chExt cx="2292514" cy="3553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0807688-3D2E-8BBD-9C7C-BB692B82F405}"/>
                </a:ext>
              </a:extLst>
            </p:cNvPr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DE14CBD-71F3-CE58-1900-5B5A694C35F2}"/>
                </a:ext>
              </a:extLst>
            </p:cNvPr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3F83F89-F8AE-E23F-84E0-1F8B85266321}"/>
              </a:ext>
            </a:extLst>
          </p:cNvPr>
          <p:cNvSpPr txBox="1"/>
          <p:nvPr/>
        </p:nvSpPr>
        <p:spPr>
          <a:xfrm>
            <a:off x="958498" y="4953536"/>
            <a:ext cx="8321721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4400" dirty="0">
                <a:solidFill>
                  <a:srgbClr val="000000"/>
                </a:solidFill>
                <a:latin typeface="Arial"/>
              </a:rPr>
              <a:t>Significado de la calidad de datos (1)</a:t>
            </a:r>
            <a:endParaRPr lang="es-CO" sz="4400" dirty="0"/>
          </a:p>
        </p:txBody>
      </p:sp>
    </p:spTree>
    <p:extLst>
      <p:ext uri="{BB962C8B-B14F-4D97-AF65-F5344CB8AC3E}">
        <p14:creationId xmlns:p14="http://schemas.microsoft.com/office/powerpoint/2010/main" val="2938131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97BD-E430-5F4E-B878-6A7282AE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4C6914-0E66-AE3D-F238-D95E5A03EFA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3E443E2-E43C-126F-3566-A735E89A659A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4118CB2-95E2-415C-689E-D99AB0EB37E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B849AFC-BA5F-C678-1255-29B19B334FE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ACBC215-1F84-2860-4D4B-9E065F60DAB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9BC2DE0-5365-7DBF-57F4-97B29EE87EE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94E99C1-E838-AF45-24C4-02EA9F8D2EE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10D6957-F37B-F5C8-C305-DCE50CDA526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9A31580-FB5F-AB6B-CC09-58E1F0797B8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F5107FE-30E9-953F-6EE2-C78D02F83FF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BD02E16-42FA-90D3-522C-3666FE577EDD}"/>
              </a:ext>
            </a:extLst>
          </p:cNvPr>
          <p:cNvSpPr txBox="1"/>
          <p:nvPr/>
        </p:nvSpPr>
        <p:spPr>
          <a:xfrm>
            <a:off x="1371600" y="2857500"/>
            <a:ext cx="15773400" cy="575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marR="0" lvl="0" indent="-34308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s-E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En general, tienes un problema si los datos no significan lo que crees que significan, o lo que deberían</a:t>
            </a:r>
            <a:endParaRPr kumimoji="0" lang="es-E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3040" marR="0" lvl="1" indent="-285840" defTabSz="914400" eaLnBrk="1" fontAlgn="auto" latinLnBrk="0" hangingPunct="1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Datos fuera de especificación: basura de entrada, fallos, etc.</a:t>
            </a:r>
            <a:endParaRPr kumimoji="0" lang="es-E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3040" marR="0" lvl="1" indent="-285840" defTabSz="914400" eaLnBrk="1" fontAlgn="auto" latinLnBrk="0" hangingPunct="1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No entiendes la especificación: complejidad, falta de metadatos.</a:t>
            </a:r>
            <a:endParaRPr kumimoji="0" lang="es-E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3080" marR="0" lvl="0" indent="-34308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s-E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Muchas fuentes y manifestaciones</a:t>
            </a:r>
            <a:endParaRPr kumimoji="0" lang="es-E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3040" marR="0" lvl="1" indent="-285840" defTabSz="914400" eaLnBrk="1" fontAlgn="auto" latinLnBrk="0" hangingPunct="1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Como veremos.</a:t>
            </a:r>
            <a:endParaRPr kumimoji="0" lang="es-E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3080" marR="0" lvl="0" indent="-34308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s-E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Los problemas de calidad de datos son costosos y omnipresentes</a:t>
            </a:r>
            <a:endParaRPr kumimoji="0" lang="es-E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3040" marR="0" lvl="1" indent="-285840" defTabSz="914400" eaLnBrk="1" fontAlgn="auto" latinLnBrk="0" hangingPunct="1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Los problemas de DQ cuestan cientos de miles de millones de $$$ cada año.</a:t>
            </a:r>
            <a:endParaRPr kumimoji="0" lang="es-E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3040" marR="0" lvl="1" indent="-285840" defTabSz="914400" eaLnBrk="1" fontAlgn="auto" latinLnBrk="0" hangingPunct="1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Resolver problemas de calidad de datos suele ser el mayor esfuerzo en un estudio de ingeniería</a:t>
            </a:r>
            <a:r>
              <a:rPr lang="es-ES" sz="3200" kern="0" dirty="0">
                <a:solidFill>
                  <a:sysClr val="windowText" lastClr="000000"/>
                </a:solidFill>
              </a:rPr>
              <a:t>a de datos</a:t>
            </a: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</a:t>
            </a:r>
            <a:endParaRPr lang="es-CO" sz="32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8CD2376-57A4-10BF-E380-5CF58E0F1520}"/>
              </a:ext>
            </a:extLst>
          </p:cNvPr>
          <p:cNvSpPr txBox="1"/>
          <p:nvPr/>
        </p:nvSpPr>
        <p:spPr>
          <a:xfrm>
            <a:off x="1524000" y="996847"/>
            <a:ext cx="13182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Significado de la calidad de datos (1)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4283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BA3DB-8529-8EFB-E2BA-3ED6F78B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4EA395-D637-A221-62AF-42998F255C85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E013C19-448E-F270-67D8-74F04C2FA12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9EC1C4F-A95E-D10B-A0AF-FA3BA04CDCD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EB20138-DA80-C569-98BE-B7799AF8690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6178426-1524-B68B-974A-84BF8A59E53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A82B216-8757-3FF5-62D2-FBF1EC1C824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D29942C-5120-0F21-1518-09B54A63E18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56786AA-1197-20AC-A204-AE15D0621E5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C209D38-E1F3-F503-C036-7C9665737A5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1FBA3E3-BCC9-FB0C-D341-C3A10BB48D5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6DE7D597-453B-4850-7E84-9C9EADC41332}"/>
              </a:ext>
            </a:extLst>
          </p:cNvPr>
          <p:cNvSpPr txBox="1">
            <a:spLocks/>
          </p:cNvSpPr>
          <p:nvPr/>
        </p:nvSpPr>
        <p:spPr>
          <a:xfrm>
            <a:off x="2920918" y="646892"/>
            <a:ext cx="11125200" cy="1271083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Ejemplo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787F5075-1C72-A065-921A-51A0DCF83345}"/>
              </a:ext>
            </a:extLst>
          </p:cNvPr>
          <p:cNvSpPr txBox="1">
            <a:spLocks/>
          </p:cNvSpPr>
          <p:nvPr/>
        </p:nvSpPr>
        <p:spPr>
          <a:xfrm>
            <a:off x="1619878" y="3514757"/>
            <a:ext cx="15601321" cy="62866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¿Podemos interpretar los datos?</a:t>
            </a:r>
            <a:endParaRPr lang="es-ES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¿Qué significan los campos?</a:t>
            </a:r>
            <a:endParaRPr lang="es-ES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¿Cuál es la clave? ¿Las medidas?</a:t>
            </a:r>
            <a:endParaRPr lang="es-ES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Fallos en los datos</a:t>
            </a:r>
            <a:endParaRPr lang="es-ES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Errores tipográficos, múltiples formatos, valores faltantes / por defecto</a:t>
            </a:r>
            <a:endParaRPr lang="es-ES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Metadatos y experiencia de dominio</a:t>
            </a:r>
            <a:endParaRPr lang="es-ES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El campo tres es Ingresos. ¿En Pesos o </a:t>
            </a:r>
            <a:r>
              <a:rPr lang="es-ES" sz="3200" dirty="0" err="1"/>
              <a:t>Dolares</a:t>
            </a:r>
            <a:r>
              <a:rPr lang="es-ES" sz="3200" dirty="0"/>
              <a:t>?</a:t>
            </a:r>
            <a:endParaRPr lang="es-ES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El campo siete es Uso. ¿Está censurado?</a:t>
            </a:r>
            <a:endParaRPr lang="es-ES" dirty="0">
              <a:solidFill>
                <a:srgbClr val="000000"/>
              </a:solidFill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2800" dirty="0"/>
              <a:t>El campo 4 es un indicador de censura. ¿Cómo manejar datos censurados?</a:t>
            </a:r>
            <a:endParaRPr lang="es-ES" dirty="0">
              <a:solidFill>
                <a:srgbClr val="000000"/>
              </a:solidFill>
            </a:endParaRPr>
          </a:p>
          <a:p>
            <a:pPr marL="743040" lvl="1" indent="0">
              <a:spcBef>
                <a:spcPts val="499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5CFB2CC-7C8F-DB53-82DE-9ED0C3F6E122}"/>
              </a:ext>
            </a:extLst>
          </p:cNvPr>
          <p:cNvSpPr/>
          <p:nvPr/>
        </p:nvSpPr>
        <p:spPr>
          <a:xfrm>
            <a:off x="5486400" y="2095500"/>
            <a:ext cx="7644073" cy="9562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dirty="0"/>
              <a:t>T.Das|97336o8327|24.95|Y|-|0.0|1000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dirty="0"/>
              <a:t>Ted J.|973-360-8779|2000|N|M|NY|1000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695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3B5E3-2115-5F36-BEB2-28574AD0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D4AC21-5455-F730-EB9C-47954D00344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D618D27-F2D1-2ED6-431F-4CAF4D524D6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659AE9D-8010-F7FE-5D2C-567EF34A578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3233644-6E90-2DB4-E0E5-E35C71692EF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BB056B5-5D6A-BB30-E917-6079A7B558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597DF72-7730-DBD0-03E7-F8A950895CE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49AD857-6EDA-A785-D5EC-F6F22308390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22BDBA0-5831-558B-BFDB-269BC202682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7718397-06A6-E051-3E18-53D30B79364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2D70FE6-D7D2-3128-82AC-154C4B16D0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4A1B7219-C5F8-E7A5-720C-4E831F54C6D0}"/>
              </a:ext>
            </a:extLst>
          </p:cNvPr>
          <p:cNvSpPr txBox="1">
            <a:spLocks/>
          </p:cNvSpPr>
          <p:nvPr/>
        </p:nvSpPr>
        <p:spPr>
          <a:xfrm>
            <a:off x="4343400" y="738350"/>
            <a:ext cx="8229600" cy="868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Fallos/errores en los datos</a:t>
            </a:r>
            <a:endParaRPr lang="es-E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CAFB06C5-10E3-DBAB-CD94-428EBE8ADE34}"/>
              </a:ext>
            </a:extLst>
          </p:cNvPr>
          <p:cNvSpPr txBox="1">
            <a:spLocks/>
          </p:cNvSpPr>
          <p:nvPr/>
        </p:nvSpPr>
        <p:spPr>
          <a:xfrm>
            <a:off x="838200" y="2476500"/>
            <a:ext cx="16002000" cy="8315477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Cambios sistémicos en los datos que son externos al proceso registrado.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Cambios en el </a:t>
            </a:r>
            <a:r>
              <a:rPr lang="es-ES" sz="3600" dirty="0" err="1"/>
              <a:t>layout</a:t>
            </a:r>
            <a:r>
              <a:rPr lang="es-ES" sz="3600" dirty="0"/>
              <a:t> / tipos de datos</a:t>
            </a:r>
            <a:endParaRPr lang="es-ES" sz="3200" dirty="0">
              <a:solidFill>
                <a:srgbClr val="000000"/>
              </a:solidFill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Un entero se vuelve cadena, los campos intercambian posiciones, etc.</a:t>
            </a:r>
            <a:endParaRPr lang="es-ES" sz="2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Cambios de escala / formato</a:t>
            </a:r>
            <a:endParaRPr lang="es-ES" sz="3200" dirty="0">
              <a:solidFill>
                <a:srgbClr val="000000"/>
              </a:solidFill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Dólares vs. euros</a:t>
            </a:r>
            <a:endParaRPr lang="es-ES" sz="2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Reversión temporal a valores por defecto</a:t>
            </a:r>
            <a:endParaRPr lang="es-ES" sz="3200" dirty="0">
              <a:solidFill>
                <a:srgbClr val="000000"/>
              </a:solidFill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Fallo de un paso de procesamiento</a:t>
            </a:r>
            <a:endParaRPr lang="es-ES" sz="2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Valores faltantes y por defecto</a:t>
            </a:r>
            <a:endParaRPr lang="es-ES" sz="3200" dirty="0">
              <a:solidFill>
                <a:srgbClr val="000000"/>
              </a:solidFill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Los programas de aplicación no manejan bien los valores NULL…</a:t>
            </a:r>
            <a:endParaRPr lang="es-ES" sz="2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Huecos en series temporales</a:t>
            </a:r>
            <a:endParaRPr lang="es-ES" sz="3200" dirty="0">
              <a:solidFill>
                <a:srgbClr val="000000"/>
              </a:solidFill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Especialmente cuando los registros representan cambios incrementales.</a:t>
            </a:r>
            <a:endParaRPr lang="es-E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05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F976-AA28-730C-45AF-47D53C699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2BC5CBC-D51D-39EA-487F-B5D0B84C8A8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B03E5D1-95C5-77BA-5268-BEF2164A532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9602D52-BD3C-1B6C-4FBD-9B5AD683266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320E0F7-545B-D5ED-1064-9FABF531629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66F1EBCB-18F4-3965-FD78-BDD525461D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D08B5A6-3645-2FD2-6523-B1724980C3E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6568257-00C4-0F80-825A-0794D55BCEE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4ABD872-7ADD-EA61-4B7D-5CA2EC68A84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9DD20BF-F391-A175-D813-2645FA891D8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C094EBD-CAD3-F73E-F52D-CC4CC654312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2B073C17-3367-6650-9D7F-E6917DBF47F8}"/>
              </a:ext>
            </a:extLst>
          </p:cNvPr>
          <p:cNvSpPr txBox="1">
            <a:spLocks/>
          </p:cNvSpPr>
          <p:nvPr/>
        </p:nvSpPr>
        <p:spPr>
          <a:xfrm>
            <a:off x="4419600" y="474835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Definición convencional de la calidad de datos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BD39EDEB-7624-A8B7-ADBF-01E149C2D85D}"/>
              </a:ext>
            </a:extLst>
          </p:cNvPr>
          <p:cNvSpPr txBox="1">
            <a:spLocks/>
          </p:cNvSpPr>
          <p:nvPr/>
        </p:nvSpPr>
        <p:spPr>
          <a:xfrm>
            <a:off x="1219200" y="2093815"/>
            <a:ext cx="15468600" cy="74298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600" dirty="0"/>
              <a:t>Exactitud</a:t>
            </a:r>
            <a:endParaRPr lang="es-ES" sz="4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Los datos se registraron correctamente.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600" dirty="0"/>
              <a:t>Completitud</a:t>
            </a:r>
            <a:endParaRPr lang="es-ES" sz="4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Se registraron todos los datos relevantes.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600" dirty="0"/>
              <a:t>Unicidad</a:t>
            </a:r>
            <a:endParaRPr lang="es-ES" sz="4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Las entidades se registran una sola vez.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600" dirty="0"/>
              <a:t>Oportunidad</a:t>
            </a:r>
            <a:endParaRPr lang="es-ES" sz="4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Los datos se mantienen actualizados.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Problemas especiales en datos federados: consistencia temporal.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600" dirty="0"/>
              <a:t>Consistencia</a:t>
            </a:r>
            <a:endParaRPr lang="es-ES" sz="4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Los datos concuerdan consigo mismos.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601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9874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80DE9-1EB9-3ED1-DB94-675A2344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1878D3-B444-6467-27EF-91F335495B6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45F7A0A-6CC3-EB51-1B1A-29D68B3CBD4A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4119B83-043E-0FB1-A99A-3B91DE49E6B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BB3C9F3-5E97-6059-F678-720DF5B05C2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AB0A0A6-82FD-1F2D-C7CA-B56A80A1D31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208EE66-B7E4-C9A3-52BD-919975328ED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3B543D7-55DB-05CD-7D49-C33CAD5908D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201E3CE-27ED-E6D8-8E67-50249717FA6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CE8284A-974E-4CFF-5AF4-762DD30E067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3C4636A-342A-E683-B880-6914065829A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E3E7E9AF-3737-0FB8-043D-15D5BB1DADAF}"/>
              </a:ext>
            </a:extLst>
          </p:cNvPr>
          <p:cNvSpPr txBox="1">
            <a:spLocks/>
          </p:cNvSpPr>
          <p:nvPr/>
        </p:nvSpPr>
        <p:spPr>
          <a:xfrm>
            <a:off x="4456449" y="1175353"/>
            <a:ext cx="8229600" cy="762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Problemas…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27CD5D44-A088-5388-8851-934A200E0E36}"/>
              </a:ext>
            </a:extLst>
          </p:cNvPr>
          <p:cNvSpPr txBox="1">
            <a:spLocks/>
          </p:cNvSpPr>
          <p:nvPr/>
        </p:nvSpPr>
        <p:spPr>
          <a:xfrm>
            <a:off x="913149" y="2857500"/>
            <a:ext cx="15316200" cy="5211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No medible</a:t>
            </a:r>
            <a:endParaRPr lang="es-ES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La exactitud y la completitud son extremadamente difíciles, quizá imposibles, de medir.</a:t>
            </a:r>
            <a:endParaRPr lang="es-ES" sz="3200" dirty="0">
              <a:solidFill>
                <a:srgbClr val="000000"/>
              </a:solidFill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Independiente del contexto</a:t>
            </a:r>
            <a:endParaRPr lang="es-ES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No se considera qué es importante. P. ej., si estás calculando agregados, puedes tolerar mucha inexactitud.</a:t>
            </a:r>
            <a:endParaRPr lang="es-ES" sz="3200" dirty="0">
              <a:solidFill>
                <a:srgbClr val="000000"/>
              </a:solidFill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Incompleto</a:t>
            </a:r>
            <a:endParaRPr lang="es-ES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¿Qué pasa con interpretabilidad, accesibilidad, metadatos, análisis, etc.?</a:t>
            </a:r>
            <a:endParaRPr lang="es-ES" sz="3200" dirty="0">
              <a:solidFill>
                <a:srgbClr val="000000"/>
              </a:solidFill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Vago</a:t>
            </a:r>
            <a:endParaRPr lang="es-ES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Las definiciones convencionales no dan guía hacia mejoras prácticas de los datos.</a:t>
            </a:r>
            <a:endParaRPr lang="es-ES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588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F3DD-11C8-8B65-BC0A-1D925D9D0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F5C727-BC73-DA1B-2A68-1173C7706A4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F617BF0-F11B-F8F7-BA7C-5178729F9D8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6CBA99D-8919-1F86-5D76-212D2CED3D4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B32D28B-A410-F051-0864-8F476D9F290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B643978-31CB-7053-A437-94BC272D13B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AE6EC69-30BA-297D-5F0E-81CDCCAEA62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A0434B0-C35C-40F2-2CDD-F0B65104B3B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2B5953C-4E9B-0552-2142-3D4A899E847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66C7DB8-CA4A-8ABF-E144-D2B6E5C9BA2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92F687B-3FC1-D692-AC8C-5C03513E3C2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0E486DA4-BA5D-23D0-920C-CB8DA0471336}"/>
              </a:ext>
            </a:extLst>
          </p:cNvPr>
          <p:cNvSpPr txBox="1">
            <a:spLocks/>
          </p:cNvSpPr>
          <p:nvPr/>
        </p:nvSpPr>
        <p:spPr>
          <a:xfrm>
            <a:off x="228600" y="763222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/>
              <a:t>Encontrar una definición moderna</a:t>
            </a:r>
            <a:endParaRPr lang="es-CO" sz="4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138B50EA-268C-0B6F-1029-539D4BC3021B}"/>
              </a:ext>
            </a:extLst>
          </p:cNvPr>
          <p:cNvSpPr txBox="1">
            <a:spLocks/>
          </p:cNvSpPr>
          <p:nvPr/>
        </p:nvSpPr>
        <p:spPr>
          <a:xfrm>
            <a:off x="1600200" y="2781300"/>
            <a:ext cx="14173200" cy="6248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Necesitamos una definición de calidad de datos que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Refleje el uso de los datos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Lleve a mejoras en los procesos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Sea medible (podamos definir métricas)}</a:t>
            </a: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40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Primero, necesitamos entender mejor cómo y dónde ocurren los problemas de calidad de datos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El continuo de la calidad de datos</a:t>
            </a:r>
            <a:endParaRPr lang="es-ES" sz="4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28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E97F-29D1-34EE-D2CA-3AB5078D4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B6AD31ED-4230-FF5D-9332-4579AE81C4E4}"/>
              </a:ext>
            </a:extLst>
          </p:cNvPr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9EA68FC-6C39-A5CA-0D5E-DEDDA3B29183}"/>
                </a:ext>
              </a:extLst>
            </p:cNvPr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E17D6B0-A824-6149-3700-0D24284DAEB2}"/>
                </a:ext>
              </a:extLst>
            </p:cNvPr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FC6264BD-DBB0-3542-5393-367BF35270F6}"/>
              </a:ext>
            </a:extLst>
          </p:cNvPr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05BA05F-8938-AE9E-B6BD-588768A298BB}"/>
              </a:ext>
            </a:extLst>
          </p:cNvPr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9B46E69E-5013-86A4-3B79-098584D49817}"/>
              </a:ext>
            </a:extLst>
          </p:cNvPr>
          <p:cNvGrpSpPr/>
          <p:nvPr/>
        </p:nvGrpSpPr>
        <p:grpSpPr>
          <a:xfrm rot="1460314">
            <a:off x="10661875" y="4518938"/>
            <a:ext cx="7356554" cy="1249125"/>
            <a:chOff x="0" y="0"/>
            <a:chExt cx="1937529" cy="328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768F126-287F-9E24-DA5A-94C0099A8C96}"/>
                </a:ext>
              </a:extLst>
            </p:cNvPr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8C6A068-39F4-6B9D-F852-0CDD3D86593D}"/>
                </a:ext>
              </a:extLst>
            </p:cNvPr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D2D7229-D81E-2C34-E10F-6BD8286E3163}"/>
              </a:ext>
            </a:extLst>
          </p:cNvPr>
          <p:cNvGrpSpPr/>
          <p:nvPr/>
        </p:nvGrpSpPr>
        <p:grpSpPr>
          <a:xfrm rot="-10800000">
            <a:off x="-536257" y="9574006"/>
            <a:ext cx="8704391" cy="134923"/>
            <a:chOff x="0" y="0"/>
            <a:chExt cx="2292514" cy="3553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A947E61-FFEA-C273-D35A-E33DFDEDC32F}"/>
                </a:ext>
              </a:extLst>
            </p:cNvPr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1592B31-790D-35DD-4E37-9624BCCF73FC}"/>
                </a:ext>
              </a:extLst>
            </p:cNvPr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2E215BEF-EBA5-91E8-BF81-191F7FF06DFD}"/>
              </a:ext>
            </a:extLst>
          </p:cNvPr>
          <p:cNvSpPr txBox="1"/>
          <p:nvPr/>
        </p:nvSpPr>
        <p:spPr>
          <a:xfrm>
            <a:off x="958498" y="4953536"/>
            <a:ext cx="8321721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El continuo de la calidad de datos</a:t>
            </a:r>
            <a:endParaRPr lang="es-ES" sz="8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5044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DBF21-C628-97AF-EF29-387190FF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3EC4D6-90F7-977D-AEBA-08652168A06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3FF8206-3C42-D136-32F4-082C385D43B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B42A2E3-1ACC-5EB4-8B2E-D21C9A046EB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150C07B-151D-8DB1-B1B5-095582CFBF5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61AD4BEE-0686-E5FC-5421-C7925D9B830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342CE57-6B8D-B284-E65F-EFFB8E45253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A982869-1672-CD97-1410-00F816AE446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12D7BBA-712E-5EE7-B503-1390D367461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546D152-DFF0-B634-F88A-80DC436BFBA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5691687-9358-AD7D-232F-D8CB28E17B8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CAE94137-1BCC-B4C6-5D97-DC010F68389A}"/>
              </a:ext>
            </a:extLst>
          </p:cNvPr>
          <p:cNvSpPr txBox="1">
            <a:spLocks/>
          </p:cNvSpPr>
          <p:nvPr/>
        </p:nvSpPr>
        <p:spPr>
          <a:xfrm>
            <a:off x="381000" y="680283"/>
            <a:ext cx="8229600" cy="838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/>
              <a:t>El continuo de la calidad de datos</a:t>
            </a:r>
            <a:endParaRPr lang="es-ES" sz="4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70A24C8D-C272-C5D2-0D34-463C53D65B16}"/>
              </a:ext>
            </a:extLst>
          </p:cNvPr>
          <p:cNvSpPr txBox="1">
            <a:spLocks/>
          </p:cNvSpPr>
          <p:nvPr/>
        </p:nvSpPr>
        <p:spPr>
          <a:xfrm>
            <a:off x="1219200" y="2400300"/>
            <a:ext cx="15324930" cy="75821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Los datos y la información no son estáticos; fluyen en un proceso de recolección y uso</a:t>
            </a:r>
            <a:endParaRPr lang="es-ES" sz="44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Recolección de datos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Entrega de datos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Almacenamiento de datos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Integración de datos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Recuperación de datos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Minería/análisis de datos</a:t>
            </a:r>
            <a:endParaRPr lang="es-ES" sz="4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578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5A3D-EF2A-7980-EBD8-EA181106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E3634B-CFC3-33CE-9B1E-97DD3FD6290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7C16685-DC05-5324-981C-66634750A37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FDF0FC0-2488-0093-4F15-D9593A2BDF7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6472BA9-6997-1BA5-8F1E-4A3A7707399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DCF169E-E739-A6D9-E142-B6905C5C916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C52FF1D-4EF9-F9E3-46E3-A09EB78ABD8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9304289-D72C-2516-A641-C849A85F4B1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7815D00-D90F-3683-37FB-D66740A0AC6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AC72CEC-C71D-0F81-67C3-7FEA968FC42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44A7304-B3D2-BF70-0DD4-F739E08F60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43D5868B-29D8-A343-B9A2-39C4AFD3541D}"/>
              </a:ext>
            </a:extLst>
          </p:cNvPr>
          <p:cNvSpPr txBox="1">
            <a:spLocks/>
          </p:cNvSpPr>
          <p:nvPr/>
        </p:nvSpPr>
        <p:spPr>
          <a:xfrm>
            <a:off x="-457200" y="680283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sz="5400" dirty="0"/>
              <a:t>Recolección de datos</a:t>
            </a:r>
            <a:endParaRPr lang="es-CO" sz="4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A05EA2E-CACC-1197-AA9B-0EDD0ACB6823}"/>
              </a:ext>
            </a:extLst>
          </p:cNvPr>
          <p:cNvSpPr txBox="1">
            <a:spLocks/>
          </p:cNvSpPr>
          <p:nvPr/>
        </p:nvSpPr>
        <p:spPr>
          <a:xfrm>
            <a:off x="838488" y="2019300"/>
            <a:ext cx="15239880" cy="90297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5400" dirty="0"/>
              <a:t>¿Cómo entran los datos al sistema?</a:t>
            </a:r>
            <a:endParaRPr lang="es-ES" sz="54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5400" dirty="0"/>
              <a:t>Fuentes de problemas:</a:t>
            </a:r>
            <a:endParaRPr lang="es-ES" sz="54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Entrada manual</a:t>
            </a:r>
            <a:endParaRPr lang="es-ES" sz="4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Sin estándares uniformes para contenido y formatos</a:t>
            </a:r>
            <a:endParaRPr lang="es-ES" sz="4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Entrada paralela (duplicados)</a:t>
            </a:r>
            <a:endParaRPr lang="es-ES" sz="4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Aproximaciones, sustitutos – restricciones de SW/HW</a:t>
            </a:r>
            <a:endParaRPr lang="es-ES" sz="4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Errores de medición.</a:t>
            </a:r>
            <a:endParaRPr lang="es-ES" sz="4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594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658C1-2B9B-407A-3C23-9FC1D050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C82F762-45E1-A904-E0C6-868A48A7797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7A0A252-D94D-5D72-3918-AE67573399A0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CBFE2C2-6F75-2F49-B1BC-28215E01094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EB64F84-5A0B-36A5-1BF8-EAB7255C8A2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CC20F2F-3118-39F4-EFE5-C5664848E7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DE76177-DEB8-AD2F-C64E-626C0599725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54662AA-B348-12F0-4910-FA529BF2422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ADCDE78-6483-E67C-9AA0-4AE5E48909B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E7146F4-DD8F-27C9-F88D-7029800F139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E1FDD2A-90AC-DAC0-BFC6-E69304E7AC5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F375D416-6A4B-82F7-9703-EEB0342CEA99}"/>
              </a:ext>
            </a:extLst>
          </p:cNvPr>
          <p:cNvSpPr txBox="1">
            <a:spLocks/>
          </p:cNvSpPr>
          <p:nvPr/>
        </p:nvSpPr>
        <p:spPr>
          <a:xfrm>
            <a:off x="4038600" y="626083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sz="5400" dirty="0"/>
              <a:t>Soluciones</a:t>
            </a:r>
            <a:endParaRPr lang="es-CO" sz="4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E441E0F5-6C58-9380-6C1D-EF7A8A33EF1F}"/>
              </a:ext>
            </a:extLst>
          </p:cNvPr>
          <p:cNvSpPr txBox="1">
            <a:spLocks/>
          </p:cNvSpPr>
          <p:nvPr/>
        </p:nvSpPr>
        <p:spPr>
          <a:xfrm>
            <a:off x="519258" y="1790700"/>
            <a:ext cx="16446425" cy="88014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5400" dirty="0"/>
              <a:t>Posibles soluciones:</a:t>
            </a:r>
            <a:endParaRPr lang="es-ES" sz="54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Preventivas:</a:t>
            </a:r>
            <a:endParaRPr lang="es-ES" sz="4800" dirty="0">
              <a:solidFill>
                <a:srgbClr val="000000"/>
              </a:solidFill>
            </a:endParaRPr>
          </a:p>
          <a:p>
            <a:pPr lvl="2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Arquitectura del proceso (incorporar chequeos de integridad)</a:t>
            </a:r>
            <a:endParaRPr lang="es-ES" sz="4400" dirty="0">
              <a:solidFill>
                <a:srgbClr val="000000"/>
              </a:solidFill>
            </a:endParaRPr>
          </a:p>
          <a:p>
            <a:pPr lvl="2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Gestión del proceso (recompensar entrada precisa, compartir datos, data </a:t>
            </a:r>
            <a:r>
              <a:rPr lang="es-ES" sz="4400" dirty="0" err="1"/>
              <a:t>stewards</a:t>
            </a:r>
            <a:r>
              <a:rPr lang="es-ES" sz="4400" dirty="0"/>
              <a:t>)</a:t>
            </a:r>
            <a:endParaRPr lang="es-ES" sz="44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Retrospectivas:</a:t>
            </a:r>
            <a:endParaRPr lang="es-ES" sz="4800" dirty="0">
              <a:solidFill>
                <a:srgbClr val="000000"/>
              </a:solidFill>
            </a:endParaRPr>
          </a:p>
          <a:p>
            <a:pPr lvl="2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Enfoque de limpieza (eliminación de duplicados, </a:t>
            </a:r>
            <a:r>
              <a:rPr lang="es-ES" sz="4400" dirty="0" err="1"/>
              <a:t>merge</a:t>
            </a:r>
            <a:r>
              <a:rPr lang="es-ES" sz="4400" dirty="0"/>
              <a:t>/</a:t>
            </a:r>
            <a:r>
              <a:rPr lang="es-ES" sz="4400" dirty="0" err="1"/>
              <a:t>purge</a:t>
            </a:r>
            <a:r>
              <a:rPr lang="es-ES" sz="4400" dirty="0"/>
              <a:t>, </a:t>
            </a:r>
            <a:r>
              <a:rPr lang="es-ES" sz="4400" dirty="0" err="1"/>
              <a:t>matching</a:t>
            </a:r>
            <a:r>
              <a:rPr lang="es-ES" sz="4400" dirty="0"/>
              <a:t> de nombre y dirección, estandarización de valores)</a:t>
            </a:r>
            <a:endParaRPr lang="es-ES" sz="4400" dirty="0">
              <a:solidFill>
                <a:srgbClr val="000000"/>
              </a:solidFill>
            </a:endParaRPr>
          </a:p>
          <a:p>
            <a:pPr lvl="2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Enfoque diagnóstico (detección automatizada de fallos/</a:t>
            </a:r>
            <a:r>
              <a:rPr lang="es-ES" sz="4400" dirty="0" err="1"/>
              <a:t>glitches</a:t>
            </a:r>
            <a:r>
              <a:rPr lang="es-ES" sz="4400" dirty="0"/>
              <a:t>).</a:t>
            </a:r>
            <a:endParaRPr lang="es-ES" sz="4400" dirty="0">
              <a:solidFill>
                <a:srgbClr val="000000"/>
              </a:solidFill>
            </a:endParaRPr>
          </a:p>
          <a:p>
            <a:pPr marL="343080" indent="0">
              <a:spcBef>
                <a:spcPts val="799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0018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991BB-AEC4-D5C6-A221-CB5CF621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6176D2-8461-929C-2EF6-D9C1AA4011C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E47BC25-44FE-FABD-8A34-C4BFF84947B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A2CBBEA-2182-5691-F78A-C52466BD8FB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639877F-B1D6-C58A-97AC-3D20E65B3AB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BFB3B4F-0299-0F57-A43C-BEA724D5CA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8A74D0E-639F-3EA3-6B6F-A33DA5A60E5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A439C6E-A834-257C-95E5-57E3D4BE3E9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5A7BBCD-C233-BA71-F965-135E01B601A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98AE4A9-135C-EB22-D0E3-D5B115A884A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91F2A87-AC4B-07C7-8885-2D405582E36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ED2FAD9D-1529-D354-919C-7480F8FF0786}"/>
              </a:ext>
            </a:extLst>
          </p:cNvPr>
          <p:cNvSpPr txBox="1">
            <a:spLocks/>
          </p:cNvSpPr>
          <p:nvPr/>
        </p:nvSpPr>
        <p:spPr>
          <a:xfrm>
            <a:off x="533400" y="927076"/>
            <a:ext cx="5867400" cy="897917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Entrega de datos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682E0FBD-710F-C0A7-4831-25260E66A005}"/>
              </a:ext>
            </a:extLst>
          </p:cNvPr>
          <p:cNvSpPr txBox="1">
            <a:spLocks/>
          </p:cNvSpPr>
          <p:nvPr/>
        </p:nvSpPr>
        <p:spPr>
          <a:xfrm>
            <a:off x="1066800" y="2552700"/>
            <a:ext cx="15392400" cy="6324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Destruir o mutilar información por </a:t>
            </a:r>
            <a:r>
              <a:rPr lang="es-ES" sz="4400" dirty="0" err="1"/>
              <a:t>pre-procesamiento</a:t>
            </a:r>
            <a:r>
              <a:rPr lang="es-ES" sz="4400" dirty="0"/>
              <a:t> inapropiado</a:t>
            </a:r>
            <a:endParaRPr lang="es-ES" sz="44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Agregación inapropiada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NULL convertidos a valores por defecto</a:t>
            </a:r>
            <a:endParaRPr lang="es-ES" sz="40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Pérdida de datos:</a:t>
            </a:r>
            <a:endParaRPr lang="es-ES" sz="44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Desbordes de buffer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Problemas de transmisión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Sin verificaciones</a:t>
            </a:r>
            <a:endParaRPr lang="es-ES" sz="4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13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D0353-BD00-A5F8-76C6-C5DBE27B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FCF0C1-AAE0-2D9E-2508-641A0271125A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7934358-F867-AE57-FE58-4A8FF17881D0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F7AF3D4-B5B4-7A4D-1669-1A4524B78AB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AFA825E-FDB8-17CA-555F-8020F7C4696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7A895D2-DEE8-A0E1-449F-26FFE2895AF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1257EE3-A9AB-72DF-BBFA-306DB2B0F3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DB6EDDE-8C1A-DD0D-99F0-4329782FA2E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1746A6C-F043-E962-E2B5-B8EFB9359B8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070CA21-C20F-7EF2-1FF8-F700C42F353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FEBA429-A4F1-DA66-D910-A2CECDB1195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FAEAEC91-B245-A4FA-4008-CA536FB47171}"/>
              </a:ext>
            </a:extLst>
          </p:cNvPr>
          <p:cNvSpPr txBox="1">
            <a:spLocks/>
          </p:cNvSpPr>
          <p:nvPr/>
        </p:nvSpPr>
        <p:spPr>
          <a:xfrm>
            <a:off x="4419600" y="672566"/>
            <a:ext cx="8229600" cy="716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Soluciones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12B1EC44-4B48-D065-8C9A-D23F2BB24F45}"/>
              </a:ext>
            </a:extLst>
          </p:cNvPr>
          <p:cNvSpPr txBox="1">
            <a:spLocks/>
          </p:cNvSpPr>
          <p:nvPr/>
        </p:nvSpPr>
        <p:spPr>
          <a:xfrm>
            <a:off x="449239" y="2095500"/>
            <a:ext cx="15925800" cy="8331933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Construir protocolos de transmisión confiables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Usar un servidor relé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Verificación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 err="1"/>
              <a:t>Checksums</a:t>
            </a:r>
            <a:r>
              <a:rPr lang="es-ES" sz="4000" dirty="0"/>
              <a:t>, </a:t>
            </a:r>
            <a:r>
              <a:rPr lang="es-ES" sz="4000" dirty="0" err="1"/>
              <a:t>parser</a:t>
            </a:r>
            <a:r>
              <a:rPr lang="es-ES" sz="4000" dirty="0"/>
              <a:t> de verificación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¿Los archivos cargados encajan en un patrón esperado?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Relaciones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¿Hay dependencias entre flujos de datos y pasos de procesamiento?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Acuerdos de interfaz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Compromiso de calidad de datos por parte del proveedor del </a:t>
            </a:r>
            <a:r>
              <a:rPr lang="es-ES" sz="4000" dirty="0" err="1"/>
              <a:t>stream</a:t>
            </a:r>
            <a:r>
              <a:rPr lang="es-ES" sz="4000" dirty="0"/>
              <a:t> de datos</a:t>
            </a:r>
            <a:r>
              <a:rPr lang="es-ES" dirty="0"/>
              <a:t>.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2490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075FD-5E9E-F19F-22A3-C238B7F85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255F8D0-3854-6398-249A-8CE4F44662F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2A955C9-64C9-4D88-5466-AAA2C32FC6F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040B52C-C12C-CE38-89E3-44E69969400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0D17E74-0B66-1EC5-6BD2-77259B82181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48B7F53-0F56-7C0A-A458-371F7DF69E4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68DDA60-5213-9945-1587-3485986E2E3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7E7341E-C24E-2991-1364-FCCCDB876A4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BF1B909-A785-4EAA-8478-BBD57819EC2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9EA254A-8901-D911-8C21-BADE7AD2EEB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37C1707-DB01-7E1F-A0E4-C0F47BFB87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2">
            <a:extLst>
              <a:ext uri="{FF2B5EF4-FFF2-40B4-BE49-F238E27FC236}">
                <a16:creationId xmlns:a16="http://schemas.microsoft.com/office/drawing/2014/main" id="{6B417084-BD1A-7A12-0B04-0673D95EDCC1}"/>
              </a:ext>
            </a:extLst>
          </p:cNvPr>
          <p:cNvSpPr txBox="1">
            <a:spLocks/>
          </p:cNvSpPr>
          <p:nvPr/>
        </p:nvSpPr>
        <p:spPr>
          <a:xfrm>
            <a:off x="658769" y="1790700"/>
            <a:ext cx="15087600" cy="8902751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Recibes un conjunto de datos. ¿Qué haces con él?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Problemas de almacenamiento físico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Puede ser un tema, pero los terabytes son baratos.</a:t>
            </a:r>
            <a:endParaRPr lang="es-ES" sz="3100" dirty="0">
              <a:solidFill>
                <a:srgbClr val="000000"/>
              </a:solidFill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Problemas de almacenamiento lógico (ER  relaciones)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Metadatos pobres.</a:t>
            </a:r>
            <a:endParaRPr lang="es-ES" sz="3100" dirty="0">
              <a:solidFill>
                <a:srgbClr val="000000"/>
              </a:solidFill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100" dirty="0"/>
              <a:t>Los </a:t>
            </a:r>
            <a:r>
              <a:rPr lang="es-ES" sz="3100" dirty="0" err="1"/>
              <a:t>feeds</a:t>
            </a:r>
            <a:r>
              <a:rPr lang="es-ES" sz="3100" dirty="0"/>
              <a:t> de datos a menudo provienen de programas de aplicación o fuentes heredadas. ¿Qué significa?</a:t>
            </a:r>
            <a:endParaRPr lang="es-ES" sz="2600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Modelos de datos inapropiados.</a:t>
            </a:r>
            <a:endParaRPr lang="es-ES" sz="3100" dirty="0">
              <a:solidFill>
                <a:srgbClr val="000000"/>
              </a:solidFill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100" dirty="0"/>
              <a:t>Faltan marcas de tiempo, normalización incorrecta, etc.</a:t>
            </a:r>
            <a:endParaRPr lang="es-ES" sz="2600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Modificaciones ad hoc.</a:t>
            </a:r>
            <a:endParaRPr lang="es-ES" sz="3100" dirty="0">
              <a:solidFill>
                <a:srgbClr val="000000"/>
              </a:solidFill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100" dirty="0"/>
              <a:t>Estructurar los datos para que encajen en la GUI.</a:t>
            </a:r>
            <a:endParaRPr lang="es-ES" sz="2600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Restricciones de hardware / software.</a:t>
            </a:r>
            <a:endParaRPr lang="es-ES" sz="3100" dirty="0">
              <a:solidFill>
                <a:srgbClr val="000000"/>
              </a:solidFill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100" dirty="0"/>
              <a:t>Transmisión de datos vía hojas de cálculo de Excel</a:t>
            </a:r>
            <a:endParaRPr lang="es-ES" sz="2600" dirty="0">
              <a:solidFill>
                <a:srgbClr val="000000"/>
              </a:solidFill>
            </a:endParaRPr>
          </a:p>
          <a:p>
            <a:pPr lvl="2" indent="0">
              <a:lnSpc>
                <a:spcPct val="90000"/>
              </a:lnSpc>
              <a:spcBef>
                <a:spcPts val="499"/>
              </a:spcBef>
              <a:buFont typeface="Arial" pitchFamily="34" charset="0"/>
              <a:buNone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79B142D-9C26-F872-C5AE-7642C943B009}"/>
              </a:ext>
            </a:extLst>
          </p:cNvPr>
          <p:cNvSpPr txBox="1"/>
          <p:nvPr/>
        </p:nvSpPr>
        <p:spPr>
          <a:xfrm>
            <a:off x="914400" y="518018"/>
            <a:ext cx="9178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4000" dirty="0"/>
              <a:t>Almacenamiento de datos</a:t>
            </a:r>
          </a:p>
        </p:txBody>
      </p:sp>
    </p:spTree>
    <p:extLst>
      <p:ext uri="{BB962C8B-B14F-4D97-AF65-F5344CB8AC3E}">
        <p14:creationId xmlns:p14="http://schemas.microsoft.com/office/powerpoint/2010/main" val="2426546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691BF-7F45-E294-FD83-0BFA726D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C08035-9571-E458-49B7-3EBAD9900C1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9183504-6501-3205-CACA-228DDACC4BE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BE1FBCA-37FA-68BC-11BD-5F9176D00B1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5885E1D-5788-ECFB-816E-79CF281A7EC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789CF4E-B0F0-4B4F-5100-9C2EE947BA2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C7BEDCC-2148-E97C-5D4D-CDB55592C3C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D1A4D87-6333-4F6D-2B2B-8457FD4FA50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9295DFC-C354-A906-DE2A-5E3222ECE47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63F1D81-8C2D-6E41-9074-4F3B5794EDB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EBCE49A-A565-426F-0310-1B8385A561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2CDED488-95CE-9FC5-3342-4B3EDE4B4431}"/>
              </a:ext>
            </a:extLst>
          </p:cNvPr>
          <p:cNvSpPr txBox="1">
            <a:spLocks/>
          </p:cNvSpPr>
          <p:nvPr/>
        </p:nvSpPr>
        <p:spPr>
          <a:xfrm>
            <a:off x="0" y="611143"/>
            <a:ext cx="822960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Minería de datos y análisis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26ECB80-7ECE-503F-00A4-53547A3470A8}"/>
              </a:ext>
            </a:extLst>
          </p:cNvPr>
          <p:cNvSpPr txBox="1">
            <a:spLocks/>
          </p:cNvSpPr>
          <p:nvPr/>
        </p:nvSpPr>
        <p:spPr>
          <a:xfrm>
            <a:off x="664456" y="1866900"/>
            <a:ext cx="16078200" cy="81918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¿Qué estás haciendo con todos estos datos, de todos modos?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Problemas en el análisis.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Escala y rendimiento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¿Intervalos de confianza?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Cajas negras y dardos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“despide a tus estadísticos”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Apego a modelos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Experiencia de dominio insuficiente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Empirismo casual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8026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CF43-0863-3894-B047-B5C65817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0F5A32-DEDB-8DF1-C57B-F9EB34F5AD9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386D472-74F3-417C-6B88-37F739589EBA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B69BD9B-B04E-C8F5-4360-4E0AC3FABDC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04E967A-1262-A19E-5B81-2A325B88DEE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26F155A-5A93-FBE3-DE01-7D452EC15F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144BF81-E3A8-B6FE-1D61-FCD5DA7D4C6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4430A1B-ED32-413C-8093-612FC7D5CBB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4AEC891-1CFE-BD30-7179-A02E2C21DCE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00D971F-D222-9117-0284-3DA6BB80B37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122A60D-8D37-21AB-AA68-4AC6AA7386C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D8015700-03DE-221F-6ACC-31C2355D407B}"/>
              </a:ext>
            </a:extLst>
          </p:cNvPr>
          <p:cNvSpPr txBox="1">
            <a:spLocks/>
          </p:cNvSpPr>
          <p:nvPr/>
        </p:nvSpPr>
        <p:spPr>
          <a:xfrm>
            <a:off x="4129187" y="968983"/>
            <a:ext cx="822960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Soluciones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538B0BA9-BEAD-2429-2310-8AAE067203A9}"/>
              </a:ext>
            </a:extLst>
          </p:cNvPr>
          <p:cNvSpPr txBox="1">
            <a:spLocks/>
          </p:cNvSpPr>
          <p:nvPr/>
        </p:nvSpPr>
        <p:spPr>
          <a:xfrm>
            <a:off x="1143000" y="2476500"/>
            <a:ext cx="13779720" cy="8331933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Exploración de datos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Determinar qué modelos y técnicas son apropiados; encontrar bugs de datos; desarrollar experiencia de dominio.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Análisis continuo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¿Los resultados son estables? ¿Cómo cambian?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Responsabilidad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Hacer que el análisis forme parte del bucle de retroalimentación.</a:t>
            </a:r>
            <a:endParaRPr lang="es-ES" sz="3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922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48EB-666B-186C-7487-03663582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487ECE7E-08CC-03DF-457C-AC5EDB298AB7}"/>
              </a:ext>
            </a:extLst>
          </p:cNvPr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89A53E3-1BB3-B7BB-18A1-DA9F8305D8B9}"/>
                </a:ext>
              </a:extLst>
            </p:cNvPr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635D5AB-2AEA-0580-E487-071CA1E7DE94}"/>
                </a:ext>
              </a:extLst>
            </p:cNvPr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E08C67B-45A5-2A3C-F63F-2C6953B6E16D}"/>
              </a:ext>
            </a:extLst>
          </p:cNvPr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17D81B9-AE02-BE9E-0913-9C77AC3A7EE2}"/>
              </a:ext>
            </a:extLst>
          </p:cNvPr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5564773-3AD6-B602-6E63-BCFA53EBDF1F}"/>
              </a:ext>
            </a:extLst>
          </p:cNvPr>
          <p:cNvGrpSpPr/>
          <p:nvPr/>
        </p:nvGrpSpPr>
        <p:grpSpPr>
          <a:xfrm rot="1460314">
            <a:off x="10661875" y="4518938"/>
            <a:ext cx="7356554" cy="1249125"/>
            <a:chOff x="0" y="0"/>
            <a:chExt cx="1937529" cy="328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2EB4920-3AA7-2D38-1663-1B7914312687}"/>
                </a:ext>
              </a:extLst>
            </p:cNvPr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4E510A5-84F8-C290-491A-92C6B12174A6}"/>
                </a:ext>
              </a:extLst>
            </p:cNvPr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8FAA6B5-7DB9-1FB9-BC61-C3E52806C2ED}"/>
              </a:ext>
            </a:extLst>
          </p:cNvPr>
          <p:cNvGrpSpPr/>
          <p:nvPr/>
        </p:nvGrpSpPr>
        <p:grpSpPr>
          <a:xfrm rot="-10800000">
            <a:off x="-536257" y="9574006"/>
            <a:ext cx="8704391" cy="134923"/>
            <a:chOff x="0" y="0"/>
            <a:chExt cx="2292514" cy="3553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65F0E81-0945-0FB7-78B4-89B332851807}"/>
                </a:ext>
              </a:extLst>
            </p:cNvPr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53E3B01-CCCC-36C5-0420-E655B2B8CD64}"/>
                </a:ext>
              </a:extLst>
            </p:cNvPr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C13074F7-5D27-8C18-3BC4-E7E18A669B4D}"/>
              </a:ext>
            </a:extLst>
          </p:cNvPr>
          <p:cNvSpPr txBox="1"/>
          <p:nvPr/>
        </p:nvSpPr>
        <p:spPr>
          <a:xfrm>
            <a:off x="958498" y="4953536"/>
            <a:ext cx="8321721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El significado de la calidad de datos (2)</a:t>
            </a:r>
            <a:endParaRPr lang="es-ES" sz="8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0446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7D661-7BB6-2116-323D-24F903B3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BC7514-D398-C67D-E3B1-8B925250004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1653F40-99D8-7BC5-D5FC-3EE34B8DFDF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C78B3EA-D011-A829-21DA-06E98251B23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0CAE865-DEEF-8921-901E-264AAEB63B3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50DBE6F-51FF-B4D6-9389-44C43CA8D2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3ECF084-8390-4F4A-6AC9-1C186AF9BC4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914B9C7-A68A-1592-2439-5E783F032AE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9523761-13D6-730A-9AD1-EAA171BDAE4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D4A1EE9-2FBF-9343-9001-762E94E1732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5B37CE5B-B6C5-BBB1-E543-B6C1DCD0D42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403AF1AF-6543-9B05-9978-27ED4DF8844F}"/>
              </a:ext>
            </a:extLst>
          </p:cNvPr>
          <p:cNvSpPr txBox="1">
            <a:spLocks/>
          </p:cNvSpPr>
          <p:nvPr/>
        </p:nvSpPr>
        <p:spPr>
          <a:xfrm>
            <a:off x="1371600" y="968983"/>
            <a:ext cx="14249400" cy="762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Significado de la calidad de datos (2)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C52DE9B0-C13A-8763-58DA-BD6FCD2E6A58}"/>
              </a:ext>
            </a:extLst>
          </p:cNvPr>
          <p:cNvSpPr txBox="1">
            <a:spLocks/>
          </p:cNvSpPr>
          <p:nvPr/>
        </p:nvSpPr>
        <p:spPr>
          <a:xfrm>
            <a:off x="1004887" y="3086100"/>
            <a:ext cx="15821025" cy="7401077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900" dirty="0"/>
              <a:t>Hay muchos tipos de datos, con diferentes usos y problemas típicos de calidad</a:t>
            </a:r>
            <a:endParaRPr lang="es-ES" sz="35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500" dirty="0"/>
              <a:t>Datos federados</a:t>
            </a:r>
            <a:endParaRPr lang="es-ES" sz="3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500" dirty="0"/>
              <a:t>Datos de alta dimensionalidad</a:t>
            </a:r>
            <a:endParaRPr lang="es-ES" sz="3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500" dirty="0"/>
              <a:t>Datos descriptivos</a:t>
            </a:r>
            <a:endParaRPr lang="es-ES" sz="3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500" dirty="0"/>
              <a:t>Datos longitudinales</a:t>
            </a:r>
            <a:endParaRPr lang="es-ES" sz="3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500" dirty="0"/>
              <a:t>Datos en </a:t>
            </a:r>
            <a:r>
              <a:rPr lang="es-ES" sz="3500" dirty="0" err="1"/>
              <a:t>streaming</a:t>
            </a:r>
            <a:endParaRPr lang="es-ES" sz="3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500" dirty="0"/>
              <a:t>Datos web (</a:t>
            </a:r>
            <a:r>
              <a:rPr lang="es-ES" sz="3500" dirty="0" err="1"/>
              <a:t>scrapeados</a:t>
            </a:r>
            <a:r>
              <a:rPr lang="es-ES" sz="3500" dirty="0"/>
              <a:t>)</a:t>
            </a:r>
            <a:endParaRPr lang="es-ES" sz="3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500" dirty="0"/>
              <a:t>Datos numéricos vs. categóricos vs. texto</a:t>
            </a:r>
            <a:endParaRPr lang="es-ES" sz="3000" dirty="0">
              <a:solidFill>
                <a:srgbClr val="000000"/>
              </a:solidFill>
            </a:endParaRPr>
          </a:p>
          <a:p>
            <a:pPr marL="743040" lvl="1" indent="0">
              <a:spcBef>
                <a:spcPts val="601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0">
              <a:spcBef>
                <a:spcPts val="601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3918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A0558-EF76-1426-B834-B389943B0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7BFC46-55C0-41BF-4DC7-6AADBA6E324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CEEE8B9-A32D-2C57-FB72-7FE057D299B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4185B0A-7199-CB89-BECF-83CC3F90711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EC735AE-EA8E-A7AD-C094-CA7A2ED902A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260F80D-E2CF-4690-612F-76CD261FC2E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9367AC9-9D3C-AC37-9DA4-C916D21814D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FD3FDFB-6C29-25CE-11A5-9BA45B4FD96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8065167-50BB-3EF1-0A6B-2999C95D3D2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FA74334-D6F7-76FE-61DF-58D51849E98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9BFAB7B-391E-6DA9-247E-D2BC255D69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D6F1E43E-9E1B-A339-680B-3E9969764FA1}"/>
              </a:ext>
            </a:extLst>
          </p:cNvPr>
          <p:cNvSpPr txBox="1">
            <a:spLocks/>
          </p:cNvSpPr>
          <p:nvPr/>
        </p:nvSpPr>
        <p:spPr>
          <a:xfrm>
            <a:off x="2005012" y="13079"/>
            <a:ext cx="12801600" cy="24001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Significado de la calidad de datos (2)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9703CEF-EAAF-A5C4-6ABC-FD9585845198}"/>
              </a:ext>
            </a:extLst>
          </p:cNvPr>
          <p:cNvSpPr txBox="1">
            <a:spLocks/>
          </p:cNvSpPr>
          <p:nvPr/>
        </p:nvSpPr>
        <p:spPr>
          <a:xfrm>
            <a:off x="457200" y="2324100"/>
            <a:ext cx="15897225" cy="9220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Hay muchos usos de los datos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Operaciones</a:t>
            </a:r>
            <a:endParaRPr lang="es-ES" sz="32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Análisis agregado</a:t>
            </a:r>
            <a:endParaRPr lang="es-ES" sz="32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Relación con clientes…</a:t>
            </a:r>
            <a:endParaRPr lang="es-ES" sz="32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Interpretación de datos: los datos son inútiles si no conocemos todas las reglas detrás de ellos.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Adecuación de datos: ¿puedes obtener la respuesta con los datos disponibles?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Uso de datos proxy</a:t>
            </a:r>
            <a:endParaRPr lang="es-ES" sz="32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Faltan datos relevantes</a:t>
            </a:r>
            <a:endParaRPr lang="es-ES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618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940C4-88E1-0C6D-52C6-C0CE0490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76C69D-26E5-2BE5-E281-70B19A11E7B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D00856A-FAF6-CA95-9B69-6537197357D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C40B2F9-52C2-2298-4FCB-1C2645700A1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10A8AD5-CC48-C7EA-B14B-6D42AF2705B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7C152CF-2C9A-9035-D06A-842AE740BAE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DBCE099-F67F-A1DF-6D63-E68C22F851E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A60984D-6A28-A4C6-E51A-1C0CA1EFDB5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05BDC3F-AFBE-E2AA-47C7-263AB98506D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6BBE240-4145-727E-E57D-A7A931373B3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A4B8CD6-3307-0F5A-51D9-3236C1C2ADA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B6EFBD8A-A609-7140-C6F1-C68F3D63E503}"/>
              </a:ext>
            </a:extLst>
          </p:cNvPr>
          <p:cNvSpPr txBox="1">
            <a:spLocks/>
          </p:cNvSpPr>
          <p:nvPr/>
        </p:nvSpPr>
        <p:spPr>
          <a:xfrm>
            <a:off x="4648200" y="619028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Restricciones de calidad de datos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412BE13B-EF7C-0763-32AE-EE91E75B7515}"/>
              </a:ext>
            </a:extLst>
          </p:cNvPr>
          <p:cNvSpPr txBox="1">
            <a:spLocks/>
          </p:cNvSpPr>
          <p:nvPr/>
        </p:nvSpPr>
        <p:spPr>
          <a:xfrm>
            <a:off x="1227540" y="2476500"/>
            <a:ext cx="15697200" cy="82678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Muchos problemas de calidad de datos pueden capturarse con restricciones estáticas basadas en el esquema.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NULL no permitido, dominios de campo, claves foráneas, etc.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Muchos otros se deben a problemas de flujo de trabajo y pueden capturarse con restricciones dinámicas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P. ej., pedidos por encima de $20.000 son procesados por Facturador 2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Las restricciones siguen una regla 80-20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Unas pocas restricciones capturan la mayoría de los casos; miles para capturar los últimos casos.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Las restricciones son medibles. ¿Métricas de calidad de datos?</a:t>
            </a:r>
            <a:endParaRPr lang="es-ES" sz="4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162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A84CA-E5E1-22F4-34B1-0FFA33AED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340D349D-FB03-4B7F-D38F-A61814E4E7C2}"/>
              </a:ext>
            </a:extLst>
          </p:cNvPr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99F707D-EFA2-08E6-5469-CD84F97866FF}"/>
                </a:ext>
              </a:extLst>
            </p:cNvPr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82DE00C-9EEC-09A0-3A70-001DEBFF0F9F}"/>
                </a:ext>
              </a:extLst>
            </p:cNvPr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277E2EDD-5F5C-CEDF-FAD0-4C23DE65F631}"/>
              </a:ext>
            </a:extLst>
          </p:cNvPr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CD0DF6A-BD3F-C0B6-2165-89422DF9B622}"/>
              </a:ext>
            </a:extLst>
          </p:cNvPr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CC88E20-1155-749B-0221-810D2D4DCD1C}"/>
              </a:ext>
            </a:extLst>
          </p:cNvPr>
          <p:cNvGrpSpPr/>
          <p:nvPr/>
        </p:nvGrpSpPr>
        <p:grpSpPr>
          <a:xfrm rot="1460314">
            <a:off x="10661875" y="4518938"/>
            <a:ext cx="7356554" cy="1249125"/>
            <a:chOff x="0" y="0"/>
            <a:chExt cx="1937529" cy="328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BE98FF7-C019-88F9-D6B7-8D27524794D3}"/>
                </a:ext>
              </a:extLst>
            </p:cNvPr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5511EDC-B9A5-1EB7-B5F7-238FE83A92BF}"/>
                </a:ext>
              </a:extLst>
            </p:cNvPr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8D7818C-0B9A-9AEC-19AC-48B853C63776}"/>
              </a:ext>
            </a:extLst>
          </p:cNvPr>
          <p:cNvGrpSpPr/>
          <p:nvPr/>
        </p:nvGrpSpPr>
        <p:grpSpPr>
          <a:xfrm rot="-10800000">
            <a:off x="-536257" y="9574006"/>
            <a:ext cx="8704391" cy="134923"/>
            <a:chOff x="0" y="0"/>
            <a:chExt cx="2292514" cy="3553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B789645-CB61-AA1D-D7B4-E9657988F064}"/>
                </a:ext>
              </a:extLst>
            </p:cNvPr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0EECBFE-2971-B815-D6A4-C9DEE57A3660}"/>
                </a:ext>
              </a:extLst>
            </p:cNvPr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B020F0AF-1873-8F72-FED3-D468BB64BC9D}"/>
              </a:ext>
            </a:extLst>
          </p:cNvPr>
          <p:cNvSpPr txBox="1"/>
          <p:nvPr/>
        </p:nvSpPr>
        <p:spPr>
          <a:xfrm>
            <a:off x="958498" y="4953536"/>
            <a:ext cx="8321721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Métricas de calidad de datos</a:t>
            </a:r>
            <a:endParaRPr lang="es-ES" sz="8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159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2672-4327-2F6B-4CF6-5A07D455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E2A06B-806B-527F-E70C-6218D046BC1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7E76F8C-AA4D-BB2B-B70B-057069EE86B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89A456D-459F-CA05-8992-99356FD165F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0BF9756-41C1-A7D1-BEB8-B00427B0CBE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8886A79-8DF9-5A7B-5411-390158554F4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C42E9E2-1FBA-0CE3-1804-85B5F56AB0C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EEE22E5-BA9B-A628-750D-23B15865FE2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37E0C8B-2624-9343-1116-06DFA812EC0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18F131F-BC8F-70EA-BBF2-302BF26080F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663366E-8F21-2024-2BA2-58BE94778E0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EE2412D3-1BBD-235F-11F7-B0091C910A18}"/>
              </a:ext>
            </a:extLst>
          </p:cNvPr>
          <p:cNvSpPr txBox="1">
            <a:spLocks/>
          </p:cNvSpPr>
          <p:nvPr/>
        </p:nvSpPr>
        <p:spPr>
          <a:xfrm>
            <a:off x="3962400" y="563384"/>
            <a:ext cx="822960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/>
              <a:t>Métricas de calidad de datos</a:t>
            </a:r>
            <a:endParaRPr lang="es-ES" sz="4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A4425BF8-0153-6EEE-F38D-A371A44CACD0}"/>
              </a:ext>
            </a:extLst>
          </p:cNvPr>
          <p:cNvSpPr txBox="1">
            <a:spLocks/>
          </p:cNvSpPr>
          <p:nvPr/>
        </p:nvSpPr>
        <p:spPr>
          <a:xfrm>
            <a:off x="914400" y="2107707"/>
            <a:ext cx="16211954" cy="8179293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lnSpcReduction="9999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Queremos una cantidad medible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Que indique qué está mal y cómo mejorar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Reconocer que la DQ es un problema desordenado; ningún conjunto de números será perfecto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Tipos de métricas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Restricciones estáticas vs. dinámicas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Operacionales vs. diagnósticas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Las métricas deberían ser direccionalmente correctas con una mejora en el uso de los datos.</a:t>
            </a:r>
            <a:endParaRPr lang="es-ES" sz="40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Es posible un número muy grande de métricas</a:t>
            </a:r>
            <a:endParaRPr lang="es-ES" sz="40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Elige las más importantes.</a:t>
            </a:r>
            <a:endParaRPr lang="es-ES" sz="3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580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AF2F4-464C-5E23-38BD-21B8A83E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7B5FE6-CA2C-11F5-959C-AB4D7C12088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973D8FF-8523-888E-D2F5-86588EA0A8C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F4F12AF-C262-0A37-2786-8DE5C28B5C5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BAEBE42-F527-DD29-EF95-D0D711E591D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8B1EB32-D4AF-78A4-FAE3-73AF363F81B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7A37696-3B3D-B88A-94AE-73567274C2D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040D565-E597-1B3A-EB86-BA6DED75F2A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EBCEEA6-DD24-3486-97D0-CA5A97281BC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20DFDD9-378F-5E51-E321-EC9AA616176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B110136-9527-6209-110D-815AA266782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E2AF1823-2062-551D-0090-3DF7021542FD}"/>
              </a:ext>
            </a:extLst>
          </p:cNvPr>
          <p:cNvSpPr txBox="1">
            <a:spLocks/>
          </p:cNvSpPr>
          <p:nvPr/>
        </p:nvSpPr>
        <p:spPr>
          <a:xfrm>
            <a:off x="1143000" y="484044"/>
            <a:ext cx="14325600" cy="20958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Ejemplos de métricas de calidad de datos</a:t>
            </a:r>
            <a:endParaRPr lang="es-E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0FDC4DD7-F232-66FE-5434-DA073ADC5B9E}"/>
              </a:ext>
            </a:extLst>
          </p:cNvPr>
          <p:cNvSpPr txBox="1">
            <a:spLocks/>
          </p:cNvSpPr>
          <p:nvPr/>
        </p:nvSpPr>
        <p:spPr>
          <a:xfrm>
            <a:off x="1123666" y="3086100"/>
            <a:ext cx="14325600" cy="8408253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lnSpcReduction="9999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Conformidad con el esquema</a:t>
            </a:r>
            <a:endParaRPr lang="es-ES" sz="2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Evaluar restricciones en un </a:t>
            </a:r>
            <a:r>
              <a:rPr lang="es-ES" dirty="0" err="1"/>
              <a:t>snapshot</a:t>
            </a:r>
            <a:r>
              <a:rPr lang="es-ES" dirty="0"/>
              <a:t>.</a:t>
            </a:r>
            <a:endParaRPr lang="es-ES" sz="24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Conformidad con reglas de negocio</a:t>
            </a:r>
            <a:endParaRPr lang="es-ES" sz="2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Evaluar restricciones sobre cambios en la base de datos.</a:t>
            </a:r>
            <a:endParaRPr lang="es-ES" sz="24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Exactitud</a:t>
            </a:r>
            <a:endParaRPr lang="es-ES" sz="2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Hacer inventario (caro) o usar proxy (seguir quejas). ¿Auditar muestras?</a:t>
            </a:r>
            <a:endParaRPr lang="es-ES" sz="24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Accesibilidad</a:t>
            </a:r>
            <a:endParaRPr lang="es-ES" sz="28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Interpretabilidad</a:t>
            </a:r>
            <a:endParaRPr lang="es-ES" sz="28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Fallos/</a:t>
            </a:r>
            <a:r>
              <a:rPr lang="es-ES" dirty="0" err="1"/>
              <a:t>glitches</a:t>
            </a:r>
            <a:r>
              <a:rPr lang="es-ES" dirty="0"/>
              <a:t> en el análisis</a:t>
            </a:r>
            <a:endParaRPr lang="es-ES" sz="28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Finalización exitosa del proceso de extremo a extremo</a:t>
            </a:r>
            <a:endParaRPr lang="es-E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500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98BE7-21A2-C0BD-D73D-C0A4359BE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7BCF87-13DD-74D2-3216-E39E49DD513C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1AD6B00-5F9E-B2B4-7AC8-1DFD674E0A70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9B0DA74-17CD-318F-875E-77CDDB6BF50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6F87E6B-F918-7BC5-D6D9-FD03B6187F2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F71D4C5-7859-D609-F45D-A66851B387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B4FC749-6412-271B-D8D4-0FAD0213358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D55F5A9-91AB-1E0E-5177-9FDBBB7A06B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2CE8428-5938-23FD-175E-CF01B797469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21F2809-A134-E2FC-6B86-24FE9FEF293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556536A-4D29-6074-D8CA-798C75C0040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CED0099D-CB5B-B133-36C6-811900E03E2B}"/>
              </a:ext>
            </a:extLst>
          </p:cNvPr>
          <p:cNvSpPr txBox="1">
            <a:spLocks/>
          </p:cNvSpPr>
          <p:nvPr/>
        </p:nvSpPr>
        <p:spPr>
          <a:xfrm>
            <a:off x="4267200" y="1638300"/>
            <a:ext cx="8229600" cy="838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/>
              <a:t>Proceso de calidad de datos</a:t>
            </a:r>
            <a:endParaRPr lang="es-ES" sz="4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965F721-54F4-B3A9-9B6D-2BE0C062F8F3}"/>
              </a:ext>
            </a:extLst>
          </p:cNvPr>
          <p:cNvSpPr/>
          <p:nvPr/>
        </p:nvSpPr>
        <p:spPr>
          <a:xfrm>
            <a:off x="4321920" y="2781300"/>
            <a:ext cx="18288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Recolección de datos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642E62-1C32-8344-DC06-5DB1568D9E89}"/>
              </a:ext>
            </a:extLst>
          </p:cNvPr>
          <p:cNvSpPr/>
          <p:nvPr/>
        </p:nvSpPr>
        <p:spPr>
          <a:xfrm>
            <a:off x="9632640" y="2857620"/>
            <a:ext cx="218448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Carga de datos (ETL)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1C67D8C-7036-3CB3-274B-F36C39512335}"/>
              </a:ext>
            </a:extLst>
          </p:cNvPr>
          <p:cNvSpPr/>
          <p:nvPr/>
        </p:nvSpPr>
        <p:spPr>
          <a:xfrm>
            <a:off x="5124720" y="3619380"/>
            <a:ext cx="579852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Depuración de datos – perfilado de datos, validar restricciones de datos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CBCE5E-7146-C585-6D7C-041BDE9FE028}"/>
              </a:ext>
            </a:extLst>
          </p:cNvPr>
          <p:cNvSpPr/>
          <p:nvPr/>
        </p:nvSpPr>
        <p:spPr>
          <a:xfrm>
            <a:off x="5044080" y="4229220"/>
            <a:ext cx="483084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Integración de datos – dependencias funcionales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FEA800F-247F-614A-6B29-752D501C2467}"/>
              </a:ext>
            </a:extLst>
          </p:cNvPr>
          <p:cNvSpPr/>
          <p:nvPr/>
        </p:nvSpPr>
        <p:spPr>
          <a:xfrm>
            <a:off x="4175400" y="4915020"/>
            <a:ext cx="344880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Desarrollar reglas de negocio y métricas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– interactuar con expertos de dominio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C436D9A-5B45-2419-3BE3-4EC9B6D88573}"/>
              </a:ext>
            </a:extLst>
          </p:cNvPr>
          <p:cNvSpPr/>
          <p:nvPr/>
        </p:nvSpPr>
        <p:spPr>
          <a:xfrm>
            <a:off x="10212240" y="5067300"/>
            <a:ext cx="20034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Validar reglas de negocio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0A71C88-119D-C45F-896D-38F4AB743A6D}"/>
              </a:ext>
            </a:extLst>
          </p:cNvPr>
          <p:cNvSpPr/>
          <p:nvPr/>
        </p:nvSpPr>
        <p:spPr>
          <a:xfrm>
            <a:off x="5051640" y="5981700"/>
            <a:ext cx="208548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Estabilizar reglas de negocio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A386043-5F7E-03C3-16D6-5D8F4DD9CB59}"/>
              </a:ext>
            </a:extLst>
          </p:cNvPr>
          <p:cNvSpPr/>
          <p:nvPr/>
        </p:nvSpPr>
        <p:spPr>
          <a:xfrm>
            <a:off x="8999040" y="5981700"/>
            <a:ext cx="181008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Verificar reglas de negocio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3F5B29F-90B3-BC3C-3D0F-5DAD4C786221}"/>
              </a:ext>
            </a:extLst>
          </p:cNvPr>
          <p:cNvSpPr/>
          <p:nvPr/>
        </p:nvSpPr>
        <p:spPr>
          <a:xfrm>
            <a:off x="4355400" y="7353300"/>
            <a:ext cx="221724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Verificación de calidad de datos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3D53D9A-2C00-9446-3330-A72C6964BC39}"/>
              </a:ext>
            </a:extLst>
          </p:cNvPr>
          <p:cNvSpPr/>
          <p:nvPr/>
        </p:nvSpPr>
        <p:spPr>
          <a:xfrm>
            <a:off x="9066360" y="7124700"/>
            <a:ext cx="2405880" cy="91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Recomendaciones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Cuantificar resultados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Resumir aprendizajes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839BF5D-428C-8FF0-8FC6-B6EA6BB268E9}"/>
              </a:ext>
            </a:extLst>
          </p:cNvPr>
          <p:cNvSpPr/>
          <p:nvPr/>
        </p:nvSpPr>
        <p:spPr>
          <a:xfrm>
            <a:off x="3885960" y="4838700"/>
            <a:ext cx="8763120" cy="9144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B213F188-701C-6ECC-163A-3D0ECB74D01C}"/>
              </a:ext>
            </a:extLst>
          </p:cNvPr>
          <p:cNvSpPr/>
          <p:nvPr/>
        </p:nvSpPr>
        <p:spPr>
          <a:xfrm>
            <a:off x="8077080" y="5219580"/>
            <a:ext cx="1676520" cy="0"/>
          </a:xfrm>
          <a:prstGeom prst="line">
            <a:avLst/>
          </a:prstGeom>
          <a:ln w="936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D71D2EA3-EFCC-EFB3-FE08-97FFC7386D0A}"/>
              </a:ext>
            </a:extLst>
          </p:cNvPr>
          <p:cNvSpPr/>
          <p:nvPr/>
        </p:nvSpPr>
        <p:spPr>
          <a:xfrm>
            <a:off x="7162680" y="3009900"/>
            <a:ext cx="2133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DFC82659-5BA3-0218-D2A4-66894B024541}"/>
              </a:ext>
            </a:extLst>
          </p:cNvPr>
          <p:cNvSpPr/>
          <p:nvPr/>
        </p:nvSpPr>
        <p:spPr>
          <a:xfrm>
            <a:off x="10286760" y="3238500"/>
            <a:ext cx="0" cy="38088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067446B1-E7AA-8DD2-AF91-AD3A5D8DF2A6}"/>
              </a:ext>
            </a:extLst>
          </p:cNvPr>
          <p:cNvSpPr/>
          <p:nvPr/>
        </p:nvSpPr>
        <p:spPr>
          <a:xfrm>
            <a:off x="7924800" y="4000620"/>
            <a:ext cx="0" cy="30456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576DC8B0-D6D7-13EC-1183-001E1780A0B3}"/>
              </a:ext>
            </a:extLst>
          </p:cNvPr>
          <p:cNvSpPr/>
          <p:nvPr/>
        </p:nvSpPr>
        <p:spPr>
          <a:xfrm>
            <a:off x="7924800" y="4686420"/>
            <a:ext cx="0" cy="7596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9160" rIns="90000" bIns="2916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183CC1EA-6E90-ECAB-1F82-C314A42C7DED}"/>
              </a:ext>
            </a:extLst>
          </p:cNvPr>
          <p:cNvSpPr/>
          <p:nvPr/>
        </p:nvSpPr>
        <p:spPr>
          <a:xfrm>
            <a:off x="5714760" y="5829420"/>
            <a:ext cx="0" cy="15228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1CF43A63-4430-6EF9-E977-B81D9C5E93C0}"/>
              </a:ext>
            </a:extLst>
          </p:cNvPr>
          <p:cNvSpPr/>
          <p:nvPr/>
        </p:nvSpPr>
        <p:spPr>
          <a:xfrm>
            <a:off x="7694760" y="6134100"/>
            <a:ext cx="137160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38366E6F-5456-CE1C-8244-C4C843F94C03}"/>
              </a:ext>
            </a:extLst>
          </p:cNvPr>
          <p:cNvSpPr/>
          <p:nvPr/>
        </p:nvSpPr>
        <p:spPr>
          <a:xfrm flipH="1">
            <a:off x="7010400" y="6362580"/>
            <a:ext cx="1752480" cy="83844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0AE768AA-15ED-BC3A-788E-C52BA6F96688}"/>
              </a:ext>
            </a:extLst>
          </p:cNvPr>
          <p:cNvSpPr/>
          <p:nvPr/>
        </p:nvSpPr>
        <p:spPr>
          <a:xfrm>
            <a:off x="9905880" y="6438900"/>
            <a:ext cx="0" cy="30492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4ABBABA7-B533-3DF1-5D5B-2A9F03BC4345}"/>
              </a:ext>
            </a:extLst>
          </p:cNvPr>
          <p:cNvSpPr/>
          <p:nvPr/>
        </p:nvSpPr>
        <p:spPr>
          <a:xfrm flipV="1">
            <a:off x="4648080" y="5905020"/>
            <a:ext cx="0" cy="129564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E7199EF4-A1D5-005E-16BE-BB27052E785F}"/>
              </a:ext>
            </a:extLst>
          </p:cNvPr>
          <p:cNvSpPr/>
          <p:nvPr/>
        </p:nvSpPr>
        <p:spPr>
          <a:xfrm flipV="1">
            <a:off x="4419480" y="5753100"/>
            <a:ext cx="0" cy="14479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3104825E-8519-22F4-0024-C77AACBE0B4B}"/>
              </a:ext>
            </a:extLst>
          </p:cNvPr>
          <p:cNvSpPr/>
          <p:nvPr/>
        </p:nvSpPr>
        <p:spPr>
          <a:xfrm flipV="1">
            <a:off x="4419480" y="3238140"/>
            <a:ext cx="0" cy="160020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AC5533B3-2826-A769-078D-E4CD8D4E8D8D}"/>
              </a:ext>
            </a:extLst>
          </p:cNvPr>
          <p:cNvSpPr/>
          <p:nvPr/>
        </p:nvSpPr>
        <p:spPr>
          <a:xfrm>
            <a:off x="8762880" y="6896100"/>
            <a:ext cx="2971800" cy="13716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0180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E3CE-DCA4-EE6F-BE04-BF0E0230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EED3663-E842-2A9F-03F1-F39144459E6C}"/>
              </a:ext>
            </a:extLst>
          </p:cNvPr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20DEB36-5B83-64F7-0D43-420EF33B0303}"/>
                </a:ext>
              </a:extLst>
            </p:cNvPr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FDD3139-9E81-7CF1-0BF8-1AAFDB7B2F90}"/>
                </a:ext>
              </a:extLst>
            </p:cNvPr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E7AC941-6FF5-2809-CC01-4B91C5592590}"/>
              </a:ext>
            </a:extLst>
          </p:cNvPr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F6F8864-712D-BF54-EA06-9FD6A599CF0E}"/>
              </a:ext>
            </a:extLst>
          </p:cNvPr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8DB28394-DAB0-057D-B1DD-C379B98EEE12}"/>
              </a:ext>
            </a:extLst>
          </p:cNvPr>
          <p:cNvGrpSpPr/>
          <p:nvPr/>
        </p:nvGrpSpPr>
        <p:grpSpPr>
          <a:xfrm rot="1460314">
            <a:off x="10661875" y="4518938"/>
            <a:ext cx="7356554" cy="1249125"/>
            <a:chOff x="0" y="0"/>
            <a:chExt cx="1937529" cy="3289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C4F5E65-2BEF-BB9E-7535-A419A4DE5370}"/>
                </a:ext>
              </a:extLst>
            </p:cNvPr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1530847-4630-31CD-A11C-1B9382928938}"/>
                </a:ext>
              </a:extLst>
            </p:cNvPr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37F553B-BEA7-FBE2-CED8-BBAD21DC6782}"/>
              </a:ext>
            </a:extLst>
          </p:cNvPr>
          <p:cNvGrpSpPr/>
          <p:nvPr/>
        </p:nvGrpSpPr>
        <p:grpSpPr>
          <a:xfrm rot="-10800000">
            <a:off x="-536257" y="9574006"/>
            <a:ext cx="8704391" cy="134923"/>
            <a:chOff x="0" y="0"/>
            <a:chExt cx="2292514" cy="3553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3E77EEB-C381-7C24-6AE3-DD7AC94CB2E3}"/>
                </a:ext>
              </a:extLst>
            </p:cNvPr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1D51362-7994-189B-31A2-B9840B840647}"/>
                </a:ext>
              </a:extLst>
            </p:cNvPr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6E05A535-D50D-9E42-EAC4-1AADEC2E2C70}"/>
              </a:ext>
            </a:extLst>
          </p:cNvPr>
          <p:cNvSpPr txBox="1"/>
          <p:nvPr/>
        </p:nvSpPr>
        <p:spPr>
          <a:xfrm>
            <a:off x="958498" y="4953536"/>
            <a:ext cx="8321721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sz="4400" dirty="0"/>
              <a:t>Herramientas técnicas</a:t>
            </a:r>
            <a:endParaRPr lang="es-CO" sz="8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664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61F20-603B-A87D-E730-CD147E0F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B32AE3-9C0D-D27E-4238-321B814B7BE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C67C980-4F8F-5512-C66C-D0FB4F416E07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EB4848A-C31F-14BF-FE4D-5BC20D234F4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16A1F90-6CFC-81F0-B190-2E57A0736C2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A128EC7-7441-F641-F115-FE5A9C05F99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DC446F6-1F2E-15EB-3667-6BDEE39CEDE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669FCBD-BFE9-3390-661E-EFB272222F4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950D05C-EC49-D802-127C-36E68E8C09B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68C22C7-252A-6D3F-E741-30A9424C735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B446195-7ABF-CAB5-A40E-1E9566A84DE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37AD83BB-63EC-0C77-2496-01E31918E9BD}"/>
              </a:ext>
            </a:extLst>
          </p:cNvPr>
          <p:cNvSpPr txBox="1">
            <a:spLocks/>
          </p:cNvSpPr>
          <p:nvPr/>
        </p:nvSpPr>
        <p:spPr>
          <a:xfrm>
            <a:off x="4287391" y="484044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Enfoques técnicos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F0A4C96-DAC0-2F57-691B-FC304BF9ECF1}"/>
              </a:ext>
            </a:extLst>
          </p:cNvPr>
          <p:cNvSpPr txBox="1">
            <a:spLocks/>
          </p:cNvSpPr>
          <p:nvPr/>
        </p:nvSpPr>
        <p:spPr>
          <a:xfrm>
            <a:off x="679241" y="1790700"/>
            <a:ext cx="14630400" cy="90299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Necesitamos un enfoque multidisciplinario para atacar problemas de calidad de datos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Ningún enfoque resuelve todos los problemas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Gestión de procesos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Asegurar procedimientos adecuados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Estadística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Enfocarse en el análisis: encontrar y reparar anomalías en los datos.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Base de datos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Enfocarse en relaciones: asegurar consistencia.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Metadatos / experiencia de dominio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¿Qué significa? Interpretación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343080" indent="0">
              <a:spcBef>
                <a:spcPts val="601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6576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8A824-476B-DB40-49B3-B9ABFEFD6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155BA1-9621-EA31-713F-38756B2F720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6F1316A-A96A-D409-5ECD-98B6CA20E12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5351604-5650-7FEF-1546-A28F2305B32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BCC01C7-A8EE-8637-050A-5622EBAD9DC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05517C7-577A-CE7E-6A3A-565547FCED9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253C65E-7474-6703-86BF-DE5DDE0BFE3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73F4764-A151-5809-4BB1-65622084C2E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F82AA88-377D-3D82-86C1-ACFBAACB073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36AE1DB-8D70-7C3F-8D23-99BBC8C1AE6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55BB1779-E0CB-467C-1447-5185F5C5F1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F7B193E4-5AB0-5AF9-43AE-055702299EC4}"/>
              </a:ext>
            </a:extLst>
          </p:cNvPr>
          <p:cNvSpPr txBox="1">
            <a:spLocks/>
          </p:cNvSpPr>
          <p:nvPr/>
        </p:nvSpPr>
        <p:spPr>
          <a:xfrm>
            <a:off x="4267200" y="619028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/>
              <a:t>Gestión de procesos</a:t>
            </a:r>
            <a:endParaRPr lang="es-CO" sz="4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3EEB876-096D-1D4D-453C-3DB9A96DFC0F}"/>
              </a:ext>
            </a:extLst>
          </p:cNvPr>
          <p:cNvSpPr txBox="1">
            <a:spLocks/>
          </p:cNvSpPr>
          <p:nvPr/>
        </p:nvSpPr>
        <p:spPr>
          <a:xfrm>
            <a:off x="990600" y="2171700"/>
            <a:ext cx="13792200" cy="84966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100" dirty="0"/>
              <a:t>Procesos de negocio que fomentan la calidad de datos.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Asignar pesos a problemas de calidad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Estandarización de contenido y formatos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Ingresar los datos una vez, ingresarlos correctamente (incentivos para ventas, atención al cliente)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Automatización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Asignar responsabilidad: data </a:t>
            </a:r>
            <a:r>
              <a:rPr lang="es-ES" sz="3600" dirty="0" err="1"/>
              <a:t>stewards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Auditorías y revisiones de extremo a extremo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100" dirty="0"/>
              <a:t>Transiciones entre organizaciones.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FF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Monitoreo de datos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FF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Publicación de datos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FF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Bucles de retroalimentación</a:t>
            </a:r>
            <a:endParaRPr lang="es-ES" sz="3100" dirty="0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601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3852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526DB-C88C-A90F-F146-947739DA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78077E-1B19-D073-FB4A-223A9DC232E5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351BDE9-512C-CC19-E04C-04A2707E8C6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1F6F5BA-5A09-AAEE-7A22-BEBFC13F215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8E9CD09-59FB-5E54-CA3E-30F7ABCA5F8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77CBD27-9A60-CADA-8066-D32F5B052F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3BB8EE0-76DB-04D7-CF3B-8EA16C308B4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029F06F-EA32-5CA3-7C85-2B8627DF11F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7035997-BAA4-949C-28E1-BA28B3C94EC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EEF0B99-B303-917C-6925-84F29A5ADAB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A76265B-0B43-EAC2-B8EA-5CBC91DF2EA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96363458-7FC9-8574-B170-37E3307E6AB5}"/>
              </a:ext>
            </a:extLst>
          </p:cNvPr>
          <p:cNvSpPr txBox="1">
            <a:spLocks/>
          </p:cNvSpPr>
          <p:nvPr/>
        </p:nvSpPr>
        <p:spPr>
          <a:xfrm>
            <a:off x="4343400" y="817805"/>
            <a:ext cx="8229600" cy="868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Bucles de retroalimentación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C04CAEE-5F3F-CDE8-C668-2639AD3C4F66}"/>
              </a:ext>
            </a:extLst>
          </p:cNvPr>
          <p:cNvSpPr txBox="1">
            <a:spLocks/>
          </p:cNvSpPr>
          <p:nvPr/>
        </p:nvSpPr>
        <p:spPr>
          <a:xfrm>
            <a:off x="800100" y="2476500"/>
            <a:ext cx="15773400" cy="90299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Los sistemas de procesamiento de datos a menudo se piensan como sistemas de lazo abierto.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Haces tu procesamiento y luego tiras los resultados “por encima de la valla”.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Las computadoras no cometen errores, ¿verdad?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Analogía con sistemas de control: bucles de retroalimentación.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Monitorear el sistema para detectar la diferencia entre lo real y lo pretendido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Bucle de retroalimentación para corregir el comportamiento de componentes anteriores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Por supuesto, los sistemas de procesamiento de datos son mucho más complicados que los sistemas de control lineales.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9824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7FE8E-1BED-FE39-8D19-8A0A0899B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490254-F01B-9158-C6C7-125CC4DD138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7E620B3-CBDC-1F7C-6443-C2D1243086E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AEF401E-67AA-0056-BED9-64E87896DA4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1488892-80F5-B089-7644-BF367DF7308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25D1842-4B98-A1B3-4AFF-1F4CF28D13C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DDE7CB4-28B4-D184-C066-743A10F8F1C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D5F8EB7-CD2B-2549-462D-FBA8A2B289B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7852F6E-B225-6AFA-C4BC-99B94F74D9C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5B4213A-64DF-7896-36E3-1F8261CCF81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7D54572-A202-E296-29C0-4F39E8959B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707FDCBB-51DE-6DE2-9E3A-25A37FF135D2}"/>
              </a:ext>
            </a:extLst>
          </p:cNvPr>
          <p:cNvSpPr txBox="1">
            <a:spLocks/>
          </p:cNvSpPr>
          <p:nvPr/>
        </p:nvSpPr>
        <p:spPr>
          <a:xfrm>
            <a:off x="4572000" y="814490"/>
            <a:ext cx="8229600" cy="716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Ejemplo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1A773DA1-B668-82BC-F2E8-07FC1BB1916E}"/>
              </a:ext>
            </a:extLst>
          </p:cNvPr>
          <p:cNvSpPr txBox="1">
            <a:spLocks/>
          </p:cNvSpPr>
          <p:nvPr/>
        </p:nvSpPr>
        <p:spPr>
          <a:xfrm>
            <a:off x="658769" y="2324100"/>
            <a:ext cx="16257631" cy="8963657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Ventas, aprovisionamiento y facturación para servicios de telecomunicaciones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Muchas etapas con traspasos entre organizaciones y bases de datos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Imagen simplificada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La transición entre fronteras organizacionales es una causa común de problemas.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Bucles de retroalimentación naturales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El cliente se queja si la factura es demasiado alta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Bucles de retroalimentación faltantes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No hay quejas si cobramos de menos.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890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0C345-B409-D94F-1AF9-E0C0027F9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D8B233-F4FF-2A10-9C5C-E4BE3B60D36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D7EADE8-72D9-36CB-9D7A-5E3EA8B7DCED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2B681AA-837C-92FE-6F3B-478372D30C5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5F27CA5-1989-F42A-2CAF-4C7C9B52B23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B3A45F2-23A0-E41F-2287-79F963A025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6F4819D-C2CB-A820-567C-5C6DD38ECF6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5634439-F214-27B1-578B-BDDFA62AAB2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FE607EF-F51D-D735-ACDA-23EAA19BEE5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1FB39E5-F986-B463-1687-DA2D8C154BB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28BC237-4E8F-5C3C-D3D1-84CA42107B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6117978C-9E4B-558E-F139-36D4D7BCEBE1}"/>
              </a:ext>
            </a:extLst>
          </p:cNvPr>
          <p:cNvSpPr txBox="1">
            <a:spLocks/>
          </p:cNvSpPr>
          <p:nvPr/>
        </p:nvSpPr>
        <p:spPr>
          <a:xfrm>
            <a:off x="4495800" y="1866900"/>
            <a:ext cx="8229600" cy="716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/>
              <a:t>Ejemplo</a:t>
            </a:r>
            <a:endParaRPr lang="es-CO" sz="4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444136E-86FD-85C0-26E8-532FB82A5B36}"/>
              </a:ext>
            </a:extLst>
          </p:cNvPr>
          <p:cNvSpPr/>
          <p:nvPr/>
        </p:nvSpPr>
        <p:spPr>
          <a:xfrm>
            <a:off x="4802880" y="2962740"/>
            <a:ext cx="150192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Cliente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13A5674-8CE2-90CC-9430-5DE44B0E775C}"/>
              </a:ext>
            </a:extLst>
          </p:cNvPr>
          <p:cNvSpPr/>
          <p:nvPr/>
        </p:nvSpPr>
        <p:spPr>
          <a:xfrm>
            <a:off x="10746480" y="2886420"/>
            <a:ext cx="180684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Orden de venta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B06D596-625C-60BA-B38D-150D956B7AA3}"/>
              </a:ext>
            </a:extLst>
          </p:cNvPr>
          <p:cNvSpPr/>
          <p:nvPr/>
        </p:nvSpPr>
        <p:spPr>
          <a:xfrm>
            <a:off x="4879560" y="6924900"/>
            <a:ext cx="99396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Facturación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BCDF4E3-43A4-E7F3-6FCF-57948300FFCF}"/>
              </a:ext>
            </a:extLst>
          </p:cNvPr>
          <p:cNvSpPr/>
          <p:nvPr/>
        </p:nvSpPr>
        <p:spPr>
          <a:xfrm>
            <a:off x="10155720" y="4486620"/>
            <a:ext cx="2687760" cy="82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Información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de cuenta del cliente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563F021-DE8E-6149-E0DF-949CC2CC3204}"/>
              </a:ext>
            </a:extLst>
          </p:cNvPr>
          <p:cNvSpPr/>
          <p:nvPr/>
        </p:nvSpPr>
        <p:spPr>
          <a:xfrm>
            <a:off x="10807680" y="6936060"/>
            <a:ext cx="184104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Aprovisionamiento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7E8D684-FBD3-90E3-AE4D-679B8A13B663}"/>
              </a:ext>
            </a:extLst>
          </p:cNvPr>
          <p:cNvSpPr/>
          <p:nvPr/>
        </p:nvSpPr>
        <p:spPr>
          <a:xfrm>
            <a:off x="7380840" y="4385100"/>
            <a:ext cx="1501920" cy="82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Atención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al cliente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D705D949-3765-34D9-BCB6-652C23F19E36}"/>
              </a:ext>
            </a:extLst>
          </p:cNvPr>
          <p:cNvSpPr/>
          <p:nvPr/>
        </p:nvSpPr>
        <p:spPr>
          <a:xfrm flipV="1">
            <a:off x="5333880" y="3390780"/>
            <a:ext cx="0" cy="350532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5C8BAABE-BF8A-E1E2-B29E-34E3363662E5}"/>
              </a:ext>
            </a:extLst>
          </p:cNvPr>
          <p:cNvSpPr/>
          <p:nvPr/>
        </p:nvSpPr>
        <p:spPr>
          <a:xfrm>
            <a:off x="6324600" y="3162540"/>
            <a:ext cx="434340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1D3F28FF-0DCF-198D-DD6D-56AB7DC0A55B}"/>
              </a:ext>
            </a:extLst>
          </p:cNvPr>
          <p:cNvSpPr/>
          <p:nvPr/>
        </p:nvSpPr>
        <p:spPr>
          <a:xfrm>
            <a:off x="8915520" y="4839060"/>
            <a:ext cx="121896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9861DCF6-2BC9-6EE4-08BC-8534332254D9}"/>
              </a:ext>
            </a:extLst>
          </p:cNvPr>
          <p:cNvSpPr/>
          <p:nvPr/>
        </p:nvSpPr>
        <p:spPr>
          <a:xfrm flipV="1">
            <a:off x="5943720" y="5143980"/>
            <a:ext cx="4495680" cy="1828800"/>
          </a:xfrm>
          <a:prstGeom prst="line">
            <a:avLst/>
          </a:prstGeom>
          <a:ln w="25560">
            <a:solidFill>
              <a:srgbClr val="0000FF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E576E236-3170-D363-D310-ED442B391FAC}"/>
              </a:ext>
            </a:extLst>
          </p:cNvPr>
          <p:cNvSpPr/>
          <p:nvPr/>
        </p:nvSpPr>
        <p:spPr>
          <a:xfrm flipH="1">
            <a:off x="6019680" y="7125060"/>
            <a:ext cx="472464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5DA8BE8C-6292-1212-B26C-7FEE02C70D12}"/>
              </a:ext>
            </a:extLst>
          </p:cNvPr>
          <p:cNvSpPr/>
          <p:nvPr/>
        </p:nvSpPr>
        <p:spPr>
          <a:xfrm>
            <a:off x="11582400" y="5296260"/>
            <a:ext cx="0" cy="152388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80A880DA-6E98-7704-4778-D08909E7AB2E}"/>
              </a:ext>
            </a:extLst>
          </p:cNvPr>
          <p:cNvSpPr/>
          <p:nvPr/>
        </p:nvSpPr>
        <p:spPr>
          <a:xfrm flipV="1">
            <a:off x="12039600" y="5295900"/>
            <a:ext cx="0" cy="1600200"/>
          </a:xfrm>
          <a:prstGeom prst="line">
            <a:avLst/>
          </a:prstGeom>
          <a:ln w="25560">
            <a:solidFill>
              <a:srgbClr val="0000FF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71F90885-D6E0-749D-74D5-9D9CEF179A29}"/>
              </a:ext>
            </a:extLst>
          </p:cNvPr>
          <p:cNvSpPr/>
          <p:nvPr/>
        </p:nvSpPr>
        <p:spPr>
          <a:xfrm>
            <a:off x="11430120" y="3391140"/>
            <a:ext cx="0" cy="106704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67B27DB7-2C35-24A2-E477-49E850F1AC06}"/>
              </a:ext>
            </a:extLst>
          </p:cNvPr>
          <p:cNvSpPr/>
          <p:nvPr/>
        </p:nvSpPr>
        <p:spPr>
          <a:xfrm>
            <a:off x="4572120" y="7963140"/>
            <a:ext cx="99036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D633D25-049D-3CE9-9C6E-7E960C0B632C}"/>
              </a:ext>
            </a:extLst>
          </p:cNvPr>
          <p:cNvSpPr/>
          <p:nvPr/>
        </p:nvSpPr>
        <p:spPr>
          <a:xfrm>
            <a:off x="5717640" y="7734540"/>
            <a:ext cx="270468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Flujo de datos existente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7689E3B-0ABF-6CE8-8050-179A12E8B562}"/>
              </a:ext>
            </a:extLst>
          </p:cNvPr>
          <p:cNvSpPr/>
          <p:nvPr/>
        </p:nvSpPr>
        <p:spPr>
          <a:xfrm>
            <a:off x="10094520" y="7734540"/>
            <a:ext cx="267048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Flujo de datos faltante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2297E2F9-C020-B874-6870-D84572375625}"/>
              </a:ext>
            </a:extLst>
          </p:cNvPr>
          <p:cNvSpPr/>
          <p:nvPr/>
        </p:nvSpPr>
        <p:spPr>
          <a:xfrm>
            <a:off x="9144120" y="7963140"/>
            <a:ext cx="990360" cy="0"/>
          </a:xfrm>
          <a:prstGeom prst="line">
            <a:avLst/>
          </a:prstGeom>
          <a:ln w="25560">
            <a:solidFill>
              <a:srgbClr val="0000FF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142CDDC1-73AB-E367-E66A-8DF6F8474F46}"/>
              </a:ext>
            </a:extLst>
          </p:cNvPr>
          <p:cNvSpPr/>
          <p:nvPr/>
        </p:nvSpPr>
        <p:spPr>
          <a:xfrm>
            <a:off x="6019680" y="3619740"/>
            <a:ext cx="1371600" cy="76212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64009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12780-F27D-A0D3-C675-83ADF06F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5E607B-49A8-E789-2E08-C6C780B308B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578A93A-9CBB-5373-8D46-CA742171F67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E681470-6934-1DB7-5821-9F3CC22C56F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8031CFE-E560-69D3-BA77-C30A13E79AB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D149954-FBB1-7EDC-7198-BD2D68B1BB4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6FC2656-0E80-5417-CF90-4E8B07D1504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D519CD2-F7AE-F690-0250-E7D2B89413A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12D4AF9-D3D2-A2CA-F503-5DAE1974485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2B38DD5-E5D4-EBD9-77EB-6D4DCD139E5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F200F96-595E-B402-43A1-DD33607548A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2471CDE8-C700-90C6-7268-4D99FB85A24D}"/>
              </a:ext>
            </a:extLst>
          </p:cNvPr>
          <p:cNvSpPr txBox="1">
            <a:spLocks/>
          </p:cNvSpPr>
          <p:nvPr/>
        </p:nvSpPr>
        <p:spPr>
          <a:xfrm>
            <a:off x="4572000" y="852650"/>
            <a:ext cx="8229600" cy="639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Monitoreo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2EE05E3F-5604-32AC-DC7D-6D3704EBD9E5}"/>
              </a:ext>
            </a:extLst>
          </p:cNvPr>
          <p:cNvSpPr txBox="1">
            <a:spLocks/>
          </p:cNvSpPr>
          <p:nvPr/>
        </p:nvSpPr>
        <p:spPr>
          <a:xfrm>
            <a:off x="1066800" y="2324100"/>
            <a:ext cx="14173200" cy="86491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Usar monitoreo de datos para añadir bucles de retroalimentación faltantes.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Métodos: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Seguimiento / auditoría de datos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Seguir una muestra de transacciones a través del flujo de trabajo.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Construir un sistema de procesamiento secundario para detectar posibles problemas.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Reconciliación de bases de datos actualizadas incrementalmente con las fuentes originales.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Consistencia obligatoria con una Base de Datos de Registro.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Sincronización de bucles de retroalimentación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FF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Publicación de datos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4893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DC690-CB9B-B878-E891-CF1ADF663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B71A6A-7E50-88B9-D8F1-E8231FF5437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9CACD95-32BD-C54D-4E7D-AC5F778B689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1667382-DE6F-0C65-EFCB-A7A16C310E9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5DB6B2B-BA65-9F5F-7393-C8C975B09C7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3C199DA-BC38-52FF-9719-D05801CC00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8498ABA-B2D8-C8AF-195F-B20A9A3B524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3CC8907-BA42-B0C0-B7E5-F6AD57F5AED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EE1CA23-93BF-AA18-125D-9CC53C9554E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C21A0B1-A95B-BF16-1D1B-330ECE2BF6C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833FFD2-C4F2-9D90-602C-EA4F2442BB3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871833EA-E16F-3025-BDE9-0511721F7B98}"/>
              </a:ext>
            </a:extLst>
          </p:cNvPr>
          <p:cNvSpPr txBox="1">
            <a:spLocks/>
          </p:cNvSpPr>
          <p:nvPr/>
        </p:nvSpPr>
        <p:spPr>
          <a:xfrm>
            <a:off x="-685800" y="456470"/>
            <a:ext cx="8229600" cy="716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Publicación de datos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AF7F183E-5743-9B0A-6B7E-7D288320F371}"/>
              </a:ext>
            </a:extLst>
          </p:cNvPr>
          <p:cNvSpPr txBox="1">
            <a:spLocks/>
          </p:cNvSpPr>
          <p:nvPr/>
        </p:nvSpPr>
        <p:spPr>
          <a:xfrm>
            <a:off x="838200" y="1533197"/>
            <a:ext cx="15697200" cy="82681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Hacer que el contenido de una base de datos esté disponible de forma fácilmente accesible y digerible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Interfaz web (cliente universal).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FF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“Data </a:t>
            </a:r>
            <a:r>
              <a:rPr lang="es-ES" sz="3600" dirty="0" err="1"/>
              <a:t>squashing</a:t>
            </a:r>
            <a:r>
              <a:rPr lang="es-ES" sz="3600" dirty="0"/>
              <a:t>”: publicar agregados, cubos, muestras, representaciones paramétricas.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Publicar los metadatos.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Cerrar bucles de retroalimentación haciendo que mucha gente mire los datos.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A veces es sorprendentemente difícil.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Fronteras organizacionales; la pérdida de control se interpreta como pérdida de poder; deseo de ocultar problemas.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01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F13A6-86B5-51AE-C618-04A11F42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1EE93D-9A0F-5138-C6FF-0574E6FE707A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C78F42F-EDB7-9DE4-A702-673B37876DCC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08E7D78-E65E-C6E3-C6C1-F3345E3E1B2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FAD50B2-FCCE-FA44-BD71-83E647779D4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1365E8E-1CC4-BD09-3657-CD16C97B30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84B7A7-166A-3746-EA89-B1A0B929BCA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3A3114F-6502-81E6-7DD0-A8EF79AC8BC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9D2E13F-A931-04E6-06A7-31535A96D51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A6DED62-6A72-3F9E-384F-8C3950352C6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A2E975E-5365-7B21-EACB-13B6522329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7E560999-679D-C21C-D940-6B6721F98169}"/>
              </a:ext>
            </a:extLst>
          </p:cNvPr>
          <p:cNvSpPr txBox="1">
            <a:spLocks/>
          </p:cNvSpPr>
          <p:nvPr/>
        </p:nvSpPr>
        <p:spPr>
          <a:xfrm>
            <a:off x="381000" y="500535"/>
            <a:ext cx="8229600" cy="944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Enfoques estadísticos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E21697A9-8176-EEF3-32B5-3478804D52C7}"/>
              </a:ext>
            </a:extLst>
          </p:cNvPr>
          <p:cNvSpPr txBox="1">
            <a:spLocks/>
          </p:cNvSpPr>
          <p:nvPr/>
        </p:nvSpPr>
        <p:spPr>
          <a:xfrm>
            <a:off x="1066800" y="1943100"/>
            <a:ext cx="15697200" cy="81151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No hay métodos explícitos de DQ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Datos estadísticos tradicionales recolectados de experimentos cuidadosamente diseñados, a menudo ligados al análisis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Pero existen métodos para encontrar anomalías y reparar datos.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Los métodos existentes pueden adaptarse para propósitos de DQ.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Cuatro categorías amplias pueden adaptarse para DQ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Datos faltantes, incompletos, ambiguos o dañados (p. ej. truncados, censurados)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Datos sospechosos o anormales (p. ej. valores atípicos)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Pruebas de desviación respecto a modelos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Bondad de ajuste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0">
              <a:spcBef>
                <a:spcPts val="601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50275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291A4-0A6B-9ED2-ABF7-832D0D61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3A57031-B346-FC06-6677-2301E14D0EB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0963E49-B482-C267-2EF8-DF6342B5178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0B989BA-593C-12AC-3126-5195CD2B3A9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0D29736F-B0EC-3FAC-DE52-C2AB89D0162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EBF8619-BE83-00FC-8363-571543B672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2503CD4-E5BB-CABD-75D0-98A2535419E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8897F69-FAB6-2992-7C95-3A9F1B2C09E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ADC3C08-6A39-49C8-C178-AF4298E8101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73E4A9C-C7C5-540B-BBA2-903FFDE9196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C7E684D-EEF9-CB81-C738-C067CE91404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892A9AA7-BDD2-6D10-C1E4-0455CD054D80}"/>
              </a:ext>
            </a:extLst>
          </p:cNvPr>
          <p:cNvSpPr txBox="1">
            <a:spLocks/>
          </p:cNvSpPr>
          <p:nvPr/>
        </p:nvSpPr>
        <p:spPr>
          <a:xfrm>
            <a:off x="5029200" y="955327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Datos faltantes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7079FAD8-33C1-1CDD-91B0-099076996ACD}"/>
              </a:ext>
            </a:extLst>
          </p:cNvPr>
          <p:cNvSpPr txBox="1">
            <a:spLocks/>
          </p:cNvSpPr>
          <p:nvPr/>
        </p:nvSpPr>
        <p:spPr>
          <a:xfrm>
            <a:off x="914400" y="2857500"/>
            <a:ext cx="13639800" cy="80389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sz="4800" dirty="0"/>
              <a:t>Datos faltantes: valores, atributos, registros completos, secciones completas</a:t>
            </a:r>
            <a:endParaRPr lang="es-CO" sz="4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sz="4800" dirty="0"/>
              <a:t>Valores faltantes y por defecto son indistinguibles</a:t>
            </a:r>
            <a:endParaRPr lang="es-CO" sz="4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sz="4800" dirty="0"/>
              <a:t>Truncamiento/censura: no es evidente; mecanismos desconocidos</a:t>
            </a:r>
            <a:endParaRPr lang="es-CO" sz="4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sz="4800" dirty="0"/>
              <a:t>Problema: resultados engañosos, sesgo.</a:t>
            </a:r>
            <a:endParaRPr lang="es-CO" sz="4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CO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8461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38894-3B48-8EB9-EA33-07294B53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970F64-3EA7-C3BB-5CD3-DCF2C47CFE1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A627364-B97D-C784-165B-6B3F1816698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EEB7631-976C-4F9C-5782-C202D09386F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E827220-4B16-9550-E61B-19DFCC2D6BE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BC85841-ED9A-77C8-4B1A-48530198DD6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7D41362-4952-CEA1-6732-EB22D88B66D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E583C4E-7B18-67A2-9F5E-4A39DC66FC7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B9FDA8E-E8A5-5333-6496-8F9151ED4E8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708710D-F5D3-DB0D-C675-678F8920765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62A5C6B-4B74-812F-1F3E-708B785994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D41DD3F0-52E8-64E8-8987-147D65342203}"/>
              </a:ext>
            </a:extLst>
          </p:cNvPr>
          <p:cNvSpPr txBox="1">
            <a:spLocks/>
          </p:cNvSpPr>
          <p:nvPr/>
        </p:nvSpPr>
        <p:spPr>
          <a:xfrm>
            <a:off x="5029200" y="803113"/>
            <a:ext cx="8229600" cy="762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Detección de datos faltantes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C2530C9E-7B4C-8230-25CE-1586C35C5B41}"/>
              </a:ext>
            </a:extLst>
          </p:cNvPr>
          <p:cNvSpPr txBox="1">
            <a:spLocks/>
          </p:cNvSpPr>
          <p:nvPr/>
        </p:nvSpPr>
        <p:spPr>
          <a:xfrm>
            <a:off x="658769" y="2476500"/>
            <a:ext cx="14859000" cy="8963298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Datos faltantes explícitos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Comparar especificaciones de datos contra los datos: ¿están presentes todos los atributos?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Escanear registros individuales: ¿hay huecos?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Chequeos rápidos: número de archivos, tamaños, número de registros, número de duplicados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Comparar estimaciones (promedios, frecuencias, medianas) con valores “esperados” y límites; revisar a varios niveles de granularidad, ya que los agregados pueden ser engañosos.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7535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2F06D-CD02-4AC9-0173-DFAB2EA7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B11B07-C6AD-7FCE-A078-21BDF2329CB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67E9FCF-5036-3F83-12A2-7F60F971293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3CD5450-0B00-870E-299B-712C744EBF2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64C4352-7ACA-91A9-821E-5CEE0578A74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29579CA-3559-392E-E249-AEAFACB3FF7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F93DA7B-535F-BC44-6477-67971276C75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EB0C8E8-98EB-0542-A58B-0CB32D21A8A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DACCDFD-FEDE-7411-ADE6-BB222D6D8DA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E4C0880-6D85-BF82-3CF3-615AB5D2280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7E83927-714F-C67C-DE52-560DCF47D60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A22BD409-3E57-20B5-FBEA-E6B7CA8CE22A}"/>
              </a:ext>
            </a:extLst>
          </p:cNvPr>
          <p:cNvSpPr txBox="1">
            <a:spLocks/>
          </p:cNvSpPr>
          <p:nvPr/>
        </p:nvSpPr>
        <p:spPr>
          <a:xfrm>
            <a:off x="1828800" y="254927"/>
            <a:ext cx="14630400" cy="21715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Detección de datos faltantes (cont.)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A3F0247C-7C33-7A10-2590-30AB977BAB80}"/>
              </a:ext>
            </a:extLst>
          </p:cNvPr>
          <p:cNvSpPr txBox="1">
            <a:spLocks/>
          </p:cNvSpPr>
          <p:nvPr/>
        </p:nvSpPr>
        <p:spPr>
          <a:xfrm>
            <a:off x="1219200" y="3162300"/>
            <a:ext cx="13487400" cy="83442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Daño oculto en los datos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Los valores están truncados o censurados: buscar picos y caídas en distribuciones e histogramas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Valores faltantes y por defecto son indistinguibles: ¿demasiados valores faltantes? metadatos o experiencia de dominio pueden ayudar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Errores de omisión, p. ej. faltan todas las llamadas de un área: verificar si faltan al azar o si están localizados de algún modo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8996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BC04A-965A-0FAF-D623-4D70DD783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190ABC4-5FA5-CE4C-2079-1D45DB5FE27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F951E9C-3A73-2FAE-D76E-55758AF70927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AA0AC66-3BC6-EC7A-A412-85A4253FB3D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675A5CE-9791-CB6D-C189-5B72B906F55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0D247DA-5E2E-7EC2-43CB-860C46418F3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5B6F126-FC09-AA6F-4523-65654BFEF64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3620C6A-20C1-DE44-41B7-C0B164C963D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7E3C767-C58A-AF7F-BB28-07AA1CB7CB2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8625E8D-6449-3518-E6E3-6AB2A7664C8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198C12E-94F4-09D5-FC5C-A58175D3C7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B2117052-FF11-6995-14E7-F894A371C42F}"/>
              </a:ext>
            </a:extLst>
          </p:cNvPr>
          <p:cNvSpPr txBox="1">
            <a:spLocks/>
          </p:cNvSpPr>
          <p:nvPr/>
        </p:nvSpPr>
        <p:spPr>
          <a:xfrm>
            <a:off x="2667000" y="746731"/>
            <a:ext cx="12344400" cy="18669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Imputación de valores a datos faltantes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0F658330-BBA8-F760-1B2F-4F13F4A6E112}"/>
              </a:ext>
            </a:extLst>
          </p:cNvPr>
          <p:cNvSpPr txBox="1">
            <a:spLocks/>
          </p:cNvSpPr>
          <p:nvPr/>
        </p:nvSpPr>
        <p:spPr>
          <a:xfrm>
            <a:off x="1242670" y="3272820"/>
            <a:ext cx="15240000" cy="88011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En datos federados, entre 30%–70% de los puntos de datos tendrán al menos un atributo faltante: hay desperdicio de datos si ignoramos todos los registros con un valor faltante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Los datos restantes están seriamente sesgados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Falta de confianza en los resultados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Entender el patrón de datos faltantes revela problemas de integridad de datos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10380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23128-83B0-70CD-583C-A77EE9783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A99680-F7C3-5901-50CB-1455CC2347A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7BFED6E-F83E-5195-E432-AFCC2141759D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00F6A6D-5E45-BDC8-54F1-CC397EA077B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0C5AD65-9FB5-E1BD-BFB3-6BBDD4ECA39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1D7970B-E119-B976-43A9-2DF28FEB26C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ECA7A7A-8394-B6B9-44DB-E5101B3E2E6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89E2A49-6238-D7E0-CD22-E2385575C1D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31ACFB1-E693-7DAE-7BC5-CF879ED58D8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6B30277-95DA-A1F5-E786-02FF2954C5D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26B7AA8-FBBF-79E1-FD3D-4A190A98B60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16A2200A-DB50-F47D-0629-F8EC75916A69}"/>
              </a:ext>
            </a:extLst>
          </p:cNvPr>
          <p:cNvSpPr txBox="1">
            <a:spLocks/>
          </p:cNvSpPr>
          <p:nvPr/>
        </p:nvSpPr>
        <p:spPr>
          <a:xfrm>
            <a:off x="4914900" y="1161706"/>
            <a:ext cx="8229600" cy="944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Imputación de valores faltantes - 1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59CAEF85-CF22-45B4-2B89-B2C2618B2BF8}"/>
              </a:ext>
            </a:extLst>
          </p:cNvPr>
          <p:cNvSpPr txBox="1">
            <a:spLocks/>
          </p:cNvSpPr>
          <p:nvPr/>
        </p:nvSpPr>
        <p:spPr>
          <a:xfrm>
            <a:off x="1066800" y="3086100"/>
            <a:ext cx="15316200" cy="8864853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Imputación independiente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Media, mediana, otras estimaciones puntuales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Asumir: la distribución de los valores faltantes es la misma que la de los no faltantes.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No tiene en cuenta interrelaciones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Introduce sesgo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Conveniente, fácil de implementar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79129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02754-C3D4-848E-1324-E56E3D3E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9EC216-6D4F-81EE-3724-9428F0A2B7BC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96616ED-E7DD-FBA6-B3B1-0DBFD692DAF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66D50FE-36B1-546F-EBDC-C3FE5C9760A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9235C54-2232-FB64-43AC-4A177FCB682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4E94F2F-38D2-9923-EF19-90F0396F594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5662CDA-0B30-5AF4-23E0-33AAA5CD146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BA2BAE4-3A3F-5FB1-6B9F-312FE5973CB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A16AAD7-1349-EF06-9E98-10FED265CBA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2449DDC-235B-4E27-014B-36BE1DEEF3A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C14EC68-BC78-DE42-244D-786E92367FF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38E2273D-50D9-50FD-CFCE-FCE8BEBA864D}"/>
              </a:ext>
            </a:extLst>
          </p:cNvPr>
          <p:cNvSpPr txBox="1">
            <a:spLocks/>
          </p:cNvSpPr>
          <p:nvPr/>
        </p:nvSpPr>
        <p:spPr>
          <a:xfrm>
            <a:off x="4572000" y="619028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Imputación de valores faltantes - 2</a:t>
            </a:r>
            <a:endParaRPr lang="es-E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15EC7D8D-14A1-E0EA-9E2B-6D6C2457CB19}"/>
              </a:ext>
            </a:extLst>
          </p:cNvPr>
          <p:cNvSpPr txBox="1">
            <a:spLocks/>
          </p:cNvSpPr>
          <p:nvPr/>
        </p:nvSpPr>
        <p:spPr>
          <a:xfrm>
            <a:off x="1692209" y="1636615"/>
            <a:ext cx="14554200" cy="78870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Mejor imputación: usar relaciones entre atributos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Asumir: todos los atributos previos están poblados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Es decir, monotonía en los valores faltantes.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				X1| X2| X3| X4| X5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				1.0| 20| 3.5|   4| .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				1.1| 18| 4.0|   2| .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				1.9| 22| 2.2|    .| .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				0.9| 15|     .|    .| .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Dos técnicas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Regresión (paramétrica),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Puntaje de propensión (no paramétrica)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46622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DB6C-F8EB-E6F9-5D53-DB323B89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A2542D-D685-CE1C-B36D-228EFB588A1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AA03C7C-AA16-6708-B46B-DDDE76697407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30D0384-FD72-DB92-143B-79A22DFE192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0AA3A878-6F8B-B53A-A42E-26E5235539F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C3F4F51-6A60-FE8C-E939-011733DCFF5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D7D8B32-1C37-F970-8710-1E4D3EFCD92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538515C-71A5-D8D9-37D3-618D1E2C7B0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E35D9A5-3CEF-C6F7-0C89-8B4300BD733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8CD4B13-6E20-626F-7873-7B89291A82E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B36DD9D-00E6-A012-90E6-71FC5D58D5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F46963D6-F28C-FD02-C20C-9093C1ED3B75}"/>
              </a:ext>
            </a:extLst>
          </p:cNvPr>
          <p:cNvSpPr txBox="1">
            <a:spLocks/>
          </p:cNvSpPr>
          <p:nvPr/>
        </p:nvSpPr>
        <p:spPr>
          <a:xfrm>
            <a:off x="4267200" y="117251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Imputación de valores faltantes –3</a:t>
            </a:r>
            <a:endParaRPr lang="es-E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272C168D-4D1B-02E4-F3A6-56E9C724FA5B}"/>
              </a:ext>
            </a:extLst>
          </p:cNvPr>
          <p:cNvSpPr txBox="1">
            <a:spLocks/>
          </p:cNvSpPr>
          <p:nvPr/>
        </p:nvSpPr>
        <p:spPr>
          <a:xfrm>
            <a:off x="2057400" y="3643373"/>
            <a:ext cx="12649200" cy="8201177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Método de regresión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Usar regresión lineal, barrer de izquierda a derecha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       X3=</a:t>
            </a:r>
            <a:r>
              <a:rPr lang="es-ES" sz="4000" dirty="0" err="1"/>
              <a:t>a+b</a:t>
            </a:r>
            <a:r>
              <a:rPr lang="es-ES" sz="4000" dirty="0"/>
              <a:t>*X2+c*X1;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       X4=</a:t>
            </a:r>
            <a:r>
              <a:rPr lang="es-ES" sz="4000" dirty="0" err="1"/>
              <a:t>d+e</a:t>
            </a:r>
            <a:r>
              <a:rPr lang="es-ES" sz="4000" dirty="0"/>
              <a:t>*X3+f*X2+g*X1,  y así sucesivamente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X3 en la segunda ecuación se estima desde la primera ecuación si falta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0">
              <a:spcBef>
                <a:spcPts val="700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86667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ED1E-AFB3-DE9C-EF12-CEAEB378E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5FB14A-36BE-3E13-BCCF-1BDD76F2865D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9A9E56B-FFC9-3A09-D171-66F7A87B8A3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A9BC03D-9433-9D95-2B06-52802F96054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BCAE07D-6FB8-FEE4-C9C8-D09B9425D6A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8A08A01-0BF9-2819-A8A1-E104E1DB7D2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37774A3-2F14-3FCB-91F8-833CE8CB77E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3CA3183-0C73-ECF8-BA51-0867D11E0F9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E9F66B9-7A93-5B97-B790-80503CA6D27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22FA1E8-FD78-3BAB-AB5C-6370C42BA20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170A765-2858-319D-5A4C-6152B50380F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F2B8D024-9104-C2FB-3449-65920219B46C}"/>
              </a:ext>
            </a:extLst>
          </p:cNvPr>
          <p:cNvSpPr txBox="1">
            <a:spLocks/>
          </p:cNvSpPr>
          <p:nvPr/>
        </p:nvSpPr>
        <p:spPr>
          <a:xfrm>
            <a:off x="5029200" y="959316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/>
              <a:t>Imputación de valores faltantes - 3</a:t>
            </a:r>
            <a:endParaRPr lang="es-ES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2B992880-78D0-1734-77D9-C39F292E59FA}"/>
              </a:ext>
            </a:extLst>
          </p:cNvPr>
          <p:cNvSpPr txBox="1">
            <a:spLocks/>
          </p:cNvSpPr>
          <p:nvPr/>
        </p:nvSpPr>
        <p:spPr>
          <a:xfrm>
            <a:off x="952500" y="3314700"/>
            <a:ext cx="15468600" cy="7645773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92500" lnSpcReduction="9999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Puntajes de propensión (no paramétricos)</a:t>
            </a:r>
            <a:endParaRPr lang="es-ES" sz="48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300" dirty="0"/>
              <a:t>Sea </a:t>
            </a:r>
            <a:r>
              <a:rPr lang="es-ES" sz="4300" dirty="0" err="1"/>
              <a:t>Yj</a:t>
            </a:r>
            <a:r>
              <a:rPr lang="es-ES" sz="4300" dirty="0"/>
              <a:t>=1 si </a:t>
            </a:r>
            <a:r>
              <a:rPr lang="es-ES" sz="4300" dirty="0" err="1"/>
              <a:t>Xj</a:t>
            </a:r>
            <a:r>
              <a:rPr lang="es-ES" sz="4300" dirty="0"/>
              <a:t> falta, 0 en caso contrario</a:t>
            </a:r>
            <a:endParaRPr lang="es-ES" sz="43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300" dirty="0"/>
              <a:t>Estimar P(</a:t>
            </a:r>
            <a:r>
              <a:rPr lang="es-ES" sz="4300" dirty="0" err="1"/>
              <a:t>Yj</a:t>
            </a:r>
            <a:r>
              <a:rPr lang="es-ES" sz="4300" dirty="0"/>
              <a:t> =1) basada en X1 hasta X(j-1) usando regresión logística</a:t>
            </a:r>
            <a:endParaRPr lang="es-ES" sz="43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300" dirty="0"/>
              <a:t>Agrupar por puntaje de propensión P(</a:t>
            </a:r>
            <a:r>
              <a:rPr lang="es-ES" sz="4300" dirty="0" err="1"/>
              <a:t>Yj</a:t>
            </a:r>
            <a:r>
              <a:rPr lang="es-ES" sz="4300" dirty="0"/>
              <a:t> =1)</a:t>
            </a:r>
            <a:endParaRPr lang="es-ES" sz="43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300" dirty="0"/>
              <a:t>Dentro de cada grupo, estimar </a:t>
            </a:r>
            <a:r>
              <a:rPr lang="es-ES" sz="4300" dirty="0" err="1"/>
              <a:t>Xj</a:t>
            </a:r>
            <a:r>
              <a:rPr lang="es-ES" sz="4300" dirty="0"/>
              <a:t> faltantes a partir de </a:t>
            </a:r>
            <a:r>
              <a:rPr lang="es-ES" sz="4300" dirty="0" err="1"/>
              <a:t>Xj</a:t>
            </a:r>
            <a:r>
              <a:rPr lang="es-ES" sz="4300" dirty="0"/>
              <a:t> conocidos usando </a:t>
            </a:r>
            <a:r>
              <a:rPr lang="es-ES" sz="4300" dirty="0" err="1"/>
              <a:t>bootstrap</a:t>
            </a:r>
            <a:r>
              <a:rPr lang="es-ES" sz="4300" dirty="0"/>
              <a:t> bayesiano aproximado.</a:t>
            </a:r>
            <a:endParaRPr lang="es-ES" sz="43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300" dirty="0"/>
              <a:t>Repetir hasta que todos los atributos estén poblados</a:t>
            </a:r>
            <a:r>
              <a:rPr lang="es-ES" dirty="0"/>
              <a:t>.</a:t>
            </a:r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3430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C79B9-881E-DBC0-3E71-AF54BC01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4193AE-51AC-9E9E-2BEF-5ED75366D78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3A9FCE4-5962-AA5B-5F5F-F298936DB2F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2EBA8CC-B667-2CDE-5346-9B890F89B24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20C6138-C686-6596-4D39-0271FC87265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5BBC7FE-617E-C6C6-08CD-80250B20A6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BE24F47-9DD3-1E30-E3BD-BDBEB9D9F02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47535E1-2BBC-9D15-B3A6-A932B05F009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81223D7-D102-643C-E478-3614C4E1FC7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07BF1FF-CE80-6FEF-9241-247FEA247EC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4BA3934-F65D-6C0B-4084-B642B9E6461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E8181AC7-AA69-1302-F339-97FB5FC12CD0}"/>
              </a:ext>
            </a:extLst>
          </p:cNvPr>
          <p:cNvSpPr txBox="1">
            <a:spLocks/>
          </p:cNvSpPr>
          <p:nvPr/>
        </p:nvSpPr>
        <p:spPr>
          <a:xfrm>
            <a:off x="4076700" y="140970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Imputación de valores faltantes - 4</a:t>
            </a:r>
            <a:endParaRPr lang="es-E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C3C5207-6110-1261-7AAE-BFA313F057BA}"/>
              </a:ext>
            </a:extLst>
          </p:cNvPr>
          <p:cNvSpPr txBox="1">
            <a:spLocks/>
          </p:cNvSpPr>
          <p:nvPr/>
        </p:nvSpPr>
        <p:spPr>
          <a:xfrm>
            <a:off x="1981200" y="3314700"/>
            <a:ext cx="12420600" cy="78105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92500" lnSpcReduction="19999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Patrón de faltantes arbitrario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 err="1"/>
              <a:t>Markov</a:t>
            </a:r>
            <a:r>
              <a:rPr lang="es-ES" sz="3600" dirty="0"/>
              <a:t> </a:t>
            </a:r>
            <a:r>
              <a:rPr lang="es-ES" sz="3600" dirty="0" err="1"/>
              <a:t>Chain</a:t>
            </a:r>
            <a:r>
              <a:rPr lang="es-ES" sz="3600" dirty="0"/>
              <a:t> Monte Carlo (MCMC)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Asumir que los datos son normales multivariados, con parámetro beta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(1) Simular X faltante, dado beta estimado a partir de X observado; (2) Recalcular beta usando X rellenado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Repetir hasta estabilizar. </a:t>
            </a:r>
            <a:endParaRPr lang="es-ES" sz="3600" dirty="0">
              <a:solidFill>
                <a:srgbClr val="000000"/>
              </a:solidFill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Costoso: se usa más a menudo para inducir monotonía</a:t>
            </a:r>
            <a:br>
              <a:rPr lang="es-ES" sz="3600" dirty="0"/>
            </a:br>
            <a:r>
              <a:rPr lang="es-ES" sz="3600" dirty="0"/>
              <a:t> </a:t>
            </a:r>
            <a:endParaRPr lang="es-ES" sz="3600" dirty="0">
              <a:solidFill>
                <a:srgbClr val="000000"/>
              </a:solidFill>
            </a:endParaRPr>
          </a:p>
          <a:p>
            <a:pPr marL="343080" indent="-343080">
              <a:spcBef>
                <a:spcPts val="601"/>
              </a:spcBef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Nota: los valores imputados son útiles en agregados, pero no se pueden confiar individualmente</a:t>
            </a:r>
            <a:endParaRPr lang="es-ES" sz="3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9402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735F-6EA6-B561-EB2B-7AE49D3B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D04154-A809-4979-B83F-BAABC1A2CF5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641CBE6-61F7-AD67-26AA-E3A72E17198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491AC55-2E70-11D2-B321-72EFD416BA7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FA141ED-BD97-1788-7AB5-3C3EF8F9A77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4E05DD1-C746-DD4C-289D-427C80E891B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C0D2E83-3BD5-0204-DE28-120A064E183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209FD53-BE31-88C7-56C9-6E57B1B3140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411763A-F3EB-16EC-00B7-88B231616C4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7075410-B763-362A-DE73-96FC71517BB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B34608A-A63C-97AD-2495-B033C9C6E45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8BEB452A-07FC-D929-7384-2B5A112905A1}"/>
              </a:ext>
            </a:extLst>
          </p:cNvPr>
          <p:cNvSpPr txBox="1">
            <a:spLocks/>
          </p:cNvSpPr>
          <p:nvPr/>
        </p:nvSpPr>
        <p:spPr>
          <a:xfrm>
            <a:off x="4648200" y="1333500"/>
            <a:ext cx="8229600" cy="838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Censura y truncamiento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2358A40A-756B-A311-AA6A-E0DB138BBFFF}"/>
              </a:ext>
            </a:extLst>
          </p:cNvPr>
          <p:cNvSpPr txBox="1">
            <a:spLocks/>
          </p:cNvSpPr>
          <p:nvPr/>
        </p:nvSpPr>
        <p:spPr>
          <a:xfrm>
            <a:off x="990600" y="3314700"/>
            <a:ext cx="13868400" cy="84964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Bien estudiado en bioestadística; relevante para datos dependientes del tiempo (p. ej. duración)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Censurado: la medición está acotada pero no es precisa, p. ej. duraciones &gt; 20 se registran como 20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spcAft>
                <a:spcPts val="499"/>
              </a:spcAft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Truncado: el dato se descarta si excede o cae por debajo de un umbral, p. ej. clientes con menos de 2 minutos de llamadas al mes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34120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0520-EED4-1DDB-478F-9292F415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92C605-2920-3805-DE3A-3EE23796EEB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CBA1D4F-9E39-BF30-5E66-E7D13903CA6C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E204E29-134F-014F-5FA0-5738B2BBC96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0F345056-22A3-84AA-996D-2C52E2EB115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BE10B6B-551F-1D26-0FC9-1E9981AB6F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41FD7E5-E5D6-6EAC-4067-28F002D1BFF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3DA046A-CE74-04E0-7590-C1E9D50845D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4F138C3-1F7E-4553-45C5-59DA1F47950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CDD832D-0BF5-8C80-0CB5-575B968AC6C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D56D923-1763-3090-5145-C1890EE80D8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E50F00D-3C70-CC95-4D04-ED573836464E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743200" y="949080"/>
            <a:ext cx="12268200" cy="975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3D82C71-C6DC-46A4-F80E-D831B1FCAAA4}"/>
              </a:ext>
            </a:extLst>
          </p:cNvPr>
          <p:cNvSpPr/>
          <p:nvPr/>
        </p:nvSpPr>
        <p:spPr>
          <a:xfrm>
            <a:off x="6553200" y="9510497"/>
            <a:ext cx="445500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dirty="0" err="1"/>
              <a:t>Intervalos</a:t>
            </a:r>
            <a:r>
              <a:rPr dirty="0"/>
              <a:t> de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censurados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20522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E4E1D-5629-7F4E-EEE9-881883A3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2D3D0AA-0F60-5E81-057F-267FCBBACBE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3E5F397-F8B2-372D-DF8F-92F1A39C5DC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EC9C1F3-E73B-E4E8-67A3-F5C41DA36E9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48D41B7-B881-B037-E9A7-489FD9784E9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DDBF2BB-0D78-8002-B080-CFBDCD3CC51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C1A9431-0445-6957-357B-2757F12CD3B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3621E7F-3BB3-016B-7256-EF1B4D0A89E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D7641E4-2E59-5ACB-F586-5931E615366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672F008-1CD6-793C-9C40-7503927CBB9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A7EF861-B3C3-7905-2945-4F7F8329DF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E86FDF32-6953-C9FD-37E2-F7493ADFD973}"/>
              </a:ext>
            </a:extLst>
          </p:cNvPr>
          <p:cNvSpPr txBox="1">
            <a:spLocks/>
          </p:cNvSpPr>
          <p:nvPr/>
        </p:nvSpPr>
        <p:spPr>
          <a:xfrm>
            <a:off x="4343400" y="595713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/>
              <a:t>Censura/Truncamiento (cont.)</a:t>
            </a:r>
            <a:endParaRPr lang="es-CO" sz="4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BCBD1EA-B580-DC07-012B-8BB6893983B8}"/>
              </a:ext>
            </a:extLst>
          </p:cNvPr>
          <p:cNvSpPr txBox="1">
            <a:spLocks/>
          </p:cNvSpPr>
          <p:nvPr/>
        </p:nvSpPr>
        <p:spPr>
          <a:xfrm>
            <a:off x="1143000" y="2747181"/>
            <a:ext cx="14020800" cy="79629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499"/>
              </a:spcBef>
              <a:spcAft>
                <a:spcPts val="499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Si no se conoce el mecanismo de censura/truncamiento, el análisis puede ser inexacto y sesgado.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spcAft>
                <a:spcPts val="499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Pero si conoces el mecanismo, puedes mitigar el sesgo en el análisis.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spcAft>
                <a:spcPts val="499"/>
              </a:spcAft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Los metadatos deberían registrar la existencia y también la naturaleza de la censura/truncamiento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89457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2C4C-7878-1224-CC48-754B6F1F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4E8D62-FBE4-8DC4-1D40-42AA5442032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7F67CDD-F7E6-7A36-27C6-F1782EAC1A4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533BEE5-403A-423D-4F6E-9FAE2DD27DD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A6F8007-2711-F1D1-C964-C5B6B05DD4C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13E1F12-B128-2DFD-FD68-C9FE37B4CF2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78536F9-874C-9077-6696-2D9F08E3126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5476BA7-C180-610C-D07F-2D7C8F0A020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2131F38-7521-04B7-E0E5-0D5A8EA9A89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BF0289B-5620-BAA4-8074-78377A50C9A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25E4B49-E658-E5D4-382C-685F4B3408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13826C7-6B14-D79D-E107-8755186E1383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3962400" y="2741875"/>
            <a:ext cx="8839200" cy="678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43BAC62-0AB0-1B82-9D66-D6D2DA1F36C6}"/>
              </a:ext>
            </a:extLst>
          </p:cNvPr>
          <p:cNvSpPr/>
          <p:nvPr/>
        </p:nvSpPr>
        <p:spPr>
          <a:xfrm>
            <a:off x="4009344" y="1136685"/>
            <a:ext cx="9551502" cy="9562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dirty="0"/>
              <a:t>Los </a:t>
            </a:r>
            <a:r>
              <a:rPr sz="2800" dirty="0" err="1"/>
              <a:t>picos</a:t>
            </a:r>
            <a:r>
              <a:rPr sz="2800" dirty="0"/>
              <a:t> </a:t>
            </a:r>
            <a:r>
              <a:rPr sz="2800" dirty="0" err="1"/>
              <a:t>suelen</a:t>
            </a:r>
            <a:r>
              <a:rPr sz="2800" dirty="0"/>
              <a:t> </a:t>
            </a:r>
            <a:r>
              <a:rPr sz="2800" dirty="0" err="1"/>
              <a:t>indicar</a:t>
            </a:r>
            <a:r>
              <a:rPr sz="2800" dirty="0"/>
              <a:t> </a:t>
            </a:r>
            <a:r>
              <a:rPr sz="2800" dirty="0" err="1"/>
              <a:t>intervalos</a:t>
            </a:r>
            <a:r>
              <a:rPr sz="2800" dirty="0"/>
              <a:t> de </a:t>
            </a:r>
            <a:r>
              <a:rPr sz="2800" dirty="0" err="1"/>
              <a:t>tiempo</a:t>
            </a:r>
            <a:r>
              <a:rPr sz="2800" dirty="0"/>
              <a:t> </a:t>
            </a:r>
            <a:r>
              <a:rPr sz="2800" dirty="0" err="1"/>
              <a:t>censurados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dirty="0" err="1"/>
              <a:t>causados</a:t>
            </a:r>
            <a:r>
              <a:rPr sz="2800" dirty="0"/>
              <a:t> </a:t>
            </a:r>
            <a:r>
              <a:rPr sz="2800" dirty="0" err="1"/>
              <a:t>por</a:t>
            </a:r>
            <a:r>
              <a:rPr sz="2800" dirty="0"/>
              <a:t> </a:t>
            </a:r>
            <a:r>
              <a:rPr sz="2800" dirty="0" err="1"/>
              <a:t>reinicio</a:t>
            </a:r>
            <a:r>
              <a:rPr sz="2800" dirty="0"/>
              <a:t> de </a:t>
            </a:r>
            <a:r>
              <a:rPr sz="2800" dirty="0" err="1"/>
              <a:t>marcas</a:t>
            </a:r>
            <a:r>
              <a:rPr sz="2800" dirty="0"/>
              <a:t> de </a:t>
            </a:r>
            <a:r>
              <a:rPr sz="2800" dirty="0" err="1"/>
              <a:t>tiempo</a:t>
            </a:r>
            <a:r>
              <a:rPr sz="2800" dirty="0"/>
              <a:t> a </a:t>
            </a:r>
            <a:r>
              <a:rPr sz="2800" dirty="0" err="1"/>
              <a:t>valores</a:t>
            </a:r>
            <a:r>
              <a:rPr sz="2800" dirty="0"/>
              <a:t> </a:t>
            </a:r>
            <a:r>
              <a:rPr sz="2800" dirty="0" err="1"/>
              <a:t>por</a:t>
            </a:r>
            <a:r>
              <a:rPr sz="2800" dirty="0"/>
              <a:t> </a:t>
            </a:r>
            <a:r>
              <a:rPr sz="2800" dirty="0" err="1"/>
              <a:t>defecto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38051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F7524-B0EF-1C0A-1CD3-8273026B0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33EE78-A81E-FCDE-672D-5D097E5E512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32AECFB-C32C-99E9-DED8-B2C755BB58F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6612288-B0A0-E7EB-B22A-1E2D19A0EC5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A770ADC-7AB5-F2AB-2AF9-583CADDC569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095EE44-5582-9E2E-1A7F-22E90C99760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BF8B9AA-B8ED-64DD-9503-750EB2A055D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D679216-6BDB-EB7D-2F05-811C07F4B77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5B86001-A499-AFD8-713D-7E321D50946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858A2B1-BA3B-B309-93D1-9FBEBC8826D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B162A58-010B-CC23-CC67-66E6412496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BACF1A21-4648-5676-1F29-0EC66B1D8F6D}"/>
              </a:ext>
            </a:extLst>
          </p:cNvPr>
          <p:cNvSpPr txBox="1">
            <a:spLocks/>
          </p:cNvSpPr>
          <p:nvPr/>
        </p:nvSpPr>
        <p:spPr>
          <a:xfrm>
            <a:off x="4572000" y="776510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Datos sospechosos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08A8F459-A509-D092-46BB-3BF53B7A8E97}"/>
              </a:ext>
            </a:extLst>
          </p:cNvPr>
          <p:cNvSpPr txBox="1">
            <a:spLocks/>
          </p:cNvSpPr>
          <p:nvPr/>
        </p:nvSpPr>
        <p:spPr>
          <a:xfrm>
            <a:off x="1447800" y="2933700"/>
            <a:ext cx="15392400" cy="81155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Considera los puntos de datos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 algn="ctr">
              <a:spcBef>
                <a:spcPts val="799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3, 4, 7, 4, 8, 3, 9, 5, 7, 6, 92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“92” es sospechoso: un valor atípico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Los valores atípicos pueden ser legítimos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A menudo son fallos de datos o del modelo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O podrían ser el sueño de un analista de datos, p. ej. clientes muy rentables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61763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4225-618D-E86D-F2F6-957845101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E59A3D-BCF1-DAF9-DAC5-64FC6D624585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C303533-82AC-F985-2CE7-B065D83F08A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B320187-9A1F-F780-2668-E916E13F63C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BCB68CC-6722-C85A-082F-ED4F40B24FF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E411B00-5415-F60D-D795-34550378BD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FC52C46-7848-1B7C-042F-4C0AB283AA2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C9B41DF-7409-15A2-977C-784395F9126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89BD517-C232-4B33-73B2-368FEF3CE7D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DA96091-FBCD-0D22-0BD2-32C17B7A023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9544E34-C826-99A9-B0A1-AF32BDEEAA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B53DD2B5-CF49-B909-AA3F-34BEA86A8681}"/>
              </a:ext>
            </a:extLst>
          </p:cNvPr>
          <p:cNvSpPr txBox="1">
            <a:spLocks/>
          </p:cNvSpPr>
          <p:nvPr/>
        </p:nvSpPr>
        <p:spPr>
          <a:xfrm>
            <a:off x="4495800" y="814490"/>
            <a:ext cx="8229600" cy="716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Valores atípicos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6C5C4963-2FBB-1A3A-95AD-D2E6BA2692FE}"/>
              </a:ext>
            </a:extLst>
          </p:cNvPr>
          <p:cNvSpPr txBox="1">
            <a:spLocks/>
          </p:cNvSpPr>
          <p:nvPr/>
        </p:nvSpPr>
        <p:spPr>
          <a:xfrm>
            <a:off x="1066800" y="2781300"/>
            <a:ext cx="13335000" cy="8649061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Valor atípico: “desviación de lo esperado”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Tipos de valores atípicos: definir “esperado”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Muchos enfoques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Límites de error, límites de tolerancia – gráficas de control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Basado en modelos – profundidad de regresión, análisis de residuales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Geométrico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Distribucional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Series temporales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98121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15B79-FE65-D9CD-D7C0-A9D8AFB6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75746E-2C11-0842-D911-0F119558069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A8D6736-195A-A030-CB68-5DB1AA794DF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89BD97A-7036-F575-1F43-375065958E2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7E562CE-838B-F2AF-1230-1BC0C32D6FE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96CA665-34E3-C169-C340-5E1F4C78749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B893AF1-6CE7-AF7D-2485-8D10A11FC71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6895C66-661B-DBB0-6DB3-C863FB4FA56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6AF65CD-9DCB-2F25-3C4B-D0DCCE98919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530DE88-86AB-A56F-939F-FDF6B591E3B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879489E-4BB9-C965-D4D9-7CEAC2EEDD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BDD55B10-16D2-572D-4B88-A2A2C032DF5A}"/>
              </a:ext>
            </a:extLst>
          </p:cNvPr>
          <p:cNvSpPr txBox="1">
            <a:spLocks/>
          </p:cNvSpPr>
          <p:nvPr/>
        </p:nvSpPr>
        <p:spPr>
          <a:xfrm>
            <a:off x="5029200" y="619028"/>
            <a:ext cx="8229600" cy="868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Gráficas de control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C1BFC0C5-7D05-8FB6-087D-998EE7D0DDA3}"/>
              </a:ext>
            </a:extLst>
          </p:cNvPr>
          <p:cNvSpPr txBox="1">
            <a:spLocks/>
          </p:cNvSpPr>
          <p:nvPr/>
        </p:nvSpPr>
        <p:spPr>
          <a:xfrm>
            <a:off x="1295400" y="2247900"/>
            <a:ext cx="13563600" cy="77345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Control de calidad de lotes de producción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Típicamente </a:t>
            </a:r>
            <a:r>
              <a:rPr lang="es-ES" sz="4000" dirty="0" err="1"/>
              <a:t>univariado</a:t>
            </a:r>
            <a:r>
              <a:rPr lang="es-ES" sz="4000" dirty="0"/>
              <a:t>: X-Bar, R, CUSUM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Suposiciones distribucionales para gráficas no basadas en medias, p. ej. gráficas R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Pasos principales (basados en inferencia estadística)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Definir “esperado” y “desviación”, p. ej. media y error estándar basados en la distribución muestral de la media (agregado);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Calcular el agregado de cada muestra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Graficar agregados vs. esperado y límites de error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“Fuera de control” si los agregados quedan fuera de los límites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20599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0103-6038-BE09-FCC1-9BFC7ADA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C7548E-BA47-8A39-53D0-AE71557C7EE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48E142C-D93B-6B1A-F3B1-DB3C3737925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14587AD-213E-C4A2-9898-2E13A384C3E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02A2B3F-4C52-B489-315E-FF82044EAAD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DFD7AB7-83AA-6B7B-1174-88C459B0BC0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C69EDD9-D525-2BE0-3655-EE167E3691A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DA7183F-A665-FC91-CD9E-183EB85FD82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CC9D989-3B29-5E0B-B4D6-624EB282022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9DB1859-A01C-FF17-327C-0BE7034EF53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071EE6A-5E89-B59E-20CA-E841219844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8BEDD97E-5414-0B95-4AEF-B3E0EB9A43E6}"/>
              </a:ext>
            </a:extLst>
          </p:cNvPr>
          <p:cNvSpPr txBox="1">
            <a:spLocks/>
          </p:cNvSpPr>
          <p:nvPr/>
        </p:nvSpPr>
        <p:spPr>
          <a:xfrm>
            <a:off x="2386964" y="838140"/>
            <a:ext cx="12904711" cy="1600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dirty="0"/>
              <a:t>Un ejemplo</a:t>
            </a:r>
            <a:br>
              <a:rPr lang="it-IT" dirty="0"/>
            </a:br>
            <a:r>
              <a:rPr lang="it-IT" dirty="0"/>
              <a:t>(http://www.itl.nist.gov/div898/handbook/mpc/section3/mpc3521.htm)</a:t>
            </a:r>
            <a:endParaRPr lang="it-IT" sz="20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EA0C13-92AF-9E28-4CCA-56BE7AB54506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4017593" y="2905277"/>
            <a:ext cx="9296640" cy="689610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5484878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52E5-7BCF-C7CC-DB62-D323C54D8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429F32-1E3E-DB06-ADB6-D9905699BD0C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044CC0B-A185-1C6B-442F-F84A8E62B75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A2B9F4A-8A14-7B89-42A4-0E97EB0EBC1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F69BBDC-D1BE-A3BB-2CD6-85238A147D4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C17AA53-51F5-A9C7-6ED4-F4D1082D1D1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302FADE-8CB7-A710-E94E-93C78FBCC09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CD27CED-8C78-79E4-08FF-01B8500FE72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C715795-672C-05C4-83F7-9232C9490AB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9EFE6BD-E813-1451-8A0E-64F3FA5E78E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9AB23AE-A87A-4C8E-D295-F98228914D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45B541B6-FB36-5806-9F01-946DD4E96CDA}"/>
              </a:ext>
            </a:extLst>
          </p:cNvPr>
          <p:cNvSpPr txBox="1">
            <a:spLocks/>
          </p:cNvSpPr>
          <p:nvPr/>
        </p:nvSpPr>
        <p:spPr>
          <a:xfrm>
            <a:off x="1066800" y="638931"/>
            <a:ext cx="14782800" cy="14857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Gráficas de control multivariadas - 1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61944BFB-1039-9C04-AC1F-1AF2B8B43E32}"/>
              </a:ext>
            </a:extLst>
          </p:cNvPr>
          <p:cNvSpPr txBox="1">
            <a:spLocks/>
          </p:cNvSpPr>
          <p:nvPr/>
        </p:nvSpPr>
        <p:spPr>
          <a:xfrm>
            <a:off x="1219200" y="2896550"/>
            <a:ext cx="15448921" cy="65913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Gráficas </a:t>
            </a:r>
            <a:r>
              <a:rPr lang="es-ES" sz="4000" dirty="0" err="1"/>
              <a:t>bivariadas</a:t>
            </a:r>
            <a:r>
              <a:rPr lang="es-ES" sz="4000" dirty="0"/>
              <a:t>: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basadas en supuestos de normal </a:t>
            </a:r>
            <a:r>
              <a:rPr lang="es-ES" sz="3600" dirty="0" err="1"/>
              <a:t>bivariada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límites por componente llevan a errores Tipo I y II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Gráficas de control basadas en profundidad (no paramétricas):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mapear datos n-dimensionales a una dimensión usando profundidad (p. ej. </a:t>
            </a:r>
            <a:r>
              <a:rPr lang="es-ES" sz="3600" dirty="0" err="1"/>
              <a:t>Mahalanobis</a:t>
            </a:r>
            <a:r>
              <a:rPr lang="es-ES" sz="3600" dirty="0"/>
              <a:t>)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Construir gráficas de control para la profundidad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Comparar contra un </a:t>
            </a:r>
            <a:r>
              <a:rPr lang="es-ES" sz="3600" dirty="0" err="1"/>
              <a:t>benchmark</a:t>
            </a:r>
            <a:r>
              <a:rPr lang="es-ES" sz="3600" dirty="0"/>
              <a:t> usando profundidad, p. ej. gráficos Q-Q de la profundidad de cada conjunto de datos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20725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DA9B9-2E1F-4F2B-A9B6-B8900FF12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8C3A3B-18D0-82DD-F0B9-ABD7B6FDB0D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D33F677-C780-8CA8-D421-642888F6E49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985368C-2E2B-49E2-A752-FAD95157BAB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00997AE-0974-F694-277C-4DCF449482D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0E63BB0-0DD8-9AD2-DCE0-BB915ACA770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A8277A-92A5-609D-50F3-7A8772E9225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0CCE970-F4BC-E3E6-84F9-24186D97EE1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FD811BD-FBC2-AC94-CF14-4BF8F61A306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88CD37A-55D2-045D-84AD-5AE5A6D9325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3ADD01E-74E1-A225-4398-70025DBDD1F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6B976210-0BD7-8D0B-A625-83C902FB4182}"/>
              </a:ext>
            </a:extLst>
          </p:cNvPr>
          <p:cNvSpPr/>
          <p:nvPr/>
        </p:nvSpPr>
        <p:spPr>
          <a:xfrm>
            <a:off x="5486400" y="2857620"/>
            <a:ext cx="0" cy="47242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129117BA-9080-7021-D635-26C9D873D9C6}"/>
              </a:ext>
            </a:extLst>
          </p:cNvPr>
          <p:cNvSpPr/>
          <p:nvPr/>
        </p:nvSpPr>
        <p:spPr>
          <a:xfrm>
            <a:off x="5486400" y="7581900"/>
            <a:ext cx="63244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DBA99F46-45AD-A45C-802E-7EF7CC6C6DEC}"/>
              </a:ext>
            </a:extLst>
          </p:cNvPr>
          <p:cNvSpPr/>
          <p:nvPr/>
        </p:nvSpPr>
        <p:spPr>
          <a:xfrm>
            <a:off x="7238880" y="2704980"/>
            <a:ext cx="0" cy="4648320"/>
          </a:xfrm>
          <a:prstGeom prst="line">
            <a:avLst/>
          </a:prstGeom>
          <a:ln w="28440">
            <a:solidFill>
              <a:srgbClr val="000000"/>
            </a:solidFill>
            <a:prstDash val="sys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9833DEFC-06F2-7DE7-777E-3CA249328194}"/>
              </a:ext>
            </a:extLst>
          </p:cNvPr>
          <p:cNvSpPr/>
          <p:nvPr/>
        </p:nvSpPr>
        <p:spPr>
          <a:xfrm>
            <a:off x="10439280" y="2704980"/>
            <a:ext cx="0" cy="4648320"/>
          </a:xfrm>
          <a:prstGeom prst="line">
            <a:avLst/>
          </a:prstGeom>
          <a:ln w="28440">
            <a:solidFill>
              <a:srgbClr val="000000"/>
            </a:solidFill>
            <a:prstDash val="sys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1FBE8653-D94C-9DD3-DFC2-B64FF3905FFB}"/>
              </a:ext>
            </a:extLst>
          </p:cNvPr>
          <p:cNvSpPr/>
          <p:nvPr/>
        </p:nvSpPr>
        <p:spPr>
          <a:xfrm>
            <a:off x="6095880" y="3924300"/>
            <a:ext cx="5257800" cy="0"/>
          </a:xfrm>
          <a:prstGeom prst="line">
            <a:avLst/>
          </a:prstGeom>
          <a:ln w="28440">
            <a:solidFill>
              <a:srgbClr val="000000"/>
            </a:solidFill>
            <a:prstDash val="sys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2BDAA7CC-2375-B75E-D187-E0DA4C24A1A0}"/>
              </a:ext>
            </a:extLst>
          </p:cNvPr>
          <p:cNvSpPr/>
          <p:nvPr/>
        </p:nvSpPr>
        <p:spPr>
          <a:xfrm>
            <a:off x="6095880" y="6058020"/>
            <a:ext cx="5257800" cy="0"/>
          </a:xfrm>
          <a:prstGeom prst="line">
            <a:avLst/>
          </a:prstGeom>
          <a:ln w="28440">
            <a:solidFill>
              <a:srgbClr val="000000"/>
            </a:solidFill>
            <a:prstDash val="sysDot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EBFE95F-233A-A657-BD73-EFCD5FF0C3F8}"/>
              </a:ext>
            </a:extLst>
          </p:cNvPr>
          <p:cNvSpPr/>
          <p:nvPr/>
        </p:nvSpPr>
        <p:spPr>
          <a:xfrm rot="19761600">
            <a:off x="6476760" y="4381140"/>
            <a:ext cx="4724280" cy="129528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92FA23A-2A64-EE34-BCFE-7483CF0D0501}"/>
              </a:ext>
            </a:extLst>
          </p:cNvPr>
          <p:cNvSpPr/>
          <p:nvPr/>
        </p:nvSpPr>
        <p:spPr>
          <a:xfrm>
            <a:off x="8646120" y="7886820"/>
            <a:ext cx="33336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3733FCB-45AB-1B92-5C80-3A8E245C10D1}"/>
              </a:ext>
            </a:extLst>
          </p:cNvPr>
          <p:cNvSpPr/>
          <p:nvPr/>
        </p:nvSpPr>
        <p:spPr>
          <a:xfrm>
            <a:off x="4668120" y="4727460"/>
            <a:ext cx="33336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A2A9037-AB0C-DA72-0521-22F03308C4CF}"/>
              </a:ext>
            </a:extLst>
          </p:cNvPr>
          <p:cNvSpPr/>
          <p:nvPr/>
        </p:nvSpPr>
        <p:spPr>
          <a:xfrm>
            <a:off x="9677520" y="4610100"/>
            <a:ext cx="7596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9AD2C40-8DF5-8C69-167F-A94C1F0A4F12}"/>
              </a:ext>
            </a:extLst>
          </p:cNvPr>
          <p:cNvSpPr/>
          <p:nvPr/>
        </p:nvSpPr>
        <p:spPr>
          <a:xfrm>
            <a:off x="9601200" y="4229220"/>
            <a:ext cx="76320" cy="7596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840" rIns="90000" bIns="68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513A0E1E-0748-CB74-2424-124D8B571DCC}"/>
              </a:ext>
            </a:extLst>
          </p:cNvPr>
          <p:cNvSpPr/>
          <p:nvPr/>
        </p:nvSpPr>
        <p:spPr>
          <a:xfrm>
            <a:off x="8229600" y="5524500"/>
            <a:ext cx="7632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54A7B59-1640-EE64-438F-6F9483916E67}"/>
              </a:ext>
            </a:extLst>
          </p:cNvPr>
          <p:cNvSpPr/>
          <p:nvPr/>
        </p:nvSpPr>
        <p:spPr>
          <a:xfrm>
            <a:off x="8839080" y="4762380"/>
            <a:ext cx="7632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BE2BD69-8472-6240-D860-762E0F7D4A9B}"/>
              </a:ext>
            </a:extLst>
          </p:cNvPr>
          <p:cNvSpPr/>
          <p:nvPr/>
        </p:nvSpPr>
        <p:spPr>
          <a:xfrm>
            <a:off x="9296280" y="5067300"/>
            <a:ext cx="7632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5E8DA2FC-9CD5-9AC9-2236-9196E44E1ADD}"/>
              </a:ext>
            </a:extLst>
          </p:cNvPr>
          <p:cNvSpPr/>
          <p:nvPr/>
        </p:nvSpPr>
        <p:spPr>
          <a:xfrm>
            <a:off x="8610480" y="5143620"/>
            <a:ext cx="76320" cy="7596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840" rIns="90000" bIns="68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9E3A28B-25B9-8C03-26AF-F079B6732F65}"/>
              </a:ext>
            </a:extLst>
          </p:cNvPr>
          <p:cNvSpPr/>
          <p:nvPr/>
        </p:nvSpPr>
        <p:spPr>
          <a:xfrm>
            <a:off x="8458200" y="4838700"/>
            <a:ext cx="7632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0450D95B-5758-CF17-3FEF-E650713D354C}"/>
              </a:ext>
            </a:extLst>
          </p:cNvPr>
          <p:cNvSpPr/>
          <p:nvPr/>
        </p:nvSpPr>
        <p:spPr>
          <a:xfrm>
            <a:off x="7848720" y="5753100"/>
            <a:ext cx="7596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9D9B6F2C-2FDA-7C13-6947-8BCFDF256EA9}"/>
              </a:ext>
            </a:extLst>
          </p:cNvPr>
          <p:cNvSpPr/>
          <p:nvPr/>
        </p:nvSpPr>
        <p:spPr>
          <a:xfrm>
            <a:off x="7924680" y="5448180"/>
            <a:ext cx="7632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A4FB7833-1898-A1E0-5C25-20970D16E83E}"/>
              </a:ext>
            </a:extLst>
          </p:cNvPr>
          <p:cNvSpPr/>
          <p:nvPr/>
        </p:nvSpPr>
        <p:spPr>
          <a:xfrm>
            <a:off x="8001000" y="5448180"/>
            <a:ext cx="7632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5FC5D46B-F6DB-7D4F-A865-3BE342CC4D51}"/>
              </a:ext>
            </a:extLst>
          </p:cNvPr>
          <p:cNvSpPr/>
          <p:nvPr/>
        </p:nvSpPr>
        <p:spPr>
          <a:xfrm>
            <a:off x="8686800" y="5372220"/>
            <a:ext cx="76320" cy="7596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840" rIns="90000" bIns="68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9D18625F-20D1-2C99-0477-F88FD605B1AB}"/>
              </a:ext>
            </a:extLst>
          </p:cNvPr>
          <p:cNvSpPr/>
          <p:nvPr/>
        </p:nvSpPr>
        <p:spPr>
          <a:xfrm>
            <a:off x="9448920" y="4533780"/>
            <a:ext cx="7596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3D809C12-B791-1F95-A0CF-E8A04A251884}"/>
              </a:ext>
            </a:extLst>
          </p:cNvPr>
          <p:cNvSpPr/>
          <p:nvPr/>
        </p:nvSpPr>
        <p:spPr>
          <a:xfrm>
            <a:off x="8077320" y="4990980"/>
            <a:ext cx="7596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06B40093-B544-F42B-B5CD-6C04C6C31C09}"/>
              </a:ext>
            </a:extLst>
          </p:cNvPr>
          <p:cNvSpPr/>
          <p:nvPr/>
        </p:nvSpPr>
        <p:spPr>
          <a:xfrm>
            <a:off x="10210680" y="4152900"/>
            <a:ext cx="7632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EF49C1A6-5ABF-D512-D224-FF39FFE4D3CB}"/>
              </a:ext>
            </a:extLst>
          </p:cNvPr>
          <p:cNvSpPr/>
          <p:nvPr/>
        </p:nvSpPr>
        <p:spPr>
          <a:xfrm>
            <a:off x="7772400" y="4381500"/>
            <a:ext cx="76320" cy="76320"/>
          </a:xfrm>
          <a:prstGeom prst="ellipse">
            <a:avLst/>
          </a:prstGeom>
          <a:solidFill>
            <a:srgbClr val="FF0066"/>
          </a:solidFill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30728265-9AA4-744E-9CF3-973D143E4998}"/>
              </a:ext>
            </a:extLst>
          </p:cNvPr>
          <p:cNvSpPr/>
          <p:nvPr/>
        </p:nvSpPr>
        <p:spPr>
          <a:xfrm>
            <a:off x="7620120" y="5295900"/>
            <a:ext cx="75960" cy="7632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C38FE279-30EB-C062-275F-319AB50127F0}"/>
              </a:ext>
            </a:extLst>
          </p:cNvPr>
          <p:cNvSpPr/>
          <p:nvPr/>
        </p:nvSpPr>
        <p:spPr>
          <a:xfrm>
            <a:off x="10591920" y="3772020"/>
            <a:ext cx="75960" cy="75960"/>
          </a:xfrm>
          <a:prstGeom prst="ellipse">
            <a:avLst/>
          </a:prstGeom>
          <a:solidFill>
            <a:srgbClr val="009999"/>
          </a:solidFill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840" rIns="90000" bIns="68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ABD8236B-FB72-70D5-04AF-B8A75E37ED9C}"/>
              </a:ext>
            </a:extLst>
          </p:cNvPr>
          <p:cNvSpPr/>
          <p:nvPr/>
        </p:nvSpPr>
        <p:spPr>
          <a:xfrm>
            <a:off x="10210680" y="3772020"/>
            <a:ext cx="76320" cy="75960"/>
          </a:xfrm>
          <a:prstGeom prst="ellipse">
            <a:avLst/>
          </a:prstGeom>
          <a:solidFill>
            <a:srgbClr val="009999"/>
          </a:solidFill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840" rIns="90000" bIns="68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79F75BDD-C9D8-78E0-0E78-1733DFC564AE}"/>
              </a:ext>
            </a:extLst>
          </p:cNvPr>
          <p:cNvSpPr/>
          <p:nvPr/>
        </p:nvSpPr>
        <p:spPr>
          <a:xfrm>
            <a:off x="10591920" y="4305180"/>
            <a:ext cx="75960" cy="76320"/>
          </a:xfrm>
          <a:prstGeom prst="ellipse">
            <a:avLst/>
          </a:prstGeom>
          <a:solidFill>
            <a:srgbClr val="009999"/>
          </a:solidFill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C5DCC1D4-4D71-17E9-7124-6F82A8DD352A}"/>
              </a:ext>
            </a:extLst>
          </p:cNvPr>
          <p:cNvSpPr/>
          <p:nvPr/>
        </p:nvSpPr>
        <p:spPr>
          <a:xfrm>
            <a:off x="7086600" y="5676780"/>
            <a:ext cx="76320" cy="76320"/>
          </a:xfrm>
          <a:prstGeom prst="ellipse">
            <a:avLst/>
          </a:prstGeom>
          <a:solidFill>
            <a:srgbClr val="009999"/>
          </a:solidFill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DBD9EB1F-157D-F313-22B0-657507B55491}"/>
              </a:ext>
            </a:extLst>
          </p:cNvPr>
          <p:cNvSpPr/>
          <p:nvPr/>
        </p:nvSpPr>
        <p:spPr>
          <a:xfrm>
            <a:off x="7391520" y="6133980"/>
            <a:ext cx="75960" cy="76320"/>
          </a:xfrm>
          <a:prstGeom prst="ellipse">
            <a:avLst/>
          </a:prstGeom>
          <a:solidFill>
            <a:srgbClr val="009999"/>
          </a:solidFill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9C507B80-5264-D8B6-4975-14B17F1D63E0}"/>
              </a:ext>
            </a:extLst>
          </p:cNvPr>
          <p:cNvSpPr/>
          <p:nvPr/>
        </p:nvSpPr>
        <p:spPr>
          <a:xfrm>
            <a:off x="7010280" y="6133980"/>
            <a:ext cx="76320" cy="76320"/>
          </a:xfrm>
          <a:prstGeom prst="ellipse">
            <a:avLst/>
          </a:prstGeom>
          <a:solidFill>
            <a:srgbClr val="009999"/>
          </a:solidFill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38BB41DE-E7EB-3978-2328-BAC01F891820}"/>
              </a:ext>
            </a:extLst>
          </p:cNvPr>
          <p:cNvSpPr/>
          <p:nvPr/>
        </p:nvSpPr>
        <p:spPr>
          <a:xfrm>
            <a:off x="8305920" y="4152900"/>
            <a:ext cx="75960" cy="76320"/>
          </a:xfrm>
          <a:prstGeom prst="ellipse">
            <a:avLst/>
          </a:prstGeom>
          <a:solidFill>
            <a:srgbClr val="FF0066"/>
          </a:solidFill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7200" rIns="90000" bIns="72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96343EF7-81A0-7F74-F7B9-6C60061DAA01}"/>
              </a:ext>
            </a:extLst>
          </p:cNvPr>
          <p:cNvSpPr/>
          <p:nvPr/>
        </p:nvSpPr>
        <p:spPr>
          <a:xfrm>
            <a:off x="9601200" y="5600820"/>
            <a:ext cx="76320" cy="75960"/>
          </a:xfrm>
          <a:prstGeom prst="ellipse">
            <a:avLst/>
          </a:prstGeom>
          <a:solidFill>
            <a:srgbClr val="FF0066"/>
          </a:solidFill>
          <a:ln w="284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840" rIns="90000" bIns="684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02336D87-6857-7050-4797-0260BB38B2A7}"/>
              </a:ext>
            </a:extLst>
          </p:cNvPr>
          <p:cNvSpPr/>
          <p:nvPr/>
        </p:nvSpPr>
        <p:spPr>
          <a:xfrm>
            <a:off x="7008840" y="2095500"/>
            <a:ext cx="326376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Gráfica de control bivariada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93184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D43EF-69DC-2B12-AB7F-2D42D305E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E116F5-04D1-E5F4-619C-D261BF21EA1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7DAE2EF-9D33-101C-BFB0-385E55ADBEC0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F7C1BE1-F146-9BC1-76CA-16597A02523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15AA9E1-A24F-00CC-BD99-13CBDCA5FE7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55DC1E1-E4C5-3414-B965-B06331B8603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BF44C78-342D-2AD0-2378-9323569837C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C7CC6EE-8892-15D1-9E80-20C3D7FE69B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063550A-589A-6688-F2B2-FC875159045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53EF892-C9FA-6342-9C97-A56C4FFA94E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1BD97E3-7754-EFE2-6E99-76A90F2204A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CE9A234F-E6C4-349C-15E3-3517B8F48ABB}"/>
              </a:ext>
            </a:extLst>
          </p:cNvPr>
          <p:cNvSpPr txBox="1">
            <a:spLocks/>
          </p:cNvSpPr>
          <p:nvPr/>
        </p:nvSpPr>
        <p:spPr>
          <a:xfrm>
            <a:off x="1676400" y="763222"/>
            <a:ext cx="13639800" cy="17449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Gráficas de control multivariadas - 2</a:t>
            </a:r>
            <a:endParaRPr lang="es-CO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C9BF6480-12AF-F82E-324E-C0AA035896F9}"/>
              </a:ext>
            </a:extLst>
          </p:cNvPr>
          <p:cNvSpPr txBox="1">
            <a:spLocks/>
          </p:cNvSpPr>
          <p:nvPr/>
        </p:nvSpPr>
        <p:spPr>
          <a:xfrm>
            <a:off x="1219200" y="3314700"/>
            <a:ext cx="14935200" cy="78105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9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Control de procesos </a:t>
            </a:r>
            <a:r>
              <a:rPr lang="es-ES" sz="4400" dirty="0" err="1"/>
              <a:t>multiescala</a:t>
            </a:r>
            <a:r>
              <a:rPr lang="es-ES" sz="4400" dirty="0"/>
              <a:t> con wavelets: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Detecta anormalidades en múltiples escalas como coeficientes wavelet grandes.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Útil para datos con heterocedasticidad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Aplicado en control de procesos químicos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0">
              <a:spcBef>
                <a:spcPts val="799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11213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142F9-31FC-3E15-8AC7-F71B8EBC1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F92001-180C-5D06-0E27-0734F0233905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1C8682B-EFC0-ED93-FDC8-F9C36969FE3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050F64F-1E1D-9318-3999-F85ACB82C90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B39F816-EBEF-3379-3C65-4C0B415EAF1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2E72AE3-1FEC-A76E-4E10-1B9BFDAA19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E706898-5F80-92B4-D48D-BC4159D8F8E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AC408D9-4741-01F5-9999-C66791314B6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8A6FFE2-2419-1898-03F0-473E10091FD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2FDC0D6-ABFE-7D2C-4C7E-E054EA37857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C78AC8B-E5E1-4B0D-72BE-F23BEB3BFE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CA563507-4261-6BB6-60D9-78301947DB11}"/>
              </a:ext>
            </a:extLst>
          </p:cNvPr>
          <p:cNvSpPr txBox="1">
            <a:spLocks/>
          </p:cNvSpPr>
          <p:nvPr/>
        </p:nvSpPr>
        <p:spPr>
          <a:xfrm>
            <a:off x="457200" y="505820"/>
            <a:ext cx="15392400" cy="13333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Ajuste de modelos y valores atípicos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22DDD8C-6E12-F9BF-ECBF-302DECD6C1E6}"/>
              </a:ext>
            </a:extLst>
          </p:cNvPr>
          <p:cNvSpPr txBox="1">
            <a:spLocks/>
          </p:cNvSpPr>
          <p:nvPr/>
        </p:nvSpPr>
        <p:spPr>
          <a:xfrm>
            <a:off x="1143000" y="2476500"/>
            <a:ext cx="15392400" cy="78868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Los modelos resumen tendencias generales en los datos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son más complejos que simples agregados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p. ej. regresión lineal, regresión logística (enfocadas en relaciones entre atributos)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Los puntos de datos que no se ajustan a modelos bien ajustados son posibles valores atípicos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Pruebas de bondad de ajuste (DQ para análisis/minería)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comprobar la idoneidad del modelo para los datos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verificar la validez de las suposiciones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¿los datos son lo suficientemente ricos para responder la pregunta de análisis/negocio?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55889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A0411-4FE7-048E-E51F-C9254F8B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3F9454-B529-28F1-F9B0-F9169A8472A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8B4DA96-825D-F64F-9B8D-8F32DB053A6C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201A906-F30F-92C8-6663-CFB810896BE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3B5C975-4A4B-4BBF-25CD-5446CBF1FC7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7B717E7-7A28-3215-959F-D01566B2C98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4E54CAA-96C9-3EE9-F097-2F64061F6F0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B12FB39-6A37-E269-9B95-BD71C2E3744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E1A725B-DBA0-764C-C1E4-3E210833B81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96FCCE3-ADB9-DCD2-3ADC-04E302F806E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0EECAD8-6BF9-9A90-7A10-9747060FA6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9496271C-C89A-1F24-BF4E-4E1E3E4411EE}"/>
              </a:ext>
            </a:extLst>
          </p:cNvPr>
          <p:cNvSpPr txBox="1">
            <a:spLocks/>
          </p:cNvSpPr>
          <p:nvPr/>
        </p:nvSpPr>
        <p:spPr>
          <a:xfrm>
            <a:off x="914400" y="454932"/>
            <a:ext cx="15544800" cy="28575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Comparación de conjuntos y detección de valores atípicos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6BE14B8-3363-E3AE-8EBE-68E26E431B8D}"/>
              </a:ext>
            </a:extLst>
          </p:cNvPr>
          <p:cNvSpPr txBox="1">
            <a:spLocks/>
          </p:cNvSpPr>
          <p:nvPr/>
        </p:nvSpPr>
        <p:spPr>
          <a:xfrm>
            <a:off x="1066800" y="3467100"/>
            <a:ext cx="15720510" cy="87247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El “modelo” consiste en resúmenes basados en particiones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Realizar pruebas estadísticas no paramétricas para una comparación rápida por secciones de dos o más conjuntos de datos masivos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Si existe un conjunto base “bueno”, esta técnica puede detectar secciones potencialmente corruptas en el conjunto de prueba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29749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9A723-98B1-1703-6403-4430D4E4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DCC3F8-5DA1-4D23-B3D2-CB3C828E2DA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B05692E-A214-2C70-3DE9-ACD2EB55153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268E605-569D-272A-DECC-8EB3A41DD6B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14132C0-1B24-C8B2-0B9A-D98D358A19F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4861223-025B-F0E8-9D03-B9BA75B16C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093C379-FE26-800B-ACF4-709604F9EE0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0DE9B54-EDB4-7138-747B-EB0A6DEFF27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C423CDD-6F12-2B33-6912-BCD2480105D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FE747B0-5B95-4787-ADE1-BA4C0E52950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D43CE41-45E4-D8D0-9F4E-EE80C85A9C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0678BD37-2EA2-CA6F-56C2-2263F057240B}"/>
              </a:ext>
            </a:extLst>
          </p:cNvPr>
          <p:cNvSpPr txBox="1">
            <a:spLocks/>
          </p:cNvSpPr>
          <p:nvPr/>
        </p:nvSpPr>
        <p:spPr>
          <a:xfrm>
            <a:off x="4495800" y="968983"/>
            <a:ext cx="8229600" cy="716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Bondad de ajuste - 1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B4798FB7-565C-60D6-4840-AFC5BC99317C}"/>
              </a:ext>
            </a:extLst>
          </p:cNvPr>
          <p:cNvSpPr txBox="1">
            <a:spLocks/>
          </p:cNvSpPr>
          <p:nvPr/>
        </p:nvSpPr>
        <p:spPr>
          <a:xfrm>
            <a:off x="1547310" y="2988202"/>
            <a:ext cx="14630400" cy="70483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Prueba chi‑cuadrado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¿Los atributos son independientes?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¿La distribución observada (discreta) coincide con la distribución asumida?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Pruebas de normalidad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Gráficos Q‑Q (visual)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Prueba de </a:t>
            </a:r>
            <a:r>
              <a:rPr lang="es-ES" sz="4400" dirty="0" err="1"/>
              <a:t>Kolmogorov‑Smirnov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Divergencia de </a:t>
            </a:r>
            <a:r>
              <a:rPr lang="es-ES" sz="4400" dirty="0" err="1"/>
              <a:t>Kullback‑Leibler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0">
              <a:spcBef>
                <a:spcPts val="799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68487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332BC-A331-9D80-57FB-3E4D704BE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0EDABA-B5C3-D787-0AF3-20CCA696DBA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8B5674B-7DEC-D6F4-FD6F-A4B291742AE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9893127-8B69-D3B0-D726-17A88B70A6D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AB4E783-41D1-E377-20EB-12D1DD2559D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70C8AD6-6975-493A-BCF9-23F8B768CD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3AA9773-A86F-B8C0-26A4-102982A096E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D835EBC-C652-5745-BCDB-823A2EF481E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83B47C0-9E7E-F233-B8CD-D152D10FA58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6B700BB-446E-80BA-578D-D50741B3B41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FDA4B58-8D01-ECDD-FA46-6A184C7A34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93F7D7BF-D1B1-C328-55A4-0BBFFE568398}"/>
              </a:ext>
            </a:extLst>
          </p:cNvPr>
          <p:cNvSpPr txBox="1">
            <a:spLocks/>
          </p:cNvSpPr>
          <p:nvPr/>
        </p:nvSpPr>
        <p:spPr>
          <a:xfrm>
            <a:off x="4267200" y="397483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Bondad de ajuste - 2</a:t>
            </a:r>
            <a:endParaRPr lang="es-CO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14D03C73-2014-AF44-DCD9-5113F160D4F1}"/>
              </a:ext>
            </a:extLst>
          </p:cNvPr>
          <p:cNvSpPr txBox="1">
            <a:spLocks/>
          </p:cNvSpPr>
          <p:nvPr/>
        </p:nvSpPr>
        <p:spPr>
          <a:xfrm>
            <a:off x="990600" y="2247900"/>
            <a:ext cx="15783187" cy="80391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5400" dirty="0"/>
              <a:t>Análisis de residuales</a:t>
            </a:r>
            <a:endParaRPr lang="es-ES" sz="5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Desviación de puntos individuales respecto al modelo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Patrones en los residuales revelan insuficiencias del modelo o violaciones de supuestos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Revela sesgo (datos no lineales) y peculiaridades (la varianza de un atributo es función de otros)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Gráficos de residuales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343080" indent="0">
              <a:spcBef>
                <a:spcPts val="799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76339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B03C5-15AA-23E4-0508-6082D316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6B67ED-77BC-07C1-FF6A-511BAEB43D8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760FF39-0C24-711F-CE35-F90A9D985FC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0E31A15-2467-B6F2-755E-6877329EAE2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195A1C3-1B48-A2BF-18BC-59071775730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126CC38-63BE-A044-DE7F-0011810EA78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10C64CB-49E4-4EC3-9767-31080891D85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ECF5131-F2BA-EAC1-BD3C-009FF208E98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EDFB477-9BEC-F41E-0DFE-0A5D39CF983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5E67D75-032C-0FBA-C7D9-D036D2F902C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53CAB8D-13DB-4E6E-7679-0BCCCD5A08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036335AC-085C-1846-B0D7-0A6C4AEA73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9055621"/>
              </p:ext>
            </p:extLst>
          </p:nvPr>
        </p:nvGraphicFramePr>
        <p:xfrm>
          <a:off x="4300411" y="1471463"/>
          <a:ext cx="8393160" cy="6262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Word.Document.12">
                  <p:embed/>
                </p:oleObj>
              </mc:Choice>
              <mc:Fallback>
                <p:oleObj r:id="rId5" imgW="0" imgH="0" progId="Word.Document.12">
                  <p:embed/>
                  <p:pic>
                    <p:nvPicPr>
                      <p:cNvPr id="217" name="Objeto 216"/>
                      <p:cNvPicPr/>
                      <p:nvPr/>
                    </p:nvPicPr>
                    <p:blipFill>
                      <a:blip r:embed="rId6"/>
                      <a:stretch/>
                    </p:blipFill>
                    <p:spPr>
                      <a:xfrm>
                        <a:off x="4300411" y="1471463"/>
                        <a:ext cx="8393160" cy="626256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DBBDF85-56DB-3F0D-F072-1B6D7BA99C3D}"/>
              </a:ext>
            </a:extLst>
          </p:cNvPr>
          <p:cNvSpPr/>
          <p:nvPr/>
        </p:nvSpPr>
        <p:spPr>
          <a:xfrm>
            <a:off x="5172240" y="7731180"/>
            <a:ext cx="183960" cy="701640"/>
          </a:xfrm>
          <a:prstGeom prst="rect">
            <a:avLst/>
          </a:prstGeom>
          <a:noFill/>
          <a:ln w="0">
            <a:noFill/>
          </a:ln>
          <a:effectLst/>
        </p:spPr>
        <p:txBody>
          <a:bodyPr wrap="none" lIns="90000" tIns="46800" rIns="90000" bIns="468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816AC15-088E-592A-B406-79F39CD92825}"/>
              </a:ext>
            </a:extLst>
          </p:cNvPr>
          <p:cNvSpPr/>
          <p:nvPr/>
        </p:nvSpPr>
        <p:spPr>
          <a:xfrm>
            <a:off x="4572000" y="8457272"/>
            <a:ext cx="8201880" cy="398880"/>
          </a:xfrm>
          <a:prstGeom prst="rect">
            <a:avLst/>
          </a:prstGeom>
          <a:noFill/>
          <a:ln w="0">
            <a:noFill/>
          </a:ln>
          <a:effectLst/>
        </p:spPr>
        <p:txBody>
          <a:bodyPr wrap="none" lIns="90000" tIns="46800" rIns="90000" bIns="468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http://www.socstats.soton.ac.uk/courses/st207307/lecture_slides/l4.doc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7447A51-3E6C-6716-62FB-42666BCA738C}"/>
              </a:ext>
            </a:extLst>
          </p:cNvPr>
          <p:cNvSpPr/>
          <p:nvPr/>
        </p:nvSpPr>
        <p:spPr>
          <a:xfrm>
            <a:off x="6781800" y="280517"/>
            <a:ext cx="6527520" cy="703440"/>
          </a:xfrm>
          <a:prstGeom prst="rect">
            <a:avLst/>
          </a:prstGeom>
          <a:noFill/>
          <a:ln w="0">
            <a:noFill/>
          </a:ln>
          <a:effectLst/>
        </p:spPr>
        <p:txBody>
          <a:bodyPr wrap="none" lIns="90000" tIns="46800" rIns="90000" bIns="468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Detectando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heterocedasticidad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23098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4CF9-D7AD-BA0A-383C-FEB871B5F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1AE56C-27C3-9268-FF83-6486393A47E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68017D9-35C3-B6C8-AA10-DCD62C3E6EED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EEFC0DD-8A09-4C75-58CA-E2DFE3C2552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CF7DAF2-972B-A3E0-7D34-C99F20C2C65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66E95B3-283F-9B16-009E-7A2ED4ECAD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4787953-31B5-4D70-3E6F-B92F670ABBD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906ACAB-4448-493E-BF56-2790F1C7DF3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7D4C060-18D2-175F-F974-4CB8650A96E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099C02D-045C-B59A-0A67-9678821143C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CF04F8F-4801-DD85-1386-D7EE2BE3EA9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F58C940D-3006-B584-F518-55C1E72F2015}"/>
              </a:ext>
            </a:extLst>
          </p:cNvPr>
          <p:cNvSpPr txBox="1">
            <a:spLocks/>
          </p:cNvSpPr>
          <p:nvPr/>
        </p:nvSpPr>
        <p:spPr>
          <a:xfrm>
            <a:off x="4191000" y="852650"/>
            <a:ext cx="8229600" cy="639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Valores atípicos geométricos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A6BE1E2-EB9C-0C01-9DB8-683DD950D41D}"/>
              </a:ext>
            </a:extLst>
          </p:cNvPr>
          <p:cNvSpPr txBox="1">
            <a:spLocks/>
          </p:cNvSpPr>
          <p:nvPr/>
        </p:nvSpPr>
        <p:spPr>
          <a:xfrm>
            <a:off x="1140043" y="2552700"/>
            <a:ext cx="15125700" cy="81915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Definir valores atípicos como los puntos en la periferia del conjunto de datos.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“Peeling”: definir capas de profundidad creciente; las capas externas contienen los puntos atípicos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Envolvente convexa (</a:t>
            </a:r>
            <a:r>
              <a:rPr lang="es-ES" sz="3600" dirty="0" err="1"/>
              <a:t>convex</a:t>
            </a:r>
            <a:r>
              <a:rPr lang="es-ES" sz="3600" dirty="0"/>
              <a:t> </a:t>
            </a:r>
            <a:r>
              <a:rPr lang="es-ES" sz="3600" dirty="0" err="1"/>
              <a:t>hull</a:t>
            </a:r>
            <a:r>
              <a:rPr lang="es-ES" sz="3600" dirty="0"/>
              <a:t>): eliminar sucesivos puntos de la envolvente.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Contornos de profundidad: las capas son las capas de profundidad de los datos.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Algoritmos eficientes en 2-D, 3-D.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La complejidad computacional crece rápidamente con la dimensión.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Complejidad Ω(</a:t>
            </a:r>
            <a:r>
              <a:rPr lang="es-ES" sz="3600" dirty="0" err="1"/>
              <a:t>N⌈d</a:t>
            </a:r>
            <a:r>
              <a:rPr lang="es-ES" sz="3600" dirty="0"/>
              <a:t>/2⌉) para N puntos, d dimensiones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45136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57DE-BC6A-D464-A5EB-8E9B8502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2A1B23-A2C8-C437-CB49-9C04657775C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5EABD60-5971-B1A0-7A90-A5A6CF5A03B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BE4146F-C571-565F-B9BA-642C8F4D156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CB39A00-9C81-3D21-4A59-88E8001B063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9357A90-5EB2-2640-1456-02D8AFF8976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8D96EAD-562B-02C5-2495-C9CC33C6ADF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79CD956-9FB0-2A92-B20F-87C46558ACB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56D4BE8-9291-DBDE-C650-189135DBF2D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C12F541-94C9-67B9-E5D3-A3361349477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8163436-93E9-41FA-EF6F-8E9D6138DB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" name="PlaceHolder 1">
            <a:extLst>
              <a:ext uri="{FF2B5EF4-FFF2-40B4-BE49-F238E27FC236}">
                <a16:creationId xmlns:a16="http://schemas.microsoft.com/office/drawing/2014/main" id="{7149830F-F0C2-9175-1096-4CC8D4D19B48}"/>
              </a:ext>
            </a:extLst>
          </p:cNvPr>
          <p:cNvSpPr txBox="1">
            <a:spLocks/>
          </p:cNvSpPr>
          <p:nvPr/>
        </p:nvSpPr>
        <p:spPr>
          <a:xfrm>
            <a:off x="4343400" y="968983"/>
            <a:ext cx="8229600" cy="868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/>
              <a:t>Valores atípicos distribucionales</a:t>
            </a:r>
            <a:endParaRPr lang="es-CO" sz="4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>
            <a:extLst>
              <a:ext uri="{FF2B5EF4-FFF2-40B4-BE49-F238E27FC236}">
                <a16:creationId xmlns:a16="http://schemas.microsoft.com/office/drawing/2014/main" id="{E8358279-FD4C-55BD-B943-4A17D89B6A9B}"/>
              </a:ext>
            </a:extLst>
          </p:cNvPr>
          <p:cNvSpPr txBox="1">
            <a:spLocks/>
          </p:cNvSpPr>
          <p:nvPr/>
        </p:nvSpPr>
        <p:spPr>
          <a:xfrm>
            <a:off x="1066800" y="3009900"/>
            <a:ext cx="15240000" cy="79629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Para cada punto, calcular la distancia máxima a sus k vecinos más cercanos.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DB(</a:t>
            </a:r>
            <a:r>
              <a:rPr lang="es-ES" sz="4000" dirty="0" err="1"/>
              <a:t>p,D</a:t>
            </a:r>
            <a:r>
              <a:rPr lang="es-ES" sz="4000" dirty="0"/>
              <a:t>)-</a:t>
            </a:r>
            <a:r>
              <a:rPr lang="es-ES" sz="4000" dirty="0" err="1"/>
              <a:t>outlier</a:t>
            </a:r>
            <a:r>
              <a:rPr lang="es-ES" sz="4000" dirty="0"/>
              <a:t>: al menos una fracción p de los puntos en la base está a distancia mayor que D.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Algoritmos rápidos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Uno es O(dN2), uno es O(</a:t>
            </a:r>
            <a:r>
              <a:rPr lang="es-ES" sz="4000" dirty="0" err="1"/>
              <a:t>cd+N</a:t>
            </a:r>
            <a:r>
              <a:rPr lang="es-ES" sz="4000" dirty="0"/>
              <a:t>)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Valores atípicos locales: ajustar la definición según la densidad de los clústeres cercanos.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36364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8AEFA-9A79-BA54-E08A-70E3FDB5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765DC0-B869-5296-90CD-C21207E53E8C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B36FE00-6195-7305-3FEB-C10A765FC44A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2628E2C-F0FF-EE54-B54F-8D5080D8416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4012ADD-F626-54C1-A1F7-BAFD3D3FD06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3CAAEDF-5448-86CF-286A-3BEA437E26B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42D1D3F-1BC3-209D-2FBB-98E517F37F1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A949D4C-4FE3-E539-8519-4CA48FE2842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4DFB5FE-937A-2DAD-A8D1-462CEF17BD1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49CDBD8-5FFB-1EF1-2B7D-3D223499857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D9944F5-AE5D-B8E2-0731-471DA15150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FFDC57DE-A74F-DF29-4B77-01AAE462ADC0}"/>
              </a:ext>
            </a:extLst>
          </p:cNvPr>
          <p:cNvSpPr txBox="1">
            <a:spLocks/>
          </p:cNvSpPr>
          <p:nvPr/>
        </p:nvSpPr>
        <p:spPr>
          <a:xfrm>
            <a:off x="1545609" y="247941"/>
            <a:ext cx="13868400" cy="15621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Valores atípicos en series temporales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ED835E5-DAE5-37C6-62B9-D82A85C3877F}"/>
              </a:ext>
            </a:extLst>
          </p:cNvPr>
          <p:cNvSpPr txBox="1">
            <a:spLocks/>
          </p:cNvSpPr>
          <p:nvPr/>
        </p:nvSpPr>
        <p:spPr>
          <a:xfrm>
            <a:off x="1524000" y="2552700"/>
            <a:ext cx="13487400" cy="80392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Los datos son una serie temporal de mediciones de una gran colección de entidades (p. ej. uso de clientes).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Un vector de mediciones define una trayectoria para una entidad.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Una trayectoria puede estar </a:t>
            </a:r>
            <a:r>
              <a:rPr lang="es-ES" sz="3600" dirty="0" err="1"/>
              <a:t>glitcheada</a:t>
            </a:r>
            <a:r>
              <a:rPr lang="es-ES" sz="3600" dirty="0"/>
              <a:t> y también puede hacer cambios radicales pero válidos.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Enfoque: desarrollar modelos basados en el comportamiento pasado de la entidad (interno) y en el comportamiento de todas las entidades (relativo).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Encontrar posibles fallos: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Trayectorias de fallos comunes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Desviaciones respecto al comportamiento interno y relativo.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43567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7E0E-5C3C-2148-3287-B0F42172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CDD40F-D193-9026-F8EA-2BA81D620A4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3464990-44F9-496F-1548-733C887344B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6319013-6793-C1C2-FF20-3A339C0FA9D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3C1B04B-3108-61E8-30FC-1468D8570F0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5E264C4-586B-7FBE-AC79-29AFCCB81AD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12AB309-3790-8C54-5BB4-DDCEBAA7360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E3FE9BC-89DB-765C-396F-4321FF25C80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03D2797-1110-42CF-5161-7E9B0E3F79C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D472602-D1F7-5040-227B-BDE274F9472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1679C6A-3A93-77BF-383F-3C32B5F551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93AC37EE-4D9C-8739-F5B2-BBFA5CAB347F}"/>
              </a:ext>
            </a:extLst>
          </p:cNvPr>
          <p:cNvSpPr txBox="1">
            <a:spLocks/>
          </p:cNvSpPr>
          <p:nvPr/>
        </p:nvSpPr>
        <p:spPr>
          <a:xfrm>
            <a:off x="4534068" y="523935"/>
            <a:ext cx="8229600" cy="639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Herramientas de bases de datos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C9CBD38-D5B6-AECB-B157-E8C90A44222E}"/>
              </a:ext>
            </a:extLst>
          </p:cNvPr>
          <p:cNvSpPr txBox="1">
            <a:spLocks/>
          </p:cNvSpPr>
          <p:nvPr/>
        </p:nvSpPr>
        <p:spPr>
          <a:xfrm>
            <a:off x="1219368" y="1866900"/>
            <a:ext cx="14859000" cy="81919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La mayoría de los SGBD proporcionan muchas herramientas de consistencia de datos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Transacciones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Tipos de datos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Dominios (conjunto restringido de valores de campo)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Restricciones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Restricciones de columna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lvl="3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 err="1"/>
              <a:t>Not</a:t>
            </a:r>
            <a:r>
              <a:rPr lang="es-ES" sz="3200" dirty="0"/>
              <a:t> </a:t>
            </a:r>
            <a:r>
              <a:rPr lang="es-ES" sz="3200" dirty="0" err="1"/>
              <a:t>Null</a:t>
            </a:r>
            <a:r>
              <a:rPr lang="es-ES" sz="3200" dirty="0"/>
              <a:t>, </a:t>
            </a:r>
            <a:r>
              <a:rPr lang="es-ES" sz="3200" dirty="0" err="1"/>
              <a:t>Unique</a:t>
            </a:r>
            <a:r>
              <a:rPr lang="es-ES" sz="3200" dirty="0"/>
              <a:t>, restricción de valores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Restricciones de tabla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lvl="3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Restricciones de clave primaria y foránea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Lenguaje de consulta potente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 err="1"/>
              <a:t>Triggers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 err="1"/>
              <a:t>Timestamps</a:t>
            </a:r>
            <a:r>
              <a:rPr lang="es-ES" sz="4000" dirty="0"/>
              <a:t>, SGBD temporales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0607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00E2E-FCAE-FF84-7E97-9796B7E7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0EBD0E-A8F9-1CBD-AD10-AEF01C69835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AA1951D-0F9C-E16D-DA62-F6176A4B77EA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5E05660-1087-9288-EA7D-0A68F269C0E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0EC27DD-888F-CE3C-38B8-4DC54516355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2E93285-7989-C36F-9C02-9ACC062955F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B02AFB0-1178-71F9-0332-FEADA7785BC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62EF9CC-F432-ACC6-DD13-AB59092D1DF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25624A2-0C9F-DC19-8A01-B944AEE050B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B826C8C-7812-ED8F-8F12-223CCB72C63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5BFE9A1-4600-1A1C-009C-4E3FCF64F0E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556A3476-9C7B-1EB3-E586-3BEA9F24BF6B}"/>
              </a:ext>
            </a:extLst>
          </p:cNvPr>
          <p:cNvSpPr txBox="1">
            <a:spLocks/>
          </p:cNvSpPr>
          <p:nvPr/>
        </p:nvSpPr>
        <p:spPr>
          <a:xfrm>
            <a:off x="1295400" y="249855"/>
            <a:ext cx="14325600" cy="16386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Entonces, ¿por qué todas las BD están sucias?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2B56D4F0-21C2-7E7D-D069-B3507231A62F}"/>
              </a:ext>
            </a:extLst>
          </p:cNvPr>
          <p:cNvSpPr txBox="1">
            <a:spLocks/>
          </p:cNvSpPr>
          <p:nvPr/>
        </p:nvSpPr>
        <p:spPr>
          <a:xfrm>
            <a:off x="914400" y="2095500"/>
            <a:ext cx="15773400" cy="81157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Las restricciones de consistencia a menudo no se usan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Costo de imponer la restricción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2800" dirty="0"/>
              <a:t>P. ej., claves foráneas, </a:t>
            </a:r>
            <a:r>
              <a:rPr lang="es-ES" sz="2800" dirty="0" err="1"/>
              <a:t>triggers</a:t>
            </a:r>
            <a:r>
              <a:rPr lang="es-ES" sz="2800" dirty="0"/>
              <a:t>.</a:t>
            </a:r>
            <a:endParaRPr lang="es-ES" sz="2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Pérdida de flexibilidad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Restricciones no entendidas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2800" dirty="0"/>
              <a:t>P. ej., bases de datos grandes y complejas con requisitos que cambian rápidamente</a:t>
            </a:r>
            <a:endParaRPr lang="es-ES" sz="2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El DBA no sabe / no le importa.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Basura entra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BD fusionadas, federadas, extraídas de la web.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Problemas indetectables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Valores incorrectos, datos faltantes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Metadatos no mantenidos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FF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La base de datos es demasiado compleja para entender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1523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B5DEC-6F0F-0889-8C46-FED6DF7F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DBACBA-EDC1-F8BA-FF83-56AA8E7C78C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8C99D56-83B8-36CF-4290-8B7877C8CE1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44159FF-B391-8E65-7566-167B1B11AFF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60AEB06-A966-0278-BFFC-0DCBF2DC0C8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419F587-68D7-5235-3901-681884A8B4B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AF24FC0-B2A9-9CD2-F6D2-281D7535AA7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8DE663B-5D5B-AA3B-E65B-53EC0E5B9B2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AF6280A-40CE-26D9-34C9-299EA006CF8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E81CB94-0209-D8FB-0C7E-0552191B8F9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2C323FD-C4FB-BF00-51DE-A690B3AB62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361ADBCE-F537-2223-1FE2-2FE6EF0ACFD5}"/>
              </a:ext>
            </a:extLst>
          </p:cNvPr>
          <p:cNvSpPr txBox="1">
            <a:spLocks/>
          </p:cNvSpPr>
          <p:nvPr/>
        </p:nvSpPr>
        <p:spPr>
          <a:xfrm>
            <a:off x="1365913" y="76991"/>
            <a:ext cx="13716000" cy="17148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Demasiado complejo para entender…</a:t>
            </a:r>
            <a:endParaRPr lang="es-CO" sz="3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B20E77D4-9FF3-A54A-38C4-B5F99487E808}"/>
              </a:ext>
            </a:extLst>
          </p:cNvPr>
          <p:cNvSpPr txBox="1">
            <a:spLocks/>
          </p:cNvSpPr>
          <p:nvPr/>
        </p:nvSpPr>
        <p:spPr>
          <a:xfrm>
            <a:off x="1143000" y="2171700"/>
            <a:ext cx="13944600" cy="85729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Recuerda la Lección anterior: diagramas ER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Modelar incluso problemas de juguete se vuelve complicado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Consecuencias no intencionadas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Mejor ejemplo: eliminaciones en cascada para imponer restricciones de participación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Considera la tabla </a:t>
            </a:r>
            <a:r>
              <a:rPr lang="es-ES" sz="3200" dirty="0" err="1"/>
              <a:t>salesforce</a:t>
            </a:r>
            <a:r>
              <a:rPr lang="es-ES" sz="3200" dirty="0"/>
              <a:t> y la tabla sales. Restricción de participación de </a:t>
            </a:r>
            <a:r>
              <a:rPr lang="es-ES" sz="3200" dirty="0" err="1"/>
              <a:t>salesforce</a:t>
            </a:r>
            <a:r>
              <a:rPr lang="es-ES" sz="3200" dirty="0"/>
              <a:t> en sales. Luego despides a un vendedor…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La vida real es complicada. Es difícil anticipar situaciones especiales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Ejemplo de libro de dependencias funcionales: el código postal determina el estado. Excepto algunos códigos postales en regiones poco pobladas que cruzan estados.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0">
              <a:lnSpc>
                <a:spcPct val="90000"/>
              </a:lnSpc>
              <a:spcBef>
                <a:spcPts val="601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44767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4148C-7CA0-66B8-BE02-531729C60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3A3F19-9099-9958-8F84-AB8878EEC9E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7D80AAF-CC63-A928-D41D-AE52CDF0080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159C902-ADC0-2778-520A-049E2B4B9F0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3165961-F880-AACC-C21D-CEE063B27E3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C0F2777-FB63-119A-8797-6D445ED1CDA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7D0DB69-49E0-E0E3-4F15-AD10C80E8D5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82EFB59-E01C-2AFC-C032-3FF2DF6E71D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DE3C206-904E-9054-F9E8-6E6B6A09AE3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D3DFA20-F3A1-EA4E-731E-56769F4F4E6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63397C5-50F5-E7ED-1BC9-FD4B824731E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A1ACB528-3861-A4F1-4EB4-73CBF75185DD}"/>
              </a:ext>
            </a:extLst>
          </p:cNvPr>
          <p:cNvSpPr txBox="1">
            <a:spLocks/>
          </p:cNvSpPr>
          <p:nvPr/>
        </p:nvSpPr>
        <p:spPr>
          <a:xfrm>
            <a:off x="4500861" y="814490"/>
            <a:ext cx="8229600" cy="716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/>
              <a:t>ETL</a:t>
            </a:r>
            <a:endParaRPr lang="es-CO" sz="4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13FBF3A5-C959-CF6C-9EF5-7365D5E53BEA}"/>
              </a:ext>
            </a:extLst>
          </p:cNvPr>
          <p:cNvSpPr txBox="1">
            <a:spLocks/>
          </p:cNvSpPr>
          <p:nvPr/>
        </p:nvSpPr>
        <p:spPr>
          <a:xfrm>
            <a:off x="990600" y="2400300"/>
            <a:ext cx="15250122" cy="77346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Proporciona herramientas para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Acceder a datos (drivers de BD, </a:t>
            </a:r>
            <a:r>
              <a:rPr lang="es-ES" sz="4000" dirty="0" err="1"/>
              <a:t>fetch</a:t>
            </a:r>
            <a:r>
              <a:rPr lang="es-ES" sz="4000" dirty="0"/>
              <a:t> de páginas web, herramientas de </a:t>
            </a:r>
            <a:r>
              <a:rPr lang="es-ES" sz="4000" dirty="0" err="1"/>
              <a:t>parseo</a:t>
            </a:r>
            <a:r>
              <a:rPr lang="es-ES" sz="4000" dirty="0"/>
              <a:t>)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Validar datos (asegurar restricciones)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Transformar datos (p. ej. direcciones, teléfonos)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Cargar datos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Diseñar automatización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Mapeo de esquemas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Consultas a conjuntos de datos con interfaces limitadas (consultas web)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18266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D73A1-4F1C-44CE-24F9-BD0CD156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3052C6-9F19-FECD-C500-97CEC0024BA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A603954-3B0F-0940-1C5E-0813ADA47FA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C043920-27C4-52F9-5C90-715CDFE94A0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61E23D3-5DEF-0662-F756-F6EB2E1CBC0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65A9EA2-61C7-48FF-3E64-8943D130CA8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8A47FAB-9162-343A-2962-64CD2DC21AF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EB2B44B-163D-EC8D-D5DA-410D2EB9F92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48629DE-B2FF-CE52-70CA-E044FA66BF9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D574C7C-50DF-8DED-541B-889F4177E52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6C4447F-775D-FE79-1B0E-0B28FE628A1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5CA5081D-584C-A369-3666-7689297F4408}"/>
              </a:ext>
            </a:extLst>
          </p:cNvPr>
          <p:cNvSpPr txBox="1">
            <a:spLocks/>
          </p:cNvSpPr>
          <p:nvPr/>
        </p:nvSpPr>
        <p:spPr>
          <a:xfrm>
            <a:off x="3951960" y="165390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/>
              <a:t>(Ejemplo de mapeo de esquema [MHH00])</a:t>
            </a:r>
            <a:endParaRPr lang="es-CO" sz="32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0F56BA7-AC64-2BAA-A6B0-4DDE4814BD0F}"/>
              </a:ext>
            </a:extLst>
          </p:cNvPr>
          <p:cNvSpPr/>
          <p:nvPr/>
        </p:nvSpPr>
        <p:spPr>
          <a:xfrm>
            <a:off x="4650000" y="2873580"/>
            <a:ext cx="1383480" cy="459720"/>
          </a:xfrm>
          <a:prstGeom prst="rect">
            <a:avLst/>
          </a:prstGeom>
          <a:noFill/>
          <a:ln w="158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ID   Dir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03FE22D-44E9-2A7A-EEE9-3993948DFDF1}"/>
              </a:ext>
            </a:extLst>
          </p:cNvPr>
          <p:cNvSpPr/>
          <p:nvPr/>
        </p:nvSpPr>
        <p:spPr>
          <a:xfrm>
            <a:off x="4650360" y="4016580"/>
            <a:ext cx="2162520" cy="459720"/>
          </a:xfrm>
          <a:prstGeom prst="rect">
            <a:avLst/>
          </a:prstGeom>
          <a:noFill/>
          <a:ln w="158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ID   Nombre  Salario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4EA90A4-1B30-0A30-2A5C-24C2F45BF013}"/>
              </a:ext>
            </a:extLst>
          </p:cNvPr>
          <p:cNvSpPr/>
          <p:nvPr/>
        </p:nvSpPr>
        <p:spPr>
          <a:xfrm>
            <a:off x="4649640" y="5159580"/>
            <a:ext cx="2382840" cy="459720"/>
          </a:xfrm>
          <a:prstGeom prst="rect">
            <a:avLst/>
          </a:prstGeom>
          <a:noFill/>
          <a:ln w="158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Nombre  GPA  Año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3B66586-356F-A9C8-6343-BF7DEA9C83C1}"/>
              </a:ext>
            </a:extLst>
          </p:cNvPr>
          <p:cNvSpPr/>
          <p:nvPr/>
        </p:nvSpPr>
        <p:spPr>
          <a:xfrm>
            <a:off x="4651080" y="6302580"/>
            <a:ext cx="2145240" cy="459720"/>
          </a:xfrm>
          <a:prstGeom prst="rect">
            <a:avLst/>
          </a:prstGeom>
          <a:noFill/>
          <a:ln w="158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Rango   TarifaHora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772B7E2-D0C4-290D-5F80-2AFF1D878BF2}"/>
              </a:ext>
            </a:extLst>
          </p:cNvPr>
          <p:cNvSpPr/>
          <p:nvPr/>
        </p:nvSpPr>
        <p:spPr>
          <a:xfrm>
            <a:off x="4650000" y="7429740"/>
            <a:ext cx="4093200" cy="459720"/>
          </a:xfrm>
          <a:prstGeom prst="rect">
            <a:avLst/>
          </a:prstGeom>
          <a:noFill/>
          <a:ln w="158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Nombre   Proy   Hrs   RangoProy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9188BCF-9146-8C13-DEDE-2939E2ECAE30}"/>
              </a:ext>
            </a:extLst>
          </p:cNvPr>
          <p:cNvSpPr/>
          <p:nvPr/>
        </p:nvSpPr>
        <p:spPr>
          <a:xfrm>
            <a:off x="4395480" y="2416380"/>
            <a:ext cx="129888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Dirección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B66ADEB-FE33-1A77-558C-036B272FE43B}"/>
              </a:ext>
            </a:extLst>
          </p:cNvPr>
          <p:cNvSpPr/>
          <p:nvPr/>
        </p:nvSpPr>
        <p:spPr>
          <a:xfrm>
            <a:off x="4410960" y="3559380"/>
            <a:ext cx="148500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Profesor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6A8FD7C-F2E1-2D25-B1A9-2375C513432D}"/>
              </a:ext>
            </a:extLst>
          </p:cNvPr>
          <p:cNvSpPr/>
          <p:nvPr/>
        </p:nvSpPr>
        <p:spPr>
          <a:xfrm>
            <a:off x="4395120" y="4702380"/>
            <a:ext cx="123156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Estudiante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1C2C441-656C-A207-A57E-FC285A9BE7A8}"/>
              </a:ext>
            </a:extLst>
          </p:cNvPr>
          <p:cNvSpPr/>
          <p:nvPr/>
        </p:nvSpPr>
        <p:spPr>
          <a:xfrm>
            <a:off x="4411320" y="5845380"/>
            <a:ext cx="134964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TarifaDePago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DBF7033-ED35-0ECE-2B7E-6EFFE44874C8}"/>
              </a:ext>
            </a:extLst>
          </p:cNvPr>
          <p:cNvSpPr/>
          <p:nvPr/>
        </p:nvSpPr>
        <p:spPr>
          <a:xfrm>
            <a:off x="4486920" y="6951660"/>
            <a:ext cx="145080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TrabajaEn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80C131F-7E0E-6A71-D656-52ABC255A333}"/>
              </a:ext>
            </a:extLst>
          </p:cNvPr>
          <p:cNvSpPr/>
          <p:nvPr/>
        </p:nvSpPr>
        <p:spPr>
          <a:xfrm>
            <a:off x="10092120" y="3178140"/>
            <a:ext cx="155304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Personal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88C61A4-F656-2821-E364-7384B6B32CA9}"/>
              </a:ext>
            </a:extLst>
          </p:cNvPr>
          <p:cNvSpPr/>
          <p:nvPr/>
        </p:nvSpPr>
        <p:spPr>
          <a:xfrm>
            <a:off x="10591800" y="3619500"/>
            <a:ext cx="1620720" cy="459720"/>
          </a:xfrm>
          <a:prstGeom prst="rect">
            <a:avLst/>
          </a:prstGeom>
          <a:noFill/>
          <a:ln w="158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Nombre  Salario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5FA1BB0C-54FC-B569-8536-5DC96EDC6F38}"/>
              </a:ext>
            </a:extLst>
          </p:cNvPr>
          <p:cNvSpPr/>
          <p:nvPr/>
        </p:nvSpPr>
        <p:spPr>
          <a:xfrm>
            <a:off x="6923760" y="3571980"/>
            <a:ext cx="3581280" cy="596880"/>
          </a:xfrm>
          <a:custGeom>
            <a:avLst/>
            <a:gdLst/>
            <a:ahLst/>
            <a:cxnLst/>
            <a:rect l="l" t="t" r="r" b="b"/>
            <a:pathLst>
              <a:path w="2256" h="376">
                <a:moveTo>
                  <a:pt x="0" y="376"/>
                </a:moveTo>
                <a:cubicBezTo>
                  <a:pt x="364" y="228"/>
                  <a:pt x="728" y="80"/>
                  <a:pt x="1104" y="40"/>
                </a:cubicBezTo>
                <a:cubicBezTo>
                  <a:pt x="1480" y="0"/>
                  <a:pt x="1868" y="68"/>
                  <a:pt x="2256" y="136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54045510-95C0-734C-A3E8-784491ED57A1}"/>
              </a:ext>
            </a:extLst>
          </p:cNvPr>
          <p:cNvSpPr/>
          <p:nvPr/>
        </p:nvSpPr>
        <p:spPr>
          <a:xfrm>
            <a:off x="6923760" y="4321140"/>
            <a:ext cx="3962520" cy="2718000"/>
          </a:xfrm>
          <a:custGeom>
            <a:avLst/>
            <a:gdLst/>
            <a:ahLst/>
            <a:cxnLst/>
            <a:rect l="l" t="t" r="r" b="b"/>
            <a:pathLst>
              <a:path w="2496" h="1712">
                <a:moveTo>
                  <a:pt x="0" y="1392"/>
                </a:moveTo>
                <a:cubicBezTo>
                  <a:pt x="396" y="1552"/>
                  <a:pt x="792" y="1712"/>
                  <a:pt x="1152" y="1584"/>
                </a:cubicBezTo>
                <a:cubicBezTo>
                  <a:pt x="1512" y="1456"/>
                  <a:pt x="1936" y="888"/>
                  <a:pt x="2160" y="624"/>
                </a:cubicBezTo>
                <a:cubicBezTo>
                  <a:pt x="2384" y="360"/>
                  <a:pt x="2440" y="180"/>
                  <a:pt x="2496" y="0"/>
                </a:cubicBezTo>
              </a:path>
            </a:pathLst>
          </a:custGeom>
          <a:noFill/>
          <a:ln w="1584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33034764-D1E5-9C20-5540-021330471AAA}"/>
              </a:ext>
            </a:extLst>
          </p:cNvPr>
          <p:cNvSpPr/>
          <p:nvPr/>
        </p:nvSpPr>
        <p:spPr>
          <a:xfrm flipV="1">
            <a:off x="8904840" y="5997300"/>
            <a:ext cx="838440" cy="1676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B471359-E55D-79C7-B86C-4429720E3291}"/>
              </a:ext>
            </a:extLst>
          </p:cNvPr>
          <p:cNvSpPr/>
          <p:nvPr/>
        </p:nvSpPr>
        <p:spPr>
          <a:xfrm>
            <a:off x="7748880" y="3141780"/>
            <a:ext cx="160416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Mapeo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B2FF502-FCDF-D8BB-F957-7E365F96E18D}"/>
              </a:ext>
            </a:extLst>
          </p:cNvPr>
          <p:cNvSpPr/>
          <p:nvPr/>
        </p:nvSpPr>
        <p:spPr>
          <a:xfrm>
            <a:off x="9882240" y="6189900"/>
            <a:ext cx="160416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Mapeo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03045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43F4-05C6-212E-2264-1F3C2CB5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899BF9-3CBC-201D-5B7D-6ADAED4A8DD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6217725-90C1-326A-7226-E22154C802FD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63A1B22-90F2-A276-EE5A-9A85AFDB3AE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2F190F7-9D74-5EBF-4A07-5C82AB8D160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C928B68-BF7D-E36E-888C-D5FFCD49423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F63875C-8DA4-C281-1F8A-E2EC092E0C1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641932-17DC-CFAC-1099-80B2E1AEDE5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B108718-2E58-FDE0-9D20-DAEF706C235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DCA0A29-4211-75AB-2DDF-E9752A9145F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1461C78-3B16-B60D-E494-97E840DC20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8676BA1D-AFD2-4C30-8008-81C3CAE3134C}"/>
              </a:ext>
            </a:extLst>
          </p:cNvPr>
          <p:cNvSpPr txBox="1">
            <a:spLocks/>
          </p:cNvSpPr>
          <p:nvPr/>
        </p:nvSpPr>
        <p:spPr>
          <a:xfrm>
            <a:off x="4693363" y="968983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Extracción web (web </a:t>
            </a:r>
            <a:r>
              <a:rPr lang="es-CO" dirty="0" err="1"/>
              <a:t>scraping</a:t>
            </a:r>
            <a:r>
              <a:rPr lang="es-CO" dirty="0"/>
              <a:t>)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5726F92A-4B62-04AD-5D8A-73F736AA35B8}"/>
              </a:ext>
            </a:extLst>
          </p:cNvPr>
          <p:cNvSpPr txBox="1">
            <a:spLocks/>
          </p:cNvSpPr>
          <p:nvPr/>
        </p:nvSpPr>
        <p:spPr>
          <a:xfrm>
            <a:off x="990768" y="2857500"/>
            <a:ext cx="15087600" cy="79631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Hay muchos datos en la web, pero están mezclados con mucho “ruido”.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Problemas: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Interfaces de consulta limitadas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Rellenar formularios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Campos de “texto libre”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P. ej. direcciones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Salida inconsistente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Es decir, las etiquetas HTML que marcan campos interesantes pueden variar entre páginas.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Cambio rápido sin aviso.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28690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EFCA5-8F74-A5A2-2D5B-2D27BFC3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196192-61A2-0DEA-F463-1ACD9513642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6DD73FC-2733-B718-6618-B37137B69BA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8C2DBBF-00DB-5218-5959-F6676CD2E39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998AA90-C4FE-E013-8A20-FF6639E2258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607E26CA-487A-ABD2-58AB-C9655B9F570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426D38C-C020-85B2-A8E2-F671B0A4BE7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078C3CC-7448-D474-F2A4-2C7EFE9965F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0E5EFA3-5562-631E-5065-5C903DCE4E2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701A712-6B6C-A03C-1A3B-2D86A24ADE3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FE4B001-65EC-7C9B-C014-7C34D3170EB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105FAEEA-335E-213F-56CA-64982ACD39A9}"/>
              </a:ext>
            </a:extLst>
          </p:cNvPr>
          <p:cNvSpPr txBox="1">
            <a:spLocks/>
          </p:cNvSpPr>
          <p:nvPr/>
        </p:nvSpPr>
        <p:spPr>
          <a:xfrm>
            <a:off x="4572000" y="474835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Coincidencia aproximada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F030785-2227-7650-EA67-7EB8CE89447C}"/>
              </a:ext>
            </a:extLst>
          </p:cNvPr>
          <p:cNvSpPr txBox="1">
            <a:spLocks/>
          </p:cNvSpPr>
          <p:nvPr/>
        </p:nvSpPr>
        <p:spPr>
          <a:xfrm>
            <a:off x="1028700" y="2019300"/>
            <a:ext cx="15316200" cy="81157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Relacionar tuplas cuyos campos están “cerca”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Coincidencia aproximada de cadenas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En general, basada en distancia de edición.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Expresión SQL rápida usando un índice de q-</a:t>
            </a:r>
            <a:r>
              <a:rPr lang="es-ES" sz="3200" dirty="0" err="1"/>
              <a:t>grams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Coincidencia aproximada de árboles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Para XML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Mucho más costosa que la coincidencia de cadenas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Investigación reciente en aproximaciones rápidas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Coincidencia por vector de características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Búsqueda por similitud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Muchas técnicas discutidas en la literatura de minería de datos.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Coincidencia ad hoc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Busca un truco ingenioso.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84640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AF48C-95FA-DFD0-92F2-8CF11FFB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3108D72-58A7-1B32-EC1F-EF79C60B6AB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3636C78-400A-A484-7162-5F3093547B4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AB07ECD-BB38-18E5-24EC-63D512A76F3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4DF1F1A-5EC6-9207-407B-20FBCF41C41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E3114EB-9CBE-A6AD-7914-B0BE85B4509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2DE6BA-C1C9-2CF3-5014-BC08ECDD70C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D2E3EFB-71D1-5989-B7F6-D2D913BD2BC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ECDEB79-8F3B-8DC8-713A-FA1E5B89AC7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BF624AD-0D26-2D23-8A7C-22F18AD652B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6D6994C-C255-9215-58D9-3A5E772666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1378389D-6F54-D788-FF33-8A3EC353327C}"/>
              </a:ext>
            </a:extLst>
          </p:cNvPr>
          <p:cNvSpPr txBox="1">
            <a:spLocks/>
          </p:cNvSpPr>
          <p:nvPr/>
        </p:nvSpPr>
        <p:spPr>
          <a:xfrm>
            <a:off x="1186787" y="474835"/>
            <a:ext cx="15316200" cy="17910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Uniones aproximadas y eliminación de duplicados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0A0FBF8-F999-D520-0745-F3CB13915702}"/>
              </a:ext>
            </a:extLst>
          </p:cNvPr>
          <p:cNvSpPr txBox="1">
            <a:spLocks/>
          </p:cNvSpPr>
          <p:nvPr/>
        </p:nvSpPr>
        <p:spPr>
          <a:xfrm>
            <a:off x="876300" y="2791087"/>
            <a:ext cx="15621000" cy="75055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Realizar uniones basadas en información incompleta o corrupta.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Unión aproximada: entre dos tablas distintas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Eliminación de duplicados: dentro de la misma tabla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Más general que la coincidencia aproximada.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Semántica: se necesitan transformaciones especiales y funciones de puntuación.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Correlacionar información: verificación con otras fuentes, p. ej. el uso se correlaciona con la facturación.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Datos faltantes: se necesitan varios criterios ortogonales de búsqueda y puntuación.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Pero la coincidencia aproximada es una herramienta valiosa…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66523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DD59-C9CC-F997-419E-DDAC3B1F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95275B-E16A-161F-50AD-D97C1258E59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8DC2060-9C00-3A64-9650-76F2A29B69A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3CAB9BA-0A9F-7A4C-4419-669B7303A73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C7CC50A-690C-A8AB-3E5A-CA851FC239C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632A989-24BD-896A-3629-3B91C9A082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75F6352-98F6-3980-D6D5-B9AF5D5E616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E185C8D-2DFB-6DA7-B3D6-E35156AC293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882190A-3F25-5910-E1DC-B4C92966107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03BC047-F520-F2F8-B1EF-F4356D004AC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8B1A6E7-EE2D-0654-55E4-FC134126A0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E443E97C-3337-7D10-F481-1A9E8A3DF9F0}"/>
              </a:ext>
            </a:extLst>
          </p:cNvPr>
          <p:cNvSpPr txBox="1">
            <a:spLocks/>
          </p:cNvSpPr>
          <p:nvPr/>
        </p:nvSpPr>
        <p:spPr>
          <a:xfrm>
            <a:off x="4445160" y="619028"/>
            <a:ext cx="8229600" cy="716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Algoritmo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CD11BBDC-9957-1253-D693-554CD507393A}"/>
              </a:ext>
            </a:extLst>
          </p:cNvPr>
          <p:cNvSpPr txBox="1">
            <a:spLocks/>
          </p:cNvSpPr>
          <p:nvPr/>
        </p:nvSpPr>
        <p:spPr>
          <a:xfrm>
            <a:off x="1371600" y="2371397"/>
            <a:ext cx="14253580" cy="74299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Particionar el conjunto de datos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Por hash sobre clave calculada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Por ordenamiento sobre clave calculada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Por búsqueda de similitud / coincidencia aproximada sobre clave calculada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Realizar puntuación dentro de la partición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Hash: todos los pares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Ordenamiento, búsqueda de similitud: registro objetivo vs. registros recuperados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Pares de registros con puntuaciones altas son coincidencias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Usar múltiples claves calculadas / funciones hash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Eliminación de duplicados: los registros duplicados forman una clase de equivalencia.</a:t>
            </a:r>
            <a:endParaRPr lang="es-ES" sz="28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42074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776BA-9635-72B5-DFAD-7FFC5C5E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DD1ED8-B79F-7E4F-76C2-45FEC596FF7A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020039D-1AD3-439C-33A6-E3A3F335DAF0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45A3455-3FE0-DE3A-E020-DD1C2AFAE4B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898EC9B-511C-1723-A013-14741F0C671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A854B64-B5AC-7DD2-9A72-5DC93B2DCD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4F7D9EC-A6EA-D8C1-8DE7-055CB3025E3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D045A97-EFDC-F321-19CD-C054D328A04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ED1F338-1263-266D-F841-35A83D74516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C4FD600-879C-DE66-6FAD-E7F38594425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900EBDE-FAC8-141B-454B-61F968E64C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840D9C6F-474A-2405-BA28-E6DA2891C2D0}"/>
              </a:ext>
            </a:extLst>
          </p:cNvPr>
          <p:cNvSpPr/>
          <p:nvPr/>
        </p:nvSpPr>
        <p:spPr>
          <a:xfrm>
            <a:off x="5798160" y="1638420"/>
            <a:ext cx="6555240" cy="70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(Ejemplo de unión aproximada)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11C61D-1C4F-B3E7-5F6E-31F92E52C60E}"/>
              </a:ext>
            </a:extLst>
          </p:cNvPr>
          <p:cNvSpPr/>
          <p:nvPr/>
        </p:nvSpPr>
        <p:spPr>
          <a:xfrm>
            <a:off x="4267800" y="2933700"/>
            <a:ext cx="1067040" cy="449604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C430DB-6573-36EA-2DA7-F1428EB2D138}"/>
              </a:ext>
            </a:extLst>
          </p:cNvPr>
          <p:cNvSpPr/>
          <p:nvPr/>
        </p:nvSpPr>
        <p:spPr>
          <a:xfrm>
            <a:off x="4346280" y="2440140"/>
            <a:ext cx="94320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Ventas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FF4E8E1-12E6-2BFB-7322-CEFB01D5C011}"/>
              </a:ext>
            </a:extLst>
          </p:cNvPr>
          <p:cNvSpPr/>
          <p:nvPr/>
        </p:nvSpPr>
        <p:spPr>
          <a:xfrm>
            <a:off x="12040200" y="3086340"/>
            <a:ext cx="1067040" cy="449568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24D7F00-2E9F-0FF6-F495-FCFBD046AB21}"/>
              </a:ext>
            </a:extLst>
          </p:cNvPr>
          <p:cNvSpPr/>
          <p:nvPr/>
        </p:nvSpPr>
        <p:spPr>
          <a:xfrm>
            <a:off x="11262600" y="2592420"/>
            <a:ext cx="184104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Aprovisionamiento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E871AF1-B425-1B2E-B3AA-1C2183E13EE7}"/>
              </a:ext>
            </a:extLst>
          </p:cNvPr>
          <p:cNvSpPr/>
          <p:nvPr/>
        </p:nvSpPr>
        <p:spPr>
          <a:xfrm>
            <a:off x="6172920" y="3848100"/>
            <a:ext cx="2362320" cy="144792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217C0F4-1D16-D2DD-CA1C-172E390EE34C}"/>
              </a:ext>
            </a:extLst>
          </p:cNvPr>
          <p:cNvSpPr/>
          <p:nvPr/>
        </p:nvSpPr>
        <p:spPr>
          <a:xfrm>
            <a:off x="8763840" y="3848100"/>
            <a:ext cx="2361960" cy="144792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EAE7A4F-12DE-472D-A8E9-D81D6D1E1986}"/>
              </a:ext>
            </a:extLst>
          </p:cNvPr>
          <p:cNvSpPr/>
          <p:nvPr/>
        </p:nvSpPr>
        <p:spPr>
          <a:xfrm>
            <a:off x="6844680" y="3402060"/>
            <a:ext cx="81720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Ventas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C3844D2-8A29-121E-04F4-3E55AFF6FF44}"/>
              </a:ext>
            </a:extLst>
          </p:cNvPr>
          <p:cNvSpPr/>
          <p:nvPr/>
        </p:nvSpPr>
        <p:spPr>
          <a:xfrm>
            <a:off x="8841240" y="3390900"/>
            <a:ext cx="156708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Aprovisionamiento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74EC686-AD66-3AC4-7B5E-0BA5D70CD8D3}"/>
              </a:ext>
            </a:extLst>
          </p:cNvPr>
          <p:cNvSpPr/>
          <p:nvPr/>
        </p:nvSpPr>
        <p:spPr>
          <a:xfrm>
            <a:off x="6172200" y="3859260"/>
            <a:ext cx="2359080" cy="131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Genrl. Eclectic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General Magic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Gensys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Genomic Research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C2E285B-F9EB-61B1-BD4F-78C3D1DB3CDB}"/>
              </a:ext>
            </a:extLst>
          </p:cNvPr>
          <p:cNvSpPr/>
          <p:nvPr/>
        </p:nvSpPr>
        <p:spPr>
          <a:xfrm>
            <a:off x="8767800" y="3924420"/>
            <a:ext cx="2359080" cy="100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Genrl. Electric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Genomic Research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Gensys Inc.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86387DF-DA5A-255B-E2E8-5EB3FBBC0E42}"/>
              </a:ext>
            </a:extLst>
          </p:cNvPr>
          <p:cNvSpPr/>
          <p:nvPr/>
        </p:nvSpPr>
        <p:spPr>
          <a:xfrm>
            <a:off x="6020640" y="3086340"/>
            <a:ext cx="5257800" cy="251460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63CA367-AB14-4E5F-6443-DB3220F9A88E}"/>
              </a:ext>
            </a:extLst>
          </p:cNvPr>
          <p:cNvSpPr/>
          <p:nvPr/>
        </p:nvSpPr>
        <p:spPr>
          <a:xfrm>
            <a:off x="6082560" y="2516460"/>
            <a:ext cx="194256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cubo “Gen”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6046B8B-BD14-15E8-C362-102BF3BA4E46}"/>
              </a:ext>
            </a:extLst>
          </p:cNvPr>
          <p:cNvSpPr/>
          <p:nvPr/>
        </p:nvSpPr>
        <p:spPr>
          <a:xfrm>
            <a:off x="6100920" y="6559620"/>
            <a:ext cx="2359080" cy="100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Genrl. Eclectic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Genomic Research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Gensys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2EF6B37-47F6-C2B0-D5CF-66C5BF6EDA52}"/>
              </a:ext>
            </a:extLst>
          </p:cNvPr>
          <p:cNvSpPr/>
          <p:nvPr/>
        </p:nvSpPr>
        <p:spPr>
          <a:xfrm>
            <a:off x="9144000" y="6591300"/>
            <a:ext cx="2359080" cy="100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Genrl. Electric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Genomic Research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Gensys Inc.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761D1E67-29D0-7DF3-310D-E555B819162D}"/>
              </a:ext>
            </a:extLst>
          </p:cNvPr>
          <p:cNvSpPr/>
          <p:nvPr/>
        </p:nvSpPr>
        <p:spPr>
          <a:xfrm>
            <a:off x="8154000" y="6804060"/>
            <a:ext cx="914400" cy="0"/>
          </a:xfrm>
          <a:prstGeom prst="line">
            <a:avLst/>
          </a:prstGeom>
          <a:ln w="936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4BB5161A-DFB8-1A82-83C4-DBA3CAF55DA1}"/>
              </a:ext>
            </a:extLst>
          </p:cNvPr>
          <p:cNvSpPr/>
          <p:nvPr/>
        </p:nvSpPr>
        <p:spPr>
          <a:xfrm>
            <a:off x="8535240" y="7032660"/>
            <a:ext cx="533160" cy="0"/>
          </a:xfrm>
          <a:prstGeom prst="line">
            <a:avLst/>
          </a:prstGeom>
          <a:ln w="936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D7B5E7BE-1D17-8243-8077-2CF8C8853E15}"/>
              </a:ext>
            </a:extLst>
          </p:cNvPr>
          <p:cNvSpPr/>
          <p:nvPr/>
        </p:nvSpPr>
        <p:spPr>
          <a:xfrm>
            <a:off x="7468200" y="7337580"/>
            <a:ext cx="1600200" cy="0"/>
          </a:xfrm>
          <a:prstGeom prst="line">
            <a:avLst/>
          </a:prstGeom>
          <a:ln w="936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8D184944-F3D6-B979-8023-8438801985DD}"/>
              </a:ext>
            </a:extLst>
          </p:cNvPr>
          <p:cNvSpPr/>
          <p:nvPr/>
        </p:nvSpPr>
        <p:spPr>
          <a:xfrm>
            <a:off x="8687520" y="5753220"/>
            <a:ext cx="0" cy="60948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98525DE-5B04-B433-BB62-F9C49411178C}"/>
              </a:ext>
            </a:extLst>
          </p:cNvPr>
          <p:cNvSpPr/>
          <p:nvPr/>
        </p:nvSpPr>
        <p:spPr>
          <a:xfrm>
            <a:off x="8841600" y="5829540"/>
            <a:ext cx="101088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Coincidencia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EC2A1040-1D34-A0A8-81C7-7F0B6D5628D6}"/>
              </a:ext>
            </a:extLst>
          </p:cNvPr>
          <p:cNvSpPr/>
          <p:nvPr/>
        </p:nvSpPr>
        <p:spPr>
          <a:xfrm>
            <a:off x="4725000" y="3314940"/>
            <a:ext cx="1371600" cy="76176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561DF7EF-30A3-D19C-4937-5F6098029969}"/>
              </a:ext>
            </a:extLst>
          </p:cNvPr>
          <p:cNvSpPr/>
          <p:nvPr/>
        </p:nvSpPr>
        <p:spPr>
          <a:xfrm>
            <a:off x="4801320" y="4153020"/>
            <a:ext cx="1447920" cy="22860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2C3D8F71-49D5-377D-74B1-EEE8909237F5}"/>
              </a:ext>
            </a:extLst>
          </p:cNvPr>
          <p:cNvSpPr/>
          <p:nvPr/>
        </p:nvSpPr>
        <p:spPr>
          <a:xfrm flipV="1">
            <a:off x="4801320" y="4686540"/>
            <a:ext cx="1447920" cy="76176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5FABD9B2-CD5B-4AEF-CFDE-A6E4CF2786F2}"/>
              </a:ext>
            </a:extLst>
          </p:cNvPr>
          <p:cNvSpPr/>
          <p:nvPr/>
        </p:nvSpPr>
        <p:spPr>
          <a:xfrm flipV="1">
            <a:off x="4801320" y="5067420"/>
            <a:ext cx="1371600" cy="190512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7FBFE3C8-83CF-9DBC-1229-A64FB4CE948D}"/>
              </a:ext>
            </a:extLst>
          </p:cNvPr>
          <p:cNvSpPr/>
          <p:nvPr/>
        </p:nvSpPr>
        <p:spPr>
          <a:xfrm flipH="1">
            <a:off x="10592640" y="3314940"/>
            <a:ext cx="1752480" cy="76176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C9ADABC7-CB87-4895-0189-7A29DC4B7367}"/>
              </a:ext>
            </a:extLst>
          </p:cNvPr>
          <p:cNvSpPr/>
          <p:nvPr/>
        </p:nvSpPr>
        <p:spPr>
          <a:xfrm flipH="1">
            <a:off x="11049480" y="3848100"/>
            <a:ext cx="1447560" cy="60984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50930DCC-A998-235D-D964-B016E3952292}"/>
              </a:ext>
            </a:extLst>
          </p:cNvPr>
          <p:cNvSpPr/>
          <p:nvPr/>
        </p:nvSpPr>
        <p:spPr>
          <a:xfrm flipH="1" flipV="1">
            <a:off x="10364040" y="4762140"/>
            <a:ext cx="2286000" cy="221004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43408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CB338-53D1-FFEA-251A-F70A550A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CD22DD-58D9-88B6-9F2E-9B4001EB575B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BA943AD-7BDF-F087-795F-79BA1EE3500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54BBEBC-0B45-CA8A-A675-B1F9212D084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250F00D-FABB-DB12-273B-E4A4EFF5075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7728758-05AA-134C-04C5-871EE7DFB89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FE4EED1-E1D0-EC7C-22BB-E984A1067A3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E60A479-D1BB-CA0E-E85A-EBE16507EF7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E9B78A2-CA64-9861-0F2E-1D01C5789E1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84DF08B-6DCF-E4AB-0444-4317CA668B0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555CB602-CAC1-30AE-2978-4A642D4B89C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4F6E1753-896E-FC09-BD39-2E1100082BB4}"/>
              </a:ext>
            </a:extLst>
          </p:cNvPr>
          <p:cNvSpPr txBox="1">
            <a:spLocks/>
          </p:cNvSpPr>
          <p:nvPr/>
        </p:nvSpPr>
        <p:spPr>
          <a:xfrm>
            <a:off x="4876800" y="693931"/>
            <a:ext cx="822960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Exploración de bases de datos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E08BBB1F-2ABA-1A8B-34B4-4C8B2AB318D0}"/>
              </a:ext>
            </a:extLst>
          </p:cNvPr>
          <p:cNvSpPr txBox="1">
            <a:spLocks/>
          </p:cNvSpPr>
          <p:nvPr/>
        </p:nvSpPr>
        <p:spPr>
          <a:xfrm>
            <a:off x="1133213" y="2247900"/>
            <a:ext cx="14782800" cy="78870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Herramientas para encontrar problemas en una base de datos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Lo opuesto de ETL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Similar a la minería de calidad de datos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Consultas simples son efectivas:</a:t>
            </a:r>
            <a:br>
              <a:rPr lang="es-ES" sz="4400" dirty="0"/>
            </a:br>
            <a:r>
              <a:rPr lang="es-ES" sz="4400" dirty="0"/>
              <a:t>	</a:t>
            </a:r>
            <a:r>
              <a:rPr lang="es-ES" sz="4400" dirty="0" err="1"/>
              <a:t>Select</a:t>
            </a:r>
            <a:r>
              <a:rPr lang="es-ES" sz="4400" dirty="0"/>
              <a:t> Field, </a:t>
            </a:r>
            <a:r>
              <a:rPr lang="es-ES" sz="4400" dirty="0" err="1"/>
              <a:t>count</a:t>
            </a:r>
            <a:r>
              <a:rPr lang="es-ES" sz="4400" dirty="0"/>
              <a:t>(*) as </a:t>
            </a:r>
            <a:r>
              <a:rPr lang="es-ES" sz="4400" dirty="0" err="1"/>
              <a:t>Cnt</a:t>
            </a:r>
            <a:br>
              <a:rPr lang="es-ES" sz="4400" dirty="0"/>
            </a:br>
            <a:r>
              <a:rPr lang="es-ES" sz="4400" dirty="0"/>
              <a:t>	</a:t>
            </a:r>
            <a:r>
              <a:rPr lang="es-ES" sz="4400" dirty="0" err="1"/>
              <a:t>from</a:t>
            </a:r>
            <a:r>
              <a:rPr lang="es-ES" sz="4400" dirty="0"/>
              <a:t> Table</a:t>
            </a:r>
            <a:br>
              <a:rPr lang="es-ES" sz="4400" dirty="0"/>
            </a:br>
            <a:r>
              <a:rPr lang="es-ES" sz="4400" dirty="0"/>
              <a:t>	</a:t>
            </a:r>
            <a:r>
              <a:rPr lang="es-ES" sz="4400" dirty="0" err="1"/>
              <a:t>Group</a:t>
            </a:r>
            <a:r>
              <a:rPr lang="es-ES" sz="4400" dirty="0"/>
              <a:t> </a:t>
            </a:r>
            <a:r>
              <a:rPr lang="es-ES" sz="4400" dirty="0" err="1"/>
              <a:t>by</a:t>
            </a:r>
            <a:r>
              <a:rPr lang="es-ES" sz="4400" dirty="0"/>
              <a:t> Field</a:t>
            </a:r>
            <a:br>
              <a:rPr lang="es-ES" sz="4400" dirty="0"/>
            </a:br>
            <a:r>
              <a:rPr lang="es-ES" sz="4400" dirty="0"/>
              <a:t>	</a:t>
            </a:r>
            <a:r>
              <a:rPr lang="es-ES" sz="4400" dirty="0" err="1"/>
              <a:t>Order</a:t>
            </a:r>
            <a:r>
              <a:rPr lang="es-ES" sz="4400" dirty="0"/>
              <a:t> </a:t>
            </a:r>
            <a:r>
              <a:rPr lang="es-ES" sz="4400" dirty="0" err="1"/>
              <a:t>by</a:t>
            </a:r>
            <a:r>
              <a:rPr lang="es-ES" sz="4400" dirty="0"/>
              <a:t> </a:t>
            </a:r>
            <a:r>
              <a:rPr lang="es-ES" sz="4400" dirty="0" err="1"/>
              <a:t>Cnt</a:t>
            </a:r>
            <a:r>
              <a:rPr lang="es-ES" sz="4400" dirty="0"/>
              <a:t> </a:t>
            </a:r>
            <a:r>
              <a:rPr lang="es-ES" sz="4400" dirty="0" err="1"/>
              <a:t>Desc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NULL ocultos al inicio de la lista; </a:t>
            </a:r>
            <a:r>
              <a:rPr lang="es-ES" sz="4000" dirty="0" err="1"/>
              <a:t>typos</a:t>
            </a:r>
            <a:r>
              <a:rPr lang="es-ES" sz="4000" dirty="0"/>
              <a:t> al final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Solo mira una muestra de los datos en la tabla.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74250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21AA-537E-DD59-7795-33AB0A8E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758C3A-97B5-A5E3-4C8B-61DF9BE40D6D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1DBAFAD-A1A9-B4A5-31A2-6B02A830C02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4CFBA2D-DD35-E36B-1EDC-6C2B5CFFBB5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B0A4CBA-589F-67C0-D162-B5C1EDB77DE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81C8EEB-E51F-5CB3-5C18-04B48740C89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E45F3A8-6E35-B58A-C4CC-65E591F615F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5C1657F-6B88-30EB-BF08-FB504321DDA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C44BBA6-1353-8BF6-53F8-3F34FA2E36D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77959E7-2E49-A3E6-5FAF-EE516245C94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488E38F-BA81-0CCA-318B-C5FD7446D4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6E4B214A-104E-6695-FF34-45987C409183}"/>
              </a:ext>
            </a:extLst>
          </p:cNvPr>
          <p:cNvSpPr txBox="1">
            <a:spLocks/>
          </p:cNvSpPr>
          <p:nvPr/>
        </p:nvSpPr>
        <p:spPr>
          <a:xfrm>
            <a:off x="3810000" y="462389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Perfilado de bases de datos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7CEC183A-3B9B-F57F-3A8E-E9388C3B7AA2}"/>
              </a:ext>
            </a:extLst>
          </p:cNvPr>
          <p:cNvSpPr txBox="1">
            <a:spLocks/>
          </p:cNvSpPr>
          <p:nvPr/>
        </p:nvSpPr>
        <p:spPr>
          <a:xfrm>
            <a:off x="990600" y="2017855"/>
            <a:ext cx="15392400" cy="75058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Recolectar sistemáticamente resúmenes de los datos en la base de datos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Número de filas en cada tabla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Número de valores únicos y NULL de cada campo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Asimetría (</a:t>
            </a:r>
            <a:r>
              <a:rPr lang="es-ES" sz="3600" dirty="0" err="1"/>
              <a:t>skewness</a:t>
            </a:r>
            <a:r>
              <a:rPr lang="es-ES" sz="3600" dirty="0"/>
              <a:t>) de la distribución de valores de un campo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Tipo de dato, longitud del campo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Usar extracción de campos de texto libre para adivinar tipos (dirección, nombre, ZIP, etc.)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Dependencias funcionales, claves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Rutas de unión (</a:t>
            </a:r>
            <a:r>
              <a:rPr lang="es-ES" sz="3600" dirty="0" err="1"/>
              <a:t>join</a:t>
            </a:r>
            <a:r>
              <a:rPr lang="es-ES" sz="3600" dirty="0"/>
              <a:t> </a:t>
            </a:r>
            <a:r>
              <a:rPr lang="es-ES" sz="3600" dirty="0" err="1"/>
              <a:t>paths</a:t>
            </a:r>
            <a:r>
              <a:rPr lang="es-ES" sz="3600" dirty="0"/>
              <a:t>)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¿La base de datos contiene lo que crees que contiene?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Normalmente no.</a:t>
            </a:r>
            <a:endParaRPr lang="es-ES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90169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04D35-B055-38F1-DBBB-4BEAE52B6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73ACCA-BEB0-FC9A-5254-681CA49C5DE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16A8063-3196-468C-27B7-07A18C34396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052DC67-636B-F5D5-D36B-8C88BF1F9DA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CE6798A-C4A6-AB9B-9B63-D659CE218F1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679CD014-9DB6-5F1D-6D53-4646D4C4552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6686399-D52A-4473-9942-6D20637CF96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4D8C1FE-4DCF-64B1-5C87-D0731E4353F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483D7E0-4495-6418-B6F1-28DAB2F83E8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6119104-AE30-40A9-1231-3D71B6568F2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10225FF-0647-26BC-D615-472DC4EB26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25557FE8-0548-64B3-F564-1173D0915C2A}"/>
              </a:ext>
            </a:extLst>
          </p:cNvPr>
          <p:cNvSpPr txBox="1">
            <a:spLocks/>
          </p:cNvSpPr>
          <p:nvPr/>
        </p:nvSpPr>
        <p:spPr>
          <a:xfrm>
            <a:off x="1143000" y="280517"/>
            <a:ext cx="14935200" cy="17148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Encontrar claves y dependencias funcionales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81E1C37F-F794-5FC3-D30E-9E693B3FA314}"/>
              </a:ext>
            </a:extLst>
          </p:cNvPr>
          <p:cNvSpPr txBox="1">
            <a:spLocks/>
          </p:cNvSpPr>
          <p:nvPr/>
        </p:nvSpPr>
        <p:spPr>
          <a:xfrm>
            <a:off x="1295400" y="2322895"/>
            <a:ext cx="15087600" cy="72007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Clave: conjunto de campos cuyo valor es único en cada fila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Dependencia funcional: conjunto de campos que determinan el valor de otro campo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P. ej., el código postal determina el estado</a:t>
            </a:r>
            <a:endParaRPr lang="es-ES" sz="20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Pero no siempre…</a:t>
            </a:r>
            <a:endParaRPr lang="es-ES" sz="1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Problemas: claves no identificadas, unicidad no garantizada, claves ocultas y dependencias funcionales.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Encontrar claves es costoso: O(</a:t>
            </a:r>
            <a:r>
              <a:rPr lang="es-ES" dirty="0" err="1"/>
              <a:t>f^k</a:t>
            </a:r>
            <a:r>
              <a:rPr lang="es-ES" dirty="0"/>
              <a:t>) consultas </a:t>
            </a:r>
            <a:r>
              <a:rPr lang="es-ES" dirty="0" err="1"/>
              <a:t>Count</a:t>
            </a:r>
            <a:r>
              <a:rPr lang="es-ES" dirty="0"/>
              <a:t> </a:t>
            </a:r>
            <a:r>
              <a:rPr lang="es-ES" dirty="0" err="1"/>
              <a:t>Distinct</a:t>
            </a:r>
            <a:r>
              <a:rPr lang="es-ES" dirty="0"/>
              <a:t> para hallar todas las claves de hasta k campos.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Por suerte, podemos podar gran parte de este espacio de búsqueda si buscamos solo claves mínimas y DF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Claves aproximadas: casi, pero no del todo, únicas.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DF aproximada: idea similar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53624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22050-7F2C-E83F-7379-7C17BA25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42A428-3FAF-CAF9-F208-CC29C321A4E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3AC31CC-B906-67FD-9308-56A9DD778C2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799BAB0-958E-981D-DFA5-8721170A10D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D9F4391-B6D4-495F-16BB-6E29BB833A3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6E5AD08-A2B0-FC74-2BF5-3F306FE4B4C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002A86A-C679-4C4A-B709-399C781824D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6F496E2-FE19-CF5F-7E4E-0B2467199BC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522C114-1E2B-439A-6C05-C2A2D379DE3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65ECEB4-3C33-7570-C851-C62BAFFF94E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5B8E583-C2B5-6BB4-6210-F8B20544A17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E87D1BB4-8705-9BD1-BF34-D9061A483644}"/>
              </a:ext>
            </a:extLst>
          </p:cNvPr>
          <p:cNvSpPr txBox="1">
            <a:spLocks/>
          </p:cNvSpPr>
          <p:nvPr/>
        </p:nvSpPr>
        <p:spPr>
          <a:xfrm>
            <a:off x="457200" y="-360"/>
            <a:ext cx="8229600" cy="716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/>
              <a:t>Algoritmo eficaz</a:t>
            </a:r>
            <a:endParaRPr lang="es-CO" sz="4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B78C8034-935A-3F56-B70A-174DC28A37C7}"/>
              </a:ext>
            </a:extLst>
          </p:cNvPr>
          <p:cNvSpPr txBox="1">
            <a:spLocks/>
          </p:cNvSpPr>
          <p:nvPr/>
        </p:nvSpPr>
        <p:spPr>
          <a:xfrm>
            <a:off x="1104720" y="2019300"/>
            <a:ext cx="16078560" cy="8963657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Eliminar campos “malos”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Tipo </a:t>
            </a:r>
            <a:r>
              <a:rPr lang="es-ES" sz="3600" dirty="0" err="1"/>
              <a:t>float</a:t>
            </a:r>
            <a:r>
              <a:rPr lang="es-ES" sz="3600" dirty="0"/>
              <a:t>, mayormente NULL, etc.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Recolectar una muestra en memoria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Quizá almacenando un hash del valor del campo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Calcular </a:t>
            </a:r>
            <a:r>
              <a:rPr lang="es-ES" sz="4000" dirty="0" err="1"/>
              <a:t>count</a:t>
            </a:r>
            <a:r>
              <a:rPr lang="es-ES" sz="4000" dirty="0"/>
              <a:t> </a:t>
            </a:r>
            <a:r>
              <a:rPr lang="es-ES" sz="4000" dirty="0" err="1"/>
              <a:t>distinct</a:t>
            </a:r>
            <a:r>
              <a:rPr lang="es-ES" sz="4000" dirty="0"/>
              <a:t> sobre la muestra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Conteo alto: verificar con </a:t>
            </a:r>
            <a:r>
              <a:rPr lang="es-ES" sz="3600" dirty="0" err="1"/>
              <a:t>count</a:t>
            </a:r>
            <a:r>
              <a:rPr lang="es-ES" sz="3600" dirty="0"/>
              <a:t> </a:t>
            </a:r>
            <a:r>
              <a:rPr lang="es-ES" sz="3600" dirty="0" err="1"/>
              <a:t>distinct</a:t>
            </a:r>
            <a:r>
              <a:rPr lang="es-ES" sz="3600" dirty="0"/>
              <a:t> sobre la tabla en la base.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Usar poda por niveles estilo TANE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Detenerse tras examinar claves de 3 o 4 campos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Falsas claves con suficientes atributos.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56381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BA451-CEF2-6E93-F498-66AF51AE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886209-7BBA-D7EF-30F9-CA145A2C985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9F214E0-237D-0D26-109E-2C7456A74B2D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E681708-E535-4D2E-8A63-DCECE4D5EA3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254F2B3-3D57-6ACE-65A6-C86C8C3AFA0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879F181-0118-EEE5-9314-78324327BD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3881294-53F6-B8F0-5D07-09684BCBA82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037D8BE-BACA-898D-7148-797BCF6956B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CFBB915-6EB9-CAA8-86FD-9C290497AAC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0771675-04D3-E5C3-DE14-04AA922EAA5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F3105A0-3C07-598D-152D-7F7A0125CE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7C5F10D2-6252-E57A-B318-0C8069782963}"/>
              </a:ext>
            </a:extLst>
          </p:cNvPr>
          <p:cNvSpPr txBox="1">
            <a:spLocks/>
          </p:cNvSpPr>
          <p:nvPr/>
        </p:nvSpPr>
        <p:spPr>
          <a:xfrm>
            <a:off x="4288042" y="968983"/>
            <a:ext cx="8229600" cy="7617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Encontrar rutas de unión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B49670D3-9DC6-AB8F-B162-C456A1F51476}"/>
              </a:ext>
            </a:extLst>
          </p:cNvPr>
          <p:cNvSpPr txBox="1">
            <a:spLocks/>
          </p:cNvSpPr>
          <p:nvPr/>
        </p:nvSpPr>
        <p:spPr>
          <a:xfrm>
            <a:off x="1219200" y="3390900"/>
            <a:ext cx="14173200" cy="72012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¿Cómo correlaciono esta información?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En bases de datos grandes, cientos de tablas, miles de campos.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Nuestra experiencia: los nombres de campos son muy poco confiables.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El natural </a:t>
            </a:r>
            <a:r>
              <a:rPr lang="es-ES" sz="3600" dirty="0" err="1"/>
              <a:t>join</a:t>
            </a:r>
            <a:r>
              <a:rPr lang="es-ES" sz="3600" dirty="0"/>
              <a:t> no existe fuera del laboratorio.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Usar tipos de datos y caracterización de campos para acotar el espacio de búsqueda.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28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03442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6AFA8-3F67-B155-529C-23950BC7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D3900F-F13C-5ABB-34A4-E631DBFE556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DCB8955-69C2-444B-AE61-6F0506D7307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F7ECED8-EE8F-8056-9506-7E2EF2081DB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2ED8A62-5407-9191-7A8C-8551F34E34D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0DE22C2-CAA7-38F0-65B6-56BAC2B4E91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D07A465-6B98-840D-03BB-F812DA02C5E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0F5DD97-FE95-A8DF-761C-0A897840EA2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EA73341-E31D-4666-A738-E5E12D88981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9E09F12-6965-BAC8-8153-5124372B533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4F78209-46B5-DDFD-B1B9-D7C4239AAE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2">
            <a:extLst>
              <a:ext uri="{FF2B5EF4-FFF2-40B4-BE49-F238E27FC236}">
                <a16:creationId xmlns:a16="http://schemas.microsoft.com/office/drawing/2014/main" id="{5A3F8C9F-8781-2D78-C792-DD3CA9D8A8B6}"/>
              </a:ext>
            </a:extLst>
          </p:cNvPr>
          <p:cNvSpPr txBox="1">
            <a:spLocks/>
          </p:cNvSpPr>
          <p:nvPr/>
        </p:nvSpPr>
        <p:spPr>
          <a:xfrm>
            <a:off x="609600" y="2705100"/>
            <a:ext cx="16764000" cy="5867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Tipo especial de muestreo que puede estimar la semejanza de dos conjuntos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Tamaño de la intersección / tamaño de la unión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Aplicar al conjunto de valores de un campo; almacenar la muestra </a:t>
            </a:r>
            <a:r>
              <a:rPr lang="es-ES" sz="3600" dirty="0" err="1"/>
              <a:t>MinHash</a:t>
            </a:r>
            <a:r>
              <a:rPr lang="es-ES" sz="3600" dirty="0"/>
              <a:t> en una base de datos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Usar una consulta SQL para encontrar todos los campos con alta semejanza con un campo dado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Tamaños de muestra pequeños suelen bastar.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Problema: campos que se unen después de una pequeña transformación de datos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P. ej. “SS123-45-6789” vs. “123-45-6789”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Solución: recolectar muestras </a:t>
            </a:r>
            <a:r>
              <a:rPr lang="es-ES" sz="3600" dirty="0" err="1"/>
              <a:t>MinHash</a:t>
            </a:r>
            <a:r>
              <a:rPr lang="es-ES" sz="3600" dirty="0"/>
              <a:t> sobre los q-</a:t>
            </a:r>
            <a:r>
              <a:rPr lang="es-ES" sz="3600" dirty="0" err="1"/>
              <a:t>grams</a:t>
            </a:r>
            <a:r>
              <a:rPr lang="es-ES" sz="3600" dirty="0"/>
              <a:t> de un campo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200" dirty="0"/>
              <a:t>Alternativa: recolectar “sketches” de vectores de frecuencias de q-</a:t>
            </a:r>
            <a:r>
              <a:rPr lang="es-ES" sz="3200" dirty="0" err="1"/>
              <a:t>grams</a:t>
            </a:r>
            <a:endParaRPr lang="es-ES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694FD460-61E2-D372-CCC6-FC28B2AA5781}"/>
              </a:ext>
            </a:extLst>
          </p:cNvPr>
          <p:cNvSpPr txBox="1">
            <a:spLocks/>
          </p:cNvSpPr>
          <p:nvPr/>
        </p:nvSpPr>
        <p:spPr>
          <a:xfrm>
            <a:off x="4648200" y="858748"/>
            <a:ext cx="8229600" cy="7617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Muestreo </a:t>
            </a:r>
            <a:r>
              <a:rPr lang="es-CO" dirty="0" err="1"/>
              <a:t>MinHash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04541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A341-9A76-1106-56B1-012591903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DBD057-46F8-68CC-CD76-D81F7F10E73C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61397C7-DE7E-88B7-03F0-7115A15281D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A7C8AC6-0A0C-AD26-ACF0-E0CC49CBC5C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DF90E1F-7508-3B57-62BA-B1511AFA70D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EEB0975-AB30-909D-C479-9C877B2093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BB9FEB-F2F2-1847-F685-0199BF830F5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AE4DD89-04A1-0EF9-DFA6-3ADCAAC8103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9EF6F79-CD0A-D545-1D0E-F7FFCD461D6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1CE4EEF-883D-6187-EE04-D167BBDA0D8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1467573-0880-8743-0E3D-3E6AB3F06A5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290368EB-7CA6-81C5-123F-7C06E28B7377}"/>
              </a:ext>
            </a:extLst>
          </p:cNvPr>
          <p:cNvSpPr txBox="1">
            <a:spLocks/>
          </p:cNvSpPr>
          <p:nvPr/>
        </p:nvSpPr>
        <p:spPr>
          <a:xfrm>
            <a:off x="4191000" y="1172510"/>
            <a:ext cx="822960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Experiencia de dominio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5273E5A-56AF-E568-A21E-C9DE967B2788}"/>
              </a:ext>
            </a:extLst>
          </p:cNvPr>
          <p:cNvSpPr txBox="1">
            <a:spLocks/>
          </p:cNvSpPr>
          <p:nvPr/>
        </p:nvSpPr>
        <p:spPr>
          <a:xfrm>
            <a:off x="1409700" y="3160234"/>
            <a:ext cx="15468600" cy="71250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Gurús de calidad de datos: “¡Encontramos estos registros peculiares en tu base de datos después de ejecutar algoritmos sofisticados!”</a:t>
            </a: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   Expertos de dominio: “Ah, esas manzanas: las ponemos en las mismas canastas que las naranjas porque hay muy pocas manzanas como para molestar. No es gran cosa. Eso ya lo sabíamos.”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46592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32D7-5602-9DBA-6B98-A1B04764A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DC9A9F-99AC-DD61-F9E6-C9B7F4ACC36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AE33BE1-D704-B87E-81E4-7C54AD2AA6E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53DFC2B-79E7-2646-05BF-72526A37719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53167DA-A9EF-BF9B-A4BB-D5DF6E469FE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4EE26DC-7528-B3EE-0EC0-8A2BFD3BA2D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9AAFC73-FCDD-85E0-B922-70E51B87D3B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63A768A-A5E7-AA87-4BCA-FCF05913E89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4A89373-EF3D-9E91-6471-5B28170F701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9EA169C-4D4F-6247-33CE-B12B231DD04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FCA18DA-CFB0-EF10-BB0C-D1928ACEDAE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E6EA318A-069E-48C2-F04C-D7A19657D367}"/>
              </a:ext>
            </a:extLst>
          </p:cNvPr>
          <p:cNvSpPr txBox="1">
            <a:spLocks/>
          </p:cNvSpPr>
          <p:nvPr/>
        </p:nvSpPr>
        <p:spPr>
          <a:xfrm>
            <a:off x="1295400" y="224060"/>
            <a:ext cx="14554200" cy="18969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¿Por qué la experiencia de dominio?</a:t>
            </a:r>
            <a:endParaRPr lang="es-E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C6408F5A-1DF4-F9BE-42F1-C37BB8F3DE24}"/>
              </a:ext>
            </a:extLst>
          </p:cNvPr>
          <p:cNvSpPr txBox="1">
            <a:spLocks/>
          </p:cNvSpPr>
          <p:nvPr/>
        </p:nvSpPr>
        <p:spPr>
          <a:xfrm>
            <a:off x="1143000" y="2557240"/>
            <a:ext cx="15544800" cy="75057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La experiencia de dominio (ED) es importante para entender los datos, el problema e interpretar resultados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“El contador se reinicia a 0 si el número de llamadas supera N”.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lvl="2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“Los valores faltantes se representan con 0, pero el monto facturado por defecto también es 0.”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La falta de ED es una causa principal de mala DQ: los datos son inutilizables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La ED debería documentarse como metadatos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32057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50DA8-BCE5-DF98-D4E2-006A11D19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4021DB-56D0-18A0-0893-7114E4112656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C322E79-5CC1-3788-629F-6104865E004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BA50E62-B32C-FDF0-E8D5-63860A69D34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2B2B580-1281-8241-B7FD-FFD9027E58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59E26EB-8715-10FB-D4FE-79383748A2C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8FB0468-399F-FECA-7239-A887E072FD1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CBC9E6B-C4BC-95A2-DF38-E2D4923E2D6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B628826-5C83-4BA9-5D43-D7ED1E2A2AD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6A3567B-9F8E-6C1D-29BD-1DEDE792A2C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F9D6778-FB5F-0D86-64C1-35D41E7482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5D98226E-4F7F-9E36-0988-0952B94EDB94}"/>
              </a:ext>
            </a:extLst>
          </p:cNvPr>
          <p:cNvSpPr txBox="1">
            <a:spLocks/>
          </p:cNvSpPr>
          <p:nvPr/>
        </p:nvSpPr>
        <p:spPr>
          <a:xfrm>
            <a:off x="1838922" y="692084"/>
            <a:ext cx="14401800" cy="18667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dirty="0"/>
              <a:t>¿Dónde está la experiencia de dominio?</a:t>
            </a:r>
            <a:endParaRPr lang="es-E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717A2C94-140A-892B-29AC-37421CB11869}"/>
              </a:ext>
            </a:extLst>
          </p:cNvPr>
          <p:cNvSpPr txBox="1">
            <a:spLocks/>
          </p:cNvSpPr>
          <p:nvPr/>
        </p:nvSpPr>
        <p:spPr>
          <a:xfrm>
            <a:off x="1219200" y="3162300"/>
            <a:ext cx="15468600" cy="5562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Normalmente está en la cabeza de la gente; rara vez documentado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Fragmentado entre organizaciones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A menudo los expertos no están de acuerdo. Forzar consenso.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Se pierde durante transiciones de personal y proyectos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Si no se documenta, se deteriora y se vuelve difuso con el tiempo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92477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E8B2-63B1-383C-4D7C-43759938C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46DA8B-7C2F-CAF3-1923-491486DDE10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E83A0C2-E087-26CD-3B68-C6B58B4DC0F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431ACAC-E7ED-BDBC-9A32-959045B3F53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179562E-2F45-8FA2-55D0-1CF49F38762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4010D26-47DD-778D-1A61-5D6E17C20E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484C10D-4281-769F-A607-EA1BC50EC7D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C8E9B2A-EA7F-5098-B80C-4BACE4E16FA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57A3E70-0B25-8D9E-CAAD-67692B9A5B4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3E56060-609F-977A-9232-D8E140FD498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EE529D1-9D65-20EE-FE32-E5079868D5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F65D23F2-2E08-5E76-F3A5-BC7BF624FDBC}"/>
              </a:ext>
            </a:extLst>
          </p:cNvPr>
          <p:cNvSpPr txBox="1">
            <a:spLocks/>
          </p:cNvSpPr>
          <p:nvPr/>
        </p:nvSpPr>
        <p:spPr>
          <a:xfrm>
            <a:off x="5029200" y="763222"/>
            <a:ext cx="8229600" cy="7617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Metadatos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272102B0-464D-1389-5DF0-DB45E8D28C3A}"/>
              </a:ext>
            </a:extLst>
          </p:cNvPr>
          <p:cNvSpPr txBox="1">
            <a:spLocks/>
          </p:cNvSpPr>
          <p:nvPr/>
        </p:nvSpPr>
        <p:spPr>
          <a:xfrm>
            <a:off x="1066800" y="2171220"/>
            <a:ext cx="14478000" cy="81157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Datos sobre los datos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Los tipos de datos, dominios y restricciones ayudan, pero a menudo no son suficientes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Interpretación de valores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Escala, unidades de medida, significado de etiquetas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Interpretación de tablas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Frecuencia de actualización, asociaciones, definiciones de vistas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La mayor parte del trabajo se ha hecho para bases de datos científicas</a:t>
            </a:r>
            <a:endParaRPr lang="es-ES" sz="36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3600" dirty="0"/>
              <a:t>Los metadatos pueden incluir programas para interpretar el conjunto de datos.</a:t>
            </a:r>
            <a:endParaRPr lang="es-E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12962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DA61-C123-B1EA-EDFF-E6B3DC76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2015A0E-ACBA-C5DB-CD0C-87718991D50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8B9591D-3D51-75D2-F78E-9C0F0469BC0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FBF9351-BC96-5370-BF93-0D456B27139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D1F5B4A-7592-9450-9A70-290BCD84867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F5919B3-B12B-1A73-2623-7051B0D8619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54FA2F9-306E-2C7F-424B-E5B1B144717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2C10462-76E1-0C23-701E-1CC9D505996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B1BB0C2-E23E-D125-E4CB-4E4F43198F5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416A1ED-5D61-4DD7-EBEF-1A869B827B3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3C81B2B-A676-DC93-7F25-A21825D53A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3DD6C16A-684A-5629-8E53-B154FB4D8C53}"/>
              </a:ext>
            </a:extLst>
          </p:cNvPr>
          <p:cNvSpPr txBox="1">
            <a:spLocks/>
          </p:cNvSpPr>
          <p:nvPr/>
        </p:nvSpPr>
        <p:spPr>
          <a:xfrm>
            <a:off x="5029200" y="1103219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¿Qué falta?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FB623702-2635-306C-5174-B7AEB1689BFB}"/>
              </a:ext>
            </a:extLst>
          </p:cNvPr>
          <p:cNvSpPr txBox="1">
            <a:spLocks/>
          </p:cNvSpPr>
          <p:nvPr/>
        </p:nvSpPr>
        <p:spPr>
          <a:xfrm>
            <a:off x="1828800" y="2857500"/>
            <a:ext cx="14630400" cy="72010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La mayor parte de los metadatos se relaciona con propiedades estáticas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Esquema de la base de datos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Interpretación de campos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400" dirty="0"/>
              <a:t>El uso e interpretación de datos requiere también propiedades dinámicas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¿Cuál es el proceso de negocio?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000" dirty="0"/>
              <a:t>Regla 80-20</a:t>
            </a:r>
            <a:endParaRPr lang="es-ES" sz="4000" dirty="0">
              <a:solidFill>
                <a:srgbClr val="000000"/>
              </a:solidFill>
              <a:latin typeface="Arial"/>
            </a:endParaRPr>
          </a:p>
          <a:p>
            <a:pPr marL="343080" indent="0">
              <a:spcBef>
                <a:spcPts val="799"/>
              </a:spcBef>
              <a:buFont typeface="Arial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06854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8E0FC-0C0D-36D8-CF52-5C2BD24D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E176FC-E6AA-15D1-C1B5-B26E9C44CF6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21619F2-7BFD-E33B-0688-9DCC06B21B4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CB65ED9-BFC4-A33D-D1BE-C768BC72F2F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088B5AD8-C119-DB1D-621A-C38611BF7F2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6BBE2792-AC4D-65FE-C381-82C70927B6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5309B11-E837-335A-E359-6BD1FC9EE33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AEE2547-8456-BD45-9F7B-317C632D12C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D6A3F42-7716-7E9B-A8D7-7B5CB5C7281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496E443-0E00-EE92-07C4-BAD7EDB65B0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5C2CC2D-6981-5EB0-CAF1-F36B85BB7F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C0B296AC-EA40-1F38-4473-AB6549C0F5E6}"/>
              </a:ext>
            </a:extLst>
          </p:cNvPr>
          <p:cNvSpPr txBox="1">
            <a:spLocks/>
          </p:cNvSpPr>
          <p:nvPr/>
        </p:nvSpPr>
        <p:spPr>
          <a:xfrm>
            <a:off x="4781550" y="738350"/>
            <a:ext cx="8229600" cy="868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CO" dirty="0"/>
              <a:t>Trazabilidad de linaje</a:t>
            </a:r>
            <a:endParaRPr lang="es-CO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E4A6D139-4CD0-2220-15AB-A65DF12DEA7A}"/>
              </a:ext>
            </a:extLst>
          </p:cNvPr>
          <p:cNvSpPr txBox="1">
            <a:spLocks/>
          </p:cNvSpPr>
          <p:nvPr/>
        </p:nvSpPr>
        <p:spPr>
          <a:xfrm>
            <a:off x="1219200" y="2552700"/>
            <a:ext cx="15354300" cy="81155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5400" dirty="0"/>
              <a:t>Registrar el procesamiento usado para crear datos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Grano grueso: registrar el procesamiento de una tabla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4800" dirty="0"/>
              <a:t>Grano fino: registrar el procesamiento de un registro</a:t>
            </a:r>
            <a:endParaRPr lang="es-ES" sz="44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5400" dirty="0"/>
              <a:t>Registrar el grafo de pasos de transformación de datos.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5400" dirty="0"/>
              <a:t>Usado para análisis, depuración y bucles de retroalimentación</a:t>
            </a:r>
            <a:endParaRPr lang="es-ES" sz="48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941839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DE5F-038A-7F9E-BDEC-2EBE03CA6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0481E5-317B-95BC-4A08-A0EF328B295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372B957-00D4-1E82-88A8-6D31BF5596A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0A205EF-9949-2817-1AE5-FE36F214ABA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6F6DFBB-31FA-5961-5147-003741B7D3E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2AC71E5-E2BE-1E18-B164-4F6BC3819A9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395D04B-899C-E90E-193D-6D24A5E27B3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C74FFF9-DA37-589B-5FA8-03AF17603E6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6CFD629-4911-EB07-C210-76FF03A6756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AA867F7-78A7-102F-DA54-E9349F5C5A8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060A917-DD79-9B72-849F-61F9EE72E25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80079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-10800000">
            <a:off x="10392303" y="0"/>
            <a:ext cx="7895697" cy="10287000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-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11000950" y="4587964"/>
            <a:ext cx="7356554" cy="1249125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068637" y="3413680"/>
            <a:ext cx="6434234" cy="2520100"/>
            <a:chOff x="0" y="0"/>
            <a:chExt cx="8578979" cy="336013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8578979" cy="3360133"/>
              <a:chOff x="0" y="0"/>
              <a:chExt cx="582801" cy="22826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gradFill>
                  <a:gsLst>
                    <a:gs pos="0">
                      <a:srgbClr val="6B1374">
                        <a:alpha val="100000"/>
                      </a:srgbClr>
                    </a:gs>
                    <a:gs pos="33333">
                      <a:srgbClr val="700A89">
                        <a:alpha val="100000"/>
                      </a:srgbClr>
                    </a:gs>
                    <a:gs pos="66667">
                      <a:srgbClr val="C20052">
                        <a:alpha val="100000"/>
                      </a:srgbClr>
                    </a:gs>
                    <a:gs pos="100000">
                      <a:srgbClr val="FF0055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55297" y="630412"/>
              <a:ext cx="7868384" cy="2025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2400" dirty="0">
                  <a:solidFill>
                    <a:srgbClr val="1F1F1D"/>
                  </a:solidFill>
                  <a:latin typeface="Poppins 2"/>
                  <a:ea typeface="Poppins 2"/>
                  <a:cs typeface="Poppins 2"/>
                  <a:sym typeface="Poppins 2"/>
                </a:rPr>
                <a:t>Juan Esteban Mejía Velásquez</a:t>
              </a:r>
            </a:p>
            <a:p>
              <a:pPr algn="ctr">
                <a:lnSpc>
                  <a:spcPts val="3600"/>
                </a:lnSpc>
              </a:pPr>
              <a:r>
                <a:rPr lang="en-US" sz="2000" dirty="0" err="1">
                  <a:solidFill>
                    <a:srgbClr val="1F1F1D"/>
                  </a:solidFill>
                  <a:latin typeface="Poppins 3"/>
                  <a:ea typeface="Poppins 3"/>
                  <a:cs typeface="Poppins 3"/>
                  <a:sym typeface="Poppins 3"/>
                </a:rPr>
                <a:t>Docente</a:t>
              </a:r>
              <a:endParaRPr lang="en-US" sz="2000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</a:endParaRPr>
            </a:p>
            <a:p>
              <a:pPr algn="ctr">
                <a:lnSpc>
                  <a:spcPts val="4320"/>
                </a:lnSpc>
              </a:pPr>
              <a:r>
                <a:rPr lang="en-US" sz="2400" u="sng" dirty="0">
                  <a:solidFill>
                    <a:srgbClr val="1F1F1D"/>
                  </a:solidFill>
                  <a:latin typeface="Poppins 3"/>
                  <a:ea typeface="Poppins 3"/>
                  <a:cs typeface="Poppins 3"/>
                  <a:sym typeface="Poppins 3"/>
                  <a:hlinkClick r:id="rId4" tooltip="mailto:eduardo.tamayo@enyoi.co"/>
                </a:rPr>
                <a:t>Nombre.apellido@enyoi.co</a:t>
              </a:r>
            </a:p>
          </p:txBody>
        </p:sp>
      </p:grpSp>
      <p:sp>
        <p:nvSpPr>
          <p:cNvPr id="16" name="Freeform 16">
            <a:hlinkClick r:id="rId5" tooltip="https://wa.me/573206649412"/>
          </p:cNvPr>
          <p:cNvSpPr/>
          <p:nvPr/>
        </p:nvSpPr>
        <p:spPr>
          <a:xfrm>
            <a:off x="2068637" y="6536925"/>
            <a:ext cx="360000" cy="332550"/>
          </a:xfrm>
          <a:custGeom>
            <a:avLst/>
            <a:gdLst/>
            <a:ahLst/>
            <a:cxnLst/>
            <a:rect l="l" t="t" r="r" b="b"/>
            <a:pathLst>
              <a:path w="360000" h="33255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Freeform 17">
            <a:hlinkClick r:id="rId8" tooltip="https://www.instagram.com/enyoi.co/"/>
          </p:cNvPr>
          <p:cNvSpPr/>
          <p:nvPr/>
        </p:nvSpPr>
        <p:spPr>
          <a:xfrm>
            <a:off x="5758126" y="653568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8" name="Freeform 18">
            <a:hlinkClick r:id="rId11" tooltip="http://www.enyoi.co"/>
          </p:cNvPr>
          <p:cNvSpPr/>
          <p:nvPr/>
        </p:nvSpPr>
        <p:spPr>
          <a:xfrm>
            <a:off x="5775261" y="71457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9" name="Freeform 19"/>
          <p:cNvSpPr/>
          <p:nvPr/>
        </p:nvSpPr>
        <p:spPr>
          <a:xfrm>
            <a:off x="2096214" y="7144126"/>
            <a:ext cx="332423" cy="332422"/>
          </a:xfrm>
          <a:custGeom>
            <a:avLst/>
            <a:gdLst/>
            <a:ahLst/>
            <a:cxnLst/>
            <a:rect l="l" t="t" r="r" b="b"/>
            <a:pathLst>
              <a:path w="332423" h="332422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0" name="TextBox 20"/>
          <p:cNvSpPr txBox="1"/>
          <p:nvPr/>
        </p:nvSpPr>
        <p:spPr>
          <a:xfrm>
            <a:off x="6214196" y="7136825"/>
            <a:ext cx="1721048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11" tooltip="http://www.enyoi.co"/>
              </a:rPr>
              <a:t>www.enyoi.co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12929" y="6526813"/>
            <a:ext cx="1048048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8" tooltip="https://www.instagram.com/enyoi.co/"/>
              </a:rPr>
              <a:t>enyoi.co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20238" y="6526813"/>
            <a:ext cx="24678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5" tooltip="https://wa.me/573206649412"/>
              </a:rPr>
              <a:t>+57 3016736729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20164" y="7136825"/>
            <a:ext cx="1048048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15" tooltip="https://www.tiktok.com/@enyoi.co"/>
              </a:rPr>
              <a:t>enyoi.co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068637" y="7010382"/>
            <a:ext cx="2744745" cy="47625"/>
            <a:chOff x="0" y="0"/>
            <a:chExt cx="722896" cy="125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58126" y="7010382"/>
            <a:ext cx="2744745" cy="47625"/>
            <a:chOff x="0" y="0"/>
            <a:chExt cx="722896" cy="125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0" name="Google Shape;88;g2d7c13286f8_0_89">
            <a:extLst>
              <a:ext uri="{FF2B5EF4-FFF2-40B4-BE49-F238E27FC236}">
                <a16:creationId xmlns:a16="http://schemas.microsoft.com/office/drawing/2014/main" id="{F3EF8E1B-3B38-49F0-B0E1-90804987FDB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 l="53990" t="15859" r="8554" b="69322"/>
          <a:stretch/>
        </p:blipFill>
        <p:spPr>
          <a:xfrm>
            <a:off x="5001939" y="578151"/>
            <a:ext cx="4721448" cy="104805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Freeform 2">
            <a:extLst>
              <a:ext uri="{FF2B5EF4-FFF2-40B4-BE49-F238E27FC236}">
                <a16:creationId xmlns:a16="http://schemas.microsoft.com/office/drawing/2014/main" id="{8698B696-E24B-4998-B961-AC408298D752}"/>
              </a:ext>
            </a:extLst>
          </p:cNvPr>
          <p:cNvSpPr/>
          <p:nvPr/>
        </p:nvSpPr>
        <p:spPr>
          <a:xfrm>
            <a:off x="729281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0e3a372f9aebe1af25825ebaa0c18744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0eaab62a3d55c6ce655e721a70c7681c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B2B6EA-D349-4B2F-B929-6B75BC50FC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E0BB8D-833E-4C50-9216-ACEFA67B89FD}">
  <ds:schemaRefs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d0e0202-030e-462a-aa27-6a6a82479e70"/>
    <ds:schemaRef ds:uri="6c275f7e-0654-4a6d-8904-2cca8e28e712"/>
  </ds:schemaRefs>
</ds:datastoreItem>
</file>

<file path=customXml/itemProps3.xml><?xml version="1.0" encoding="utf-8"?>
<ds:datastoreItem xmlns:ds="http://schemas.openxmlformats.org/officeDocument/2006/customXml" ds:itemID="{5A23B340-D820-43E7-9E27-6EAE6AACC6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3158</TotalTime>
  <Words>5199</Words>
  <Application>Microsoft Office PowerPoint</Application>
  <PresentationFormat>Personalizado</PresentationFormat>
  <Paragraphs>668</Paragraphs>
  <Slides>86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86</vt:i4>
      </vt:variant>
    </vt:vector>
  </HeadingPairs>
  <TitlesOfParts>
    <vt:vector size="94" baseType="lpstr">
      <vt:lpstr>Arial</vt:lpstr>
      <vt:lpstr>Poppins 3</vt:lpstr>
      <vt:lpstr>Poppins 1 Bold</vt:lpstr>
      <vt:lpstr>Poppins</vt:lpstr>
      <vt:lpstr>Poppins 2</vt:lpstr>
      <vt:lpstr>Calibri</vt:lpstr>
      <vt:lpstr>Office Theme</vt:lpstr>
      <vt:lpstr>Microsoft Word Document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Enyoi ChildTech - Pitch final</dc:title>
  <dc:creator>Administrador</dc:creator>
  <cp:lastModifiedBy>Juan Esteban Mejia Velasquez</cp:lastModifiedBy>
  <cp:revision>19</cp:revision>
  <dcterms:created xsi:type="dcterms:W3CDTF">2006-08-16T00:00:00Z</dcterms:created>
  <dcterms:modified xsi:type="dcterms:W3CDTF">2026-02-25T23:52:14Z</dcterms:modified>
  <dc:identifier>DAGn2ZVma2Y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GUID">
    <vt:lpwstr>5a9a97e6-a690-4e83-b95e-999d38ef2ce5</vt:lpwstr>
  </property>
  <property fmtid="{D5CDD505-2E9C-101B-9397-08002B2CF9AE}" pid="11" name="SharedWithUsers">
    <vt:lpwstr/>
  </property>
</Properties>
</file>