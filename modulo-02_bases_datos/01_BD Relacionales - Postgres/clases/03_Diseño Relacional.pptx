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50"/>
  </p:notesMasterIdLst>
  <p:sldIdLst>
    <p:sldId id="256" r:id="rId5"/>
    <p:sldId id="331" r:id="rId6"/>
    <p:sldId id="8497" r:id="rId7"/>
    <p:sldId id="8502" r:id="rId8"/>
    <p:sldId id="8504" r:id="rId9"/>
    <p:sldId id="8503" r:id="rId10"/>
    <p:sldId id="8517" r:id="rId11"/>
    <p:sldId id="8505" r:id="rId12"/>
    <p:sldId id="8506" r:id="rId13"/>
    <p:sldId id="8507" r:id="rId14"/>
    <p:sldId id="8508" r:id="rId15"/>
    <p:sldId id="8509" r:id="rId16"/>
    <p:sldId id="8510" r:id="rId17"/>
    <p:sldId id="8526" r:id="rId18"/>
    <p:sldId id="8518" r:id="rId19"/>
    <p:sldId id="8519" r:id="rId20"/>
    <p:sldId id="8520" r:id="rId21"/>
    <p:sldId id="8521" r:id="rId22"/>
    <p:sldId id="8522" r:id="rId23"/>
    <p:sldId id="8523" r:id="rId24"/>
    <p:sldId id="8511" r:id="rId25"/>
    <p:sldId id="8512" r:id="rId26"/>
    <p:sldId id="8513" r:id="rId27"/>
    <p:sldId id="8514" r:id="rId28"/>
    <p:sldId id="8515" r:id="rId29"/>
    <p:sldId id="8516" r:id="rId30"/>
    <p:sldId id="8527" r:id="rId31"/>
    <p:sldId id="8524" r:id="rId32"/>
    <p:sldId id="8525" r:id="rId33"/>
    <p:sldId id="8528" r:id="rId34"/>
    <p:sldId id="8532" r:id="rId35"/>
    <p:sldId id="8529" r:id="rId36"/>
    <p:sldId id="8530" r:id="rId37"/>
    <p:sldId id="8535" r:id="rId38"/>
    <p:sldId id="8531" r:id="rId39"/>
    <p:sldId id="8533" r:id="rId40"/>
    <p:sldId id="8547" r:id="rId41"/>
    <p:sldId id="8534" r:id="rId42"/>
    <p:sldId id="8546" r:id="rId43"/>
    <p:sldId id="8548" r:id="rId44"/>
    <p:sldId id="8536" r:id="rId45"/>
    <p:sldId id="8537" r:id="rId46"/>
    <p:sldId id="8538" r:id="rId47"/>
    <p:sldId id="8539" r:id="rId48"/>
    <p:sldId id="268" r:id="rId49"/>
  </p:sldIdLst>
  <p:sldSz cx="18288000" cy="10287000"/>
  <p:notesSz cx="6858000" cy="9144000"/>
  <p:embeddedFontLst>
    <p:embeddedFont>
      <p:font typeface="Poppins" panose="00000500000000000000" pitchFamily="2" charset="0"/>
      <p:regular r:id="rId51"/>
      <p:bold r:id="rId52"/>
      <p:italic r:id="rId53"/>
      <p:boldItalic r:id="rId54"/>
    </p:embeddedFont>
    <p:embeddedFont>
      <p:font typeface="Poppins 1 Bold" panose="020B0604020202020204" charset="0"/>
      <p:regular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1" roundtripDataSignature="AMtx7miCuhGeosWqeH/wf4kyj2KadRk8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8" autoAdjust="0"/>
    <p:restoredTop sz="94660"/>
  </p:normalViewPr>
  <p:slideViewPr>
    <p:cSldViewPr snapToGrid="0">
      <p:cViewPr varScale="1">
        <p:scale>
          <a:sx n="56" d="100"/>
          <a:sy n="56" d="100"/>
        </p:scale>
        <p:origin x="259" y="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9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font" Target="fonts/font4.fntdata"/><Relationship Id="rId91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95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2.fntdata"/><Relationship Id="rId9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font" Target="fonts/font1.fntdata"/><Relationship Id="rId93" Type="http://schemas.openxmlformats.org/officeDocument/2006/relationships/viewProps" Target="viewProps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E88520-F094-4AB5-AE39-BDACEC21F00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CO"/>
        </a:p>
      </dgm:t>
    </dgm:pt>
    <dgm:pt modelId="{3E4A5349-783B-4174-AE46-36376482FE3A}">
      <dgm:prSet/>
      <dgm:spPr/>
      <dgm:t>
        <a:bodyPr/>
        <a:lstStyle/>
        <a:p>
          <a:r>
            <a:rPr lang="es-ES" b="1" i="0"/>
            <a:t>Abrid Datos desnortmalizados e ilustrar</a:t>
          </a:r>
          <a:endParaRPr lang="es-CO"/>
        </a:p>
      </dgm:t>
    </dgm:pt>
    <dgm:pt modelId="{76C0757D-0125-4B8A-ADF3-01E48BB7BBA6}" type="parTrans" cxnId="{D3C1446C-2615-455B-B29B-C6CFC23CCABE}">
      <dgm:prSet/>
      <dgm:spPr/>
      <dgm:t>
        <a:bodyPr/>
        <a:lstStyle/>
        <a:p>
          <a:endParaRPr lang="es-CO"/>
        </a:p>
      </dgm:t>
    </dgm:pt>
    <dgm:pt modelId="{971A4FBE-E40E-4957-9D5C-B129222077D6}" type="sibTrans" cxnId="{D3C1446C-2615-455B-B29B-C6CFC23CCABE}">
      <dgm:prSet/>
      <dgm:spPr/>
      <dgm:t>
        <a:bodyPr/>
        <a:lstStyle/>
        <a:p>
          <a:endParaRPr lang="es-CO"/>
        </a:p>
      </dgm:t>
    </dgm:pt>
    <dgm:pt modelId="{D6EF15B0-B62F-45F3-A6C2-09CF398255C4}">
      <dgm:prSet/>
      <dgm:spPr/>
      <dgm:t>
        <a:bodyPr/>
        <a:lstStyle/>
        <a:p>
          <a:r>
            <a:rPr lang="es-ES" b="1" i="0"/>
            <a:t>La maldición de la dimensionalidad</a:t>
          </a:r>
          <a:endParaRPr lang="es-CO"/>
        </a:p>
      </dgm:t>
    </dgm:pt>
    <dgm:pt modelId="{056A4B80-3E89-4295-B7E2-8E0B3838EB4F}" type="parTrans" cxnId="{94DF639C-8BE8-4D56-880A-32E0B33EA4EF}">
      <dgm:prSet/>
      <dgm:spPr/>
      <dgm:t>
        <a:bodyPr/>
        <a:lstStyle/>
        <a:p>
          <a:endParaRPr lang="es-CO"/>
        </a:p>
      </dgm:t>
    </dgm:pt>
    <dgm:pt modelId="{128F71DD-8EEE-43DC-A50B-AC9133C3E263}" type="sibTrans" cxnId="{94DF639C-8BE8-4D56-880A-32E0B33EA4EF}">
      <dgm:prSet/>
      <dgm:spPr/>
      <dgm:t>
        <a:bodyPr/>
        <a:lstStyle/>
        <a:p>
          <a:endParaRPr lang="es-CO"/>
        </a:p>
      </dgm:t>
    </dgm:pt>
    <dgm:pt modelId="{2488E620-80FE-4C9A-8539-C9EF3CBED98A}" type="pres">
      <dgm:prSet presAssocID="{95E88520-F094-4AB5-AE39-BDACEC21F00E}" presName="Name0" presStyleCnt="0">
        <dgm:presLayoutVars>
          <dgm:dir/>
          <dgm:animLvl val="lvl"/>
          <dgm:resizeHandles val="exact"/>
        </dgm:presLayoutVars>
      </dgm:prSet>
      <dgm:spPr/>
    </dgm:pt>
    <dgm:pt modelId="{CB734341-E4DC-4C56-ADC1-C901E7DF550C}" type="pres">
      <dgm:prSet presAssocID="{3E4A5349-783B-4174-AE46-36376482FE3A}" presName="linNode" presStyleCnt="0"/>
      <dgm:spPr/>
    </dgm:pt>
    <dgm:pt modelId="{55AEBD71-788D-4EE5-8622-5FFF5CF7C899}" type="pres">
      <dgm:prSet presAssocID="{3E4A5349-783B-4174-AE46-36376482FE3A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A6EAC274-C2C5-4F76-A0F4-40AFCCAED7E0}" type="pres">
      <dgm:prSet presAssocID="{971A4FBE-E40E-4957-9D5C-B129222077D6}" presName="sp" presStyleCnt="0"/>
      <dgm:spPr/>
    </dgm:pt>
    <dgm:pt modelId="{FCAC8D32-D0B0-42AF-AD3E-2767C45DB583}" type="pres">
      <dgm:prSet presAssocID="{D6EF15B0-B62F-45F3-A6C2-09CF398255C4}" presName="linNode" presStyleCnt="0"/>
      <dgm:spPr/>
    </dgm:pt>
    <dgm:pt modelId="{AC8E49C3-6986-444E-8CCF-1178E547B44E}" type="pres">
      <dgm:prSet presAssocID="{D6EF15B0-B62F-45F3-A6C2-09CF398255C4}" presName="parentText" presStyleLbl="node1" presStyleIdx="1" presStyleCnt="2">
        <dgm:presLayoutVars>
          <dgm:chMax val="1"/>
          <dgm:bulletEnabled val="1"/>
        </dgm:presLayoutVars>
      </dgm:prSet>
      <dgm:spPr/>
    </dgm:pt>
  </dgm:ptLst>
  <dgm:cxnLst>
    <dgm:cxn modelId="{CB1FA22A-8BE9-47A1-B8F5-49EBB37A50AC}" type="presOf" srcId="{95E88520-F094-4AB5-AE39-BDACEC21F00E}" destId="{2488E620-80FE-4C9A-8539-C9EF3CBED98A}" srcOrd="0" destOrd="0" presId="urn:microsoft.com/office/officeart/2005/8/layout/vList5"/>
    <dgm:cxn modelId="{3C9F483B-40EB-4DE6-8944-1DB5D1E3916E}" type="presOf" srcId="{3E4A5349-783B-4174-AE46-36376482FE3A}" destId="{55AEBD71-788D-4EE5-8622-5FFF5CF7C899}" srcOrd="0" destOrd="0" presId="urn:microsoft.com/office/officeart/2005/8/layout/vList5"/>
    <dgm:cxn modelId="{D3C1446C-2615-455B-B29B-C6CFC23CCABE}" srcId="{95E88520-F094-4AB5-AE39-BDACEC21F00E}" destId="{3E4A5349-783B-4174-AE46-36376482FE3A}" srcOrd="0" destOrd="0" parTransId="{76C0757D-0125-4B8A-ADF3-01E48BB7BBA6}" sibTransId="{971A4FBE-E40E-4957-9D5C-B129222077D6}"/>
    <dgm:cxn modelId="{94DF639C-8BE8-4D56-880A-32E0B33EA4EF}" srcId="{95E88520-F094-4AB5-AE39-BDACEC21F00E}" destId="{D6EF15B0-B62F-45F3-A6C2-09CF398255C4}" srcOrd="1" destOrd="0" parTransId="{056A4B80-3E89-4295-B7E2-8E0B3838EB4F}" sibTransId="{128F71DD-8EEE-43DC-A50B-AC9133C3E263}"/>
    <dgm:cxn modelId="{BA8C0AD0-EDC5-4350-B57D-FD6542FFF9EE}" type="presOf" srcId="{D6EF15B0-B62F-45F3-A6C2-09CF398255C4}" destId="{AC8E49C3-6986-444E-8CCF-1178E547B44E}" srcOrd="0" destOrd="0" presId="urn:microsoft.com/office/officeart/2005/8/layout/vList5"/>
    <dgm:cxn modelId="{9DBDB6DE-E478-4206-B0D9-ED7EDEE510D3}" type="presParOf" srcId="{2488E620-80FE-4C9A-8539-C9EF3CBED98A}" destId="{CB734341-E4DC-4C56-ADC1-C901E7DF550C}" srcOrd="0" destOrd="0" presId="urn:microsoft.com/office/officeart/2005/8/layout/vList5"/>
    <dgm:cxn modelId="{597B9970-CAA0-4C5B-8D4C-0536C440CB8A}" type="presParOf" srcId="{CB734341-E4DC-4C56-ADC1-C901E7DF550C}" destId="{55AEBD71-788D-4EE5-8622-5FFF5CF7C899}" srcOrd="0" destOrd="0" presId="urn:microsoft.com/office/officeart/2005/8/layout/vList5"/>
    <dgm:cxn modelId="{1CAB01D5-005E-4C06-817D-24616471B771}" type="presParOf" srcId="{2488E620-80FE-4C9A-8539-C9EF3CBED98A}" destId="{A6EAC274-C2C5-4F76-A0F4-40AFCCAED7E0}" srcOrd="1" destOrd="0" presId="urn:microsoft.com/office/officeart/2005/8/layout/vList5"/>
    <dgm:cxn modelId="{7011C9E0-A7A3-432F-9522-B68743964373}" type="presParOf" srcId="{2488E620-80FE-4C9A-8539-C9EF3CBED98A}" destId="{FCAC8D32-D0B0-42AF-AD3E-2767C45DB583}" srcOrd="2" destOrd="0" presId="urn:microsoft.com/office/officeart/2005/8/layout/vList5"/>
    <dgm:cxn modelId="{EFDD7A94-F023-4B5D-B870-012AC3E2E584}" type="presParOf" srcId="{FCAC8D32-D0B0-42AF-AD3E-2767C45DB583}" destId="{AC8E49C3-6986-444E-8CCF-1178E547B44E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09E5FF-45EB-4D78-B2F8-997699151F9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CO"/>
        </a:p>
      </dgm:t>
    </dgm:pt>
    <dgm:pt modelId="{0CA46AB9-F1E4-43AF-913F-96CE8D99635E}">
      <dgm:prSet/>
      <dgm:spPr/>
      <dgm:t>
        <a:bodyPr/>
        <a:lstStyle/>
        <a:p>
          <a:r>
            <a:rPr lang="es-ES" b="1" i="0"/>
            <a:t>Errores que cuestan caro después</a:t>
          </a:r>
          <a:endParaRPr lang="es-CO"/>
        </a:p>
      </dgm:t>
    </dgm:pt>
    <dgm:pt modelId="{181486EB-C2FD-4C4E-8484-C33D381064B1}" type="parTrans" cxnId="{EC9EC4C2-1DF3-46CC-806E-B0BEA488E671}">
      <dgm:prSet/>
      <dgm:spPr/>
      <dgm:t>
        <a:bodyPr/>
        <a:lstStyle/>
        <a:p>
          <a:endParaRPr lang="es-CO"/>
        </a:p>
      </dgm:t>
    </dgm:pt>
    <dgm:pt modelId="{E4E952B5-1646-4385-8131-83B555D4EFCC}" type="sibTrans" cxnId="{EC9EC4C2-1DF3-46CC-806E-B0BEA488E671}">
      <dgm:prSet/>
      <dgm:spPr/>
      <dgm:t>
        <a:bodyPr/>
        <a:lstStyle/>
        <a:p>
          <a:endParaRPr lang="es-CO"/>
        </a:p>
      </dgm:t>
    </dgm:pt>
    <dgm:pt modelId="{69751349-2053-4D6F-84EA-CE8F9CA22E45}">
      <dgm:prSet/>
      <dgm:spPr/>
      <dgm:t>
        <a:bodyPr/>
        <a:lstStyle/>
        <a:p>
          <a:r>
            <a:rPr lang="es-ES" b="1" i="0"/>
            <a:t>Confundir Atributos con Entidades:</a:t>
          </a:r>
          <a:endParaRPr lang="es-CO"/>
        </a:p>
      </dgm:t>
    </dgm:pt>
    <dgm:pt modelId="{8401C29E-3644-4099-9F5F-061EA2A95112}" type="parTrans" cxnId="{D91D8B69-3D15-44D8-87B0-A71DF6996BB8}">
      <dgm:prSet/>
      <dgm:spPr/>
      <dgm:t>
        <a:bodyPr/>
        <a:lstStyle/>
        <a:p>
          <a:endParaRPr lang="es-CO"/>
        </a:p>
      </dgm:t>
    </dgm:pt>
    <dgm:pt modelId="{EA50DED6-DA3D-40F7-951E-66DFDDAB3C14}" type="sibTrans" cxnId="{D91D8B69-3D15-44D8-87B0-A71DF6996BB8}">
      <dgm:prSet/>
      <dgm:spPr/>
      <dgm:t>
        <a:bodyPr/>
        <a:lstStyle/>
        <a:p>
          <a:endParaRPr lang="es-CO"/>
        </a:p>
      </dgm:t>
    </dgm:pt>
    <dgm:pt modelId="{3A953468-903B-4AA9-B5A1-9F1FEA72CF6A}">
      <dgm:prSet/>
      <dgm:spPr/>
      <dgm:t>
        <a:bodyPr/>
        <a:lstStyle/>
        <a:p>
          <a:r>
            <a:rPr lang="es-ES" b="0" i="1"/>
            <a:t>Error:</a:t>
          </a:r>
          <a:r>
            <a:rPr lang="es-ES" b="0" i="0"/>
            <a:t> Crear una tabla llamada "Precio".</a:t>
          </a:r>
          <a:endParaRPr lang="es-CO"/>
        </a:p>
      </dgm:t>
    </dgm:pt>
    <dgm:pt modelId="{B9C70C8A-CF5B-4F84-9F2F-727A1203719E}" type="parTrans" cxnId="{33B2F929-3066-4B23-B95D-B1B03CAFFFE7}">
      <dgm:prSet/>
      <dgm:spPr/>
      <dgm:t>
        <a:bodyPr/>
        <a:lstStyle/>
        <a:p>
          <a:endParaRPr lang="es-CO"/>
        </a:p>
      </dgm:t>
    </dgm:pt>
    <dgm:pt modelId="{C8F7CE05-11B4-417C-83DD-41E5DC046966}" type="sibTrans" cxnId="{33B2F929-3066-4B23-B95D-B1B03CAFFFE7}">
      <dgm:prSet/>
      <dgm:spPr/>
      <dgm:t>
        <a:bodyPr/>
        <a:lstStyle/>
        <a:p>
          <a:endParaRPr lang="es-CO"/>
        </a:p>
      </dgm:t>
    </dgm:pt>
    <dgm:pt modelId="{9F35351E-D4AD-4C1B-979C-63AF75EAF3FF}">
      <dgm:prSet/>
      <dgm:spPr/>
      <dgm:t>
        <a:bodyPr/>
        <a:lstStyle/>
        <a:p>
          <a:r>
            <a:rPr lang="es-ES" b="0" i="1"/>
            <a:t>Corrección:</a:t>
          </a:r>
          <a:r>
            <a:rPr lang="es-ES" b="0" i="0"/>
            <a:t> El precio no existe por sí solo; es una cualidad de un Producto o de una Venta pactada.</a:t>
          </a:r>
          <a:endParaRPr lang="es-CO"/>
        </a:p>
      </dgm:t>
    </dgm:pt>
    <dgm:pt modelId="{87B832EE-AC2D-460C-8D0E-65BFD5C9E32E}" type="parTrans" cxnId="{38B3B618-60A0-4E86-9B28-E65C6146E328}">
      <dgm:prSet/>
      <dgm:spPr/>
      <dgm:t>
        <a:bodyPr/>
        <a:lstStyle/>
        <a:p>
          <a:endParaRPr lang="es-CO"/>
        </a:p>
      </dgm:t>
    </dgm:pt>
    <dgm:pt modelId="{F4660CB8-67DD-4F8D-9EC6-E2F6FCA87B19}" type="sibTrans" cxnId="{38B3B618-60A0-4E86-9B28-E65C6146E328}">
      <dgm:prSet/>
      <dgm:spPr/>
      <dgm:t>
        <a:bodyPr/>
        <a:lstStyle/>
        <a:p>
          <a:endParaRPr lang="es-CO"/>
        </a:p>
      </dgm:t>
    </dgm:pt>
    <dgm:pt modelId="{6C7D2198-0CF3-4181-993A-47DBE6963749}">
      <dgm:prSet/>
      <dgm:spPr/>
      <dgm:t>
        <a:bodyPr/>
        <a:lstStyle/>
        <a:p>
          <a:r>
            <a:rPr lang="es-ES" b="1" i="0"/>
            <a:t>Ignorar el Detalle (Granularidad):</a:t>
          </a:r>
          <a:endParaRPr lang="es-CO"/>
        </a:p>
      </dgm:t>
    </dgm:pt>
    <dgm:pt modelId="{BE694135-8506-4FC0-888B-77B56B55604A}" type="parTrans" cxnId="{1A71AC26-1576-4D68-97CD-E5BF7974D15A}">
      <dgm:prSet/>
      <dgm:spPr/>
      <dgm:t>
        <a:bodyPr/>
        <a:lstStyle/>
        <a:p>
          <a:endParaRPr lang="es-CO"/>
        </a:p>
      </dgm:t>
    </dgm:pt>
    <dgm:pt modelId="{603352E7-5A5D-49A7-9E53-68375B8CEB22}" type="sibTrans" cxnId="{1A71AC26-1576-4D68-97CD-E5BF7974D15A}">
      <dgm:prSet/>
      <dgm:spPr/>
      <dgm:t>
        <a:bodyPr/>
        <a:lstStyle/>
        <a:p>
          <a:endParaRPr lang="es-CO"/>
        </a:p>
      </dgm:t>
    </dgm:pt>
    <dgm:pt modelId="{392036AB-0955-4BEA-BF08-E9F78EA916E8}">
      <dgm:prSet/>
      <dgm:spPr/>
      <dgm:t>
        <a:bodyPr/>
        <a:lstStyle/>
        <a:p>
          <a:r>
            <a:rPr lang="es-ES" b="0" i="1"/>
            <a:t>Error:</a:t>
          </a:r>
          <a:r>
            <a:rPr lang="es-ES" b="0" i="0"/>
            <a:t> Intentar guardar todos los productos comprados en una sola celda de la tabla "Pedido" (separados por comas).</a:t>
          </a:r>
          <a:endParaRPr lang="es-CO"/>
        </a:p>
      </dgm:t>
    </dgm:pt>
    <dgm:pt modelId="{4A472BAB-1E03-46D9-86DD-AD5C3D85AC75}" type="parTrans" cxnId="{BDE00F5F-AD82-410B-92C5-377354B73A4F}">
      <dgm:prSet/>
      <dgm:spPr/>
      <dgm:t>
        <a:bodyPr/>
        <a:lstStyle/>
        <a:p>
          <a:endParaRPr lang="es-CO"/>
        </a:p>
      </dgm:t>
    </dgm:pt>
    <dgm:pt modelId="{BB731EE3-84C0-479B-A526-A01B260EE632}" type="sibTrans" cxnId="{BDE00F5F-AD82-410B-92C5-377354B73A4F}">
      <dgm:prSet/>
      <dgm:spPr/>
      <dgm:t>
        <a:bodyPr/>
        <a:lstStyle/>
        <a:p>
          <a:endParaRPr lang="es-CO"/>
        </a:p>
      </dgm:t>
    </dgm:pt>
    <dgm:pt modelId="{0248C53A-2B1A-439A-A4BC-672C5C7981C4}">
      <dgm:prSet/>
      <dgm:spPr/>
      <dgm:t>
        <a:bodyPr/>
        <a:lstStyle/>
        <a:p>
          <a:r>
            <a:rPr lang="es-ES" b="0" i="1"/>
            <a:t>Corrección:</a:t>
          </a:r>
          <a:r>
            <a:rPr lang="es-ES" b="0" i="0"/>
            <a:t> Detectar la necesidad de una tabla hija (Order_Items) para normalizar la información.</a:t>
          </a:r>
          <a:endParaRPr lang="es-CO"/>
        </a:p>
      </dgm:t>
    </dgm:pt>
    <dgm:pt modelId="{9AC492E2-C368-49B1-BF80-9FE0A928762A}" type="parTrans" cxnId="{736C9122-9096-4688-909A-DD8B107D3C35}">
      <dgm:prSet/>
      <dgm:spPr/>
      <dgm:t>
        <a:bodyPr/>
        <a:lstStyle/>
        <a:p>
          <a:endParaRPr lang="es-CO"/>
        </a:p>
      </dgm:t>
    </dgm:pt>
    <dgm:pt modelId="{4FE2A2B4-22C8-4882-93E2-FE39D5F39275}" type="sibTrans" cxnId="{736C9122-9096-4688-909A-DD8B107D3C35}">
      <dgm:prSet/>
      <dgm:spPr/>
      <dgm:t>
        <a:bodyPr/>
        <a:lstStyle/>
        <a:p>
          <a:endParaRPr lang="es-CO"/>
        </a:p>
      </dgm:t>
    </dgm:pt>
    <dgm:pt modelId="{53893564-2997-427E-AB77-7ABDB870BFBB}">
      <dgm:prSet/>
      <dgm:spPr/>
      <dgm:t>
        <a:bodyPr/>
        <a:lstStyle/>
        <a:p>
          <a:r>
            <a:rPr lang="es-ES" b="1" i="0"/>
            <a:t>Sinónimos y Ambigüedad:</a:t>
          </a:r>
          <a:endParaRPr lang="es-CO"/>
        </a:p>
      </dgm:t>
    </dgm:pt>
    <dgm:pt modelId="{CA535507-8691-41EE-A607-1CA436DDB611}" type="parTrans" cxnId="{A61025BF-A7E7-4B25-952B-9C403C825B41}">
      <dgm:prSet/>
      <dgm:spPr/>
      <dgm:t>
        <a:bodyPr/>
        <a:lstStyle/>
        <a:p>
          <a:endParaRPr lang="es-CO"/>
        </a:p>
      </dgm:t>
    </dgm:pt>
    <dgm:pt modelId="{052A3B2D-89DD-4E4A-B8C5-B620451DEAF7}" type="sibTrans" cxnId="{A61025BF-A7E7-4B25-952B-9C403C825B41}">
      <dgm:prSet/>
      <dgm:spPr/>
      <dgm:t>
        <a:bodyPr/>
        <a:lstStyle/>
        <a:p>
          <a:endParaRPr lang="es-CO"/>
        </a:p>
      </dgm:t>
    </dgm:pt>
    <dgm:pt modelId="{9157BAD7-2197-43AD-B275-25FE69AADBDD}">
      <dgm:prSet/>
      <dgm:spPr/>
      <dgm:t>
        <a:bodyPr/>
        <a:lstStyle/>
        <a:p>
          <a:r>
            <a:rPr lang="es-ES" b="0" i="0"/>
            <a:t>Si un departamento dice "Comprador" y otro "Usuario", el arquitecto de datos debe estandarizar (ej: </a:t>
          </a:r>
          <a:r>
            <a:rPr lang="es-ES" b="1" i="0"/>
            <a:t>Customer</a:t>
          </a:r>
          <a:r>
            <a:rPr lang="es-ES" b="0" i="0"/>
            <a:t>).</a:t>
          </a:r>
          <a:endParaRPr lang="es-CO"/>
        </a:p>
      </dgm:t>
    </dgm:pt>
    <dgm:pt modelId="{128ACDCC-4C92-4ABC-9AAD-CF935CC528AA}" type="parTrans" cxnId="{92E07456-E914-46A4-866C-16561A6D7F27}">
      <dgm:prSet/>
      <dgm:spPr/>
      <dgm:t>
        <a:bodyPr/>
        <a:lstStyle/>
        <a:p>
          <a:endParaRPr lang="es-CO"/>
        </a:p>
      </dgm:t>
    </dgm:pt>
    <dgm:pt modelId="{7532FFAB-6910-42E6-AC2E-A744A7545BAF}" type="sibTrans" cxnId="{92E07456-E914-46A4-866C-16561A6D7F27}">
      <dgm:prSet/>
      <dgm:spPr/>
      <dgm:t>
        <a:bodyPr/>
        <a:lstStyle/>
        <a:p>
          <a:endParaRPr lang="es-CO"/>
        </a:p>
      </dgm:t>
    </dgm:pt>
    <dgm:pt modelId="{70802432-0C97-4564-9D0F-1F2DE1EA9297}">
      <dgm:prSet/>
      <dgm:spPr/>
      <dgm:t>
        <a:bodyPr/>
        <a:lstStyle/>
        <a:p>
          <a:r>
            <a:rPr lang="es-ES" b="1" i="0"/>
            <a:t>Datos Calculados:</a:t>
          </a:r>
          <a:endParaRPr lang="es-CO"/>
        </a:p>
      </dgm:t>
    </dgm:pt>
    <dgm:pt modelId="{7256C1DC-FB13-40BF-BFD4-DA99BB21336D}" type="parTrans" cxnId="{DD19CE21-AAD7-4923-83F5-ECB661F8F499}">
      <dgm:prSet/>
      <dgm:spPr/>
      <dgm:t>
        <a:bodyPr/>
        <a:lstStyle/>
        <a:p>
          <a:endParaRPr lang="es-CO"/>
        </a:p>
      </dgm:t>
    </dgm:pt>
    <dgm:pt modelId="{F122300C-E266-4E86-BF59-3FF33F1ECE21}" type="sibTrans" cxnId="{DD19CE21-AAD7-4923-83F5-ECB661F8F499}">
      <dgm:prSet/>
      <dgm:spPr/>
      <dgm:t>
        <a:bodyPr/>
        <a:lstStyle/>
        <a:p>
          <a:endParaRPr lang="es-CO"/>
        </a:p>
      </dgm:t>
    </dgm:pt>
    <dgm:pt modelId="{E16B6F0F-546A-4722-B37E-73E0B27E06E4}">
      <dgm:prSet/>
      <dgm:spPr/>
      <dgm:t>
        <a:bodyPr/>
        <a:lstStyle/>
        <a:p>
          <a:r>
            <a:rPr lang="es-ES" b="0" i="0"/>
            <a:t>No almacenamos "Días que tardó el envío". Almacenamos Fecha_Envio y Fecha_Entrega, y calculamos la diferencia cuando sea necesario.</a:t>
          </a:r>
          <a:endParaRPr lang="es-CO"/>
        </a:p>
      </dgm:t>
    </dgm:pt>
    <dgm:pt modelId="{6BD5D9C5-5BEF-4B7E-9E43-163EA11DB1A0}" type="parTrans" cxnId="{05C77614-6CD1-45AC-9716-A56D8C026DB6}">
      <dgm:prSet/>
      <dgm:spPr/>
      <dgm:t>
        <a:bodyPr/>
        <a:lstStyle/>
        <a:p>
          <a:endParaRPr lang="es-CO"/>
        </a:p>
      </dgm:t>
    </dgm:pt>
    <dgm:pt modelId="{01C2A92E-55C3-4E33-868A-AB545556A09A}" type="sibTrans" cxnId="{05C77614-6CD1-45AC-9716-A56D8C026DB6}">
      <dgm:prSet/>
      <dgm:spPr/>
      <dgm:t>
        <a:bodyPr/>
        <a:lstStyle/>
        <a:p>
          <a:endParaRPr lang="es-CO"/>
        </a:p>
      </dgm:t>
    </dgm:pt>
    <dgm:pt modelId="{7ACE998F-F509-4F03-A6CE-19FB7B197FDC}" type="pres">
      <dgm:prSet presAssocID="{C709E5FF-45EB-4D78-B2F8-997699151F92}" presName="linear" presStyleCnt="0">
        <dgm:presLayoutVars>
          <dgm:animLvl val="lvl"/>
          <dgm:resizeHandles val="exact"/>
        </dgm:presLayoutVars>
      </dgm:prSet>
      <dgm:spPr/>
    </dgm:pt>
    <dgm:pt modelId="{352BC13A-90F2-4464-A92F-25D90C8822EA}" type="pres">
      <dgm:prSet presAssocID="{0CA46AB9-F1E4-43AF-913F-96CE8D99635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87B3BFF-E123-4308-9547-4D00C6EC9800}" type="pres">
      <dgm:prSet presAssocID="{E4E952B5-1646-4385-8131-83B555D4EFCC}" presName="spacer" presStyleCnt="0"/>
      <dgm:spPr/>
    </dgm:pt>
    <dgm:pt modelId="{133ED0BF-8AA8-4DEE-B2E9-41B5A0B2CD90}" type="pres">
      <dgm:prSet presAssocID="{69751349-2053-4D6F-84EA-CE8F9CA22E4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94D4E88-E28D-4841-BF4E-C8E89D0BF8C3}" type="pres">
      <dgm:prSet presAssocID="{69751349-2053-4D6F-84EA-CE8F9CA22E45}" presName="childText" presStyleLbl="revTx" presStyleIdx="0" presStyleCnt="4">
        <dgm:presLayoutVars>
          <dgm:bulletEnabled val="1"/>
        </dgm:presLayoutVars>
      </dgm:prSet>
      <dgm:spPr/>
    </dgm:pt>
    <dgm:pt modelId="{987078A6-04D9-4E63-9C58-26119E1AE2A1}" type="pres">
      <dgm:prSet presAssocID="{6C7D2198-0CF3-4181-993A-47DBE696374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0845346-9DF2-4D44-853E-E804040BB75D}" type="pres">
      <dgm:prSet presAssocID="{6C7D2198-0CF3-4181-993A-47DBE6963749}" presName="childText" presStyleLbl="revTx" presStyleIdx="1" presStyleCnt="4">
        <dgm:presLayoutVars>
          <dgm:bulletEnabled val="1"/>
        </dgm:presLayoutVars>
      </dgm:prSet>
      <dgm:spPr/>
    </dgm:pt>
    <dgm:pt modelId="{954FAAB9-0006-4D66-8F27-6285613969E2}" type="pres">
      <dgm:prSet presAssocID="{53893564-2997-427E-AB77-7ABDB870BFB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CC39003-3CCF-4718-BF9E-CD64B04CABA3}" type="pres">
      <dgm:prSet presAssocID="{53893564-2997-427E-AB77-7ABDB870BFBB}" presName="childText" presStyleLbl="revTx" presStyleIdx="2" presStyleCnt="4">
        <dgm:presLayoutVars>
          <dgm:bulletEnabled val="1"/>
        </dgm:presLayoutVars>
      </dgm:prSet>
      <dgm:spPr/>
    </dgm:pt>
    <dgm:pt modelId="{CE31755D-7B0A-4218-9D72-FB92E59C7650}" type="pres">
      <dgm:prSet presAssocID="{70802432-0C97-4564-9D0F-1F2DE1EA9297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DD20DFEF-15CC-4B2F-878F-C06F42210F77}" type="pres">
      <dgm:prSet presAssocID="{70802432-0C97-4564-9D0F-1F2DE1EA9297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05C77614-6CD1-45AC-9716-A56D8C026DB6}" srcId="{70802432-0C97-4564-9D0F-1F2DE1EA9297}" destId="{E16B6F0F-546A-4722-B37E-73E0B27E06E4}" srcOrd="0" destOrd="0" parTransId="{6BD5D9C5-5BEF-4B7E-9E43-163EA11DB1A0}" sibTransId="{01C2A92E-55C3-4E33-868A-AB545556A09A}"/>
    <dgm:cxn modelId="{38B3B618-60A0-4E86-9B28-E65C6146E328}" srcId="{69751349-2053-4D6F-84EA-CE8F9CA22E45}" destId="{9F35351E-D4AD-4C1B-979C-63AF75EAF3FF}" srcOrd="1" destOrd="0" parTransId="{87B832EE-AC2D-460C-8D0E-65BFD5C9E32E}" sibTransId="{F4660CB8-67DD-4F8D-9EC6-E2F6FCA87B19}"/>
    <dgm:cxn modelId="{DD19CE21-AAD7-4923-83F5-ECB661F8F499}" srcId="{C709E5FF-45EB-4D78-B2F8-997699151F92}" destId="{70802432-0C97-4564-9D0F-1F2DE1EA9297}" srcOrd="4" destOrd="0" parTransId="{7256C1DC-FB13-40BF-BFD4-DA99BB21336D}" sibTransId="{F122300C-E266-4E86-BF59-3FF33F1ECE21}"/>
    <dgm:cxn modelId="{736C9122-9096-4688-909A-DD8B107D3C35}" srcId="{6C7D2198-0CF3-4181-993A-47DBE6963749}" destId="{0248C53A-2B1A-439A-A4BC-672C5C7981C4}" srcOrd="1" destOrd="0" parTransId="{9AC492E2-C368-49B1-BF80-9FE0A928762A}" sibTransId="{4FE2A2B4-22C8-4882-93E2-FE39D5F39275}"/>
    <dgm:cxn modelId="{1A71AC26-1576-4D68-97CD-E5BF7974D15A}" srcId="{C709E5FF-45EB-4D78-B2F8-997699151F92}" destId="{6C7D2198-0CF3-4181-993A-47DBE6963749}" srcOrd="2" destOrd="0" parTransId="{BE694135-8506-4FC0-888B-77B56B55604A}" sibTransId="{603352E7-5A5D-49A7-9E53-68375B8CEB22}"/>
    <dgm:cxn modelId="{BAE43B29-0B54-4D30-BC02-AD8AE020A9ED}" type="presOf" srcId="{9157BAD7-2197-43AD-B275-25FE69AADBDD}" destId="{CCC39003-3CCF-4718-BF9E-CD64B04CABA3}" srcOrd="0" destOrd="0" presId="urn:microsoft.com/office/officeart/2005/8/layout/vList2"/>
    <dgm:cxn modelId="{33B2F929-3066-4B23-B95D-B1B03CAFFFE7}" srcId="{69751349-2053-4D6F-84EA-CE8F9CA22E45}" destId="{3A953468-903B-4AA9-B5A1-9F1FEA72CF6A}" srcOrd="0" destOrd="0" parTransId="{B9C70C8A-CF5B-4F84-9F2F-727A1203719E}" sibTransId="{C8F7CE05-11B4-417C-83DD-41E5DC046966}"/>
    <dgm:cxn modelId="{BDE00F5F-AD82-410B-92C5-377354B73A4F}" srcId="{6C7D2198-0CF3-4181-993A-47DBE6963749}" destId="{392036AB-0955-4BEA-BF08-E9F78EA916E8}" srcOrd="0" destOrd="0" parTransId="{4A472BAB-1E03-46D9-86DD-AD5C3D85AC75}" sibTransId="{BB731EE3-84C0-479B-A526-A01B260EE632}"/>
    <dgm:cxn modelId="{D91D8B69-3D15-44D8-87B0-A71DF6996BB8}" srcId="{C709E5FF-45EB-4D78-B2F8-997699151F92}" destId="{69751349-2053-4D6F-84EA-CE8F9CA22E45}" srcOrd="1" destOrd="0" parTransId="{8401C29E-3644-4099-9F5F-061EA2A95112}" sibTransId="{EA50DED6-DA3D-40F7-951E-66DFDDAB3C14}"/>
    <dgm:cxn modelId="{FB218350-7BD7-4CE1-B84A-B7E128506778}" type="presOf" srcId="{53893564-2997-427E-AB77-7ABDB870BFBB}" destId="{954FAAB9-0006-4D66-8F27-6285613969E2}" srcOrd="0" destOrd="0" presId="urn:microsoft.com/office/officeart/2005/8/layout/vList2"/>
    <dgm:cxn modelId="{92E07456-E914-46A4-866C-16561A6D7F27}" srcId="{53893564-2997-427E-AB77-7ABDB870BFBB}" destId="{9157BAD7-2197-43AD-B275-25FE69AADBDD}" srcOrd="0" destOrd="0" parTransId="{128ACDCC-4C92-4ABC-9AAD-CF935CC528AA}" sibTransId="{7532FFAB-6910-42E6-AC2E-A744A7545BAF}"/>
    <dgm:cxn modelId="{1926C883-C0E4-43B9-9089-5E196AFC38EC}" type="presOf" srcId="{3A953468-903B-4AA9-B5A1-9F1FEA72CF6A}" destId="{994D4E88-E28D-4841-BF4E-C8E89D0BF8C3}" srcOrd="0" destOrd="0" presId="urn:microsoft.com/office/officeart/2005/8/layout/vList2"/>
    <dgm:cxn modelId="{D8B17584-1AAB-47E2-8934-BFF273F930BF}" type="presOf" srcId="{C709E5FF-45EB-4D78-B2F8-997699151F92}" destId="{7ACE998F-F509-4F03-A6CE-19FB7B197FDC}" srcOrd="0" destOrd="0" presId="urn:microsoft.com/office/officeart/2005/8/layout/vList2"/>
    <dgm:cxn modelId="{B239C78F-A9CA-4968-ABE9-B6B4151596C7}" type="presOf" srcId="{6C7D2198-0CF3-4181-993A-47DBE6963749}" destId="{987078A6-04D9-4E63-9C58-26119E1AE2A1}" srcOrd="0" destOrd="0" presId="urn:microsoft.com/office/officeart/2005/8/layout/vList2"/>
    <dgm:cxn modelId="{2946F597-7D97-46B0-966D-325D2B3ACCDB}" type="presOf" srcId="{0248C53A-2B1A-439A-A4BC-672C5C7981C4}" destId="{E0845346-9DF2-4D44-853E-E804040BB75D}" srcOrd="0" destOrd="1" presId="urn:microsoft.com/office/officeart/2005/8/layout/vList2"/>
    <dgm:cxn modelId="{33171AA6-1E25-4428-8EB1-44AD5839FE02}" type="presOf" srcId="{0CA46AB9-F1E4-43AF-913F-96CE8D99635E}" destId="{352BC13A-90F2-4464-A92F-25D90C8822EA}" srcOrd="0" destOrd="0" presId="urn:microsoft.com/office/officeart/2005/8/layout/vList2"/>
    <dgm:cxn modelId="{A61025BF-A7E7-4B25-952B-9C403C825B41}" srcId="{C709E5FF-45EB-4D78-B2F8-997699151F92}" destId="{53893564-2997-427E-AB77-7ABDB870BFBB}" srcOrd="3" destOrd="0" parTransId="{CA535507-8691-41EE-A607-1CA436DDB611}" sibTransId="{052A3B2D-89DD-4E4A-B8C5-B620451DEAF7}"/>
    <dgm:cxn modelId="{EC9EC4C2-1DF3-46CC-806E-B0BEA488E671}" srcId="{C709E5FF-45EB-4D78-B2F8-997699151F92}" destId="{0CA46AB9-F1E4-43AF-913F-96CE8D99635E}" srcOrd="0" destOrd="0" parTransId="{181486EB-C2FD-4C4E-8484-C33D381064B1}" sibTransId="{E4E952B5-1646-4385-8131-83B555D4EFCC}"/>
    <dgm:cxn modelId="{8054F1C8-D5DD-4355-B836-AD2E008A7773}" type="presOf" srcId="{E16B6F0F-546A-4722-B37E-73E0B27E06E4}" destId="{DD20DFEF-15CC-4B2F-878F-C06F42210F77}" srcOrd="0" destOrd="0" presId="urn:microsoft.com/office/officeart/2005/8/layout/vList2"/>
    <dgm:cxn modelId="{2064C4D0-2635-4B6B-A20C-A5890C221B4D}" type="presOf" srcId="{69751349-2053-4D6F-84EA-CE8F9CA22E45}" destId="{133ED0BF-8AA8-4DEE-B2E9-41B5A0B2CD90}" srcOrd="0" destOrd="0" presId="urn:microsoft.com/office/officeart/2005/8/layout/vList2"/>
    <dgm:cxn modelId="{2CCA9DD3-7331-4B96-BF49-E8DAD67EA735}" type="presOf" srcId="{70802432-0C97-4564-9D0F-1F2DE1EA9297}" destId="{CE31755D-7B0A-4218-9D72-FB92E59C7650}" srcOrd="0" destOrd="0" presId="urn:microsoft.com/office/officeart/2005/8/layout/vList2"/>
    <dgm:cxn modelId="{6268EFE5-37C0-4F4F-9CA2-89188EE74665}" type="presOf" srcId="{392036AB-0955-4BEA-BF08-E9F78EA916E8}" destId="{E0845346-9DF2-4D44-853E-E804040BB75D}" srcOrd="0" destOrd="0" presId="urn:microsoft.com/office/officeart/2005/8/layout/vList2"/>
    <dgm:cxn modelId="{1C33D5F5-2F16-479A-9688-EDE3194FCCE9}" type="presOf" srcId="{9F35351E-D4AD-4C1B-979C-63AF75EAF3FF}" destId="{994D4E88-E28D-4841-BF4E-C8E89D0BF8C3}" srcOrd="0" destOrd="1" presId="urn:microsoft.com/office/officeart/2005/8/layout/vList2"/>
    <dgm:cxn modelId="{16E39A17-BADA-4202-B32C-9B16440AD10B}" type="presParOf" srcId="{7ACE998F-F509-4F03-A6CE-19FB7B197FDC}" destId="{352BC13A-90F2-4464-A92F-25D90C8822EA}" srcOrd="0" destOrd="0" presId="urn:microsoft.com/office/officeart/2005/8/layout/vList2"/>
    <dgm:cxn modelId="{0AE6F070-1161-405B-9BEC-8237D5B56AAE}" type="presParOf" srcId="{7ACE998F-F509-4F03-A6CE-19FB7B197FDC}" destId="{E87B3BFF-E123-4308-9547-4D00C6EC9800}" srcOrd="1" destOrd="0" presId="urn:microsoft.com/office/officeart/2005/8/layout/vList2"/>
    <dgm:cxn modelId="{5BA9F10B-C6C1-4475-87B1-1970817FAC23}" type="presParOf" srcId="{7ACE998F-F509-4F03-A6CE-19FB7B197FDC}" destId="{133ED0BF-8AA8-4DEE-B2E9-41B5A0B2CD90}" srcOrd="2" destOrd="0" presId="urn:microsoft.com/office/officeart/2005/8/layout/vList2"/>
    <dgm:cxn modelId="{F3670B53-3C12-4882-B13F-2595746BA877}" type="presParOf" srcId="{7ACE998F-F509-4F03-A6CE-19FB7B197FDC}" destId="{994D4E88-E28D-4841-BF4E-C8E89D0BF8C3}" srcOrd="3" destOrd="0" presId="urn:microsoft.com/office/officeart/2005/8/layout/vList2"/>
    <dgm:cxn modelId="{36453F54-A9E3-4EF0-91D1-9FD22CD2950D}" type="presParOf" srcId="{7ACE998F-F509-4F03-A6CE-19FB7B197FDC}" destId="{987078A6-04D9-4E63-9C58-26119E1AE2A1}" srcOrd="4" destOrd="0" presId="urn:microsoft.com/office/officeart/2005/8/layout/vList2"/>
    <dgm:cxn modelId="{762A4F0D-AE0F-4B43-9D1D-7717E2ED40BE}" type="presParOf" srcId="{7ACE998F-F509-4F03-A6CE-19FB7B197FDC}" destId="{E0845346-9DF2-4D44-853E-E804040BB75D}" srcOrd="5" destOrd="0" presId="urn:microsoft.com/office/officeart/2005/8/layout/vList2"/>
    <dgm:cxn modelId="{DAB643DF-88DA-4B36-8967-2A627A70A28E}" type="presParOf" srcId="{7ACE998F-F509-4F03-A6CE-19FB7B197FDC}" destId="{954FAAB9-0006-4D66-8F27-6285613969E2}" srcOrd="6" destOrd="0" presId="urn:microsoft.com/office/officeart/2005/8/layout/vList2"/>
    <dgm:cxn modelId="{45264F3F-6DF7-4123-81D0-F593E3C41947}" type="presParOf" srcId="{7ACE998F-F509-4F03-A6CE-19FB7B197FDC}" destId="{CCC39003-3CCF-4718-BF9E-CD64B04CABA3}" srcOrd="7" destOrd="0" presId="urn:microsoft.com/office/officeart/2005/8/layout/vList2"/>
    <dgm:cxn modelId="{B44A4BE1-56D8-4A7B-96B1-6C647A1D89C3}" type="presParOf" srcId="{7ACE998F-F509-4F03-A6CE-19FB7B197FDC}" destId="{CE31755D-7B0A-4218-9D72-FB92E59C7650}" srcOrd="8" destOrd="0" presId="urn:microsoft.com/office/officeart/2005/8/layout/vList2"/>
    <dgm:cxn modelId="{BD854F71-AA76-467B-BB30-F87D32DA4347}" type="presParOf" srcId="{7ACE998F-F509-4F03-A6CE-19FB7B197FDC}" destId="{DD20DFEF-15CC-4B2F-878F-C06F42210F77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AEBD71-788D-4EE5-8622-5FFF5CF7C899}">
      <dsp:nvSpPr>
        <dsp:cNvPr id="0" name=""/>
        <dsp:cNvSpPr/>
      </dsp:nvSpPr>
      <dsp:spPr>
        <a:xfrm>
          <a:off x="3571627" y="59"/>
          <a:ext cx="4018080" cy="23679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b="1" i="0" kern="1200"/>
            <a:t>Abrid Datos desnortmalizados e ilustrar</a:t>
          </a:r>
          <a:endParaRPr lang="es-CO" sz="3100" kern="1200"/>
        </a:p>
      </dsp:txBody>
      <dsp:txXfrm>
        <a:off x="3687223" y="115655"/>
        <a:ext cx="3786888" cy="2136804"/>
      </dsp:txXfrm>
    </dsp:sp>
    <dsp:sp modelId="{AC8E49C3-6986-444E-8CCF-1178E547B44E}">
      <dsp:nvSpPr>
        <dsp:cNvPr id="0" name=""/>
        <dsp:cNvSpPr/>
      </dsp:nvSpPr>
      <dsp:spPr>
        <a:xfrm>
          <a:off x="3571627" y="2486455"/>
          <a:ext cx="4018080" cy="23679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b="1" i="0" kern="1200"/>
            <a:t>La maldición de la dimensionalidad</a:t>
          </a:r>
          <a:endParaRPr lang="es-CO" sz="3100" kern="1200"/>
        </a:p>
      </dsp:txBody>
      <dsp:txXfrm>
        <a:off x="3687223" y="2602051"/>
        <a:ext cx="3786888" cy="21368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2BC13A-90F2-4464-A92F-25D90C8822EA}">
      <dsp:nvSpPr>
        <dsp:cNvPr id="0" name=""/>
        <dsp:cNvSpPr/>
      </dsp:nvSpPr>
      <dsp:spPr>
        <a:xfrm>
          <a:off x="0" y="131399"/>
          <a:ext cx="14375877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b="1" i="0" kern="1200"/>
            <a:t>Errores que cuestan caro después</a:t>
          </a:r>
          <a:endParaRPr lang="es-CO" sz="3000" kern="1200"/>
        </a:p>
      </dsp:txBody>
      <dsp:txXfrm>
        <a:off x="34269" y="165668"/>
        <a:ext cx="14307339" cy="633462"/>
      </dsp:txXfrm>
    </dsp:sp>
    <dsp:sp modelId="{133ED0BF-8AA8-4DEE-B2E9-41B5A0B2CD90}">
      <dsp:nvSpPr>
        <dsp:cNvPr id="0" name=""/>
        <dsp:cNvSpPr/>
      </dsp:nvSpPr>
      <dsp:spPr>
        <a:xfrm>
          <a:off x="0" y="919799"/>
          <a:ext cx="14375877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b="1" i="0" kern="1200"/>
            <a:t>Confundir Atributos con Entidades:</a:t>
          </a:r>
          <a:endParaRPr lang="es-CO" sz="3000" kern="1200"/>
        </a:p>
      </dsp:txBody>
      <dsp:txXfrm>
        <a:off x="34269" y="954068"/>
        <a:ext cx="14307339" cy="633462"/>
      </dsp:txXfrm>
    </dsp:sp>
    <dsp:sp modelId="{994D4E88-E28D-4841-BF4E-C8E89D0BF8C3}">
      <dsp:nvSpPr>
        <dsp:cNvPr id="0" name=""/>
        <dsp:cNvSpPr/>
      </dsp:nvSpPr>
      <dsp:spPr>
        <a:xfrm>
          <a:off x="0" y="1621799"/>
          <a:ext cx="14375877" cy="760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6434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b="0" i="1" kern="1200"/>
            <a:t>Error:</a:t>
          </a:r>
          <a:r>
            <a:rPr lang="es-ES" sz="2300" b="0" i="0" kern="1200"/>
            <a:t> Crear una tabla llamada "Precio".</a:t>
          </a:r>
          <a:endParaRPr lang="es-CO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b="0" i="1" kern="1200"/>
            <a:t>Corrección:</a:t>
          </a:r>
          <a:r>
            <a:rPr lang="es-ES" sz="2300" b="0" i="0" kern="1200"/>
            <a:t> El precio no existe por sí solo; es una cualidad de un Producto o de una Venta pactada.</a:t>
          </a:r>
          <a:endParaRPr lang="es-CO" sz="2300" kern="1200"/>
        </a:p>
      </dsp:txBody>
      <dsp:txXfrm>
        <a:off x="0" y="1621799"/>
        <a:ext cx="14375877" cy="760725"/>
      </dsp:txXfrm>
    </dsp:sp>
    <dsp:sp modelId="{987078A6-04D9-4E63-9C58-26119E1AE2A1}">
      <dsp:nvSpPr>
        <dsp:cNvPr id="0" name=""/>
        <dsp:cNvSpPr/>
      </dsp:nvSpPr>
      <dsp:spPr>
        <a:xfrm>
          <a:off x="0" y="2382524"/>
          <a:ext cx="14375877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b="1" i="0" kern="1200"/>
            <a:t>Ignorar el Detalle (Granularidad):</a:t>
          </a:r>
          <a:endParaRPr lang="es-CO" sz="3000" kern="1200"/>
        </a:p>
      </dsp:txBody>
      <dsp:txXfrm>
        <a:off x="34269" y="2416793"/>
        <a:ext cx="14307339" cy="633462"/>
      </dsp:txXfrm>
    </dsp:sp>
    <dsp:sp modelId="{E0845346-9DF2-4D44-853E-E804040BB75D}">
      <dsp:nvSpPr>
        <dsp:cNvPr id="0" name=""/>
        <dsp:cNvSpPr/>
      </dsp:nvSpPr>
      <dsp:spPr>
        <a:xfrm>
          <a:off x="0" y="3084524"/>
          <a:ext cx="14375877" cy="1055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6434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b="0" i="1" kern="1200"/>
            <a:t>Error:</a:t>
          </a:r>
          <a:r>
            <a:rPr lang="es-ES" sz="2300" b="0" i="0" kern="1200"/>
            <a:t> Intentar guardar todos los productos comprados en una sola celda de la tabla "Pedido" (separados por comas).</a:t>
          </a:r>
          <a:endParaRPr lang="es-CO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b="0" i="1" kern="1200"/>
            <a:t>Corrección:</a:t>
          </a:r>
          <a:r>
            <a:rPr lang="es-ES" sz="2300" b="0" i="0" kern="1200"/>
            <a:t> Detectar la necesidad de una tabla hija (Order_Items) para normalizar la información.</a:t>
          </a:r>
          <a:endParaRPr lang="es-CO" sz="2300" kern="1200"/>
        </a:p>
      </dsp:txBody>
      <dsp:txXfrm>
        <a:off x="0" y="3084524"/>
        <a:ext cx="14375877" cy="1055700"/>
      </dsp:txXfrm>
    </dsp:sp>
    <dsp:sp modelId="{954FAAB9-0006-4D66-8F27-6285613969E2}">
      <dsp:nvSpPr>
        <dsp:cNvPr id="0" name=""/>
        <dsp:cNvSpPr/>
      </dsp:nvSpPr>
      <dsp:spPr>
        <a:xfrm>
          <a:off x="0" y="4140224"/>
          <a:ext cx="14375877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b="1" i="0" kern="1200"/>
            <a:t>Sinónimos y Ambigüedad:</a:t>
          </a:r>
          <a:endParaRPr lang="es-CO" sz="3000" kern="1200"/>
        </a:p>
      </dsp:txBody>
      <dsp:txXfrm>
        <a:off x="34269" y="4174493"/>
        <a:ext cx="14307339" cy="633462"/>
      </dsp:txXfrm>
    </dsp:sp>
    <dsp:sp modelId="{CCC39003-3CCF-4718-BF9E-CD64B04CABA3}">
      <dsp:nvSpPr>
        <dsp:cNvPr id="0" name=""/>
        <dsp:cNvSpPr/>
      </dsp:nvSpPr>
      <dsp:spPr>
        <a:xfrm>
          <a:off x="0" y="4842224"/>
          <a:ext cx="14375877" cy="683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6434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b="0" i="0" kern="1200"/>
            <a:t>Si un departamento dice "Comprador" y otro "Usuario", el arquitecto de datos debe estandarizar (ej: </a:t>
          </a:r>
          <a:r>
            <a:rPr lang="es-ES" sz="2300" b="1" i="0" kern="1200"/>
            <a:t>Customer</a:t>
          </a:r>
          <a:r>
            <a:rPr lang="es-ES" sz="2300" b="0" i="0" kern="1200"/>
            <a:t>).</a:t>
          </a:r>
          <a:endParaRPr lang="es-CO" sz="2300" kern="1200"/>
        </a:p>
      </dsp:txBody>
      <dsp:txXfrm>
        <a:off x="0" y="4842224"/>
        <a:ext cx="14375877" cy="683100"/>
      </dsp:txXfrm>
    </dsp:sp>
    <dsp:sp modelId="{CE31755D-7B0A-4218-9D72-FB92E59C7650}">
      <dsp:nvSpPr>
        <dsp:cNvPr id="0" name=""/>
        <dsp:cNvSpPr/>
      </dsp:nvSpPr>
      <dsp:spPr>
        <a:xfrm>
          <a:off x="0" y="5525324"/>
          <a:ext cx="14375877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b="1" i="0" kern="1200"/>
            <a:t>Datos Calculados:</a:t>
          </a:r>
          <a:endParaRPr lang="es-CO" sz="3000" kern="1200"/>
        </a:p>
      </dsp:txBody>
      <dsp:txXfrm>
        <a:off x="34269" y="5559593"/>
        <a:ext cx="14307339" cy="633462"/>
      </dsp:txXfrm>
    </dsp:sp>
    <dsp:sp modelId="{DD20DFEF-15CC-4B2F-878F-C06F42210F77}">
      <dsp:nvSpPr>
        <dsp:cNvPr id="0" name=""/>
        <dsp:cNvSpPr/>
      </dsp:nvSpPr>
      <dsp:spPr>
        <a:xfrm>
          <a:off x="0" y="6227324"/>
          <a:ext cx="14375877" cy="683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6434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300" b="0" i="0" kern="1200"/>
            <a:t>No almacenamos "Días que tardó el envío". Almacenamos Fecha_Envio y Fecha_Entrega, y calculamos la diferencia cuando sea necesario.</a:t>
          </a:r>
          <a:endParaRPr lang="es-CO" sz="2300" kern="1200"/>
        </a:p>
      </dsp:txBody>
      <dsp:txXfrm>
        <a:off x="0" y="6227324"/>
        <a:ext cx="14375877" cy="6831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6" r:id="rId4"/>
    <p:sldLayoutId id="2147483657" r:id="rId5"/>
    <p:sldLayoutId id="2147483658" r:id="rId6"/>
    <p:sldLayoutId id="214748365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8.svg"/><Relationship Id="rId9" Type="http://schemas.microsoft.com/office/2007/relationships/diagramDrawing" Target="../diagrams/drawin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8.svg"/><Relationship Id="rId9" Type="http://schemas.microsoft.com/office/2007/relationships/diagramDrawing" Target="../diagrams/drawing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8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8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8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8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8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8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8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8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8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8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8.sv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hyperlink" Target="http://www.enyoi.co" TargetMode="External"/><Relationship Id="rId13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nstagram.com/enyoi.co/" TargetMode="External"/><Relationship Id="rId11" Type="http://schemas.openxmlformats.org/officeDocument/2006/relationships/hyperlink" Target="https://www.tiktok.com/@enyoi.co" TargetMode="External"/><Relationship Id="rId5" Type="http://schemas.openxmlformats.org/officeDocument/2006/relationships/image" Target="../media/image21.png"/><Relationship Id="rId10" Type="http://schemas.openxmlformats.org/officeDocument/2006/relationships/image" Target="../media/image24.png"/><Relationship Id="rId4" Type="http://schemas.openxmlformats.org/officeDocument/2006/relationships/hyperlink" Target="https://wa.me/573206649412" TargetMode="External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358764" y="455568"/>
            <a:ext cx="3004519" cy="1201808"/>
          </a:xfrm>
          <a:custGeom>
            <a:avLst/>
            <a:gdLst/>
            <a:ahLst/>
            <a:cxnLst/>
            <a:rect l="l" t="t" r="r" b="b"/>
            <a:pathLst>
              <a:path w="3457174" h="1382870" extrusionOk="0">
                <a:moveTo>
                  <a:pt x="0" y="0"/>
                </a:moveTo>
                <a:lnTo>
                  <a:pt x="3457174" y="0"/>
                </a:lnTo>
                <a:lnTo>
                  <a:pt x="3457174" y="1382870"/>
                </a:lnTo>
                <a:lnTo>
                  <a:pt x="0" y="13828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" name="Google Shape;89;p1"/>
          <p:cNvGrpSpPr/>
          <p:nvPr/>
        </p:nvGrpSpPr>
        <p:grpSpPr>
          <a:xfrm rot="10800000">
            <a:off x="10392303" y="15240"/>
            <a:ext cx="7895697" cy="10431661"/>
            <a:chOff x="0" y="-38100"/>
            <a:chExt cx="2079525" cy="2747433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 extrusionOk="0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>
            <a:off x="9562641" y="4953536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 extrusionOk="0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 rot="10800000">
            <a:off x="14340152" y="455568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 extrusionOk="0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 rot="1460314">
            <a:off x="10691684" y="4380706"/>
            <a:ext cx="7356554" cy="1393786"/>
            <a:chOff x="0" y="-38100"/>
            <a:chExt cx="1937529" cy="367088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 extrusionOk="0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 rot="10800000">
            <a:off x="-536261" y="9574006"/>
            <a:ext cx="8704395" cy="279585"/>
            <a:chOff x="0" y="-38100"/>
            <a:chExt cx="2292515" cy="73635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2292515" cy="35535"/>
            </a:xfrm>
            <a:custGeom>
              <a:avLst/>
              <a:gdLst/>
              <a:ahLst/>
              <a:cxnLst/>
              <a:rect l="l" t="t" r="r" b="b"/>
              <a:pathLst>
                <a:path w="2292515" h="35535" extrusionOk="0">
                  <a:moveTo>
                    <a:pt x="17768" y="0"/>
                  </a:moveTo>
                  <a:lnTo>
                    <a:pt x="2274747" y="0"/>
                  </a:lnTo>
                  <a:cubicBezTo>
                    <a:pt x="2284560" y="0"/>
                    <a:pt x="2292515" y="7955"/>
                    <a:pt x="2292515" y="17768"/>
                  </a:cubicBezTo>
                  <a:lnTo>
                    <a:pt x="2292515" y="17768"/>
                  </a:lnTo>
                  <a:cubicBezTo>
                    <a:pt x="2292515" y="22480"/>
                    <a:pt x="2290643" y="26999"/>
                    <a:pt x="2287311" y="30331"/>
                  </a:cubicBezTo>
                  <a:cubicBezTo>
                    <a:pt x="2283978" y="33663"/>
                    <a:pt x="2279459" y="35535"/>
                    <a:pt x="2274747" y="35535"/>
                  </a:cubicBezTo>
                  <a:lnTo>
                    <a:pt x="17768" y="35535"/>
                  </a:lnTo>
                  <a:cubicBezTo>
                    <a:pt x="13055" y="35535"/>
                    <a:pt x="8536" y="33663"/>
                    <a:pt x="5204" y="30331"/>
                  </a:cubicBezTo>
                  <a:cubicBezTo>
                    <a:pt x="1872" y="26999"/>
                    <a:pt x="0" y="22480"/>
                    <a:pt x="0" y="17768"/>
                  </a:cubicBezTo>
                  <a:lnTo>
                    <a:pt x="0" y="17768"/>
                  </a:lnTo>
                  <a:cubicBezTo>
                    <a:pt x="0" y="13055"/>
                    <a:pt x="1872" y="8536"/>
                    <a:pt x="5204" y="5204"/>
                  </a:cubicBezTo>
                  <a:cubicBezTo>
                    <a:pt x="8536" y="1872"/>
                    <a:pt x="13055" y="0"/>
                    <a:pt x="17768" y="0"/>
                  </a:cubicBez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38100"/>
              <a:ext cx="2292514" cy="73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1"/>
          <p:cNvSpPr txBox="1"/>
          <p:nvPr/>
        </p:nvSpPr>
        <p:spPr>
          <a:xfrm>
            <a:off x="907966" y="4667931"/>
            <a:ext cx="8115300" cy="94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399" b="1" dirty="0">
                <a:solidFill>
                  <a:srgbClr val="700A89"/>
                </a:solidFill>
                <a:latin typeface="Poppins"/>
                <a:ea typeface="Poppins"/>
                <a:cs typeface="Poppins"/>
                <a:sym typeface="Poppins"/>
              </a:rPr>
              <a:t>Diseño Relacional</a:t>
            </a:r>
            <a:endParaRPr dirty="0"/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5">
            <a:alphaModFix/>
          </a:blip>
          <a:srcRect l="53990" t="15859" r="8554" b="69322"/>
          <a:stretch/>
        </p:blipFill>
        <p:spPr>
          <a:xfrm>
            <a:off x="5181600" y="609324"/>
            <a:ext cx="4721448" cy="1048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629EE-1985-2225-31E2-050DC896E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8E846FC-1099-F5A4-7D4D-94754DDF4519}"/>
              </a:ext>
            </a:extLst>
          </p:cNvPr>
          <p:cNvSpPr/>
          <p:nvPr/>
        </p:nvSpPr>
        <p:spPr>
          <a:xfrm>
            <a:off x="-437361" y="8801100"/>
            <a:ext cx="1656562" cy="1607056"/>
          </a:xfrm>
          <a:custGeom>
            <a:avLst/>
            <a:gdLst/>
            <a:ahLst/>
            <a:cxnLst/>
            <a:rect l="l" t="t" r="r" b="b"/>
            <a:pathLst>
              <a:path w="2052835" h="2064911">
                <a:moveTo>
                  <a:pt x="0" y="0"/>
                </a:moveTo>
                <a:lnTo>
                  <a:pt x="2052835" y="0"/>
                </a:lnTo>
                <a:lnTo>
                  <a:pt x="2052835" y="2064910"/>
                </a:lnTo>
                <a:lnTo>
                  <a:pt x="0" y="2064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848" t="-49459" r="-26429" b="-59444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433B88B-431D-F520-8A64-604BAC5A4F71}"/>
              </a:ext>
            </a:extLst>
          </p:cNvPr>
          <p:cNvSpPr/>
          <p:nvPr/>
        </p:nvSpPr>
        <p:spPr>
          <a:xfrm rot="-10800000">
            <a:off x="16136495" y="-695866"/>
            <a:ext cx="1607799" cy="1648365"/>
          </a:xfrm>
          <a:custGeom>
            <a:avLst/>
            <a:gdLst/>
            <a:ahLst/>
            <a:cxnLst/>
            <a:rect l="l" t="t" r="r" b="b"/>
            <a:pathLst>
              <a:path w="1607799" h="1648365">
                <a:moveTo>
                  <a:pt x="0" y="0"/>
                </a:moveTo>
                <a:lnTo>
                  <a:pt x="1607799" y="0"/>
                </a:lnTo>
                <a:lnTo>
                  <a:pt x="1607799" y="1648364"/>
                </a:lnTo>
                <a:lnTo>
                  <a:pt x="0" y="1648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892" t="-49695" r="-28270" b="-60205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" name="Freeform 21">
            <a:extLst>
              <a:ext uri="{FF2B5EF4-FFF2-40B4-BE49-F238E27FC236}">
                <a16:creationId xmlns:a16="http://schemas.microsoft.com/office/drawing/2014/main" id="{1D05F255-F2E3-68A0-D911-D29FFBA02339}"/>
              </a:ext>
            </a:extLst>
          </p:cNvPr>
          <p:cNvSpPr/>
          <p:nvPr/>
        </p:nvSpPr>
        <p:spPr>
          <a:xfrm>
            <a:off x="14954160" y="7813562"/>
            <a:ext cx="2743200" cy="2438400"/>
          </a:xfrm>
          <a:custGeom>
            <a:avLst/>
            <a:gdLst/>
            <a:ahLst/>
            <a:cxnLst/>
            <a:rect l="l" t="t" r="r" b="b"/>
            <a:pathLst>
              <a:path w="5397947" h="4972858">
                <a:moveTo>
                  <a:pt x="0" y="0"/>
                </a:moveTo>
                <a:lnTo>
                  <a:pt x="5397947" y="0"/>
                </a:lnTo>
                <a:lnTo>
                  <a:pt x="5397947" y="4972859"/>
                </a:lnTo>
                <a:lnTo>
                  <a:pt x="0" y="49728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96DCFA7-361F-02A9-70F0-6BC7CADA3C28}"/>
              </a:ext>
            </a:extLst>
          </p:cNvPr>
          <p:cNvSpPr txBox="1"/>
          <p:nvPr/>
        </p:nvSpPr>
        <p:spPr>
          <a:xfrm>
            <a:off x="2000250" y="1952625"/>
            <a:ext cx="146685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>
                <a:latin typeface="Poppins" panose="00000500000000000000" pitchFamily="2" charset="0"/>
                <a:cs typeface="Poppins" panose="00000500000000000000" pitchFamily="2" charset="0"/>
              </a:rPr>
              <a:t>Objetivo</a:t>
            </a:r>
          </a:p>
          <a:p>
            <a:endParaRPr lang="es-MX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s-MX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s-MX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461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BE647-2F94-13D5-27DE-4A5DB74E1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3863DAD-F684-284C-2ED7-62294E5E5950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898E5CA-37A9-0597-9D10-9A6A87597AAC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C395F84-2666-E01F-7240-1F6F93BDA7B3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86FA7629-9511-F4A4-7613-1B201C33252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E446395D-E9BA-9E85-56A5-2F6A6409A8F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9A0ECEB-C6B6-16E0-C6D1-98D056177F2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513AD4A-301F-94CD-5896-56702A74C75B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2FBD03C7-19EF-C8F7-680E-2A1D5D5406DD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8FEA821-FD08-DD49-404E-B2A3BAB88CF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11FD1F1-29DA-B476-936B-2C9DEF53253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7BA99F3-AD4F-5DD2-1C4B-646F8957AD1B}"/>
              </a:ext>
            </a:extLst>
          </p:cNvPr>
          <p:cNvSpPr txBox="1"/>
          <p:nvPr/>
        </p:nvSpPr>
        <p:spPr>
          <a:xfrm>
            <a:off x="1950461" y="509599"/>
            <a:ext cx="145542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>
                <a:latin typeface="Poppins 1 Bold" panose="020B0604020202020204" charset="0"/>
                <a:cs typeface="Poppins 1 Bold" panose="020B0604020202020204" charset="0"/>
              </a:rPr>
              <a:t>Agenda</a:t>
            </a:r>
          </a:p>
          <a:p>
            <a:endParaRPr lang="es-ES" sz="3600" b="1" dirty="0">
              <a:latin typeface="Poppins 1 Bold" panose="020B0604020202020204" charset="0"/>
              <a:cs typeface="Poppins 1 Bold" panose="020B0604020202020204" charset="0"/>
            </a:endParaRPr>
          </a:p>
          <a:p>
            <a:endParaRPr lang="es-ES" sz="3600" b="1" dirty="0">
              <a:latin typeface="Poppins 1 Bold" panose="020B0604020202020204" charset="0"/>
              <a:cs typeface="Poppins 1 Bold" panose="020B0604020202020204" charset="0"/>
            </a:endParaRPr>
          </a:p>
          <a:p>
            <a:pPr marL="742950" indent="-742950">
              <a:buFont typeface="+mj-lt"/>
              <a:buAutoNum type="arabicPeriod"/>
            </a:pPr>
            <a:endParaRPr lang="es-CO" sz="3600" dirty="0"/>
          </a:p>
          <a:p>
            <a:pPr lvl="0"/>
            <a:endParaRPr lang="es-CO" sz="3600" dirty="0"/>
          </a:p>
          <a:p>
            <a:endParaRPr lang="es-ES" sz="2400" dirty="0"/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263708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C4226-BBB1-6642-7911-7297143A8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B60FF4C-FF87-D353-AFE0-71BE03429A3A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2AA98C1-EAED-B60E-B81B-AB86FB64550F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7B1D0DB6-D090-DFDF-0241-FFA60988413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835E6491-FD97-9A1F-BC8E-662CF639047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BC613C70-2465-A8BB-131F-005D8F185AE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F2B1638-D7B1-7E0B-A4C3-DA55F09E0056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8DD7AC1-63D7-F518-130F-C85ACD8DE3C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0538ED31-8B20-7FDB-ACC5-5A1FC351211B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838245AA-8E1E-F9F6-B0EF-CE296347D8E7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93CD9DE-5B2E-AC36-54E2-1F8BC6F4E7D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131834C-6AC9-32BD-59B4-A3A7CC8CF198}"/>
              </a:ext>
            </a:extLst>
          </p:cNvPr>
          <p:cNvSpPr txBox="1"/>
          <p:nvPr/>
        </p:nvSpPr>
        <p:spPr>
          <a:xfrm>
            <a:off x="1237268" y="619028"/>
            <a:ext cx="15627284" cy="858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400" b="1" dirty="0"/>
              <a:t>El Modelo Relacional (SQL)</a:t>
            </a:r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r>
              <a:rPr lang="es-ES" sz="2400" b="1" dirty="0"/>
              <a:t>¿Por qué organizar los datos así?</a:t>
            </a:r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r>
              <a:rPr lang="es-ES" sz="2400" b="1" dirty="0"/>
              <a:t>VENTAJAS (El "Orden")</a:t>
            </a:r>
          </a:p>
          <a:p>
            <a:pPr>
              <a:buNone/>
            </a:pPr>
            <a:r>
              <a:rPr lang="es-ES" sz="2400" i="1" dirty="0"/>
              <a:t>Ideal para sistemas transaccionales (OLTP) como la App de Venta</a:t>
            </a:r>
          </a:p>
          <a:p>
            <a:pPr>
              <a:buNone/>
            </a:pPr>
            <a:endParaRPr lang="es-ES" sz="2400" dirty="0"/>
          </a:p>
          <a:p>
            <a:pPr>
              <a:buFont typeface="+mj-lt"/>
              <a:buAutoNum type="arabicPeriod"/>
            </a:pPr>
            <a:r>
              <a:rPr lang="es-ES" sz="2400" b="1" dirty="0"/>
              <a:t>Integridad de Datos (La "Verdad Única")</a:t>
            </a:r>
            <a:endParaRPr lang="es-ES" sz="2400" dirty="0"/>
          </a:p>
          <a:p>
            <a:pPr marL="742950" lvl="1" indent="-285750">
              <a:buFont typeface="+mj-lt"/>
              <a:buAutoNum type="arabicPeriod"/>
            </a:pPr>
            <a:r>
              <a:rPr lang="es-ES" sz="2400" b="1" dirty="0"/>
              <a:t>Concepto:</a:t>
            </a:r>
            <a:r>
              <a:rPr lang="es-ES" sz="2400" dirty="0"/>
              <a:t> Las reglas aseguran que no existan "pedidos huérfanos" sin cliente, o ventas de productos que no existen.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400" b="1" dirty="0"/>
              <a:t>Ejemplo </a:t>
            </a:r>
            <a:r>
              <a:rPr lang="es-ES" sz="2400" b="1" dirty="0" err="1"/>
              <a:t>Olist</a:t>
            </a:r>
            <a:r>
              <a:rPr lang="es-ES" sz="2400" b="1" dirty="0"/>
              <a:t>:</a:t>
            </a:r>
            <a:r>
              <a:rPr lang="es-ES" sz="2400" dirty="0"/>
              <a:t> Gracias a las </a:t>
            </a:r>
            <a:r>
              <a:rPr lang="es-ES" sz="2400" i="1" dirty="0" err="1"/>
              <a:t>Foreign</a:t>
            </a:r>
            <a:r>
              <a:rPr lang="es-ES" sz="2400" i="1" dirty="0"/>
              <a:t> </a:t>
            </a:r>
            <a:r>
              <a:rPr lang="es-ES" sz="2400" i="1" dirty="0" err="1"/>
              <a:t>Keys</a:t>
            </a:r>
            <a:r>
              <a:rPr lang="es-ES" sz="2400" dirty="0"/>
              <a:t>, es imposible crear una fila en </a:t>
            </a:r>
            <a:r>
              <a:rPr lang="es-ES" sz="2400" dirty="0" err="1">
                <a:latin typeface="Courier New" panose="02070309020205020404" pitchFamily="49" charset="0"/>
              </a:rPr>
              <a:t>order_items</a:t>
            </a:r>
            <a:r>
              <a:rPr lang="es-ES" sz="2400" dirty="0"/>
              <a:t> con un </a:t>
            </a:r>
            <a:r>
              <a:rPr lang="es-ES" sz="2400" dirty="0" err="1">
                <a:latin typeface="Courier New" panose="02070309020205020404" pitchFamily="49" charset="0"/>
              </a:rPr>
              <a:t>product_id</a:t>
            </a:r>
            <a:r>
              <a:rPr lang="es-ES" sz="2400" dirty="0"/>
              <a:t> que no esté registrado en la tabla </a:t>
            </a:r>
            <a:r>
              <a:rPr lang="es-ES" sz="2400" dirty="0" err="1">
                <a:latin typeface="Courier New" panose="02070309020205020404" pitchFamily="49" charset="0"/>
              </a:rPr>
              <a:t>products</a:t>
            </a:r>
            <a:r>
              <a:rPr lang="es-ES" sz="24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endParaRPr lang="es-ES" sz="2400" dirty="0"/>
          </a:p>
          <a:p>
            <a:pPr>
              <a:buFont typeface="+mj-lt"/>
              <a:buAutoNum type="arabicPeriod"/>
            </a:pPr>
            <a:r>
              <a:rPr lang="es-ES" sz="2400" b="1" dirty="0"/>
              <a:t>Eficiencia de Almacenamiento (Normalización)</a:t>
            </a:r>
            <a:endParaRPr lang="es-ES" sz="2400" dirty="0"/>
          </a:p>
          <a:p>
            <a:pPr marL="742950" lvl="1" indent="-285750">
              <a:buFont typeface="+mj-lt"/>
              <a:buAutoNum type="arabicPeriod"/>
            </a:pPr>
            <a:r>
              <a:rPr lang="es-ES" sz="2400" b="1" dirty="0"/>
              <a:t>Concepto:</a:t>
            </a:r>
            <a:r>
              <a:rPr lang="es-ES" sz="2400" dirty="0"/>
              <a:t> Evita la duplicidad. Si un dato se repite, se mueve a una tabla separada.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400" b="1" dirty="0"/>
              <a:t>Ejemplo </a:t>
            </a:r>
            <a:r>
              <a:rPr lang="es-ES" sz="2400" b="1" dirty="0" err="1"/>
              <a:t>Olist</a:t>
            </a:r>
            <a:r>
              <a:rPr lang="es-ES" sz="2400" b="1" dirty="0"/>
              <a:t>:</a:t>
            </a:r>
            <a:r>
              <a:rPr lang="es-ES" sz="2400" dirty="0"/>
              <a:t> La categoría "</a:t>
            </a:r>
            <a:r>
              <a:rPr lang="es-ES" sz="2400" dirty="0" err="1"/>
              <a:t>cool_stuff</a:t>
            </a:r>
            <a:r>
              <a:rPr lang="es-ES" sz="2400" dirty="0"/>
              <a:t>" se guarda una sola vez en la tabla </a:t>
            </a:r>
            <a:r>
              <a:rPr lang="es-ES" sz="2400" dirty="0" err="1">
                <a:latin typeface="Courier New" panose="02070309020205020404" pitchFamily="49" charset="0"/>
              </a:rPr>
              <a:t>products</a:t>
            </a:r>
            <a:r>
              <a:rPr lang="es-ES" sz="2400" dirty="0"/>
              <a:t>. No se repite en texto las 112,000 veces que se vendió algo de esa categoría.</a:t>
            </a:r>
          </a:p>
          <a:p>
            <a:pPr marL="742950" lvl="1" indent="-285750">
              <a:buFont typeface="+mj-lt"/>
              <a:buAutoNum type="arabicPeriod"/>
            </a:pPr>
            <a:endParaRPr lang="es-ES" sz="2400" dirty="0"/>
          </a:p>
          <a:p>
            <a:pPr>
              <a:buFont typeface="+mj-lt"/>
              <a:buAutoNum type="arabicPeriod"/>
            </a:pPr>
            <a:r>
              <a:rPr lang="es-ES" sz="2400" b="1" dirty="0"/>
              <a:t>Mantenibilidad y Actualización</a:t>
            </a:r>
            <a:endParaRPr lang="es-ES" sz="2400" dirty="0"/>
          </a:p>
          <a:p>
            <a:pPr marL="742950" lvl="1" indent="-285750">
              <a:buFont typeface="+mj-lt"/>
              <a:buAutoNum type="arabicPeriod"/>
            </a:pPr>
            <a:r>
              <a:rPr lang="es-ES" sz="2400" b="1" dirty="0"/>
              <a:t>Concepto:</a:t>
            </a:r>
            <a:r>
              <a:rPr lang="es-ES" sz="2400" dirty="0"/>
              <a:t> Cambias el dato en un lugar, y se refleja en todo el sistema.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400" b="1" dirty="0"/>
              <a:t>Ejemplo </a:t>
            </a:r>
            <a:r>
              <a:rPr lang="es-ES" sz="2400" b="1" dirty="0" err="1"/>
              <a:t>Olist</a:t>
            </a:r>
            <a:r>
              <a:rPr lang="es-ES" sz="2400" b="1" dirty="0"/>
              <a:t>:</a:t>
            </a:r>
            <a:r>
              <a:rPr lang="es-ES" sz="2400" dirty="0"/>
              <a:t> Si la ciudad "sao paulo" cambia de nombre, solo haces </a:t>
            </a:r>
            <a:r>
              <a:rPr lang="es-ES" sz="2400" dirty="0">
                <a:latin typeface="Courier New" panose="02070309020205020404" pitchFamily="49" charset="0"/>
              </a:rPr>
              <a:t>UPDATE</a:t>
            </a:r>
            <a:r>
              <a:rPr lang="es-ES" sz="2400" dirty="0"/>
              <a:t> en una fila (o en la tabla de Geo), no en millones de órdenes históricas.</a:t>
            </a:r>
          </a:p>
        </p:txBody>
      </p:sp>
    </p:spTree>
    <p:extLst>
      <p:ext uri="{BB962C8B-B14F-4D97-AF65-F5344CB8AC3E}">
        <p14:creationId xmlns:p14="http://schemas.microsoft.com/office/powerpoint/2010/main" val="2378932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92828-1556-0618-F727-174C54B3E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2A2A98E-16D2-BEC6-280C-34CE999CD89F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1B8AA29-F2BB-F7C9-D717-F8849DB8BC73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AC1127A9-D747-D544-6EBF-E5694C1F4FA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3A365942-A523-4FA5-FC69-97A62978E10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153C4E51-4971-5952-5C36-230B14DFA84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A47702A-9E15-0E67-8E38-68C19DF11DC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FEBBCD5-E9E9-F902-1ABE-5DF3ACD954E1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48950FDE-A6BE-24EA-12F8-A0D67C9A2CE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6EF016B0-AD68-CE71-0ED5-370A00085A5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D254D337-C658-D018-EF97-692A7BC064A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593FF89-7B01-9CD8-D6CA-8B7445164CA7}"/>
              </a:ext>
            </a:extLst>
          </p:cNvPr>
          <p:cNvSpPr txBox="1"/>
          <p:nvPr/>
        </p:nvSpPr>
        <p:spPr>
          <a:xfrm>
            <a:off x="1237268" y="619028"/>
            <a:ext cx="1562728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400" b="1" dirty="0"/>
              <a:t>El Modelo Relacional (SQL)</a:t>
            </a:r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r>
              <a:rPr lang="es-ES" sz="2400" b="1" dirty="0"/>
              <a:t>¿Por qué organizar los datos así?</a:t>
            </a:r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endParaRPr lang="es-ES" sz="2400" b="1" dirty="0"/>
          </a:p>
        </p:txBody>
      </p:sp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C98A5D66-C2FD-5831-D243-7EF74CAF9C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7519062"/>
              </p:ext>
            </p:extLst>
          </p:nvPr>
        </p:nvGraphicFramePr>
        <p:xfrm>
          <a:off x="3261674" y="3346809"/>
          <a:ext cx="11161335" cy="4854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890891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557C7-E425-B761-E509-E6CBD5EFF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6C825EE-8EF7-CC42-50A3-853004AC6A5E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90519E9-3721-093D-8ED2-F98D6FB808B6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6FA3CD85-757E-CBFE-3FE3-CA800CA9E9F7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B68A0629-65E7-74E3-3F2A-8E4FE4841D4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5345EC27-0A08-022F-C342-0649AFE6F55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885D834-48C9-4942-F3DA-85B6B97570AC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48CFD11-5261-A131-E9EF-1DA465C2ABD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258F8C85-FE89-CE37-8E35-6F9564417C8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DC67731-1ABE-C3E2-E927-57EC4A04C3D7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61334130-9A6D-9E96-F5B3-5144D09FBBC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3C93A9F-30CB-5604-762F-D4B593840A6E}"/>
              </a:ext>
            </a:extLst>
          </p:cNvPr>
          <p:cNvSpPr txBox="1"/>
          <p:nvPr/>
        </p:nvSpPr>
        <p:spPr>
          <a:xfrm>
            <a:off x="1227841" y="484045"/>
            <a:ext cx="16060918" cy="858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400" b="1" dirty="0"/>
              <a:t>El Modelo Relacional (SQL)</a:t>
            </a:r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endParaRPr lang="es-ES" sz="2400" b="1" dirty="0"/>
          </a:p>
          <a:p>
            <a:r>
              <a:rPr lang="es-ES" sz="2400" b="1" dirty="0"/>
              <a:t>DESVENTAJAS (La "Burocracia")</a:t>
            </a:r>
          </a:p>
          <a:p>
            <a:endParaRPr lang="es-ES" sz="2400" b="1" dirty="0"/>
          </a:p>
          <a:p>
            <a:r>
              <a:rPr lang="es-ES" sz="2400" i="1" dirty="0"/>
              <a:t>Costoso para análisis masivo (OLAP) o Ciencia de Datos</a:t>
            </a:r>
          </a:p>
          <a:p>
            <a:endParaRPr lang="es-ES" sz="2400" dirty="0"/>
          </a:p>
          <a:p>
            <a:r>
              <a:rPr lang="es-ES" sz="2400" b="1" dirty="0"/>
              <a:t>Complejidad en Consultas (El infierno de los </a:t>
            </a:r>
            <a:r>
              <a:rPr lang="es-ES" sz="2400" b="1" dirty="0" err="1"/>
              <a:t>JOINs</a:t>
            </a:r>
            <a:r>
              <a:rPr lang="es-ES" sz="2400" b="1" dirty="0"/>
              <a:t>)</a:t>
            </a:r>
            <a:endParaRPr lang="es-ES" sz="2400" dirty="0"/>
          </a:p>
          <a:p>
            <a:pPr lvl="1"/>
            <a:r>
              <a:rPr lang="es-ES" sz="2400" b="1" dirty="0"/>
              <a:t>Concepto:</a:t>
            </a:r>
            <a:r>
              <a:rPr lang="es-ES" sz="2400" dirty="0"/>
              <a:t> Para reconstruir la información completa de un evento, necesitas unir muchas tablas, lo que consume mucha CPU y memoria.</a:t>
            </a:r>
          </a:p>
          <a:p>
            <a:pPr lvl="1"/>
            <a:r>
              <a:rPr lang="es-ES" sz="2400" b="1" dirty="0"/>
              <a:t>Ejemplo </a:t>
            </a:r>
            <a:r>
              <a:rPr lang="es-ES" sz="2400" b="1" dirty="0" err="1"/>
              <a:t>Olist</a:t>
            </a:r>
            <a:r>
              <a:rPr lang="es-ES" sz="2400" b="1" dirty="0"/>
              <a:t>:</a:t>
            </a:r>
            <a:r>
              <a:rPr lang="es-ES" sz="2400" dirty="0"/>
              <a:t> Para saber </a:t>
            </a:r>
            <a:r>
              <a:rPr lang="es-ES" sz="2400" i="1" dirty="0"/>
              <a:t>"¿Quién compró qué y dónde vive?"</a:t>
            </a:r>
            <a:r>
              <a:rPr lang="es-ES" sz="2400" dirty="0"/>
              <a:t>, el motor de base de datos tuvo que coser 5 tablas (</a:t>
            </a:r>
            <a:r>
              <a:rPr lang="es-ES" sz="2400" dirty="0" err="1"/>
              <a:t>orders</a:t>
            </a:r>
            <a:r>
              <a:rPr lang="es-ES" sz="2400" dirty="0"/>
              <a:t> + </a:t>
            </a:r>
            <a:r>
              <a:rPr lang="es-ES" sz="2400" dirty="0" err="1"/>
              <a:t>items</a:t>
            </a:r>
            <a:r>
              <a:rPr lang="es-ES" sz="2400" dirty="0"/>
              <a:t> + </a:t>
            </a:r>
            <a:r>
              <a:rPr lang="es-ES" sz="2400" dirty="0" err="1"/>
              <a:t>products</a:t>
            </a:r>
            <a:r>
              <a:rPr lang="es-ES" sz="2400" dirty="0"/>
              <a:t> + </a:t>
            </a:r>
            <a:r>
              <a:rPr lang="es-ES" sz="2400" dirty="0" err="1"/>
              <a:t>customers</a:t>
            </a:r>
            <a:r>
              <a:rPr lang="es-ES" sz="2400" dirty="0"/>
              <a:t> + </a:t>
            </a:r>
            <a:r>
              <a:rPr lang="es-ES" sz="2400" dirty="0" err="1"/>
              <a:t>sellers</a:t>
            </a:r>
            <a:r>
              <a:rPr lang="es-ES" sz="2400" dirty="0"/>
              <a:t>) al mismo tiempo.</a:t>
            </a:r>
          </a:p>
          <a:p>
            <a:pPr lvl="1"/>
            <a:endParaRPr lang="es-ES" sz="2400" dirty="0"/>
          </a:p>
          <a:p>
            <a:r>
              <a:rPr lang="es-ES" sz="2400" b="1" dirty="0"/>
              <a:t>Rigidez del Esquema (</a:t>
            </a:r>
            <a:r>
              <a:rPr lang="es-ES" sz="2400" b="1" dirty="0" err="1"/>
              <a:t>Schema</a:t>
            </a:r>
            <a:r>
              <a:rPr lang="es-ES" sz="2400" b="1" dirty="0"/>
              <a:t> </a:t>
            </a:r>
            <a:r>
              <a:rPr lang="es-ES" sz="2400" b="1" dirty="0" err="1"/>
              <a:t>rigidity</a:t>
            </a:r>
            <a:r>
              <a:rPr lang="es-ES" sz="2400" b="1" dirty="0"/>
              <a:t>)</a:t>
            </a:r>
            <a:endParaRPr lang="es-ES" sz="2400" dirty="0"/>
          </a:p>
          <a:p>
            <a:pPr lvl="1"/>
            <a:r>
              <a:rPr lang="es-ES" sz="2400" b="1" dirty="0"/>
              <a:t>Concepto:</a:t>
            </a:r>
            <a:r>
              <a:rPr lang="es-ES" sz="2400" dirty="0"/>
              <a:t> Debes definir la estructura </a:t>
            </a:r>
            <a:r>
              <a:rPr lang="es-ES" sz="2400" i="1" dirty="0"/>
              <a:t>antes</a:t>
            </a:r>
            <a:r>
              <a:rPr lang="es-ES" sz="2400" dirty="0"/>
              <a:t> de guardar los datos. Cambiarla después es doloroso.</a:t>
            </a:r>
          </a:p>
          <a:p>
            <a:pPr lvl="1"/>
            <a:r>
              <a:rPr lang="es-ES" sz="2400" b="1" dirty="0"/>
              <a:t>Ejemplo </a:t>
            </a:r>
            <a:r>
              <a:rPr lang="es-ES" sz="2400" b="1" dirty="0" err="1"/>
              <a:t>Olist</a:t>
            </a:r>
            <a:r>
              <a:rPr lang="es-ES" sz="2400" b="1" dirty="0"/>
              <a:t>:</a:t>
            </a:r>
            <a:r>
              <a:rPr lang="es-ES" sz="2400" dirty="0"/>
              <a:t> Si mañana </a:t>
            </a:r>
            <a:r>
              <a:rPr lang="es-ES" sz="2400" dirty="0" err="1"/>
              <a:t>Olist</a:t>
            </a:r>
            <a:r>
              <a:rPr lang="es-ES" sz="2400" dirty="0"/>
              <a:t> quiere empezar a vender seguros de vida con atributos totalmente diferentes a los productos físicos, tendrías que alterar las tablas existentes (ALTER TABLE) o crear estructuras complejas, arriesgando romper la aplicación.</a:t>
            </a:r>
          </a:p>
          <a:p>
            <a:pPr lvl="1"/>
            <a:endParaRPr lang="es-ES" sz="2400" dirty="0"/>
          </a:p>
          <a:p>
            <a:r>
              <a:rPr lang="es-ES" sz="2400" b="1" dirty="0"/>
              <a:t>Rendimiento en Lectura Masiva</a:t>
            </a:r>
            <a:endParaRPr lang="es-ES" sz="2400" dirty="0"/>
          </a:p>
          <a:p>
            <a:pPr lvl="1"/>
            <a:r>
              <a:rPr lang="es-ES" sz="2400" b="1" dirty="0"/>
              <a:t>Concepto:</a:t>
            </a:r>
            <a:r>
              <a:rPr lang="es-ES" sz="2400" dirty="0"/>
              <a:t> Al estar los datos fragmentados, leer todo el historial para reportes es lento comparado con una tabla plana o bases NoSQL.</a:t>
            </a:r>
          </a:p>
        </p:txBody>
      </p:sp>
    </p:spTree>
    <p:extLst>
      <p:ext uri="{BB962C8B-B14F-4D97-AF65-F5344CB8AC3E}">
        <p14:creationId xmlns:p14="http://schemas.microsoft.com/office/powerpoint/2010/main" val="2365868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8AEF6-DD2A-5F46-8DF5-BA5BE8F2A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6E35F2B-F647-5C80-AF1B-BE85CC3A0F99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B045873-173D-CB18-0851-FEFC1B9A113F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0A329F57-EE1B-C07F-6283-17E4EE10519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B470B522-0FEB-E1AC-576D-5C6C4E8309F7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55C03D24-0615-AB86-DAAB-6C6FFDB400D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D539E52-19C8-A5C8-BE8D-CC9AACE674D3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1196EC0-B55B-0EBA-2A8A-386A36B1ADB4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5F479C2-D302-A583-F75D-2B0EBAED374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33645A08-B0AD-E19E-05D3-97DCB7A8344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F6515153-F011-E851-D28C-A58C64FFB56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C35C12E-A886-4CDE-9DD5-D314B1D8A49A}"/>
              </a:ext>
            </a:extLst>
          </p:cNvPr>
          <p:cNvSpPr txBox="1"/>
          <p:nvPr/>
        </p:nvSpPr>
        <p:spPr>
          <a:xfrm>
            <a:off x="4508369" y="4917732"/>
            <a:ext cx="918642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4400" b="1" dirty="0"/>
              <a:t>Paso 2: Descubrí Entidades y Asignar Atributos</a:t>
            </a:r>
          </a:p>
        </p:txBody>
      </p:sp>
    </p:spTree>
    <p:extLst>
      <p:ext uri="{BB962C8B-B14F-4D97-AF65-F5344CB8AC3E}">
        <p14:creationId xmlns:p14="http://schemas.microsoft.com/office/powerpoint/2010/main" val="3200622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1FA83-B9F8-0E16-A193-67BE5061C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8323CE4-25E3-35CD-2E39-A04BF7674858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811F45B-0A32-D0F2-6BC4-12655E5EF12A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682A44E-B3B6-440F-DAF2-C70C9D55DAC1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D2A5317-190D-86AE-E465-BED55282927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1D0D05DE-99E6-D949-1669-83CF110C0DF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ABF3848-5CB0-EB25-FA59-A92518166D94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01693BC-35AD-23CD-38A1-F7E03F7826C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C9F7918C-67E3-1C0B-52D5-11E9BB520FB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5F81C645-DFDB-15AB-D879-64464A15D403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5999EEDE-02CB-00A2-FEA7-288CF5E32F1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AA83893-4EEC-A58F-B17F-59228A6E880A}"/>
              </a:ext>
            </a:extLst>
          </p:cNvPr>
          <p:cNvSpPr txBox="1"/>
          <p:nvPr/>
        </p:nvSpPr>
        <p:spPr>
          <a:xfrm>
            <a:off x="1064834" y="607315"/>
            <a:ext cx="15911268" cy="8817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700" b="1" dirty="0"/>
              <a:t>Paso 1: Análisis de Requerimientos</a:t>
            </a:r>
          </a:p>
          <a:p>
            <a:pPr>
              <a:buNone/>
            </a:pPr>
            <a:endParaRPr lang="es-ES" sz="2700" b="1" dirty="0"/>
          </a:p>
          <a:p>
            <a:pPr>
              <a:buNone/>
            </a:pPr>
            <a:r>
              <a:rPr lang="es-ES" sz="2700" b="1" dirty="0"/>
              <a:t>"La Fase de Descubrimiento“</a:t>
            </a:r>
          </a:p>
          <a:p>
            <a:pPr>
              <a:buNone/>
            </a:pPr>
            <a:endParaRPr lang="es-ES" sz="2700" b="1" dirty="0"/>
          </a:p>
          <a:p>
            <a:pPr>
              <a:buNone/>
            </a:pPr>
            <a:r>
              <a:rPr lang="es-ES" sz="2700" dirty="0"/>
              <a:t>Antes de abrir cualquier herramienta de diagramado, debemos actuar como analistas. </a:t>
            </a:r>
          </a:p>
          <a:p>
            <a:pPr>
              <a:buNone/>
            </a:pPr>
            <a:endParaRPr lang="es-ES" sz="2700" dirty="0"/>
          </a:p>
          <a:p>
            <a:pPr>
              <a:buNone/>
            </a:pPr>
            <a:r>
              <a:rPr lang="es-ES" sz="2700" dirty="0">
                <a:highlight>
                  <a:srgbClr val="FFFF00"/>
                </a:highlight>
              </a:rPr>
              <a:t>El error #1 es empezar a crear tablas sin entender el flujo completo de la información.</a:t>
            </a:r>
          </a:p>
          <a:p>
            <a:pPr>
              <a:buNone/>
            </a:pPr>
            <a:endParaRPr lang="es-ES" sz="2700" dirty="0"/>
          </a:p>
          <a:p>
            <a:pPr>
              <a:buNone/>
            </a:pPr>
            <a:r>
              <a:rPr lang="es-ES" sz="2700" b="1" dirty="0"/>
              <a:t>Técnicas de Recolección de Datos:</a:t>
            </a:r>
          </a:p>
          <a:p>
            <a:pPr>
              <a:buNone/>
            </a:pPr>
            <a:endParaRPr lang="es-ES" sz="2700" b="1" dirty="0"/>
          </a:p>
          <a:p>
            <a:pPr marL="457200" indent="-457200">
              <a:buFont typeface="+mj-lt"/>
              <a:buAutoNum type="arabicPeriod"/>
            </a:pPr>
            <a:r>
              <a:rPr lang="es-ES" sz="2700" b="1" dirty="0"/>
              <a:t>Entrevistas con </a:t>
            </a:r>
            <a:r>
              <a:rPr lang="es-ES" sz="2700" b="1" dirty="0" err="1"/>
              <a:t>Stakeholders</a:t>
            </a:r>
            <a:r>
              <a:rPr lang="es-ES" sz="2700" b="1" dirty="0"/>
              <a:t>:</a:t>
            </a:r>
            <a:r>
              <a:rPr lang="es-ES" sz="2700" dirty="0"/>
              <a:t> Preguntar "¿Qué pasa después?" hasta llegar al final del proceso.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700" b="1" dirty="0"/>
              <a:t>Análisis de Documentos Existentes:</a:t>
            </a:r>
            <a:r>
              <a:rPr lang="es-ES" sz="2700" dirty="0"/>
              <a:t> Revisar facturas, reportes en Excel o formularios actuales.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700" b="1" dirty="0"/>
              <a:t>Observación del Proceso:</a:t>
            </a:r>
            <a:r>
              <a:rPr lang="es-ES" sz="2700" dirty="0"/>
              <a:t> Ver cómo operan los usuarios reales.</a:t>
            </a:r>
          </a:p>
          <a:p>
            <a:pPr>
              <a:buFont typeface="+mj-lt"/>
              <a:buAutoNum type="arabicPeriod"/>
            </a:pPr>
            <a:endParaRPr lang="es-ES" sz="2700" dirty="0"/>
          </a:p>
          <a:p>
            <a:pPr>
              <a:buNone/>
            </a:pPr>
            <a:r>
              <a:rPr lang="es-ES" sz="2700" b="1" dirty="0"/>
              <a:t>El Método Lingüístico (Sustantivos y Verbos)</a:t>
            </a:r>
          </a:p>
          <a:p>
            <a:pPr>
              <a:buNone/>
            </a:pPr>
            <a:endParaRPr lang="es-ES" sz="2700" b="1" dirty="0"/>
          </a:p>
          <a:p>
            <a:pPr>
              <a:buNone/>
            </a:pPr>
            <a:r>
              <a:rPr lang="es-ES" sz="2700" dirty="0"/>
              <a:t>Para estructurar el caos, usamos el lenguaje:</a:t>
            </a:r>
          </a:p>
          <a:p>
            <a:pPr>
              <a:buNone/>
            </a:pPr>
            <a:endParaRPr lang="es-ES" sz="2700" dirty="0"/>
          </a:p>
          <a:p>
            <a:pPr marL="457200" lvl="5" indent="-457200">
              <a:buFont typeface="+mj-lt"/>
              <a:buAutoNum type="arabicPeriod"/>
            </a:pPr>
            <a:r>
              <a:rPr lang="es-ES" sz="2700" b="1" dirty="0"/>
              <a:t>Sustantivos (</a:t>
            </a:r>
            <a:r>
              <a:rPr lang="es-ES" sz="2700" b="1" dirty="0" err="1"/>
              <a:t>Nouns</a:t>
            </a:r>
            <a:r>
              <a:rPr lang="es-ES" sz="2700" b="1" dirty="0"/>
              <a:t>):</a:t>
            </a:r>
            <a:r>
              <a:rPr lang="es-ES" sz="2700" dirty="0"/>
              <a:t> Candidatos fuertes a ser </a:t>
            </a:r>
            <a:r>
              <a:rPr lang="es-ES" sz="2700" b="1" dirty="0"/>
              <a:t>Entidades</a:t>
            </a:r>
            <a:r>
              <a:rPr lang="es-ES" sz="2700" dirty="0"/>
              <a:t> (Tablas). </a:t>
            </a:r>
            <a:r>
              <a:rPr lang="es-ES" sz="2700" dirty="0" err="1"/>
              <a:t>Ej</a:t>
            </a:r>
            <a:r>
              <a:rPr lang="es-ES" sz="2700" dirty="0"/>
              <a:t>: "Cliente", "Producto".</a:t>
            </a:r>
          </a:p>
          <a:p>
            <a:pPr marL="457200" lvl="5" indent="-457200">
              <a:buFont typeface="+mj-lt"/>
              <a:buAutoNum type="arabicPeriod"/>
            </a:pPr>
            <a:r>
              <a:rPr lang="es-ES" sz="2700" b="1" dirty="0"/>
              <a:t>Verbos:</a:t>
            </a:r>
            <a:r>
              <a:rPr lang="es-ES" sz="2700" dirty="0"/>
              <a:t> Candidatos a ser </a:t>
            </a:r>
            <a:r>
              <a:rPr lang="es-ES" sz="2700" b="1" dirty="0"/>
              <a:t>Relaciones</a:t>
            </a:r>
            <a:r>
              <a:rPr lang="es-ES" sz="2700" dirty="0"/>
              <a:t>. </a:t>
            </a:r>
            <a:r>
              <a:rPr lang="es-ES" sz="2700" dirty="0" err="1"/>
              <a:t>Ej</a:t>
            </a:r>
            <a:r>
              <a:rPr lang="es-ES" sz="2700" dirty="0"/>
              <a:t>: "Compra", "Envía", "Califica".</a:t>
            </a:r>
          </a:p>
          <a:p>
            <a:pPr marL="457200" lvl="5" indent="-457200">
              <a:buFont typeface="+mj-lt"/>
              <a:buAutoNum type="arabicPeriod"/>
            </a:pPr>
            <a:r>
              <a:rPr lang="es-ES" sz="2700" b="1" dirty="0"/>
              <a:t>Adjetivos/Detalles:</a:t>
            </a:r>
            <a:r>
              <a:rPr lang="es-ES" sz="2700" dirty="0"/>
              <a:t> Candidatos a ser </a:t>
            </a:r>
            <a:r>
              <a:rPr lang="es-ES" sz="2700" b="1" dirty="0"/>
              <a:t>Atributos</a:t>
            </a:r>
            <a:r>
              <a:rPr lang="es-ES" sz="2700" dirty="0"/>
              <a:t> (Columnas). </a:t>
            </a:r>
            <a:r>
              <a:rPr lang="es-ES" sz="2700" dirty="0" err="1"/>
              <a:t>Ej</a:t>
            </a:r>
            <a:r>
              <a:rPr lang="es-ES" sz="2700" dirty="0"/>
              <a:t>: "Rojo", "Urgente", "Pagado".</a:t>
            </a:r>
          </a:p>
        </p:txBody>
      </p:sp>
    </p:spTree>
    <p:extLst>
      <p:ext uri="{BB962C8B-B14F-4D97-AF65-F5344CB8AC3E}">
        <p14:creationId xmlns:p14="http://schemas.microsoft.com/office/powerpoint/2010/main" val="384747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3717F-3767-D837-B8C4-5A7E2A022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7D8242C-4BD0-FACD-4BD7-71C91E8B3DAE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12AD4E1-E025-3270-ACDF-E7AB3983ACE0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BF02F91-7BAB-584D-A313-0A197909C891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740A58F5-F62C-6688-740E-C28B0143858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FCDBD8A7-39D4-CE0E-F05D-883DE744705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142D538-21D4-4BAB-53AF-D6572EEF0C3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D795987-5329-320C-8C6B-7AEA8FA5CCC4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A98ED445-976E-843F-21B0-7896A352FBF8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76DEC4BA-67EA-41DA-5F65-4D9126B165BD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0717E262-02E8-025B-98CE-32BE2194394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EDCD1B3-D0EC-A18C-8C27-0142D427FCF8}"/>
              </a:ext>
            </a:extLst>
          </p:cNvPr>
          <p:cNvSpPr txBox="1"/>
          <p:nvPr/>
        </p:nvSpPr>
        <p:spPr>
          <a:xfrm>
            <a:off x="1613162" y="839241"/>
            <a:ext cx="15061676" cy="8463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Aplicación Práctica: Caso </a:t>
            </a:r>
            <a:r>
              <a:rPr lang="es-ES" sz="3200" b="1" dirty="0" err="1"/>
              <a:t>Olist</a:t>
            </a:r>
            <a:r>
              <a:rPr lang="es-ES" sz="3200" b="1" dirty="0"/>
              <a:t> (Extendido)</a:t>
            </a:r>
          </a:p>
          <a:p>
            <a:pPr>
              <a:buNone/>
            </a:pPr>
            <a:endParaRPr lang="es-ES" sz="3200" b="1" dirty="0"/>
          </a:p>
          <a:p>
            <a:pPr>
              <a:buNone/>
            </a:pPr>
            <a:r>
              <a:rPr lang="es-ES" sz="3200" b="1" dirty="0"/>
              <a:t>"La Narrativa Completa“</a:t>
            </a:r>
          </a:p>
          <a:p>
            <a:pPr>
              <a:buNone/>
            </a:pPr>
            <a:endParaRPr lang="es-ES" sz="3200" b="1" dirty="0"/>
          </a:p>
          <a:p>
            <a:pPr>
              <a:buNone/>
            </a:pPr>
            <a:r>
              <a:rPr lang="es-ES" sz="3200" i="1" dirty="0"/>
              <a:t>Imagina una entrevista profunda con el CTO de </a:t>
            </a:r>
            <a:r>
              <a:rPr lang="es-ES" sz="3200" i="1" dirty="0" err="1"/>
              <a:t>Olist</a:t>
            </a:r>
            <a:r>
              <a:rPr lang="es-ES" sz="3200" i="1" dirty="0"/>
              <a:t>. No solo venden productos, el sistema es más complejo:</a:t>
            </a:r>
          </a:p>
          <a:p>
            <a:pPr>
              <a:buNone/>
            </a:pPr>
            <a:endParaRPr lang="es-ES" sz="3200" dirty="0"/>
          </a:p>
          <a:p>
            <a:pPr>
              <a:buNone/>
            </a:pPr>
            <a:r>
              <a:rPr lang="es-ES" sz="3200" dirty="0"/>
              <a:t>"Somos un mercado (Marketplace) que conecta </a:t>
            </a:r>
            <a:r>
              <a:rPr lang="es-ES" sz="3200" b="1" dirty="0"/>
              <a:t>Vendedores</a:t>
            </a:r>
            <a:r>
              <a:rPr lang="es-ES" sz="3200" dirty="0"/>
              <a:t> y </a:t>
            </a:r>
            <a:r>
              <a:rPr lang="es-ES" sz="3200" b="1" dirty="0"/>
              <a:t>Clientes</a:t>
            </a:r>
            <a:r>
              <a:rPr lang="es-ES" sz="32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dirty="0"/>
              <a:t>El </a:t>
            </a:r>
            <a:r>
              <a:rPr lang="es-ES" sz="3200" b="1" dirty="0"/>
              <a:t>Cliente</a:t>
            </a:r>
            <a:r>
              <a:rPr lang="es-ES" sz="3200" dirty="0"/>
              <a:t> navega y crea un </a:t>
            </a:r>
            <a:r>
              <a:rPr lang="es-ES" sz="3200" b="1" dirty="0"/>
              <a:t>Pedido</a:t>
            </a:r>
            <a:r>
              <a:rPr lang="es-ES" sz="32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dirty="0"/>
              <a:t>Un mismo pedido puede contener múltiples </a:t>
            </a:r>
            <a:r>
              <a:rPr lang="es-ES" sz="3200" b="1" dirty="0" err="1"/>
              <a:t>Items</a:t>
            </a:r>
            <a:r>
              <a:rPr lang="es-ES" sz="3200" dirty="0"/>
              <a:t> (productos), y curiosamente, cada </a:t>
            </a:r>
            <a:r>
              <a:rPr lang="es-ES" sz="3200" dirty="0" err="1"/>
              <a:t>item</a:t>
            </a:r>
            <a:r>
              <a:rPr lang="es-ES" sz="3200" dirty="0"/>
              <a:t> puede venir de un </a:t>
            </a:r>
            <a:r>
              <a:rPr lang="es-ES" sz="3200" b="1" dirty="0"/>
              <a:t>Vendedor</a:t>
            </a:r>
            <a:r>
              <a:rPr lang="es-ES" sz="3200" dirty="0"/>
              <a:t> diferente.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dirty="0"/>
              <a:t>El cliente paga el total, a veces usando múltiples métodos en un registro de </a:t>
            </a:r>
            <a:r>
              <a:rPr lang="es-ES" sz="3200" b="1" dirty="0"/>
              <a:t>Pagos</a:t>
            </a:r>
            <a:r>
              <a:rPr lang="es-ES" sz="3200" dirty="0"/>
              <a:t> (tarjeta y cupón).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dirty="0"/>
              <a:t>Tras la entrega, el cliente deja una </a:t>
            </a:r>
            <a:r>
              <a:rPr lang="es-ES" sz="3200" b="1" dirty="0"/>
              <a:t>Reseña</a:t>
            </a:r>
            <a:r>
              <a:rPr lang="es-ES" sz="3200" dirty="0"/>
              <a:t> (</a:t>
            </a:r>
            <a:r>
              <a:rPr lang="es-ES" sz="3200" dirty="0" err="1"/>
              <a:t>Review</a:t>
            </a:r>
            <a:r>
              <a:rPr lang="es-ES" sz="3200" dirty="0"/>
              <a:t>) calificando su experiencia.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dirty="0"/>
              <a:t>Para la logística, necesitamos saber la </a:t>
            </a:r>
            <a:r>
              <a:rPr lang="es-ES" sz="3200" b="1" dirty="0"/>
              <a:t>Geolocalización</a:t>
            </a:r>
            <a:r>
              <a:rPr lang="es-ES" sz="3200" dirty="0"/>
              <a:t> exacta (</a:t>
            </a:r>
            <a:r>
              <a:rPr lang="es-ES" sz="3200" dirty="0" err="1"/>
              <a:t>Lat</a:t>
            </a:r>
            <a:r>
              <a:rPr lang="es-ES" sz="3200" dirty="0"/>
              <a:t>/Long) basada en el código postal."</a:t>
            </a:r>
          </a:p>
        </p:txBody>
      </p:sp>
    </p:spTree>
    <p:extLst>
      <p:ext uri="{BB962C8B-B14F-4D97-AF65-F5344CB8AC3E}">
        <p14:creationId xmlns:p14="http://schemas.microsoft.com/office/powerpoint/2010/main" val="3750917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2F9F6-E0D4-572D-D687-8DFBDC18E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8F97273-F48A-D6EB-B204-327E0636F61C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2D14560-B5AA-9599-3C37-70861DD198E5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BD89C65A-F2D6-CA8C-B7ED-DA93CE5CB6AD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A6616679-2BAB-83F1-8D52-5AAC5C2AC0E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79BDA7EC-77C1-31FE-9471-C9BC0F059A9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3EF4286-2865-9384-6416-3F08051AF073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F6BD6B0-E3C3-F85F-015A-9D3F44DF057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5561CB06-61EA-D5AD-B9BE-8F833772B42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380E7F10-B72E-2DCC-4DD1-7E59A40BEDA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E201FB05-E25F-79ED-6A93-071B346EB17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D736F33-12C8-9903-6EE8-C8E35263A40A}"/>
              </a:ext>
            </a:extLst>
          </p:cNvPr>
          <p:cNvSpPr txBox="1"/>
          <p:nvPr/>
        </p:nvSpPr>
        <p:spPr>
          <a:xfrm>
            <a:off x="1285674" y="763222"/>
            <a:ext cx="15716652" cy="8279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Ejecutando el Análisis (Extracción)</a:t>
            </a:r>
          </a:p>
          <a:p>
            <a:pPr>
              <a:buNone/>
            </a:pPr>
            <a:endParaRPr lang="es-ES" sz="2800" b="1" dirty="0"/>
          </a:p>
          <a:p>
            <a:pPr>
              <a:buNone/>
            </a:pPr>
            <a:r>
              <a:rPr lang="es-ES" sz="2800" dirty="0"/>
              <a:t>Subrayamos los conceptos clave en la narrativa ampliada para descubrir las estructuras:</a:t>
            </a:r>
          </a:p>
          <a:p>
            <a:pPr>
              <a:buNone/>
            </a:pPr>
            <a:endParaRPr lang="es-ES" sz="2800" dirty="0"/>
          </a:p>
          <a:p>
            <a:pPr>
              <a:buNone/>
            </a:pPr>
            <a:endParaRPr lang="es-ES" sz="2800" dirty="0"/>
          </a:p>
          <a:p>
            <a:pPr marL="514350" indent="-514350">
              <a:buAutoNum type="arabicPeriod"/>
            </a:pPr>
            <a:r>
              <a:rPr lang="es-ES" sz="2800" b="1" dirty="0"/>
              <a:t>Entidades Tangibles (Objetos Reales)</a:t>
            </a:r>
          </a:p>
          <a:p>
            <a:pPr marL="514350" indent="-514350">
              <a:buAutoNum type="arabicPeriod"/>
            </a:pPr>
            <a:endParaRPr lang="es-ES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err="1"/>
              <a:t>Customer</a:t>
            </a:r>
            <a:r>
              <a:rPr lang="es-ES" sz="2800" b="1" dirty="0"/>
              <a:t>:</a:t>
            </a:r>
            <a:r>
              <a:rPr lang="es-ES" sz="2800" dirty="0"/>
              <a:t> La persona física.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err="1"/>
              <a:t>Seller</a:t>
            </a:r>
            <a:r>
              <a:rPr lang="es-ES" sz="2800" b="1" dirty="0"/>
              <a:t>:</a:t>
            </a:r>
            <a:r>
              <a:rPr lang="es-ES" sz="2800" dirty="0"/>
              <a:t> La empresa o persona que vende.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err="1"/>
              <a:t>Product</a:t>
            </a:r>
            <a:r>
              <a:rPr lang="es-ES" sz="2800" b="1" dirty="0"/>
              <a:t>:</a:t>
            </a:r>
            <a:r>
              <a:rPr lang="es-ES" sz="2800" dirty="0"/>
              <a:t> El objeto físico inventariado.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ES" sz="2800" dirty="0"/>
          </a:p>
          <a:p>
            <a:pPr>
              <a:buNone/>
            </a:pPr>
            <a:r>
              <a:rPr lang="es-ES" sz="2800" b="1" dirty="0"/>
              <a:t>2. Entidades Transaccionales (Eventos)</a:t>
            </a:r>
          </a:p>
          <a:p>
            <a:pPr>
              <a:buNone/>
            </a:pPr>
            <a:endParaRPr lang="es-ES" sz="2800" b="1" dirty="0"/>
          </a:p>
          <a:p>
            <a:pPr>
              <a:buNone/>
            </a:pPr>
            <a:r>
              <a:rPr lang="es-ES" sz="2800" i="1" dirty="0"/>
              <a:t>Son "invisibles" pero críticas. Registran acciones en el tiempo.</a:t>
            </a:r>
            <a:endParaRPr lang="es-E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err="1"/>
              <a:t>Order</a:t>
            </a:r>
            <a:r>
              <a:rPr lang="es-ES" sz="2800" b="1" dirty="0"/>
              <a:t>:</a:t>
            </a:r>
            <a:r>
              <a:rPr lang="es-ES" sz="2800" dirty="0"/>
              <a:t> El evento de compra general (la "cabecera").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err="1"/>
              <a:t>Order_Item</a:t>
            </a:r>
            <a:r>
              <a:rPr lang="es-ES" sz="2800" b="1" dirty="0"/>
              <a:t>:</a:t>
            </a:r>
            <a:r>
              <a:rPr lang="es-ES" sz="2800" dirty="0"/>
              <a:t> El detalle específico. </a:t>
            </a:r>
            <a:r>
              <a:rPr lang="es-ES" sz="2800" i="1" dirty="0"/>
              <a:t>Crucial:</a:t>
            </a:r>
            <a:r>
              <a:rPr lang="es-ES" sz="2800" dirty="0"/>
              <a:t> Aquí descubrimos que la relación Pedido-Producto es de "Muchos a Muchos".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err="1"/>
              <a:t>Payment</a:t>
            </a:r>
            <a:r>
              <a:rPr lang="es-ES" sz="2800" b="1" dirty="0"/>
              <a:t>:</a:t>
            </a:r>
            <a:r>
              <a:rPr lang="es-ES" sz="2800" dirty="0"/>
              <a:t> El evento financiero.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b="1" dirty="0" err="1"/>
              <a:t>Review</a:t>
            </a:r>
            <a:r>
              <a:rPr lang="es-ES" sz="2800" b="1" dirty="0"/>
              <a:t>:</a:t>
            </a:r>
            <a:r>
              <a:rPr lang="es-ES" sz="2800" dirty="0"/>
              <a:t> El evento de retroalimentación.</a:t>
            </a:r>
          </a:p>
        </p:txBody>
      </p:sp>
    </p:spTree>
    <p:extLst>
      <p:ext uri="{BB962C8B-B14F-4D97-AF65-F5344CB8AC3E}">
        <p14:creationId xmlns:p14="http://schemas.microsoft.com/office/powerpoint/2010/main" val="1433707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A7B3B-F11C-EBBF-AD0F-B413B607C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79E2E43-0256-8489-FFB4-87929D223B29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821E456-11D2-D145-1F5C-70DA04F18626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F71FAD34-C834-5A64-A5B6-3A269C31E3A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E3694F8E-9604-A302-8ECB-7D665241DB94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A8AF287B-BDB6-C09C-B271-A7D7B4AE49C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CB9A204-8684-3228-AC7D-148EBDA4545A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F5630DC-4D92-6F93-E6ED-E268A22FF18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847ECBCB-CC9B-6A61-81A3-AD038D387AF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8D39C829-40A9-EA3D-E6C1-C69651353DBD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BCD1AB03-DD55-8050-F2E2-FC51F5D555E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5F73B961-CDEB-4453-98B5-F8ED5982DC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924123"/>
              </p:ext>
            </p:extLst>
          </p:nvPr>
        </p:nvGraphicFramePr>
        <p:xfrm>
          <a:off x="1918354" y="4323054"/>
          <a:ext cx="14069507" cy="4673784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3025429">
                  <a:extLst>
                    <a:ext uri="{9D8B030D-6E8A-4147-A177-3AD203B41FA5}">
                      <a16:colId xmlns:a16="http://schemas.microsoft.com/office/drawing/2014/main" val="3900059387"/>
                    </a:ext>
                  </a:extLst>
                </a:gridCol>
                <a:gridCol w="5369143">
                  <a:extLst>
                    <a:ext uri="{9D8B030D-6E8A-4147-A177-3AD203B41FA5}">
                      <a16:colId xmlns:a16="http://schemas.microsoft.com/office/drawing/2014/main" val="670859805"/>
                    </a:ext>
                  </a:extLst>
                </a:gridCol>
                <a:gridCol w="5674935">
                  <a:extLst>
                    <a:ext uri="{9D8B030D-6E8A-4147-A177-3AD203B41FA5}">
                      <a16:colId xmlns:a16="http://schemas.microsoft.com/office/drawing/2014/main" val="1487586318"/>
                    </a:ext>
                  </a:extLst>
                </a:gridCol>
              </a:tblGrid>
              <a:tr h="728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Entidad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Atributos Detectados (Columnas)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Regla de Negocio Asociada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1937812"/>
                  </a:ext>
                </a:extLst>
              </a:tr>
              <a:tr h="728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 dirty="0" err="1"/>
                        <a:t>Customer</a:t>
                      </a:r>
                      <a:endParaRPr lang="es-CO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/>
                        <a:t>ID, Ciudad, Estado, Código Postal.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/>
                        <a:t>Un cliente tiene una ubicación fija para el envío.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9907203"/>
                  </a:ext>
                </a:extLst>
              </a:tr>
              <a:tr h="728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Product</a:t>
                      </a:r>
                      <a:endParaRPr lang="es-CO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ID, Categoría, Peso, Fotos, Dimensiones.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/>
                        <a:t>Necesitamos dimensiones para calcular el envío.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3443725"/>
                  </a:ext>
                </a:extLst>
              </a:tr>
              <a:tr h="1029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Order</a:t>
                      </a:r>
                      <a:endParaRPr lang="es-CO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ID, Estado (status), Timestamps (Compra, Aprobado, Entregado).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dirty="0"/>
                        <a:t>Un pedido tiene un ciclo de vida con múltiples fechas.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3539326"/>
                  </a:ext>
                </a:extLst>
              </a:tr>
              <a:tr h="728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Payment</a:t>
                      </a:r>
                      <a:endParaRPr lang="es-CO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/>
                        <a:t>Tipo (Tarjeta/Boleto), Cuotas (Installments), Valor.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dirty="0"/>
                        <a:t>Un pedido puede tener varios pagos parciales.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11082"/>
                  </a:ext>
                </a:extLst>
              </a:tr>
              <a:tr h="728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Review</a:t>
                      </a:r>
                      <a:endParaRPr lang="es-CO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Score (1-5), Título, Mensaje.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dirty="0"/>
                        <a:t>La reseña se vincula a la orden, no al cliente directamente.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659494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13FDA7A9-D887-D27F-2F37-9A4ADC118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8354" y="950800"/>
            <a:ext cx="13041984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Asignación de Atributos y Reglas de Negocio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Transformando "Detalles" en Columnas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O" altLang="es-CO" sz="24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 vez tenemos las entidades, asignamos los datos basándonos en los archivos reales del sistema</a:t>
            </a: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s-CO" altLang="es-CO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692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3078C-DE50-D0CD-BB5B-7D0C782D4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421F0FF-BC02-6C7D-417C-93F829C68C38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3E8C6B8-99D7-2914-1B54-47270AABED10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1798C99D-DC3C-2C2C-D7C0-D411B64D3AA0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B5752F03-1DC8-9788-90E0-A629A010971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7C881F6F-9A75-4C66-259B-FBD8311FA6A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E050FCC-B448-7F3A-6317-5BF9435C269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7C49959-779D-C0B3-FEC3-1440DBB05A39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1F561E8B-A3AA-3AB0-7D17-7868C7026E30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157891A-63A7-6538-6948-848C08150AE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ACA87E2B-2F7D-A323-17CF-1C8DCA03267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3A8311-AB44-2130-8433-D38B520D0B70}"/>
              </a:ext>
            </a:extLst>
          </p:cNvPr>
          <p:cNvSpPr txBox="1"/>
          <p:nvPr/>
        </p:nvSpPr>
        <p:spPr>
          <a:xfrm>
            <a:off x="2613582" y="1350465"/>
            <a:ext cx="13828522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El Concepto de "Identificador Único" (</a:t>
            </a:r>
            <a:r>
              <a:rPr lang="es-ES" sz="3200" b="1" dirty="0" err="1"/>
              <a:t>Primary</a:t>
            </a:r>
            <a:r>
              <a:rPr lang="es-ES" sz="3200" b="1" dirty="0"/>
              <a:t> Key)</a:t>
            </a:r>
          </a:p>
          <a:p>
            <a:pPr>
              <a:buNone/>
            </a:pPr>
            <a:r>
              <a:rPr lang="es-ES" sz="3200" b="1" dirty="0"/>
              <a:t>La Regla de Oro de la Identidad</a:t>
            </a:r>
          </a:p>
          <a:p>
            <a:pPr>
              <a:buNone/>
            </a:pPr>
            <a:r>
              <a:rPr lang="es-ES" sz="3200" dirty="0"/>
              <a:t>Para que una base de datos sea relacional, cada fila debe ser única e inconfundible.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200" b="1" dirty="0"/>
              <a:t>El Problema del Mundo Real:</a:t>
            </a:r>
            <a:r>
              <a:rPr lang="es-ES" sz="3200" dirty="0"/>
              <a:t> Los nombres se repiten, las fechas se repiten.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200" b="1" dirty="0"/>
              <a:t>La Solución Técnica:</a:t>
            </a:r>
            <a:r>
              <a:rPr lang="es-ES" sz="3200" dirty="0"/>
              <a:t> Crear un atributo artificial (ID).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200" b="1" dirty="0"/>
              <a:t>Caso de Estudio </a:t>
            </a:r>
            <a:r>
              <a:rPr lang="es-ES" sz="3200" b="1" dirty="0" err="1"/>
              <a:t>Olist</a:t>
            </a:r>
            <a:r>
              <a:rPr lang="es-ES" sz="3200" b="1" dirty="0"/>
              <a:t>:</a:t>
            </a:r>
            <a:endParaRPr lang="es-ES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dirty="0"/>
              <a:t>Observamos el uso de </a:t>
            </a:r>
            <a:r>
              <a:rPr lang="es-ES" sz="3200" b="1" dirty="0" err="1"/>
              <a:t>UUIDs</a:t>
            </a:r>
            <a:r>
              <a:rPr lang="es-ES" sz="3200" dirty="0"/>
              <a:t> (</a:t>
            </a:r>
            <a:r>
              <a:rPr lang="es-ES" sz="3200" dirty="0" err="1"/>
              <a:t>Ej</a:t>
            </a:r>
            <a:r>
              <a:rPr lang="es-ES" sz="3200" dirty="0"/>
              <a:t>: </a:t>
            </a:r>
            <a:r>
              <a:rPr lang="es-ES" sz="3200" dirty="0">
                <a:latin typeface="Courier New" panose="02070309020205020404" pitchFamily="49" charset="0"/>
              </a:rPr>
              <a:t>e481f5...</a:t>
            </a:r>
            <a:r>
              <a:rPr lang="es-ES" sz="3200" dirty="0"/>
              <a:t>) en lugar de </a:t>
            </a:r>
            <a:r>
              <a:rPr lang="es-ES" sz="3200" dirty="0" err="1"/>
              <a:t>IDs</a:t>
            </a:r>
            <a:r>
              <a:rPr lang="es-ES" sz="3200" dirty="0"/>
              <a:t> numéricos (</a:t>
            </a:r>
            <a:r>
              <a:rPr lang="es-ES" sz="3200" dirty="0">
                <a:latin typeface="Courier New" panose="02070309020205020404" pitchFamily="49" charset="0"/>
              </a:rPr>
              <a:t>1, 2, 3</a:t>
            </a:r>
            <a:r>
              <a:rPr lang="es-ES" sz="3200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i="1" dirty="0"/>
              <a:t>Análisis:</a:t>
            </a:r>
            <a:r>
              <a:rPr lang="es-ES" sz="3200" dirty="0"/>
              <a:t> Esto sugiere un sistema distribuido donde múltiples servidores generan pedidos simultáneamente y no pueden esperar a un contador centralizado.</a:t>
            </a:r>
          </a:p>
        </p:txBody>
      </p:sp>
    </p:spTree>
    <p:extLst>
      <p:ext uri="{BB962C8B-B14F-4D97-AF65-F5344CB8AC3E}">
        <p14:creationId xmlns:p14="http://schemas.microsoft.com/office/powerpoint/2010/main" val="933417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DC7AD-F356-6A40-0157-560B7C396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A4D7D4E-DB71-9A36-63C5-17641ABB5531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CB76E73-2584-2D7E-30AE-A9864C9F2B6A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5ECEAF99-2CAE-5549-7FFB-226CF2FA368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E2E4EFF1-3793-416E-4CD1-F66F30ADF383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AD4125CE-D686-26A6-45C6-9E2F4AC037C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6E522D5-ABD2-8C89-EF5A-0E29793F2BD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7035930-95B2-6C13-118A-E68B97ECFD46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0D17064-7878-6572-45D2-611C2C339B6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487B84FF-8F5D-E5DD-B9D8-C45B415A7F36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70453174-3B83-8CFD-031E-07459044FEC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6" name="Diagrama 15">
            <a:extLst>
              <a:ext uri="{FF2B5EF4-FFF2-40B4-BE49-F238E27FC236}">
                <a16:creationId xmlns:a16="http://schemas.microsoft.com/office/drawing/2014/main" id="{EAD7CE07-8817-8F96-8C0D-D9FAF14483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6959780"/>
              </p:ext>
            </p:extLst>
          </p:nvPr>
        </p:nvGraphicFramePr>
        <p:xfrm>
          <a:off x="2151068" y="1875934"/>
          <a:ext cx="14375877" cy="70418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5" name="CuadroTexto 14">
            <a:extLst>
              <a:ext uri="{FF2B5EF4-FFF2-40B4-BE49-F238E27FC236}">
                <a16:creationId xmlns:a16="http://schemas.microsoft.com/office/drawing/2014/main" id="{836DE7D8-B7E5-6E50-2D3C-DBAABB2531F7}"/>
              </a:ext>
            </a:extLst>
          </p:cNvPr>
          <p:cNvSpPr txBox="1"/>
          <p:nvPr/>
        </p:nvSpPr>
        <p:spPr>
          <a:xfrm>
            <a:off x="1520072" y="707373"/>
            <a:ext cx="9186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Trampas Comunes en la Fase de Requerimientos</a:t>
            </a:r>
          </a:p>
        </p:txBody>
      </p:sp>
    </p:spTree>
    <p:extLst>
      <p:ext uri="{BB962C8B-B14F-4D97-AF65-F5344CB8AC3E}">
        <p14:creationId xmlns:p14="http://schemas.microsoft.com/office/powerpoint/2010/main" val="3052526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EE79B-6FCF-1FDC-C32E-3F08892BC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09C8DB3-83F8-D433-7EF9-08CBB53A31FE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8257930-1FFA-57B5-9269-1091522C77C6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6F557F38-A763-E85F-CD90-E09774A3C1DC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039DE4A1-AF6F-4096-EFAC-2EF5E7C6A212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1C076BB1-5001-0EBE-ED11-9ACE73D40E9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759A9AA-31DE-82E6-3C36-8AF259987C73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6F88A93-2944-E69F-7991-FED11CD963F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A7F6FFD7-9378-80C1-AF3F-2B3728E9D10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E338FD69-EE22-76EA-426B-C6B3235C786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5460FD99-1434-FCB8-06D6-2B27CEDD80E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28FBF57-EABF-FB75-EA14-2B598578BD1F}"/>
              </a:ext>
            </a:extLst>
          </p:cNvPr>
          <p:cNvSpPr txBox="1"/>
          <p:nvPr/>
        </p:nvSpPr>
        <p:spPr>
          <a:xfrm>
            <a:off x="4508369" y="4917732"/>
            <a:ext cx="918642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4400" b="1" dirty="0"/>
              <a:t>Paso 2: Iteración – Limpieza de Entidades y atributos</a:t>
            </a:r>
          </a:p>
        </p:txBody>
      </p:sp>
    </p:spTree>
    <p:extLst>
      <p:ext uri="{BB962C8B-B14F-4D97-AF65-F5344CB8AC3E}">
        <p14:creationId xmlns:p14="http://schemas.microsoft.com/office/powerpoint/2010/main" val="3143613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5EE48-2EE9-5842-7B9C-16365341F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8EDD58E-824E-CF71-28B6-C1B8D22199A7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1335D2E-E0A8-6C4A-E8C3-DC7A976780CF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E8207A84-64FB-B340-B9F8-03C23E9F20C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2419AB9A-A11C-52CF-34DC-3FFCE8786DA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4EBEB7BA-D6D3-025D-9B95-6CB1A431A32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DAD4A0B-B879-5A25-6ACA-C35F3067C63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0560A2C-5EB0-F09F-0211-703D3890167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829FA9F8-947E-1B38-9C87-215DBE87D7F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A59A1482-788B-1855-F202-B8780D008726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BAC6546-7934-ACC0-7ABB-EE5A7D9124E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5409938-D45A-DCBB-0159-E72BD9E6D187}"/>
              </a:ext>
            </a:extLst>
          </p:cNvPr>
          <p:cNvSpPr txBox="1"/>
          <p:nvPr/>
        </p:nvSpPr>
        <p:spPr>
          <a:xfrm>
            <a:off x="1239025" y="931574"/>
            <a:ext cx="1639852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Formalizando el Vocabulario antes de Relacionar</a:t>
            </a:r>
          </a:p>
          <a:p>
            <a:pPr>
              <a:buNone/>
            </a:pPr>
            <a:endParaRPr lang="es-ES" sz="2800" b="1" dirty="0"/>
          </a:p>
          <a:p>
            <a:pPr>
              <a:buNone/>
            </a:pPr>
            <a:r>
              <a:rPr lang="es-ES" sz="2800" b="1" dirty="0"/>
              <a:t>El problema de la Torre de Babel</a:t>
            </a:r>
          </a:p>
          <a:p>
            <a:pPr>
              <a:buNone/>
            </a:pPr>
            <a:endParaRPr lang="es-ES" sz="2800" dirty="0"/>
          </a:p>
          <a:p>
            <a:pPr>
              <a:buNone/>
            </a:pPr>
            <a:r>
              <a:rPr lang="es-ES" sz="2800" dirty="0"/>
              <a:t>En el Paso 1 descubrimos entidades ("Cliente", "Pedido"). Pero, ¿todos entendemos lo mismo por "Cliente"?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/>
              <a:t>La Imagen que mostraste:</a:t>
            </a:r>
            <a:r>
              <a:rPr lang="es-ES" sz="2800" dirty="0"/>
              <a:t> Es una plantilla para estandarizar el conocimiento.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/>
              <a:t>El Objetivo:</a:t>
            </a:r>
            <a:r>
              <a:rPr lang="es-ES" sz="2800" dirty="0"/>
              <a:t> Eliminar sinónimos y ambigüedades.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/>
              <a:t>La Regla:</a:t>
            </a:r>
            <a:r>
              <a:rPr lang="es-ES" sz="2800" dirty="0"/>
              <a:t> Si no puedes describirlo en una frase, no es una entidad, es un proceso.</a:t>
            </a:r>
          </a:p>
          <a:p>
            <a:pPr>
              <a:buNone/>
            </a:pPr>
            <a:r>
              <a:rPr lang="es-ES" sz="2800" i="1" dirty="0"/>
              <a:t>"Antes de conectar A con B, debemos saber exactamente qué es A y qué es B.“</a:t>
            </a:r>
          </a:p>
          <a:p>
            <a:pPr>
              <a:buNone/>
            </a:pP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944586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A0931-5D03-4BC3-AEBC-E2CEEA10F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C8EFCEB-A149-FF71-1A7F-9FFF9383D8A6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519B690-9653-5241-96B0-359782AB8D2F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7BA2C3BC-840F-C683-8323-AB5D22242190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B8F383A6-6833-8365-398B-226AF795C2D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D379A31A-CB86-685F-83AE-67B711BA469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488BAE5-74D1-ACEC-57C1-BCE4D2C5BF48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8630741-399B-D7DE-CD5E-0E9FEB455859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64236FA9-3795-694F-A980-66565AACA56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35A8DACB-C903-0C04-03A3-264AF125B379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D552E7B-D869-49DE-F683-6038B9E2277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1917F7C-A04B-0846-CBAE-DCBA17105910}"/>
              </a:ext>
            </a:extLst>
          </p:cNvPr>
          <p:cNvSpPr txBox="1"/>
          <p:nvPr/>
        </p:nvSpPr>
        <p:spPr>
          <a:xfrm>
            <a:off x="1124145" y="1536261"/>
            <a:ext cx="16381430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4000" b="1" dirty="0"/>
              <a:t>La Estructura del Diccionario de Entidades</a:t>
            </a:r>
          </a:p>
          <a:p>
            <a:pPr>
              <a:buNone/>
            </a:pPr>
            <a:endParaRPr lang="es-ES" sz="4000" b="1" dirty="0"/>
          </a:p>
          <a:p>
            <a:pPr>
              <a:buNone/>
            </a:pPr>
            <a:r>
              <a:rPr lang="es-ES" sz="4000" dirty="0"/>
              <a:t>Basándonos en tu imagen, debemos crear una ficha técnica para cada tabla candidata con 3 columnas críticas:</a:t>
            </a:r>
          </a:p>
          <a:p>
            <a:pPr>
              <a:buNone/>
            </a:pPr>
            <a:endParaRPr lang="es-ES" sz="4000" dirty="0"/>
          </a:p>
          <a:p>
            <a:pPr marL="742950" indent="-742950">
              <a:buFont typeface="+mj-lt"/>
              <a:buAutoNum type="arabicPeriod"/>
            </a:pPr>
            <a:r>
              <a:rPr lang="es-ES" sz="4000" b="1" dirty="0"/>
              <a:t>Nombre de Entidad:</a:t>
            </a:r>
            <a:r>
              <a:rPr lang="es-ES" sz="4000" dirty="0"/>
              <a:t> El nombre oficial (singular) que usaremos en SQL.</a:t>
            </a:r>
          </a:p>
          <a:p>
            <a:pPr marL="742950" indent="-742950">
              <a:buFont typeface="+mj-lt"/>
              <a:buAutoNum type="arabicPeriod"/>
            </a:pPr>
            <a:r>
              <a:rPr lang="es-ES" sz="4000" b="1" dirty="0"/>
              <a:t>Descripción:</a:t>
            </a:r>
            <a:r>
              <a:rPr lang="es-ES" sz="4000" dirty="0"/>
              <a:t> Definición del negocio.</a:t>
            </a:r>
          </a:p>
          <a:p>
            <a:pPr marL="742950" indent="-742950">
              <a:buFont typeface="+mj-lt"/>
              <a:buAutoNum type="arabicPeriod"/>
            </a:pPr>
            <a:r>
              <a:rPr lang="es-ES" sz="4000" b="1" dirty="0"/>
              <a:t>Sinónimos (Aliases):</a:t>
            </a:r>
            <a:r>
              <a:rPr lang="es-ES" sz="4000" dirty="0"/>
              <a:t> Palabras prohibidas que significan lo mismo.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4000" i="1" dirty="0"/>
              <a:t>Ejemplo:</a:t>
            </a:r>
            <a:r>
              <a:rPr lang="es-ES" sz="4000" dirty="0"/>
              <a:t> Si Programación dice "</a:t>
            </a:r>
            <a:r>
              <a:rPr lang="es-ES" sz="4000" dirty="0" err="1"/>
              <a:t>User</a:t>
            </a:r>
            <a:r>
              <a:rPr lang="es-ES" sz="4000" dirty="0"/>
              <a:t>" y Ventas dice "</a:t>
            </a:r>
            <a:r>
              <a:rPr lang="es-ES" sz="4000" dirty="0" err="1"/>
              <a:t>Buyer</a:t>
            </a:r>
            <a:r>
              <a:rPr lang="es-ES" sz="4000" dirty="0"/>
              <a:t>", decidimos usar "</a:t>
            </a:r>
            <a:r>
              <a:rPr lang="es-ES" sz="4000" dirty="0" err="1"/>
              <a:t>Customer</a:t>
            </a:r>
            <a:r>
              <a:rPr lang="es-ES" sz="4000" dirty="0"/>
              <a:t>".</a:t>
            </a:r>
          </a:p>
        </p:txBody>
      </p:sp>
    </p:spTree>
    <p:extLst>
      <p:ext uri="{BB962C8B-B14F-4D97-AF65-F5344CB8AC3E}">
        <p14:creationId xmlns:p14="http://schemas.microsoft.com/office/powerpoint/2010/main" val="2771238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204A6-ADF2-416C-D1FF-51E87E72C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D44F2C8-FBA3-9A1C-917E-4AF8BE3FA026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033A3F6-6111-B0E1-D10E-FF5437B75FC8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E23C5496-692C-F887-2FE9-2BD5CBA5E6FC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FBCDA3E2-870D-010A-23A2-1A43B784497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4914A88A-751F-1AA3-2BEE-A031693C5CD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86AB2BF-5B0A-AF51-2AA6-DCBB0CCECF6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263ED9A-FB70-5736-C881-8D44BFC229F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B42E45DC-53CD-4EDC-3612-7D1FC812D5C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70B39033-887D-47E7-BEB0-46AAB98BD701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B99B6D20-9D4F-0903-A100-96F478224D0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8310A42C-691F-2B0C-1734-5477828833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244775"/>
              </p:ext>
            </p:extLst>
          </p:nvPr>
        </p:nvGraphicFramePr>
        <p:xfrm>
          <a:off x="1294613" y="3297732"/>
          <a:ext cx="15926586" cy="4389120"/>
        </p:xfrm>
        <a:graphic>
          <a:graphicData uri="http://schemas.openxmlformats.org/drawingml/2006/table">
            <a:tbl>
              <a:tblPr/>
              <a:tblGrid>
                <a:gridCol w="5308862">
                  <a:extLst>
                    <a:ext uri="{9D8B030D-6E8A-4147-A177-3AD203B41FA5}">
                      <a16:colId xmlns:a16="http://schemas.microsoft.com/office/drawing/2014/main" val="2627473297"/>
                    </a:ext>
                  </a:extLst>
                </a:gridCol>
                <a:gridCol w="5308862">
                  <a:extLst>
                    <a:ext uri="{9D8B030D-6E8A-4147-A177-3AD203B41FA5}">
                      <a16:colId xmlns:a16="http://schemas.microsoft.com/office/drawing/2014/main" val="2377507056"/>
                    </a:ext>
                  </a:extLst>
                </a:gridCol>
                <a:gridCol w="5308862">
                  <a:extLst>
                    <a:ext uri="{9D8B030D-6E8A-4147-A177-3AD203B41FA5}">
                      <a16:colId xmlns:a16="http://schemas.microsoft.com/office/drawing/2014/main" val="23053059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 dirty="0"/>
                        <a:t>Nombre Entidad (Oficial)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/>
                        <a:t>Descripción del Negocio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/>
                        <a:t>Sinónimos / Aliases (A evitar)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641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 b="1" dirty="0" err="1"/>
                        <a:t>Customer</a:t>
                      </a:r>
                      <a:endParaRPr lang="es-CO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400" dirty="0"/>
                        <a:t>La persona o entidad que realiza la compra. En </a:t>
                      </a:r>
                      <a:r>
                        <a:rPr lang="es-ES" sz="2400" dirty="0" err="1"/>
                        <a:t>Olist</a:t>
                      </a:r>
                      <a:r>
                        <a:rPr lang="es-ES" sz="2400" dirty="0"/>
                        <a:t>, tienen un ID temporal por pedido y un ID único histórico.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/>
                        <a:t>Comprador, Usuario, Client, Buyer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405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 b="1"/>
                        <a:t>Seller</a:t>
                      </a:r>
                      <a:endParaRPr lang="es-CO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400"/>
                        <a:t>El socio comercial que provee el producto. No es empleado de Olist, es un tercero.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 dirty="0"/>
                        <a:t>Vendedor, Proveedor, Merchant, </a:t>
                      </a:r>
                      <a:r>
                        <a:rPr lang="es-CO" sz="2400" dirty="0" err="1"/>
                        <a:t>Partner</a:t>
                      </a:r>
                      <a:endParaRPr lang="es-CO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2389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 b="1"/>
                        <a:t>Product</a:t>
                      </a:r>
                      <a:endParaRPr lang="es-CO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400"/>
                        <a:t>El ítem físico disponible en el catálogo. Se agrupa por categorías globales.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 dirty="0"/>
                        <a:t>Artículo, SKU, </a:t>
                      </a:r>
                      <a:r>
                        <a:rPr lang="es-CO" sz="2400" dirty="0" err="1"/>
                        <a:t>Item</a:t>
                      </a:r>
                      <a:r>
                        <a:rPr lang="es-CO" sz="2400" dirty="0"/>
                        <a:t>, </a:t>
                      </a:r>
                      <a:r>
                        <a:rPr lang="es-CO" sz="2400" dirty="0" err="1"/>
                        <a:t>Merchandise</a:t>
                      </a:r>
                      <a:endParaRPr lang="es-CO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959432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18C3C2AE-7B6F-A3D8-1ADB-54D8D32AC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9624" y="763222"/>
            <a:ext cx="1296657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Aplicación Práctica: Diccionario </a:t>
            </a:r>
            <a:r>
              <a:rPr kumimoji="0" lang="es-CO" altLang="es-CO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Olist</a:t>
            </a:r>
            <a:r>
              <a:rPr kumimoji="0" lang="es-CO" altLang="es-CO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(Parte 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Llenemos la tabla con los datos reales de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Olist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limpiar nuestro diseño:</a:t>
            </a:r>
            <a:endParaRPr kumimoji="0" lang="es-CO" altLang="es-CO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081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EFF2B-856D-A312-1286-CD29B75B5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A054C17-CEA0-1EE0-FD46-BA3659DA3846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07BB087-7E92-AB4E-01C3-AE9D1AD763AD}"/>
              </a:ext>
            </a:extLst>
          </p:cNvPr>
          <p:cNvGrpSpPr/>
          <p:nvPr/>
        </p:nvGrpSpPr>
        <p:grpSpPr>
          <a:xfrm>
            <a:off x="-13018" y="76041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86E5E86-A653-2392-D537-A83BC1953AE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9AE2E156-ABE7-83AC-F369-9960422EA2F2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90227EC3-B075-70AB-B4E7-5AD578EABF5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9EEA861-2236-A071-2361-FB6977CFAE1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C8D5B0C-3041-7B28-7E87-E1E7EB2B77B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47B484EE-A86E-6709-1A30-5353D3FC407B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4771F4A2-73C5-1093-8208-DD9E0BD95971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65BC200F-2D48-81CD-3924-2BAF681001A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25E7E220-7EC9-DF16-B676-F5F8860E2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124931"/>
              </p:ext>
            </p:extLst>
          </p:nvPr>
        </p:nvGraphicFramePr>
        <p:xfrm>
          <a:off x="2007911" y="2572809"/>
          <a:ext cx="14818935" cy="6252757"/>
        </p:xfrm>
        <a:graphic>
          <a:graphicData uri="http://schemas.openxmlformats.org/drawingml/2006/table">
            <a:tbl>
              <a:tblPr/>
              <a:tblGrid>
                <a:gridCol w="4939645">
                  <a:extLst>
                    <a:ext uri="{9D8B030D-6E8A-4147-A177-3AD203B41FA5}">
                      <a16:colId xmlns:a16="http://schemas.microsoft.com/office/drawing/2014/main" val="1783722434"/>
                    </a:ext>
                  </a:extLst>
                </a:gridCol>
                <a:gridCol w="4939645">
                  <a:extLst>
                    <a:ext uri="{9D8B030D-6E8A-4147-A177-3AD203B41FA5}">
                      <a16:colId xmlns:a16="http://schemas.microsoft.com/office/drawing/2014/main" val="1979497216"/>
                    </a:ext>
                  </a:extLst>
                </a:gridCol>
                <a:gridCol w="4939645">
                  <a:extLst>
                    <a:ext uri="{9D8B030D-6E8A-4147-A177-3AD203B41FA5}">
                      <a16:colId xmlns:a16="http://schemas.microsoft.com/office/drawing/2014/main" val="4065968662"/>
                    </a:ext>
                  </a:extLst>
                </a:gridCol>
              </a:tblGrid>
              <a:tr h="691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/>
                        <a:t>Nombre Entidad (Oficial)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/>
                        <a:t>Descripción del Negocio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/>
                        <a:t>Sinónimos / Aliases (A evitar)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061412"/>
                  </a:ext>
                </a:extLst>
              </a:tr>
              <a:tr h="2240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 b="1"/>
                        <a:t>Order</a:t>
                      </a:r>
                      <a:endParaRPr lang="es-CO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400" dirty="0"/>
                        <a:t>El evento "padre" que agrupa la compra. Contiene el estado (entregado, cancelado) y fechas.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/>
                        <a:t>Pedido, Venta, Transacción, Carrito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302639"/>
                  </a:ext>
                </a:extLst>
              </a:tr>
              <a:tr h="1660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 b="1"/>
                        <a:t>Order_Item</a:t>
                      </a:r>
                      <a:endParaRPr lang="es-CO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400"/>
                        <a:t>El detalle de línea. Representa "Un producto específico dentro de una orden específica".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400" dirty="0"/>
                        <a:t>Línea de pedido, Detalle, </a:t>
                      </a:r>
                      <a:r>
                        <a:rPr lang="es-ES" sz="2400" dirty="0" err="1"/>
                        <a:t>Item</a:t>
                      </a:r>
                      <a:r>
                        <a:rPr lang="es-ES" sz="2400" dirty="0"/>
                        <a:t> de Venta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371050"/>
                  </a:ext>
                </a:extLst>
              </a:tr>
              <a:tr h="1660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 b="1"/>
                        <a:t>Payment</a:t>
                      </a:r>
                      <a:endParaRPr lang="es-CO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400"/>
                        <a:t>El registro financiero. Una orden puede tener múltiples de estos (ej: 2 tarjetas de crédito).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400" dirty="0"/>
                        <a:t>Cobro, Transacción Financiera, Cuota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0045122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7CC4C4B7-BC72-ABC2-F871-27D5ADA50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5930" y="964013"/>
            <a:ext cx="847941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Aplicación Práctica: Diccionario </a:t>
            </a:r>
            <a:r>
              <a:rPr kumimoji="0" lang="es-CO" altLang="es-C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Olist</a:t>
            </a: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(Parte 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 entidades transaccionales (las que suelen causar confusión):</a:t>
            </a:r>
            <a:endParaRPr kumimoji="0" lang="es-CO" altLang="es-CO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138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E380F-A4A2-FEDF-756B-E942EB09B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CF31F02-85F1-FA48-3B63-FCA7EA896C85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3EB86C0-1AC1-2639-774C-04EE88FA19ED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37A7356-A71F-2FFA-6994-7557AF6BEFD6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404DB371-1AD7-061A-9326-CE5CBC9339A2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9A8BEE2C-8789-0ED4-A8FB-8BA87089F54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FEE5FD7-3C67-2F10-0302-A4EDED0BC8E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8AD027B-7969-CA7C-BEE0-7004EA8A851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C5BA7644-CBFF-0A22-5B80-4B4DDB7DA9EE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C005BE50-01D3-93DC-EA63-CB28CD250B97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31B2456A-B09E-D652-52C5-2A81B6B7258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3EB8C41-2227-DB3C-4A0D-BB6BE40EEEBD}"/>
              </a:ext>
            </a:extLst>
          </p:cNvPr>
          <p:cNvSpPr txBox="1"/>
          <p:nvPr/>
        </p:nvSpPr>
        <p:spPr>
          <a:xfrm>
            <a:off x="1444656" y="1172510"/>
            <a:ext cx="15580151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Detectando "Falsas Entidades" (Limpieza)</a:t>
            </a:r>
          </a:p>
          <a:p>
            <a:pPr>
              <a:buNone/>
            </a:pPr>
            <a:endParaRPr lang="es-ES" sz="3200" b="1" dirty="0"/>
          </a:p>
          <a:p>
            <a:pPr>
              <a:buNone/>
            </a:pPr>
            <a:r>
              <a:rPr lang="es-ES" sz="3200" dirty="0"/>
              <a:t>En este paso, usamos la columna de </a:t>
            </a:r>
            <a:r>
              <a:rPr lang="es-ES" sz="3200" b="1" dirty="0"/>
              <a:t>Descripción</a:t>
            </a:r>
            <a:r>
              <a:rPr lang="es-ES" sz="3200" dirty="0"/>
              <a:t> para descartar errores del Paso 1.</a:t>
            </a:r>
          </a:p>
          <a:p>
            <a:pPr>
              <a:buNone/>
            </a:pPr>
            <a:endParaRPr lang="es-E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3200" b="1" dirty="0"/>
              <a:t>Candidato:</a:t>
            </a:r>
            <a:r>
              <a:rPr lang="es-ES" sz="3200" dirty="0"/>
              <a:t> "</a:t>
            </a:r>
            <a:r>
              <a:rPr lang="es-ES" sz="3200" dirty="0" err="1"/>
              <a:t>Geolocation</a:t>
            </a:r>
            <a:r>
              <a:rPr lang="es-ES" sz="3200" dirty="0"/>
              <a:t>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200" b="1" dirty="0"/>
              <a:t>Análisis:</a:t>
            </a:r>
            <a:r>
              <a:rPr lang="es-ES" sz="3200" dirty="0"/>
              <a:t> ¿Es una entidad de negocio?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i="1" dirty="0"/>
              <a:t>Descripción:</a:t>
            </a:r>
            <a:r>
              <a:rPr lang="es-ES" sz="3200" dirty="0"/>
              <a:t> Es una lista de códigos postales con latitud/longitud.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i="1" dirty="0"/>
              <a:t>Veredicto:</a:t>
            </a:r>
            <a:r>
              <a:rPr lang="es-ES" sz="3200" dirty="0"/>
              <a:t> Sí, es una entidad de referencia (</a:t>
            </a:r>
            <a:r>
              <a:rPr lang="es-ES" sz="3200" dirty="0" err="1"/>
              <a:t>Lookup</a:t>
            </a:r>
            <a:r>
              <a:rPr lang="es-ES" sz="3200" dirty="0"/>
              <a:t> Table).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3200" b="1" dirty="0"/>
              <a:t>Candidato:</a:t>
            </a:r>
            <a:r>
              <a:rPr lang="es-ES" sz="3200" dirty="0"/>
              <a:t> "</a:t>
            </a:r>
            <a:r>
              <a:rPr lang="es-ES" sz="3200" dirty="0" err="1"/>
              <a:t>Shipping</a:t>
            </a:r>
            <a:r>
              <a:rPr lang="es-ES" sz="3200" dirty="0"/>
              <a:t>" (Envío)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200" b="1" dirty="0"/>
              <a:t>Análisis:</a:t>
            </a:r>
            <a:r>
              <a:rPr lang="es-ES" sz="3200" dirty="0"/>
              <a:t> ¿Es una tabla aparte?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i="1" dirty="0"/>
              <a:t>Descripción:</a:t>
            </a:r>
            <a:r>
              <a:rPr lang="es-ES" sz="3200" dirty="0"/>
              <a:t> Es el valor del flete (</a:t>
            </a:r>
            <a:r>
              <a:rPr lang="es-ES" sz="3200" dirty="0" err="1">
                <a:latin typeface="Courier New" panose="02070309020205020404" pitchFamily="49" charset="0"/>
              </a:rPr>
              <a:t>freight_value</a:t>
            </a:r>
            <a:r>
              <a:rPr lang="es-ES" sz="3200" dirty="0"/>
              <a:t>) y la fecha de entrega.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200" i="1" dirty="0"/>
              <a:t>Veredicto:</a:t>
            </a:r>
            <a:r>
              <a:rPr lang="es-ES" sz="3200" dirty="0"/>
              <a:t> </a:t>
            </a:r>
            <a:r>
              <a:rPr lang="es-ES" sz="3200" b="1" dirty="0"/>
              <a:t>NO</a:t>
            </a:r>
            <a:r>
              <a:rPr lang="es-ES" sz="3200" dirty="0"/>
              <a:t>. Son atributos que viven dentro de </a:t>
            </a:r>
            <a:r>
              <a:rPr lang="es-ES" sz="3200" dirty="0" err="1">
                <a:latin typeface="Courier New" panose="02070309020205020404" pitchFamily="49" charset="0"/>
              </a:rPr>
              <a:t>Order_Items</a:t>
            </a:r>
            <a:r>
              <a:rPr lang="es-ES" sz="3200" dirty="0"/>
              <a:t> (el costo) y </a:t>
            </a:r>
            <a:r>
              <a:rPr lang="es-ES" sz="3200" dirty="0" err="1">
                <a:latin typeface="Courier New" panose="02070309020205020404" pitchFamily="49" charset="0"/>
              </a:rPr>
              <a:t>Order</a:t>
            </a:r>
            <a:r>
              <a:rPr lang="es-ES" sz="3200" dirty="0"/>
              <a:t> (la fecha). Lo borramos de la lista de Entidades.</a:t>
            </a:r>
          </a:p>
        </p:txBody>
      </p:sp>
    </p:spTree>
    <p:extLst>
      <p:ext uri="{BB962C8B-B14F-4D97-AF65-F5344CB8AC3E}">
        <p14:creationId xmlns:p14="http://schemas.microsoft.com/office/powerpoint/2010/main" val="4066044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EC1C7-D829-80E7-5D22-86C96855E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554BBDC-7622-43AF-4897-DAD4FB1431E1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5696803-0D2B-8C70-C573-B8B0D051D646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07C73E7B-32D2-A7E4-B4D5-C9C30213E87C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73CB144C-9475-B6CF-1864-7ADA1752477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3CFC564F-BE20-488E-55FB-964C9819262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FAC936D-208E-ACE8-1056-546659C03EA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6A5878C-1562-F80A-F173-C5C0950D52F9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3A22C3D7-1BB5-AF5F-7BD3-179A2F0A4D3F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311D0357-B859-ABED-091B-847DC913FDB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3435ADF2-5683-0746-09BB-C0DC4F72F93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F36984B-92A4-8E85-90AD-4F6CF9A225B1}"/>
              </a:ext>
            </a:extLst>
          </p:cNvPr>
          <p:cNvSpPr txBox="1"/>
          <p:nvPr/>
        </p:nvSpPr>
        <p:spPr>
          <a:xfrm>
            <a:off x="1256121" y="1172510"/>
            <a:ext cx="16150285" cy="7971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El Resultado: Lista Maestra Limpia</a:t>
            </a:r>
          </a:p>
          <a:p>
            <a:pPr>
              <a:buNone/>
            </a:pPr>
            <a:endParaRPr lang="es-ES" sz="3200" b="1" dirty="0"/>
          </a:p>
          <a:p>
            <a:pPr>
              <a:buNone/>
            </a:pPr>
            <a:r>
              <a:rPr lang="es-ES" sz="3200" dirty="0"/>
              <a:t>Al terminar este paso intermedio, tenemos la materia prima pura para la Matriz de Relaciones (Paso 2).</a:t>
            </a:r>
          </a:p>
          <a:p>
            <a:pPr>
              <a:buNone/>
            </a:pPr>
            <a:endParaRPr lang="es-ES" sz="3200" dirty="0"/>
          </a:p>
          <a:p>
            <a:pPr>
              <a:buNone/>
            </a:pPr>
            <a:r>
              <a:rPr lang="es-ES" sz="3200" b="1" dirty="0"/>
              <a:t>Nuestra Lista Oficial para </a:t>
            </a:r>
            <a:r>
              <a:rPr lang="es-ES" sz="3200" b="1" dirty="0" err="1"/>
              <a:t>Olist</a:t>
            </a:r>
            <a:r>
              <a:rPr lang="es-ES" sz="3200" b="1" dirty="0"/>
              <a:t>:</a:t>
            </a:r>
            <a:endParaRPr lang="es-ES" sz="3200" dirty="0"/>
          </a:p>
          <a:p>
            <a:pPr>
              <a:buFont typeface="+mj-lt"/>
              <a:buAutoNum type="arabicPeriod"/>
            </a:pPr>
            <a:r>
              <a:rPr lang="es-ES" sz="3200" dirty="0" err="1">
                <a:latin typeface="Courier New" panose="02070309020205020404" pitchFamily="49" charset="0"/>
              </a:rPr>
              <a:t>Customer</a:t>
            </a:r>
            <a:endParaRPr lang="es-ES" sz="3200" dirty="0"/>
          </a:p>
          <a:p>
            <a:pPr>
              <a:buFont typeface="+mj-lt"/>
              <a:buAutoNum type="arabicPeriod"/>
            </a:pPr>
            <a:r>
              <a:rPr lang="es-ES" sz="3200" dirty="0" err="1">
                <a:latin typeface="Courier New" panose="02070309020205020404" pitchFamily="49" charset="0"/>
              </a:rPr>
              <a:t>Order</a:t>
            </a:r>
            <a:endParaRPr lang="es-ES" sz="3200" dirty="0"/>
          </a:p>
          <a:p>
            <a:pPr>
              <a:buFont typeface="+mj-lt"/>
              <a:buAutoNum type="arabicPeriod"/>
            </a:pPr>
            <a:r>
              <a:rPr lang="es-ES" sz="3200" dirty="0" err="1">
                <a:latin typeface="Courier New" panose="02070309020205020404" pitchFamily="49" charset="0"/>
              </a:rPr>
              <a:t>Order_Items</a:t>
            </a:r>
            <a:r>
              <a:rPr lang="es-ES" sz="3200" dirty="0"/>
              <a:t> (Entidad débil/hija)</a:t>
            </a:r>
          </a:p>
          <a:p>
            <a:pPr>
              <a:buFont typeface="+mj-lt"/>
              <a:buAutoNum type="arabicPeriod"/>
            </a:pPr>
            <a:r>
              <a:rPr lang="es-ES" sz="3200" dirty="0" err="1">
                <a:latin typeface="Courier New" panose="02070309020205020404" pitchFamily="49" charset="0"/>
              </a:rPr>
              <a:t>Product</a:t>
            </a:r>
            <a:endParaRPr lang="es-ES" sz="3200" dirty="0"/>
          </a:p>
          <a:p>
            <a:pPr>
              <a:buFont typeface="+mj-lt"/>
              <a:buAutoNum type="arabicPeriod"/>
            </a:pPr>
            <a:r>
              <a:rPr lang="es-ES" sz="3200" dirty="0" err="1">
                <a:latin typeface="Courier New" panose="02070309020205020404" pitchFamily="49" charset="0"/>
              </a:rPr>
              <a:t>Seller</a:t>
            </a:r>
            <a:endParaRPr lang="es-ES" sz="3200" dirty="0"/>
          </a:p>
          <a:p>
            <a:pPr>
              <a:buFont typeface="+mj-lt"/>
              <a:buAutoNum type="arabicPeriod"/>
            </a:pPr>
            <a:r>
              <a:rPr lang="es-ES" sz="3200" dirty="0" err="1">
                <a:latin typeface="Courier New" panose="02070309020205020404" pitchFamily="49" charset="0"/>
              </a:rPr>
              <a:t>Payments</a:t>
            </a:r>
            <a:endParaRPr lang="es-ES" sz="3200" dirty="0"/>
          </a:p>
          <a:p>
            <a:pPr>
              <a:buFont typeface="+mj-lt"/>
              <a:buAutoNum type="arabicPeriod"/>
            </a:pPr>
            <a:r>
              <a:rPr lang="es-ES" sz="3200" dirty="0" err="1">
                <a:latin typeface="Courier New" panose="02070309020205020404" pitchFamily="49" charset="0"/>
              </a:rPr>
              <a:t>Reviews</a:t>
            </a:r>
            <a:endParaRPr lang="es-ES" sz="3200" dirty="0">
              <a:latin typeface="Courier New" panose="02070309020205020404" pitchFamily="49" charset="0"/>
            </a:endParaRPr>
          </a:p>
          <a:p>
            <a:pPr>
              <a:buFont typeface="+mj-lt"/>
              <a:buAutoNum type="arabicPeriod"/>
            </a:pPr>
            <a:endParaRPr lang="es-ES" sz="3200" dirty="0"/>
          </a:p>
          <a:p>
            <a:pPr>
              <a:buNone/>
            </a:pPr>
            <a:r>
              <a:rPr lang="es-ES" sz="3200" i="1" dirty="0"/>
              <a:t>Ahora sí, con estos 7 actores definidos, podemos ir al Paso 2 y cruzarlos en la Matriz sin miedo a confundir "Envío" con "Pedido".</a:t>
            </a:r>
            <a:endParaRPr lang="es-ES" sz="3200" dirty="0"/>
          </a:p>
        </p:txBody>
      </p:sp>
    </p:spTree>
    <p:extLst>
      <p:ext uri="{BB962C8B-B14F-4D97-AF65-F5344CB8AC3E}">
        <p14:creationId xmlns:p14="http://schemas.microsoft.com/office/powerpoint/2010/main" val="2818110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71407-0A96-595C-323B-BDFC6CB4C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C138252-B6FE-12DA-1F9E-6EF69F94D998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7A9CB5C-B4AE-5C0D-90D3-EB3901439256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C2C21F71-D138-7C13-ECDD-2213D0A3E91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FBF2F4DF-5D6A-7BE4-6FB0-468A2E85008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221B5667-BFCA-0872-10E1-CA68548ED83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522CB26-5B3D-D6F9-8D58-3D94EBB52D9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018BF70-5F92-B3E0-3FF5-AB7353D1ED70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D85E42AF-D397-3C22-74A1-3B484416D42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5272A293-F23F-D0BC-6A5E-0405124A7167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22330BE5-C526-A6EE-401B-B945C7BBC64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52281C6-4749-D527-7EE5-512CC22FD446}"/>
              </a:ext>
            </a:extLst>
          </p:cNvPr>
          <p:cNvSpPr txBox="1"/>
          <p:nvPr/>
        </p:nvSpPr>
        <p:spPr>
          <a:xfrm>
            <a:off x="4508369" y="4917732"/>
            <a:ext cx="91864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4400" b="1" dirty="0"/>
              <a:t>Paso 2: Conectando los Puntos</a:t>
            </a:r>
          </a:p>
        </p:txBody>
      </p:sp>
    </p:spTree>
    <p:extLst>
      <p:ext uri="{BB962C8B-B14F-4D97-AF65-F5344CB8AC3E}">
        <p14:creationId xmlns:p14="http://schemas.microsoft.com/office/powerpoint/2010/main" val="4992068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4137D-1A82-C0FA-AA81-CAAE1904F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98023AE-07E4-FD92-C6A6-3615FF83C107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F5C84B6-B3CA-3706-6369-147F87C7664E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A9D35B46-E353-CC75-B27D-A3B8DD70E56E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7DF2EAA4-C590-D5E3-4263-89C6CB04CFBB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22B624AB-D7E8-2D7D-40EC-097C17E757C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B240A76-1BBD-A436-2AAC-7E088D5A095A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FC2E0AD-B9F2-2275-D977-B976FA0CE8D3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8FF43AD5-593C-2C33-2E0E-5BF3DF09BB8F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69F2E541-0CBA-99B4-766B-1B529CA4F0B4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2AB743DA-189C-5D4C-2D9A-68D860F230C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580D020-633E-74C3-7BBA-4E5909CD2D05}"/>
              </a:ext>
            </a:extLst>
          </p:cNvPr>
          <p:cNvSpPr txBox="1"/>
          <p:nvPr/>
        </p:nvSpPr>
        <p:spPr>
          <a:xfrm>
            <a:off x="1284401" y="252974"/>
            <a:ext cx="15570725" cy="9448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400" b="1" dirty="0"/>
              <a:t>Conceptos Clave: Tipos de Relaciones (Cardinalidad)</a:t>
            </a:r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r>
              <a:rPr lang="es-ES" sz="2400" dirty="0"/>
              <a:t>Antes de llenar la matriz, debemos entender los 3 tipos de conexiones posibles:</a:t>
            </a:r>
          </a:p>
          <a:p>
            <a:pPr>
              <a:buNone/>
            </a:pPr>
            <a:endParaRPr lang="es-ES" sz="2400" dirty="0"/>
          </a:p>
          <a:p>
            <a:pPr marL="457200" indent="-457200">
              <a:buAutoNum type="arabicPeriod"/>
            </a:pPr>
            <a:r>
              <a:rPr lang="es-ES" sz="2400" b="1" dirty="0"/>
              <a:t>Uno a Uno (1:1)</a:t>
            </a:r>
          </a:p>
          <a:p>
            <a:pPr marL="457200" indent="-457200">
              <a:buAutoNum type="arabicPeriod"/>
            </a:pPr>
            <a:endParaRPr lang="es-E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dirty="0"/>
              <a:t>Definición:</a:t>
            </a:r>
            <a:r>
              <a:rPr lang="es-ES" sz="2400" dirty="0"/>
              <a:t> Una instancia de A se relaciona con </a:t>
            </a:r>
            <a:r>
              <a:rPr lang="es-ES" sz="2400" i="1" dirty="0"/>
              <a:t>máximo</a:t>
            </a:r>
            <a:r>
              <a:rPr lang="es-ES" sz="2400" dirty="0"/>
              <a:t> una de 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dirty="0"/>
              <a:t>Ejemplo </a:t>
            </a:r>
            <a:r>
              <a:rPr lang="es-ES" sz="2400" b="1" dirty="0" err="1"/>
              <a:t>Olist</a:t>
            </a:r>
            <a:r>
              <a:rPr lang="es-ES" sz="2400" b="1" dirty="0"/>
              <a:t>:</a:t>
            </a:r>
            <a:r>
              <a:rPr lang="es-ES" sz="2400" dirty="0"/>
              <a:t> ¿Una </a:t>
            </a:r>
            <a:r>
              <a:rPr lang="es-ES" sz="2400" i="1" dirty="0"/>
              <a:t>Orden</a:t>
            </a:r>
            <a:r>
              <a:rPr lang="es-ES" sz="2400" dirty="0"/>
              <a:t> tiene una </a:t>
            </a:r>
            <a:r>
              <a:rPr lang="es-ES" sz="2400" i="1" dirty="0"/>
              <a:t>Geolocalización</a:t>
            </a:r>
            <a:r>
              <a:rPr lang="es-ES" sz="2400" dirty="0"/>
              <a:t>? No exactamente (usa Zip </a:t>
            </a:r>
            <a:r>
              <a:rPr lang="es-ES" sz="2400" dirty="0" err="1"/>
              <a:t>Code</a:t>
            </a:r>
            <a:r>
              <a:rPr lang="es-ES" sz="2400" dirty="0"/>
              <a:t>), pero conceptualmente, un envío va a un solo lugar.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400" dirty="0"/>
          </a:p>
          <a:p>
            <a:pPr>
              <a:buNone/>
            </a:pPr>
            <a:r>
              <a:rPr lang="es-ES" sz="2400" b="1" dirty="0"/>
              <a:t>2. Uno a Muchos (1:N) - </a:t>
            </a:r>
            <a:r>
              <a:rPr lang="es-ES" sz="2800" b="1" i="1" dirty="0"/>
              <a:t>La más común</a:t>
            </a:r>
          </a:p>
          <a:p>
            <a:pPr>
              <a:buNone/>
            </a:pPr>
            <a:endParaRPr lang="es-E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dirty="0"/>
              <a:t>Definición:</a:t>
            </a:r>
            <a:r>
              <a:rPr lang="es-ES" sz="2400" dirty="0"/>
              <a:t> Una instancia de A se relaciona con muchas de B, pero B solo con una de 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dirty="0"/>
              <a:t>Ejemplo </a:t>
            </a:r>
            <a:r>
              <a:rPr lang="es-ES" sz="2400" b="1" dirty="0" err="1"/>
              <a:t>Olist</a:t>
            </a:r>
            <a:r>
              <a:rPr lang="es-ES" sz="2400" b="1" dirty="0"/>
              <a:t>:</a:t>
            </a:r>
            <a:endParaRPr lang="es-E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Un </a:t>
            </a:r>
            <a:r>
              <a:rPr lang="es-ES" sz="2400" b="1" dirty="0"/>
              <a:t>Cliente</a:t>
            </a:r>
            <a:r>
              <a:rPr lang="es-ES" sz="2400" dirty="0"/>
              <a:t> hace muchas </a:t>
            </a:r>
            <a:r>
              <a:rPr lang="es-ES" sz="2400" b="1" dirty="0"/>
              <a:t>Órdenes</a:t>
            </a:r>
            <a:r>
              <a:rPr lang="es-ES" sz="24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Una </a:t>
            </a:r>
            <a:r>
              <a:rPr lang="es-ES" sz="2400" b="1" dirty="0"/>
              <a:t>Orden</a:t>
            </a:r>
            <a:r>
              <a:rPr lang="es-ES" sz="2400" dirty="0"/>
              <a:t> pertenece a un solo </a:t>
            </a:r>
            <a:r>
              <a:rPr lang="es-ES" sz="2400" b="1" dirty="0"/>
              <a:t>Cliente</a:t>
            </a:r>
            <a:r>
              <a:rPr lang="es-ES" sz="24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2400" dirty="0"/>
          </a:p>
          <a:p>
            <a:pPr>
              <a:buNone/>
            </a:pPr>
            <a:r>
              <a:rPr lang="es-ES" sz="2400" b="1" dirty="0"/>
              <a:t>3. Muchos a Muchos (M:N) - </a:t>
            </a:r>
            <a:r>
              <a:rPr lang="es-ES" sz="2400" b="1" i="1" dirty="0"/>
              <a:t>El problema a resolver</a:t>
            </a:r>
            <a:endParaRPr lang="es-E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dirty="0"/>
              <a:t>Definición:</a:t>
            </a:r>
            <a:r>
              <a:rPr lang="es-ES" sz="2400" dirty="0"/>
              <a:t> A se relaciona con muchas B, y B con muchas 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dirty="0"/>
              <a:t>Ejemplo </a:t>
            </a:r>
            <a:r>
              <a:rPr lang="es-ES" sz="2400" b="1" dirty="0" err="1"/>
              <a:t>Olist</a:t>
            </a:r>
            <a:r>
              <a:rPr lang="es-ES" sz="2400" b="1" dirty="0"/>
              <a:t>:</a:t>
            </a:r>
            <a:endParaRPr lang="es-E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Una </a:t>
            </a:r>
            <a:r>
              <a:rPr lang="es-ES" sz="2400" b="1" dirty="0"/>
              <a:t>Orden</a:t>
            </a:r>
            <a:r>
              <a:rPr lang="es-ES" sz="2400" dirty="0"/>
              <a:t> contiene muchos </a:t>
            </a:r>
            <a:r>
              <a:rPr lang="es-ES" sz="2400" b="1" dirty="0"/>
              <a:t>Productos</a:t>
            </a:r>
            <a:r>
              <a:rPr lang="es-ES" sz="24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Un </a:t>
            </a:r>
            <a:r>
              <a:rPr lang="es-ES" sz="2400" b="1" dirty="0"/>
              <a:t>Producto</a:t>
            </a:r>
            <a:r>
              <a:rPr lang="es-ES" sz="2400" dirty="0"/>
              <a:t> aparece en muchas </a:t>
            </a:r>
            <a:r>
              <a:rPr lang="es-ES" sz="2400" b="1" dirty="0"/>
              <a:t>Órdenes</a:t>
            </a:r>
            <a:r>
              <a:rPr lang="es-ES" sz="24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2400" dirty="0"/>
          </a:p>
          <a:p>
            <a:r>
              <a:rPr lang="es-ES" sz="2400" b="1" i="1" u="sng" dirty="0"/>
              <a:t>Nota Técnica:</a:t>
            </a:r>
            <a:r>
              <a:rPr lang="es-ES" sz="2400" i="1" u="sng" dirty="0"/>
              <a:t> Las bases de datos relacionales NO soportan esto directamente. Necesitaremos una "Tabla Puente" más adelante.</a:t>
            </a:r>
          </a:p>
        </p:txBody>
      </p:sp>
    </p:spTree>
    <p:extLst>
      <p:ext uri="{BB962C8B-B14F-4D97-AF65-F5344CB8AC3E}">
        <p14:creationId xmlns:p14="http://schemas.microsoft.com/office/powerpoint/2010/main" val="1909182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9670E-BC6E-629A-BA98-1531FEE83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A6D7063-8C48-620C-79BE-479DD7EB8BFF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7A580F0-C7F9-F65C-9FCF-0129C5830DF2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522B548E-EB49-655C-2A0B-93E585B588D0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F72599E9-CC9D-FC95-8508-944E6CDB1B4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67EC5A85-191D-3D40-B391-5B70FC4EE7A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FD5E078-3E97-9717-4A5B-D81BBAA68BC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7A7F884-36A4-079A-7A99-65D96BAE87EC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D56A6370-F58C-1DD6-BAC4-8ECF0E2031AD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AFF6D44D-52EF-0232-165B-FAE5AB849F3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6D45E710-533C-4A12-7712-C8383A27CE5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2B532605-7B4E-5C54-17EC-7DFA62D8B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816788"/>
              </p:ext>
            </p:extLst>
          </p:nvPr>
        </p:nvGraphicFramePr>
        <p:xfrm>
          <a:off x="2205872" y="2563850"/>
          <a:ext cx="13876255" cy="5646897"/>
        </p:xfrm>
        <a:graphic>
          <a:graphicData uri="http://schemas.openxmlformats.org/drawingml/2006/table">
            <a:tbl>
              <a:tblPr/>
              <a:tblGrid>
                <a:gridCol w="2775251">
                  <a:extLst>
                    <a:ext uri="{9D8B030D-6E8A-4147-A177-3AD203B41FA5}">
                      <a16:colId xmlns:a16="http://schemas.microsoft.com/office/drawing/2014/main" val="1881698810"/>
                    </a:ext>
                  </a:extLst>
                </a:gridCol>
                <a:gridCol w="2775251">
                  <a:extLst>
                    <a:ext uri="{9D8B030D-6E8A-4147-A177-3AD203B41FA5}">
                      <a16:colId xmlns:a16="http://schemas.microsoft.com/office/drawing/2014/main" val="1948886594"/>
                    </a:ext>
                  </a:extLst>
                </a:gridCol>
                <a:gridCol w="2775251">
                  <a:extLst>
                    <a:ext uri="{9D8B030D-6E8A-4147-A177-3AD203B41FA5}">
                      <a16:colId xmlns:a16="http://schemas.microsoft.com/office/drawing/2014/main" val="2042585261"/>
                    </a:ext>
                  </a:extLst>
                </a:gridCol>
                <a:gridCol w="2775251">
                  <a:extLst>
                    <a:ext uri="{9D8B030D-6E8A-4147-A177-3AD203B41FA5}">
                      <a16:colId xmlns:a16="http://schemas.microsoft.com/office/drawing/2014/main" val="853299245"/>
                    </a:ext>
                  </a:extLst>
                </a:gridCol>
                <a:gridCol w="2775251">
                  <a:extLst>
                    <a:ext uri="{9D8B030D-6E8A-4147-A177-3AD203B41FA5}">
                      <a16:colId xmlns:a16="http://schemas.microsoft.com/office/drawing/2014/main" val="626683672"/>
                    </a:ext>
                  </a:extLst>
                </a:gridCol>
              </a:tblGrid>
              <a:tr h="1549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dirty="0"/>
                        <a:t>ENTIDAD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dirty="0" err="1"/>
                        <a:t>Customer</a:t>
                      </a:r>
                      <a:endParaRPr lang="es-CO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/>
                        <a:t>Order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/>
                        <a:t>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/>
                        <a:t>Seller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549566"/>
                  </a:ext>
                </a:extLst>
              </a:tr>
              <a:tr h="1549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b="1"/>
                        <a:t>Customer</a:t>
                      </a:r>
                      <a:endParaRPr lang="es-CO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b="1" dirty="0"/>
                        <a:t>?</a:t>
                      </a:r>
                      <a:endParaRPr lang="es-CO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dirty="0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772883"/>
                  </a:ext>
                </a:extLst>
              </a:tr>
              <a:tr h="849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b="1"/>
                        <a:t>Order</a:t>
                      </a:r>
                      <a:endParaRPr lang="es-CO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b="1"/>
                        <a:t>?</a:t>
                      </a:r>
                      <a:endParaRPr lang="es-CO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dirty="0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537255"/>
                  </a:ext>
                </a:extLst>
              </a:tr>
              <a:tr h="849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b="1"/>
                        <a:t>Product</a:t>
                      </a:r>
                      <a:endParaRPr lang="es-CO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183457"/>
                  </a:ext>
                </a:extLst>
              </a:tr>
              <a:tr h="849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b="1"/>
                        <a:t>Seller</a:t>
                      </a:r>
                      <a:endParaRPr lang="es-CO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dirty="0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398139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730E3269-B07D-AED4-45AC-D4F13BAA4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0278" y="760385"/>
            <a:ext cx="1424139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Matriz de Relaciones (El </a:t>
            </a:r>
            <a:r>
              <a:rPr kumimoji="0" lang="es-CO" altLang="es-CO" sz="3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Grid</a:t>
            </a:r>
            <a:r>
              <a:rPr kumimoji="0" lang="es-CO" altLang="es-CO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Construimos una tabla con las entidades en ambos ejes (X e Y) para asegurar que no olvidamos nada.</a:t>
            </a:r>
            <a:endParaRPr kumimoji="0" lang="es-CO" altLang="es-CO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5730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0BC66-ACF4-BA62-7BE8-15E2D8FF1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20F8EE1-651C-B7CD-BDCC-2269182C03DC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A2899F8-C884-BE77-618E-39E042006645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09C41886-5158-9A4B-0434-A6FD053BD5C9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04D2C17E-59C9-94B3-D38F-390BECA7CB2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C808FC4A-95A0-7CA0-1931-3987700F6C3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730C57F-9F55-7470-6620-C2477A240E7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E02DDC5-99BE-4F15-03C2-D05984A0B272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B7AA00EC-BA37-8548-33ED-B09A1F767D35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B6F2E5F5-56CB-C497-3147-3D9033690BE0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32173D3B-BC73-814D-749B-F2E900E9AD1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7F9CDCD-8CE8-5050-D7BF-0CC3B87978D7}"/>
              </a:ext>
            </a:extLst>
          </p:cNvPr>
          <p:cNvSpPr txBox="1"/>
          <p:nvPr/>
        </p:nvSpPr>
        <p:spPr>
          <a:xfrm>
            <a:off x="1501218" y="763222"/>
            <a:ext cx="14844859" cy="8279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Llenando la Matriz: Análisis del Caso </a:t>
            </a:r>
            <a:r>
              <a:rPr lang="es-ES" sz="2800" b="1" dirty="0" err="1"/>
              <a:t>Olist</a:t>
            </a:r>
            <a:endParaRPr lang="es-ES" sz="2800" b="1" dirty="0"/>
          </a:p>
          <a:p>
            <a:pPr>
              <a:buNone/>
            </a:pPr>
            <a:endParaRPr lang="es-ES" sz="2800" b="1" dirty="0"/>
          </a:p>
          <a:p>
            <a:pPr>
              <a:buNone/>
            </a:pPr>
            <a:r>
              <a:rPr lang="es-ES" sz="2800" dirty="0"/>
              <a:t>Vamos a interrogar a nuestros datos CSV para llenar los signos de interrogación.</a:t>
            </a:r>
          </a:p>
          <a:p>
            <a:pPr>
              <a:buNone/>
            </a:pPr>
            <a:endParaRPr lang="es-ES" sz="2800" dirty="0"/>
          </a:p>
          <a:p>
            <a:pPr>
              <a:buNone/>
            </a:pPr>
            <a:r>
              <a:rPr lang="es-ES" sz="2800" b="1" dirty="0"/>
              <a:t>Cruce 1: </a:t>
            </a:r>
            <a:r>
              <a:rPr lang="es-ES" sz="2800" b="1" dirty="0" err="1"/>
              <a:t>Customer</a:t>
            </a:r>
            <a:r>
              <a:rPr lang="es-ES" sz="2800" b="1" dirty="0"/>
              <a:t> vs </a:t>
            </a:r>
            <a:r>
              <a:rPr lang="es-ES" sz="2800" b="1" dirty="0" err="1"/>
              <a:t>Order</a:t>
            </a:r>
            <a:endParaRPr lang="es-E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i="1" dirty="0"/>
              <a:t>Pregunta:</a:t>
            </a:r>
            <a:r>
              <a:rPr lang="es-ES" sz="2800" dirty="0"/>
              <a:t> ¿Un cliente puede tener órdenes? </a:t>
            </a:r>
            <a:r>
              <a:rPr lang="es-ES" sz="2800" b="1" dirty="0"/>
              <a:t>SÍ</a:t>
            </a:r>
            <a:r>
              <a:rPr lang="es-ES" sz="2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i="1" dirty="0"/>
              <a:t>Pregunta:</a:t>
            </a:r>
            <a:r>
              <a:rPr lang="es-ES" sz="2800" dirty="0"/>
              <a:t> ¿Una orden es de muchos clientes? </a:t>
            </a:r>
            <a:r>
              <a:rPr lang="es-ES" sz="2800" b="1" dirty="0"/>
              <a:t>NO</a:t>
            </a:r>
            <a:r>
              <a:rPr lang="es-ES" sz="2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/>
              <a:t>Resultado:</a:t>
            </a:r>
            <a:r>
              <a:rPr lang="es-ES" sz="2800" dirty="0"/>
              <a:t> Relación </a:t>
            </a:r>
            <a:r>
              <a:rPr lang="es-ES" sz="2800" b="1" dirty="0"/>
              <a:t>1:N</a:t>
            </a:r>
            <a:r>
              <a:rPr lang="es-ES" sz="2800" dirty="0"/>
              <a:t> (Uno a Muchos).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800" dirty="0"/>
          </a:p>
          <a:p>
            <a:pPr>
              <a:buNone/>
            </a:pPr>
            <a:r>
              <a:rPr lang="es-ES" sz="2800" b="1" dirty="0"/>
              <a:t>Cruce 2: </a:t>
            </a:r>
            <a:r>
              <a:rPr lang="es-ES" sz="2800" b="1" dirty="0" err="1"/>
              <a:t>Order</a:t>
            </a:r>
            <a:r>
              <a:rPr lang="es-ES" sz="2800" b="1" dirty="0"/>
              <a:t> vs </a:t>
            </a:r>
            <a:r>
              <a:rPr lang="es-ES" sz="2800" b="1" dirty="0" err="1"/>
              <a:t>Product</a:t>
            </a:r>
            <a:endParaRPr lang="es-E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i="1" dirty="0"/>
              <a:t>Pregunta:</a:t>
            </a:r>
            <a:r>
              <a:rPr lang="es-ES" sz="2800" dirty="0"/>
              <a:t> ¿Una orden tiene productos? </a:t>
            </a:r>
            <a:r>
              <a:rPr lang="es-ES" sz="2800" b="1" dirty="0"/>
              <a:t>SÍ</a:t>
            </a:r>
            <a:r>
              <a:rPr lang="es-ES" sz="2800" dirty="0"/>
              <a:t> (Muchos).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i="1" dirty="0"/>
              <a:t>Pregunta:</a:t>
            </a:r>
            <a:r>
              <a:rPr lang="es-ES" sz="2800" dirty="0"/>
              <a:t> ¿Un producto (</a:t>
            </a:r>
            <a:r>
              <a:rPr lang="es-ES" sz="2800" dirty="0" err="1"/>
              <a:t>ej</a:t>
            </a:r>
            <a:r>
              <a:rPr lang="es-ES" sz="2800" dirty="0"/>
              <a:t>: "Reloj X") está en muchas órdenes? </a:t>
            </a:r>
            <a:r>
              <a:rPr lang="es-ES" sz="2800" b="1" dirty="0"/>
              <a:t>SÍ</a:t>
            </a:r>
            <a:r>
              <a:rPr lang="es-ES" sz="2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/>
              <a:t>Resultado:</a:t>
            </a:r>
            <a:r>
              <a:rPr lang="es-ES" sz="2800" dirty="0"/>
              <a:t> Relación </a:t>
            </a:r>
            <a:r>
              <a:rPr lang="es-ES" sz="2800" b="1" dirty="0"/>
              <a:t>M:N</a:t>
            </a:r>
            <a:r>
              <a:rPr lang="es-ES" sz="2800" dirty="0"/>
              <a:t> (Muchos a Muchos).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800" dirty="0"/>
          </a:p>
          <a:p>
            <a:pPr>
              <a:buNone/>
            </a:pPr>
            <a:r>
              <a:rPr lang="es-ES" sz="2800" b="1" dirty="0"/>
              <a:t>Cruce 3: </a:t>
            </a:r>
            <a:r>
              <a:rPr lang="es-ES" sz="2800" b="1" dirty="0" err="1"/>
              <a:t>Customer</a:t>
            </a:r>
            <a:r>
              <a:rPr lang="es-ES" sz="2800" b="1" dirty="0"/>
              <a:t> vs </a:t>
            </a:r>
            <a:r>
              <a:rPr lang="es-ES" sz="2800" b="1" dirty="0" err="1"/>
              <a:t>Seller</a:t>
            </a:r>
            <a:endParaRPr lang="es-E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800" i="1" dirty="0"/>
              <a:t>Pregunta:</a:t>
            </a:r>
            <a:r>
              <a:rPr lang="es-ES" sz="2800" dirty="0"/>
              <a:t> ¿Un cliente compra directamente al vendedor?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i="1" dirty="0"/>
              <a:t>Análisis:</a:t>
            </a:r>
            <a:r>
              <a:rPr lang="es-ES" sz="2800" dirty="0"/>
              <a:t> En </a:t>
            </a:r>
            <a:r>
              <a:rPr lang="es-ES" sz="2800" dirty="0" err="1"/>
              <a:t>Olist</a:t>
            </a:r>
            <a:r>
              <a:rPr lang="es-ES" sz="2800" dirty="0"/>
              <a:t>, el cliente compra un </a:t>
            </a:r>
            <a:r>
              <a:rPr lang="es-ES" sz="2800" i="1" dirty="0"/>
              <a:t>Producto</a:t>
            </a:r>
            <a:r>
              <a:rPr lang="es-ES" sz="2800" dirty="0"/>
              <a:t> que </a:t>
            </a:r>
            <a:r>
              <a:rPr lang="es-ES" sz="2800" i="1" dirty="0"/>
              <a:t>pertenece</a:t>
            </a:r>
            <a:r>
              <a:rPr lang="es-ES" sz="2800" dirty="0"/>
              <a:t> a un vendedor, pero no hay un contrato directo "Cliente-Vendedor" fuera de la orden.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/>
              <a:t>Resultado:</a:t>
            </a:r>
            <a:r>
              <a:rPr lang="es-ES" sz="2800" dirty="0"/>
              <a:t> </a:t>
            </a:r>
            <a:r>
              <a:rPr lang="es-ES" sz="2800" b="1" dirty="0"/>
              <a:t>Sin Relación Directa</a:t>
            </a:r>
            <a:r>
              <a:rPr lang="es-ES" sz="2800" dirty="0"/>
              <a:t> (Se conectan a través de </a:t>
            </a:r>
            <a:r>
              <a:rPr lang="es-ES" sz="2800" dirty="0" err="1">
                <a:latin typeface="Courier New" panose="02070309020205020404" pitchFamily="49" charset="0"/>
              </a:rPr>
              <a:t>Order</a:t>
            </a:r>
            <a:r>
              <a:rPr lang="es-ES" sz="2800" dirty="0"/>
              <a:t> y </a:t>
            </a:r>
            <a:r>
              <a:rPr lang="es-ES" sz="2800" dirty="0" err="1">
                <a:latin typeface="Courier New" panose="02070309020205020404" pitchFamily="49" charset="0"/>
              </a:rPr>
              <a:t>Order_Items</a:t>
            </a:r>
            <a:r>
              <a:rPr lang="es-ES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9401235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8D015-6B71-0D69-2983-F63D8DA5E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05DCD14-ADA6-E9EA-DB28-458D1672295C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63F7039-3315-AD73-BE29-85A401453BDB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24DCF87E-8DEB-F46E-3633-3AF704193A9C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4A3D6D6-DA6D-800F-216D-F85128E2E7F4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F2A050A9-AEFF-1A80-E557-0706404E91A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190012A-89AA-369B-3C9D-3BCDBC288E9B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0D128EF-3428-A84D-A69E-34FD77F1755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3FE7F313-071B-487E-6C8E-CA5F9FFC75D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18DE04C2-D926-0EA9-E44F-CFBC48093E6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72287D30-BF23-E101-9922-60A97BCE505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BF98EB3E-B25A-A8B7-BBCA-18A1FD2A53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069705"/>
              </p:ext>
            </p:extLst>
          </p:nvPr>
        </p:nvGraphicFramePr>
        <p:xfrm>
          <a:off x="2964730" y="2658121"/>
          <a:ext cx="11863630" cy="4160965"/>
        </p:xfrm>
        <a:graphic>
          <a:graphicData uri="http://schemas.openxmlformats.org/drawingml/2006/table">
            <a:tbl>
              <a:tblPr/>
              <a:tblGrid>
                <a:gridCol w="2372726">
                  <a:extLst>
                    <a:ext uri="{9D8B030D-6E8A-4147-A177-3AD203B41FA5}">
                      <a16:colId xmlns:a16="http://schemas.microsoft.com/office/drawing/2014/main" val="1440396324"/>
                    </a:ext>
                  </a:extLst>
                </a:gridCol>
                <a:gridCol w="2372726">
                  <a:extLst>
                    <a:ext uri="{9D8B030D-6E8A-4147-A177-3AD203B41FA5}">
                      <a16:colId xmlns:a16="http://schemas.microsoft.com/office/drawing/2014/main" val="3611656687"/>
                    </a:ext>
                  </a:extLst>
                </a:gridCol>
                <a:gridCol w="2372726">
                  <a:extLst>
                    <a:ext uri="{9D8B030D-6E8A-4147-A177-3AD203B41FA5}">
                      <a16:colId xmlns:a16="http://schemas.microsoft.com/office/drawing/2014/main" val="1582652915"/>
                    </a:ext>
                  </a:extLst>
                </a:gridCol>
                <a:gridCol w="2372726">
                  <a:extLst>
                    <a:ext uri="{9D8B030D-6E8A-4147-A177-3AD203B41FA5}">
                      <a16:colId xmlns:a16="http://schemas.microsoft.com/office/drawing/2014/main" val="220071222"/>
                    </a:ext>
                  </a:extLst>
                </a:gridCol>
                <a:gridCol w="2372726">
                  <a:extLst>
                    <a:ext uri="{9D8B030D-6E8A-4147-A177-3AD203B41FA5}">
                      <a16:colId xmlns:a16="http://schemas.microsoft.com/office/drawing/2014/main" val="1405358658"/>
                    </a:ext>
                  </a:extLst>
                </a:gridCol>
              </a:tblGrid>
              <a:tr h="10277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dirty="0" err="1"/>
                        <a:t>Customer</a:t>
                      </a:r>
                      <a:endParaRPr lang="es-CO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/>
                        <a:t>Order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/>
                        <a:t>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/>
                        <a:t>Seller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401715"/>
                  </a:ext>
                </a:extLst>
              </a:tr>
              <a:tr h="1184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b="1"/>
                        <a:t>Customer</a:t>
                      </a:r>
                      <a:endParaRPr lang="es-CO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b="1" dirty="0"/>
                        <a:t>1:N</a:t>
                      </a:r>
                      <a:endParaRPr lang="es-CO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953478"/>
                  </a:ext>
                </a:extLst>
              </a:tr>
              <a:tr h="649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b="1"/>
                        <a:t>Order</a:t>
                      </a:r>
                      <a:endParaRPr lang="es-CO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b="1"/>
                        <a:t>N:1</a:t>
                      </a:r>
                      <a:endParaRPr lang="es-CO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b="1" dirty="0"/>
                        <a:t>M:N</a:t>
                      </a:r>
                      <a:endParaRPr lang="es-CO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b="1"/>
                        <a:t>N:1</a:t>
                      </a:r>
                      <a:r>
                        <a:rPr lang="es-CO" sz="2800"/>
                        <a:t>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371335"/>
                  </a:ext>
                </a:extLst>
              </a:tr>
              <a:tr h="649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b="1"/>
                        <a:t>Product</a:t>
                      </a:r>
                      <a:endParaRPr lang="es-CO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b="1"/>
                        <a:t>M:N</a:t>
                      </a:r>
                      <a:endParaRPr lang="es-CO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b="1"/>
                        <a:t>N:1</a:t>
                      </a:r>
                      <a:endParaRPr lang="es-CO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062001"/>
                  </a:ext>
                </a:extLst>
              </a:tr>
              <a:tr h="649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b="1"/>
                        <a:t>Seller</a:t>
                      </a:r>
                      <a:endParaRPr lang="es-CO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b="1"/>
                        <a:t>1:N</a:t>
                      </a:r>
                      <a:r>
                        <a:rPr lang="es-CO" sz="2800"/>
                        <a:t>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b="1" dirty="0"/>
                        <a:t>1:N</a:t>
                      </a:r>
                      <a:endParaRPr lang="es-CO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8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0237387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814C4B72-6C2A-E5D1-795E-8519830EC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6201" y="910899"/>
            <a:ext cx="151878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Matriz Resuelta (Versión Simplificada)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070CF4B-D1C0-D3D6-B090-70AB84CC7988}"/>
              </a:ext>
            </a:extLst>
          </p:cNvPr>
          <p:cNvSpPr txBox="1"/>
          <p:nvPr/>
        </p:nvSpPr>
        <p:spPr>
          <a:xfrm>
            <a:off x="1919533" y="8114993"/>
            <a:ext cx="1444893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*Nota sobre </a:t>
            </a:r>
            <a:r>
              <a:rPr kumimoji="0" lang="es-CO" altLang="es-CO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Seller</a:t>
            </a:r>
            <a:r>
              <a:rPr kumimoji="0" lang="es-CO" altLang="es-CO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s-CO" altLang="es-CO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</a:t>
            </a:r>
            <a:r>
              <a:rPr kumimoji="0" lang="es-CO" altLang="es-CO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En </a:t>
            </a:r>
            <a:r>
              <a:rPr kumimoji="0" lang="es-CO" altLang="es-CO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Olist</a:t>
            </a:r>
            <a:r>
              <a:rPr kumimoji="0" lang="es-CO" altLang="es-CO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técnicamente un vendedor se relaciona con los ítems de la orden, no con la orden completa (porque una orden puede tener </a:t>
            </a:r>
            <a:r>
              <a:rPr kumimoji="0" lang="es-CO" altLang="es-CO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items</a:t>
            </a:r>
            <a:r>
              <a:rPr kumimoji="0" lang="es-CO" altLang="es-CO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vendedores distintos). Por ahora, lo marcamos como relación indirecta o compleja.</a:t>
            </a:r>
            <a:endParaRPr kumimoji="0" lang="es-CO" altLang="es-CO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4935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531AB-3AC1-B9D3-CF37-1E0644AE5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CAD8722-5588-209A-EB2D-24B505CF1B15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6B107FC-F521-D4AE-E057-68E185841A6B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CD2446BC-9953-9A54-9269-40EA86B63950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D6E9B152-6EE8-6232-1948-517369764ED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1A3553E9-7317-B64A-AACC-ABDA8DE5826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000D428-2C36-70BD-B728-C1395D7E87A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4493295-0ED1-A378-78AD-148B590F445A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8AB79C09-B6FE-3DE3-B471-7F12D2F13B2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0607C8F-2FB9-9DC9-BFF5-3A8726D3041C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329BA864-5F93-069F-2FB6-9DBFD3FEAE5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35B361E-2833-09F2-EA6A-2C4D79433341}"/>
              </a:ext>
            </a:extLst>
          </p:cNvPr>
          <p:cNvSpPr txBox="1"/>
          <p:nvPr/>
        </p:nvSpPr>
        <p:spPr>
          <a:xfrm>
            <a:off x="1286758" y="1331684"/>
            <a:ext cx="15714483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Descubrimiento Crítico: La "Entidad Asociativa“</a:t>
            </a:r>
          </a:p>
          <a:p>
            <a:pPr>
              <a:buNone/>
            </a:pPr>
            <a:endParaRPr lang="es-ES" sz="3200" b="1" dirty="0"/>
          </a:p>
          <a:p>
            <a:pPr>
              <a:buNone/>
            </a:pPr>
            <a:r>
              <a:rPr lang="es-ES" sz="3200" dirty="0"/>
              <a:t>Al encontrar la relación </a:t>
            </a:r>
            <a:r>
              <a:rPr lang="es-ES" sz="3200" b="1" dirty="0"/>
              <a:t>M:N</a:t>
            </a:r>
            <a:r>
              <a:rPr lang="es-ES" sz="3200" dirty="0"/>
              <a:t> entre </a:t>
            </a:r>
            <a:r>
              <a:rPr lang="es-ES" sz="3200" dirty="0" err="1">
                <a:latin typeface="Courier New" panose="02070309020205020404" pitchFamily="49" charset="0"/>
              </a:rPr>
              <a:t>Order</a:t>
            </a:r>
            <a:r>
              <a:rPr lang="es-ES" sz="3200" dirty="0"/>
              <a:t> y </a:t>
            </a:r>
            <a:r>
              <a:rPr lang="es-ES" sz="3200" dirty="0" err="1">
                <a:latin typeface="Courier New" panose="02070309020205020404" pitchFamily="49" charset="0"/>
              </a:rPr>
              <a:t>Product</a:t>
            </a:r>
            <a:r>
              <a:rPr lang="es-ES" sz="3200" dirty="0"/>
              <a:t>, la metodología nos obliga a crear una nueva entidad intermedia.</a:t>
            </a:r>
          </a:p>
          <a:p>
            <a:pPr>
              <a:buNone/>
            </a:pPr>
            <a:endParaRPr lang="es-E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b="1" dirty="0"/>
              <a:t>El Problema:</a:t>
            </a:r>
            <a:r>
              <a:rPr lang="es-ES" sz="3200" dirty="0"/>
              <a:t> No puedo guardar una lista de productos en una celda de la tabla </a:t>
            </a:r>
            <a:r>
              <a:rPr lang="es-ES" sz="3200" dirty="0" err="1">
                <a:latin typeface="Courier New" panose="02070309020205020404" pitchFamily="49" charset="0"/>
              </a:rPr>
              <a:t>Order</a:t>
            </a:r>
            <a:r>
              <a:rPr lang="es-ES" sz="32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b="1" dirty="0"/>
              <a:t>La Solución:</a:t>
            </a:r>
            <a:r>
              <a:rPr lang="es-ES" sz="3200" dirty="0"/>
              <a:t> Nace </a:t>
            </a:r>
            <a:r>
              <a:rPr lang="es-ES" sz="3200" dirty="0" err="1">
                <a:latin typeface="Courier New" panose="02070309020205020404" pitchFamily="49" charset="0"/>
              </a:rPr>
              <a:t>Order_Items</a:t>
            </a:r>
            <a:r>
              <a:rPr lang="es-ES" sz="32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ES" sz="3200" dirty="0"/>
          </a:p>
          <a:p>
            <a:pPr>
              <a:buNone/>
            </a:pPr>
            <a:r>
              <a:rPr lang="es-ES" sz="3200" b="1" dirty="0"/>
              <a:t>Nueva Relación:</a:t>
            </a:r>
          </a:p>
          <a:p>
            <a:pPr>
              <a:buNone/>
            </a:pPr>
            <a:endParaRPr lang="es-ES" sz="3200" dirty="0"/>
          </a:p>
          <a:p>
            <a:pPr marL="514350" indent="-514350">
              <a:buFont typeface="+mj-lt"/>
              <a:buAutoNum type="arabicPeriod"/>
            </a:pPr>
            <a:r>
              <a:rPr lang="es-ES" sz="3200" dirty="0" err="1"/>
              <a:t>Order</a:t>
            </a:r>
            <a:r>
              <a:rPr lang="es-ES" sz="3200" dirty="0"/>
              <a:t> </a:t>
            </a:r>
            <a:r>
              <a:rPr lang="es-ES" sz="3200" b="1" dirty="0"/>
              <a:t>1 : N</a:t>
            </a:r>
            <a:r>
              <a:rPr lang="es-ES" sz="3200" dirty="0"/>
              <a:t> </a:t>
            </a:r>
            <a:r>
              <a:rPr lang="es-ES" sz="3200" dirty="0" err="1"/>
              <a:t>Order_Items</a:t>
            </a:r>
            <a:endParaRPr lang="es-ES" sz="3200" dirty="0"/>
          </a:p>
          <a:p>
            <a:pPr marL="514350" indent="-514350">
              <a:buFont typeface="+mj-lt"/>
              <a:buAutoNum type="arabicPeriod"/>
            </a:pPr>
            <a:r>
              <a:rPr lang="es-ES" sz="3200" dirty="0" err="1"/>
              <a:t>Product</a:t>
            </a:r>
            <a:r>
              <a:rPr lang="es-ES" sz="3200" dirty="0"/>
              <a:t> </a:t>
            </a:r>
            <a:r>
              <a:rPr lang="es-ES" sz="3200" b="1" dirty="0"/>
              <a:t>1 : N</a:t>
            </a:r>
            <a:r>
              <a:rPr lang="es-ES" sz="3200" dirty="0"/>
              <a:t> </a:t>
            </a:r>
            <a:r>
              <a:rPr lang="es-ES" sz="3200" dirty="0" err="1"/>
              <a:t>Order_Items</a:t>
            </a:r>
            <a:endParaRPr lang="es-ES" sz="3200" dirty="0"/>
          </a:p>
          <a:p>
            <a:pPr>
              <a:buFont typeface="+mj-lt"/>
              <a:buAutoNum type="arabicPeriod"/>
            </a:pPr>
            <a:endParaRPr lang="es-ES" sz="3200" dirty="0"/>
          </a:p>
          <a:p>
            <a:pPr>
              <a:buNone/>
            </a:pPr>
            <a:r>
              <a:rPr lang="es-ES" sz="3200" i="1" dirty="0"/>
              <a:t>Ahora </a:t>
            </a:r>
            <a:r>
              <a:rPr lang="es-ES" sz="3200" i="1" dirty="0" err="1">
                <a:latin typeface="Courier New" panose="02070309020205020404" pitchFamily="49" charset="0"/>
              </a:rPr>
              <a:t>Order_Items</a:t>
            </a:r>
            <a:r>
              <a:rPr lang="es-ES" sz="3200" i="1" dirty="0"/>
              <a:t> se convierte en el "hijo" de ambos.</a:t>
            </a:r>
            <a:endParaRPr lang="es-ES" sz="3200" dirty="0"/>
          </a:p>
        </p:txBody>
      </p:sp>
    </p:spTree>
    <p:extLst>
      <p:ext uri="{BB962C8B-B14F-4D97-AF65-F5344CB8AC3E}">
        <p14:creationId xmlns:p14="http://schemas.microsoft.com/office/powerpoint/2010/main" val="21885309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57DC1-977B-422F-F3A5-E96ACCB24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F79D7CB-11BB-C198-F746-1F77CFB4AC0F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3B3272E-D02E-B58C-31F1-492CC1118C5E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C9E53280-176D-F6BC-5055-DE825DF9948D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3A78E716-80A2-C407-24B0-272A4ABAAF42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8F68F2DB-2CBB-75D5-1E88-06C6C0097D0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59199F8-821F-9241-FA7E-37D7460EC043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ED2E2B9-FFD0-7235-B2DB-522C77333382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7C082F5D-D6F6-E1DD-9AD6-DB158FEB21E7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46969D7-8896-540D-B4D3-4EEEE7F7285E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B7BC3751-0C83-48AD-F83C-E5CF6F8CC44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5280696-3D2D-BF63-1961-B139E0DD1558}"/>
              </a:ext>
            </a:extLst>
          </p:cNvPr>
          <p:cNvSpPr txBox="1"/>
          <p:nvPr/>
        </p:nvSpPr>
        <p:spPr>
          <a:xfrm>
            <a:off x="4508369" y="4917732"/>
            <a:ext cx="918642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4400" b="1" dirty="0"/>
              <a:t>Paso 2: Diagramas E-R (Entidad – Relación) simplificados</a:t>
            </a:r>
          </a:p>
        </p:txBody>
      </p:sp>
    </p:spTree>
    <p:extLst>
      <p:ext uri="{BB962C8B-B14F-4D97-AF65-F5344CB8AC3E}">
        <p14:creationId xmlns:p14="http://schemas.microsoft.com/office/powerpoint/2010/main" val="2402809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85754-21ED-6239-7495-05F751FB6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C16EDE3-85D0-B088-CD69-E7EBA2C202E8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1A23A14-3415-D165-0881-9643DDDD4F07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A96E223A-ADAB-8E23-4D63-276EE2F09CE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03BB4627-69C7-73F4-580C-6CF323B2B7EC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15DD97D2-3B13-3DCE-E2BD-F12ECAE2F4C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E299553-AEAC-66B2-3969-AA0A56901319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43594FF-9765-2DD7-4FAF-C74E75FB2C02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D6105402-15A6-9D60-8C93-60490DC2ECC2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EA027850-33EC-70F4-9968-A1FD136F4B09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5F009F6B-6975-1CB9-09B0-353649F15FF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69E3968-CC8F-0773-0CD1-AD26CE09F015}"/>
              </a:ext>
            </a:extLst>
          </p:cNvPr>
          <p:cNvSpPr txBox="1"/>
          <p:nvPr/>
        </p:nvSpPr>
        <p:spPr>
          <a:xfrm>
            <a:off x="1699181" y="1444640"/>
            <a:ext cx="1097987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Taller de Diagramación: Construyendo </a:t>
            </a:r>
            <a:r>
              <a:rPr lang="es-ES" sz="2800" b="1" dirty="0" err="1"/>
              <a:t>Olist</a:t>
            </a:r>
            <a:r>
              <a:rPr lang="es-ES" sz="2800" b="1" dirty="0"/>
              <a:t> Paso a Paso</a:t>
            </a:r>
          </a:p>
          <a:p>
            <a:pPr>
              <a:buNone/>
            </a:pPr>
            <a:endParaRPr lang="es-ES" sz="2800" b="1" dirty="0"/>
          </a:p>
          <a:p>
            <a:pPr>
              <a:buNone/>
            </a:pPr>
            <a:endParaRPr lang="es-ES" sz="2800" b="1" dirty="0"/>
          </a:p>
          <a:p>
            <a:pPr>
              <a:buNone/>
            </a:pPr>
            <a:r>
              <a:rPr lang="es-ES" sz="2800" b="1" dirty="0"/>
              <a:t>Usando notación "</a:t>
            </a:r>
            <a:r>
              <a:rPr lang="es-ES" sz="2800" b="1" dirty="0" err="1"/>
              <a:t>Crow's</a:t>
            </a:r>
            <a:r>
              <a:rPr lang="es-ES" sz="2800" b="1" dirty="0"/>
              <a:t> </a:t>
            </a:r>
            <a:r>
              <a:rPr lang="es-ES" sz="2800" b="1" dirty="0" err="1"/>
              <a:t>Foot</a:t>
            </a:r>
            <a:r>
              <a:rPr lang="es-ES" sz="2800" b="1" dirty="0"/>
              <a:t>" (Pata de Gallo)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B3B09242-0EFC-9E95-F5F7-8FA4B14A9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519" y="4815793"/>
            <a:ext cx="15485720" cy="233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371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7591A-8508-F656-5FD0-8C80AF7F8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AC91F78-0959-3632-B656-C26D1138FDB3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CA02E2E-26AA-4CEF-C89E-514E1DFB4770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BFA79B3D-5B72-389C-D24D-106584853B29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88F8A7DA-80EA-9943-C232-B8C0B315E141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C5F98316-58FF-1CA6-2BE2-399234ED9D1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3263CC5-FC35-6A19-53C1-4F70941F54C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010CE5E-2D89-C45F-33E5-C366891F4EB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3A0B4173-F652-CBD1-5035-0418885F903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0E03C6B8-1345-F8ED-9A4C-3FD237FEDB0E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FA126F7-5DEC-E216-DC92-C3C78F75CAC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07C8FA2-8CCE-92E4-235A-9C3DA195C52F}"/>
              </a:ext>
            </a:extLst>
          </p:cNvPr>
          <p:cNvSpPr txBox="1"/>
          <p:nvPr/>
        </p:nvSpPr>
        <p:spPr>
          <a:xfrm>
            <a:off x="1963131" y="2671499"/>
            <a:ext cx="68320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La Primera Conexión (El Cliente)</a:t>
            </a:r>
          </a:p>
          <a:p>
            <a:pPr>
              <a:buNone/>
            </a:pPr>
            <a:endParaRPr lang="es-ES" sz="3200" b="1" dirty="0"/>
          </a:p>
          <a:p>
            <a:pPr>
              <a:buNone/>
            </a:pPr>
            <a:r>
              <a:rPr lang="es-ES" sz="3200" b="1" dirty="0"/>
              <a:t>La Lógica:</a:t>
            </a:r>
            <a:r>
              <a:rPr lang="es-ES" sz="3200" dirty="0"/>
              <a:t> Todo empieza cuando un cliente decide comprar.</a:t>
            </a:r>
          </a:p>
          <a:p>
            <a:pPr>
              <a:buNone/>
            </a:pPr>
            <a:endParaRPr lang="es-E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Un Cliente puede hacer </a:t>
            </a:r>
            <a:r>
              <a:rPr lang="es-ES" sz="3200" b="1" dirty="0"/>
              <a:t>muchas</a:t>
            </a:r>
            <a:r>
              <a:rPr lang="es-ES" sz="3200" dirty="0"/>
              <a:t> órdenes (o ninguna).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dirty="0"/>
              <a:t>Una Orden pertenece obligatoriamente a </a:t>
            </a:r>
            <a:r>
              <a:rPr lang="es-ES" sz="3200" b="1" dirty="0"/>
              <a:t>un</a:t>
            </a:r>
            <a:r>
              <a:rPr lang="es-ES" sz="3200" dirty="0"/>
              <a:t> cliente.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1F40918-0051-1EAD-DACB-5DE908257D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1147" y="1172510"/>
            <a:ext cx="5715798" cy="725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9143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3BCD8-A7AF-9193-6C45-086F545B8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65F8367-7C83-668B-FB6C-81766BDCC68C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0249B44-05BA-CE83-2E6B-C0CFFE1221B5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FBD714D2-C10E-009F-D0AB-2AA9BD4F630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37C05BDE-4A4E-F509-786E-51A3B44368A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3F32BAA9-0C27-0A54-E002-467ACCF22F8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6AD561B-FA8C-658E-AABF-7931B37DC9ED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428978A-7393-0E9C-E2EA-A872ABBE752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DBB5A9F6-A52C-E326-E539-E734340EC19F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98B79B30-79A4-6646-9FA4-9D8E24D1807A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59BEE475-590B-650E-B7E0-812214D3365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1292CAC-3050-A421-E933-CACCC237D651}"/>
              </a:ext>
            </a:extLst>
          </p:cNvPr>
          <p:cNvSpPr txBox="1"/>
          <p:nvPr/>
        </p:nvSpPr>
        <p:spPr>
          <a:xfrm>
            <a:off x="1234518" y="1268280"/>
            <a:ext cx="9389489" cy="8279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400" b="1" dirty="0"/>
              <a:t>El Conflicto (La Relación Prohibida)</a:t>
            </a:r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r>
              <a:rPr lang="es-ES" sz="2400" b="1" dirty="0"/>
              <a:t>El Problema:</a:t>
            </a:r>
            <a:r>
              <a:rPr lang="es-ES" sz="2400" dirty="0"/>
              <a:t> Queremos conectar </a:t>
            </a:r>
            <a:r>
              <a:rPr lang="es-ES" sz="2400" dirty="0">
                <a:latin typeface="Courier New" panose="02070309020205020404" pitchFamily="49" charset="0"/>
              </a:rPr>
              <a:t>ORDER</a:t>
            </a:r>
            <a:r>
              <a:rPr lang="es-ES" sz="2400" dirty="0"/>
              <a:t> con </a:t>
            </a:r>
            <a:r>
              <a:rPr lang="es-ES" sz="2400" dirty="0">
                <a:latin typeface="Courier New" panose="02070309020205020404" pitchFamily="49" charset="0"/>
              </a:rPr>
              <a:t>PRODUCT</a:t>
            </a:r>
            <a:r>
              <a:rPr lang="es-ES" sz="24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dirty="0"/>
              <a:t>Una orden tiene muchos productos.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dirty="0"/>
              <a:t>Un producto está en muchas órdenes.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ES" sz="2400" dirty="0"/>
          </a:p>
          <a:p>
            <a:pPr>
              <a:buNone/>
            </a:pPr>
            <a:r>
              <a:rPr lang="es-ES" sz="2400" b="1" dirty="0"/>
              <a:t>Visualizando el Error:</a:t>
            </a:r>
            <a:r>
              <a:rPr lang="es-ES" sz="2400" dirty="0"/>
              <a:t> Si intentamos dibujar esto directamente, creamos una relación "Muchos a Muchos" (</a:t>
            </a:r>
            <a:r>
              <a:rPr lang="es-ES" sz="2400" dirty="0" err="1">
                <a:latin typeface="Courier New" panose="02070309020205020404" pitchFamily="49" charset="0"/>
              </a:rPr>
              <a:t>Many-to-Many</a:t>
            </a:r>
            <a:r>
              <a:rPr lang="es-ES" sz="2400" dirty="0"/>
              <a:t>), que </a:t>
            </a:r>
            <a:r>
              <a:rPr lang="es-ES" sz="2400" b="1" dirty="0"/>
              <a:t>no</a:t>
            </a:r>
            <a:r>
              <a:rPr lang="es-ES" sz="2400" dirty="0"/>
              <a:t> podemos construir físicamente en la base de datos sin problemas.</a:t>
            </a:r>
          </a:p>
          <a:p>
            <a:pPr>
              <a:buNone/>
            </a:pPr>
            <a:endParaRPr lang="es-ES" sz="2400" dirty="0"/>
          </a:p>
          <a:p>
            <a:pPr>
              <a:buNone/>
            </a:pPr>
            <a:endParaRPr lang="es-ES" sz="2400" dirty="0"/>
          </a:p>
          <a:p>
            <a:r>
              <a:rPr lang="es-ES" sz="2400" b="1" dirty="0"/>
              <a:t>La Solución (La Entidad Asociativa)</a:t>
            </a:r>
          </a:p>
          <a:p>
            <a:endParaRPr lang="es-ES" sz="2400" b="1" dirty="0"/>
          </a:p>
          <a:p>
            <a:r>
              <a:rPr lang="es-ES" sz="2400" b="1" dirty="0"/>
              <a:t>La Lógica:</a:t>
            </a:r>
            <a:r>
              <a:rPr lang="es-ES" sz="2400" dirty="0"/>
              <a:t> Rompemos la relación prohibida creando una tabla intermedia: </a:t>
            </a:r>
            <a:r>
              <a:rPr lang="es-ES" sz="1200" dirty="0"/>
              <a:t>ORDER_ITEMS</a:t>
            </a:r>
            <a:r>
              <a:rPr lang="es-ES" sz="2400" dirty="0"/>
              <a:t>.</a:t>
            </a:r>
          </a:p>
          <a:p>
            <a:r>
              <a:rPr lang="es-ES" sz="2400" dirty="0"/>
              <a:t>Ahora </a:t>
            </a:r>
            <a:r>
              <a:rPr lang="es-ES" sz="1200" dirty="0"/>
              <a:t>ORDER</a:t>
            </a:r>
            <a:r>
              <a:rPr lang="es-ES" sz="2400" dirty="0"/>
              <a:t> se conecta con </a:t>
            </a:r>
            <a:r>
              <a:rPr lang="es-ES" sz="1200" dirty="0"/>
              <a:t>ITEMS</a:t>
            </a:r>
            <a:r>
              <a:rPr lang="es-ES" sz="2400" dirty="0"/>
              <a:t> (1:N).</a:t>
            </a:r>
          </a:p>
          <a:p>
            <a:r>
              <a:rPr lang="es-ES" sz="2400" dirty="0"/>
              <a:t>Y </a:t>
            </a:r>
            <a:r>
              <a:rPr lang="es-ES" sz="1200" dirty="0"/>
              <a:t>PRODUCT</a:t>
            </a:r>
            <a:r>
              <a:rPr lang="es-ES" sz="2400" dirty="0"/>
              <a:t> se conecta con </a:t>
            </a:r>
            <a:r>
              <a:rPr lang="es-ES" sz="1200" dirty="0"/>
              <a:t>ITEMS</a:t>
            </a:r>
            <a:r>
              <a:rPr lang="es-ES" sz="2400" dirty="0"/>
              <a:t> (1:N).</a:t>
            </a:r>
          </a:p>
          <a:p>
            <a:r>
              <a:rPr lang="es-ES" sz="2400" b="1" dirty="0"/>
              <a:t>El resultado:</a:t>
            </a:r>
            <a:r>
              <a:rPr lang="es-ES" sz="2400" dirty="0"/>
              <a:t> </a:t>
            </a:r>
            <a:r>
              <a:rPr lang="es-ES" sz="1200" dirty="0"/>
              <a:t>ORDER_ITEMS</a:t>
            </a:r>
            <a:r>
              <a:rPr lang="es-ES" sz="2400" dirty="0"/>
              <a:t> actúa como el puente que une ambas partes.</a:t>
            </a:r>
          </a:p>
          <a:p>
            <a:pPr>
              <a:buNone/>
            </a:pPr>
            <a:endParaRPr lang="es-ES" sz="28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B2BB813-339E-196D-E1E7-4D731A3B16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4789" y="1428535"/>
            <a:ext cx="7097115" cy="722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1846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77591-1194-81A5-E575-2FA8282F8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4C1F52F-0739-5DD5-6E22-524DAB73C4AB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24CE259-75D0-3137-3B14-5B4A40443CA1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21F978EB-A284-7A67-8BF3-A24D9C516E49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A7378333-003C-9AC8-5945-86071CE2B58E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1BD001EB-80E5-8E81-9675-AF04976B503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595901B-6BC4-4C07-C73F-E7F3E8B42E73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457D27F-233F-A105-E66D-3F3DCDAC12D2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3E7B7371-8362-79A1-B897-E674642BB29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EBFD627A-91E4-81D3-5FE4-F927109BCD06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2F02621E-9966-5258-DC8A-712D158E0F9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8FB9BCC-C9CF-1BC7-A17C-9BC6E2E43212}"/>
              </a:ext>
            </a:extLst>
          </p:cNvPr>
          <p:cNvSpPr txBox="1"/>
          <p:nvPr/>
        </p:nvSpPr>
        <p:spPr>
          <a:xfrm>
            <a:off x="1293829" y="2031921"/>
            <a:ext cx="769934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400" b="1" dirty="0"/>
              <a:t>Integrando al Vendedor (</a:t>
            </a:r>
            <a:r>
              <a:rPr lang="es-ES" sz="2400" b="1" dirty="0" err="1"/>
              <a:t>Seller</a:t>
            </a:r>
            <a:r>
              <a:rPr lang="es-ES" sz="2400" b="1" dirty="0"/>
              <a:t>)</a:t>
            </a:r>
          </a:p>
          <a:p>
            <a:pPr>
              <a:buNone/>
            </a:pPr>
            <a:r>
              <a:rPr lang="es-ES" sz="2400" b="1" dirty="0"/>
              <a:t>Punto Clave de </a:t>
            </a:r>
            <a:r>
              <a:rPr lang="es-ES" sz="2400" b="1" dirty="0" err="1"/>
              <a:t>Olist</a:t>
            </a:r>
            <a:r>
              <a:rPr lang="es-ES" sz="2400" b="1" dirty="0"/>
              <a:t>:</a:t>
            </a:r>
            <a:r>
              <a:rPr lang="es-ES" sz="2400" dirty="0"/>
              <a:t> </a:t>
            </a:r>
          </a:p>
          <a:p>
            <a:pPr>
              <a:buNone/>
            </a:pPr>
            <a:endParaRPr lang="es-ES" sz="2400" dirty="0"/>
          </a:p>
          <a:p>
            <a:pPr>
              <a:buNone/>
            </a:pPr>
            <a:r>
              <a:rPr lang="es-ES" sz="2400" dirty="0"/>
              <a:t>En este </a:t>
            </a:r>
            <a:r>
              <a:rPr lang="es-ES" sz="2400" dirty="0" err="1"/>
              <a:t>marketplace</a:t>
            </a:r>
            <a:r>
              <a:rPr lang="es-ES" sz="2400" dirty="0"/>
              <a:t>, tú no le compras a "</a:t>
            </a:r>
            <a:r>
              <a:rPr lang="es-ES" sz="2400" dirty="0" err="1"/>
              <a:t>Olist</a:t>
            </a:r>
            <a:r>
              <a:rPr lang="es-ES" sz="2400" dirty="0"/>
              <a:t>", le compras a un Vendedor específico.</a:t>
            </a:r>
          </a:p>
          <a:p>
            <a:pPr>
              <a:buNone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¿El Vendedor se conecta a la Orden? </a:t>
            </a:r>
            <a:r>
              <a:rPr lang="es-ES" sz="2400" b="1" dirty="0"/>
              <a:t>NO</a:t>
            </a:r>
            <a:r>
              <a:rPr lang="es-E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El Vendedor se conecta al </a:t>
            </a:r>
            <a:r>
              <a:rPr lang="es-ES" sz="2400" b="1" dirty="0" err="1"/>
              <a:t>Item</a:t>
            </a:r>
            <a:r>
              <a:rPr lang="es-ES" sz="2400" dirty="0"/>
              <a:t>, porque en una misma orden puedo tener un libro (Vendedor A) y un mouse (Vendedor B).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B3CA1F4-852D-3C7A-4DD9-E7ABB2B29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0538" y="1536901"/>
            <a:ext cx="7297168" cy="706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0597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454AB-53EE-A87F-7262-B93AB6984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7FCC09C-BA35-8830-DB94-E03A425531AD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47EE8D2-E732-13AF-7C8E-AD8241149B25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39744F7E-8451-F819-DFD1-94F418673E0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6CFCB97C-7F26-22FC-37F2-3F846745C0BA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E6A0865A-0877-1167-24A0-C97FB5C75CD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B7BBFA3-E211-C3B2-74A6-3720418CEA5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E42236F-A0A7-47DC-C5B0-61A761F4627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FE31B4C3-C671-C339-0480-A7B779D372F9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4A2C31A7-5934-CD7F-5896-E98C062CE5F1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6AF2285D-5C0E-0681-488A-F79DCFA70BD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FC52EDC-AAE6-F55A-19DB-CE832785C06C}"/>
              </a:ext>
            </a:extLst>
          </p:cNvPr>
          <p:cNvSpPr txBox="1"/>
          <p:nvPr/>
        </p:nvSpPr>
        <p:spPr>
          <a:xfrm>
            <a:off x="935610" y="1625123"/>
            <a:ext cx="6850930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600" b="1" dirty="0"/>
              <a:t>Agregando Satélites (Pagos y Reseñas)</a:t>
            </a:r>
          </a:p>
          <a:p>
            <a:pPr>
              <a:buNone/>
            </a:pPr>
            <a:endParaRPr lang="es-ES" sz="3600" b="1" dirty="0"/>
          </a:p>
          <a:p>
            <a:pPr>
              <a:buNone/>
            </a:pPr>
            <a:r>
              <a:rPr lang="es-ES" sz="3600" b="1" dirty="0"/>
              <a:t>Cerrando el círculo:</a:t>
            </a:r>
            <a:r>
              <a:rPr lang="es-ES" sz="3600" dirty="0"/>
              <a:t> Finalmente, agregamos los eventos que ocurren </a:t>
            </a:r>
            <a:r>
              <a:rPr lang="es-ES" sz="3600" i="1" dirty="0"/>
              <a:t>alrededor</a:t>
            </a:r>
            <a:r>
              <a:rPr lang="es-ES" sz="3600" dirty="0"/>
              <a:t> de la orden.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3600" b="1" dirty="0"/>
              <a:t>Pagos:</a:t>
            </a:r>
            <a:r>
              <a:rPr lang="es-ES" sz="3600" dirty="0"/>
              <a:t> Una orden se paga (1:N, porque pueden ser múltiples tarjetas).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3600" b="1" dirty="0"/>
              <a:t>Reseñas:</a:t>
            </a:r>
            <a:r>
              <a:rPr lang="es-ES" sz="3600" dirty="0"/>
              <a:t> Una orden se califica (0:N, porque es opcional).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909E55E-C7F2-336A-DC1F-68978E86EC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1637" y="1155847"/>
            <a:ext cx="9745435" cy="783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5878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DDE58-526F-2A15-6D3C-539B509EC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0AE9DA2-9CEF-D4E1-5B08-43CEC0E57001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614711D-0146-39A7-2BA1-9FE766CD7983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BA3DDA54-2547-732A-B3EC-849100F4FF8A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01E44363-C32D-4147-DA41-EF9AFC3B6539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4FB9B5EF-F2DB-6DA5-EE73-02BF9CAFEF3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D6EE514-38EE-6145-EDF4-E9573B7FA44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AACCB2F-E7B9-7261-0120-77F68B205E1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F51B21FF-05DA-286F-06DA-4F0BDD67E70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67491332-6CDD-3A3E-F157-42A67CECA8D7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EB6B839-CC9A-7187-67CC-6CE5B128C47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9D1636E2-7DA1-E575-D6FB-E80C1E1DED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3373" y="1778885"/>
            <a:ext cx="15450901" cy="7895865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84109D11-BE3B-83DE-5390-1F5BE233A4A2}"/>
              </a:ext>
            </a:extLst>
          </p:cNvPr>
          <p:cNvSpPr txBox="1"/>
          <p:nvPr/>
        </p:nvSpPr>
        <p:spPr>
          <a:xfrm>
            <a:off x="1433659" y="763222"/>
            <a:ext cx="157875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000" b="1" dirty="0"/>
              <a:t>El Diagrama Final Completo</a:t>
            </a:r>
          </a:p>
          <a:p>
            <a:pPr>
              <a:buNone/>
            </a:pPr>
            <a:r>
              <a:rPr lang="es-ES" sz="2000" b="1" dirty="0"/>
              <a:t>Visión Global:</a:t>
            </a:r>
            <a:r>
              <a:rPr lang="es-ES" sz="2000" dirty="0"/>
              <a:t> Así se ve el sistema </a:t>
            </a:r>
            <a:r>
              <a:rPr lang="es-ES" sz="2000" dirty="0" err="1"/>
              <a:t>Olist</a:t>
            </a:r>
            <a:r>
              <a:rPr lang="es-ES" sz="2000" dirty="0"/>
              <a:t> completo cuando unimos todas las piezas. Es un esquema "centrado en la Orden" (</a:t>
            </a:r>
            <a:r>
              <a:rPr lang="es-ES" sz="2000" dirty="0" err="1"/>
              <a:t>Order-Centric</a:t>
            </a:r>
            <a:r>
              <a:rPr lang="es-ES" sz="20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5803872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072BF-C52B-2307-EA51-CD8B5DF9A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F861F7D-3FBD-A5ED-08FE-2165AC464294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545B7B6-80D3-A88B-6654-5A5656F53962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7D85AA5F-3D6D-869F-96A8-635B7BB46CA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BA6690BE-88C6-9191-5B51-C84835AB6FC4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776FE7F2-F5C0-AF3E-2F3D-8B7E6184D1B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5EC7572-DECB-C6A4-9196-310C844739E7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A6AF057-23A8-2C56-5AA1-B95D322D0E1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49238A19-FE25-F68F-AC9C-9650EC29DEA8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8BFCD251-E8FC-A40B-9E86-DA6A49824981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C675661E-164C-8F62-2964-596787E0D23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BFCB4DF-1A13-BC52-E33D-9F21A37A248F}"/>
              </a:ext>
            </a:extLst>
          </p:cNvPr>
          <p:cNvSpPr txBox="1"/>
          <p:nvPr/>
        </p:nvSpPr>
        <p:spPr>
          <a:xfrm>
            <a:off x="3989894" y="2853262"/>
            <a:ext cx="91864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6000" b="1" dirty="0"/>
              <a:t>Paso 2: Diseño para la implementación del Modelo </a:t>
            </a:r>
            <a:r>
              <a:rPr lang="es-ES" sz="6000" b="1" dirty="0" err="1"/>
              <a:t>Fisico</a:t>
            </a:r>
            <a:r>
              <a:rPr lang="es-ES" sz="60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420382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B08A0-C7BD-0E39-D675-CECF28740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247F8CA-619F-B5CE-F4C7-C3C654D3EACB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2D0812B-EC44-DD44-6FEC-1FE07BD572E5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25CABB53-BD32-6CCE-021E-F3AE98612D14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503A2400-7E91-4EBC-D0E7-2096AEF84FE6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37F95315-5477-1CC9-BDC7-A2FC0F8F47A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AE103DB-62F6-F4AE-8185-14FC878D0EA2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C2868E7-97EC-6820-FF36-C3960369458F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179C0ED4-5B81-B695-771D-82E55E1EF52A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EFDFB617-5D0B-A43D-2FD9-029A809806B4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496E061B-0793-0BCB-9DC0-848D5441320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10C61D5-60E1-3955-0C1B-070BCD45F6B1}"/>
              </a:ext>
            </a:extLst>
          </p:cNvPr>
          <p:cNvSpPr txBox="1"/>
          <p:nvPr/>
        </p:nvSpPr>
        <p:spPr>
          <a:xfrm>
            <a:off x="1274975" y="280518"/>
            <a:ext cx="16136332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600" b="1" dirty="0"/>
              <a:t>De "Concepto" a "Código“</a:t>
            </a:r>
          </a:p>
          <a:p>
            <a:pPr>
              <a:buNone/>
            </a:pPr>
            <a:endParaRPr lang="es-ES" sz="3600" b="1" dirty="0"/>
          </a:p>
          <a:p>
            <a:pPr>
              <a:buNone/>
            </a:pPr>
            <a:r>
              <a:rPr lang="es-ES" sz="3600" b="1" dirty="0"/>
              <a:t>El Salto de Nivel</a:t>
            </a:r>
          </a:p>
          <a:p>
            <a:pPr>
              <a:buNone/>
            </a:pPr>
            <a:endParaRPr lang="es-ES" sz="3600" dirty="0"/>
          </a:p>
          <a:p>
            <a:pPr>
              <a:buNone/>
            </a:pPr>
            <a:r>
              <a:rPr lang="es-ES" sz="3600" dirty="0"/>
              <a:t>Hasta ahora, nuestras cajas eran abstractas. Para que la base de datos funcione, necesitamos ser específicos.</a:t>
            </a:r>
          </a:p>
          <a:p>
            <a:pPr>
              <a:buNone/>
            </a:pPr>
            <a:endParaRPr lang="es-ES" sz="3600" dirty="0"/>
          </a:p>
          <a:p>
            <a:pPr>
              <a:buNone/>
            </a:pPr>
            <a:r>
              <a:rPr lang="es-ES" sz="3600" b="1" dirty="0"/>
              <a:t>Las 3 Reglas del Modelo Detallado:</a:t>
            </a:r>
          </a:p>
          <a:p>
            <a:pPr>
              <a:buNone/>
            </a:pPr>
            <a:endParaRPr lang="es-ES" sz="3600" dirty="0"/>
          </a:p>
          <a:p>
            <a:pPr marL="742950" indent="-742950">
              <a:buFont typeface="+mj-lt"/>
              <a:buAutoNum type="arabicPeriod"/>
            </a:pPr>
            <a:r>
              <a:rPr lang="es-ES" sz="3600" b="1" dirty="0"/>
              <a:t>Cada atributo debe tener un tipo de dato</a:t>
            </a:r>
            <a:r>
              <a:rPr lang="es-ES" sz="3600" dirty="0"/>
              <a:t> (¿Texto? ¿Número? ¿Fecha?).</a:t>
            </a:r>
          </a:p>
          <a:p>
            <a:pPr marL="742950" indent="-742950">
              <a:buFont typeface="+mj-lt"/>
              <a:buAutoNum type="arabicPeriod"/>
            </a:pPr>
            <a:r>
              <a:rPr lang="es-ES" sz="3600" b="1" dirty="0"/>
              <a:t>Las PK (Llaves Primarias) deben estar definidas.</a:t>
            </a:r>
            <a:endParaRPr lang="es-ES" sz="3600" dirty="0"/>
          </a:p>
          <a:p>
            <a:pPr marL="742950" indent="-742950">
              <a:buFont typeface="+mj-lt"/>
              <a:buAutoNum type="arabicPeriod"/>
            </a:pPr>
            <a:r>
              <a:rPr lang="es-ES" sz="3600" b="1" dirty="0"/>
              <a:t>Las FK (Llaves Foráneas) deben ser explícitas</a:t>
            </a:r>
            <a:r>
              <a:rPr lang="es-ES" sz="3600" dirty="0"/>
              <a:t> (son el pegamento del sistema).</a:t>
            </a:r>
          </a:p>
          <a:p>
            <a:pPr>
              <a:buFont typeface="+mj-lt"/>
              <a:buAutoNum type="arabicPeriod"/>
            </a:pPr>
            <a:endParaRPr lang="es-ES" sz="3600" dirty="0"/>
          </a:p>
          <a:p>
            <a:pPr>
              <a:buNone/>
            </a:pPr>
            <a:r>
              <a:rPr lang="es-ES" sz="3600" i="1" dirty="0"/>
              <a:t>"El diablo está en los detalles (y en los tipos de datos)."</a:t>
            </a:r>
            <a:endParaRPr lang="es-ES" sz="3600" dirty="0"/>
          </a:p>
        </p:txBody>
      </p:sp>
    </p:spTree>
    <p:extLst>
      <p:ext uri="{BB962C8B-B14F-4D97-AF65-F5344CB8AC3E}">
        <p14:creationId xmlns:p14="http://schemas.microsoft.com/office/powerpoint/2010/main" val="8055083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8A64D-291D-51A5-422C-C797FD7BA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CCE9FE5-1AD6-6875-4C8F-7569E8E5A951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B2E80B4-1D18-EBD6-D7F6-5592C3C5E333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E3B0764A-E427-B2E8-1EAF-77963628D772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4BDF3F57-431B-684E-3DA8-2E5FD0CDD3C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99B52C04-64FD-E8F5-13B7-A8E94D9FA96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0A44414-A292-CFFE-56C2-48D6AAC1E28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6AC46AA-01CA-BB6D-3BB1-4B3F624F2A2D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228AE141-B234-C46E-1FF6-EEFE7ACFDADC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B50FF735-95C6-891A-EE8E-C3D4098DF865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744D561D-7829-179B-DB72-46235E62C15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20479C8-0BB9-3F25-AF4A-1593BED93F1A}"/>
              </a:ext>
            </a:extLst>
          </p:cNvPr>
          <p:cNvSpPr txBox="1"/>
          <p:nvPr/>
        </p:nvSpPr>
        <p:spPr>
          <a:xfrm>
            <a:off x="2375555" y="484045"/>
            <a:ext cx="1512059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400" b="1" dirty="0"/>
              <a:t>Detallando al Cliente (El Reto de Identidad)</a:t>
            </a:r>
          </a:p>
          <a:p>
            <a:pPr>
              <a:buNone/>
            </a:pPr>
            <a:r>
              <a:rPr lang="es-ES" sz="2400" b="1" dirty="0"/>
              <a:t>Análisis de </a:t>
            </a:r>
            <a:r>
              <a:rPr lang="es-ES" sz="2400" b="1" dirty="0">
                <a:latin typeface="Courier New" panose="02070309020205020404" pitchFamily="49" charset="0"/>
              </a:rPr>
              <a:t>olist_customers_dataset.csv</a:t>
            </a:r>
            <a:endParaRPr lang="es-ES" sz="2400" dirty="0"/>
          </a:p>
          <a:p>
            <a:pPr>
              <a:buNone/>
            </a:pPr>
            <a:r>
              <a:rPr lang="es-ES" sz="2400" dirty="0" err="1"/>
              <a:t>Olist</a:t>
            </a:r>
            <a:r>
              <a:rPr lang="es-ES" sz="2400" dirty="0"/>
              <a:t> tiene una peculiaridad:</a:t>
            </a:r>
          </a:p>
          <a:p>
            <a:pPr>
              <a:buNone/>
            </a:pPr>
            <a:endParaRPr lang="es-E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dirty="0" err="1">
                <a:latin typeface="Courier New" panose="02070309020205020404" pitchFamily="49" charset="0"/>
              </a:rPr>
              <a:t>customer_id</a:t>
            </a:r>
            <a:r>
              <a:rPr lang="es-ES" sz="2400" dirty="0"/>
              <a:t>: Es un ID temporal generado </a:t>
            </a:r>
            <a:r>
              <a:rPr lang="es-ES" sz="2400" i="1" dirty="0"/>
              <a:t>para cada pedido</a:t>
            </a:r>
            <a:r>
              <a:rPr lang="es-ES" sz="24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400" dirty="0" err="1">
                <a:latin typeface="Courier New" panose="02070309020205020404" pitchFamily="49" charset="0"/>
              </a:rPr>
              <a:t>customer_unique_id</a:t>
            </a:r>
            <a:r>
              <a:rPr lang="es-ES" sz="2400" dirty="0"/>
              <a:t>: Es el ID real del usuario humano.</a:t>
            </a:r>
          </a:p>
        </p:txBody>
      </p: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86FEAAF7-6B33-3ADF-AAA1-D0DEDD312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762111"/>
              </p:ext>
            </p:extLst>
          </p:nvPr>
        </p:nvGraphicFramePr>
        <p:xfrm>
          <a:off x="3172120" y="4015971"/>
          <a:ext cx="12529135" cy="5199323"/>
        </p:xfrm>
        <a:graphic>
          <a:graphicData uri="http://schemas.openxmlformats.org/drawingml/2006/table">
            <a:tbl>
              <a:tblPr/>
              <a:tblGrid>
                <a:gridCol w="2505827">
                  <a:extLst>
                    <a:ext uri="{9D8B030D-6E8A-4147-A177-3AD203B41FA5}">
                      <a16:colId xmlns:a16="http://schemas.microsoft.com/office/drawing/2014/main" val="890442694"/>
                    </a:ext>
                  </a:extLst>
                </a:gridCol>
                <a:gridCol w="2505827">
                  <a:extLst>
                    <a:ext uri="{9D8B030D-6E8A-4147-A177-3AD203B41FA5}">
                      <a16:colId xmlns:a16="http://schemas.microsoft.com/office/drawing/2014/main" val="1413941069"/>
                    </a:ext>
                  </a:extLst>
                </a:gridCol>
                <a:gridCol w="2505827">
                  <a:extLst>
                    <a:ext uri="{9D8B030D-6E8A-4147-A177-3AD203B41FA5}">
                      <a16:colId xmlns:a16="http://schemas.microsoft.com/office/drawing/2014/main" val="1213128917"/>
                    </a:ext>
                  </a:extLst>
                </a:gridCol>
                <a:gridCol w="2505827">
                  <a:extLst>
                    <a:ext uri="{9D8B030D-6E8A-4147-A177-3AD203B41FA5}">
                      <a16:colId xmlns:a16="http://schemas.microsoft.com/office/drawing/2014/main" val="3768673374"/>
                    </a:ext>
                  </a:extLst>
                </a:gridCol>
                <a:gridCol w="2505827">
                  <a:extLst>
                    <a:ext uri="{9D8B030D-6E8A-4147-A177-3AD203B41FA5}">
                      <a16:colId xmlns:a16="http://schemas.microsoft.com/office/drawing/2014/main" val="432732811"/>
                    </a:ext>
                  </a:extLst>
                </a:gridCol>
              </a:tblGrid>
              <a:tr h="4749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dirty="0"/>
                        <a:t>Campo</a:t>
                      </a: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Tipo Sugerido</a:t>
                      </a: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¿Requerido?</a:t>
                      </a: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¿Indexado?</a:t>
                      </a: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Justificación Técnica</a:t>
                      </a: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9399745"/>
                  </a:ext>
                </a:extLst>
              </a:tr>
              <a:tr h="1061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 dirty="0" err="1"/>
                        <a:t>customer_id</a:t>
                      </a:r>
                      <a:endParaRPr lang="es-CO" sz="18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dirty="0">
                          <a:latin typeface="Courier New" panose="02070309020205020404" pitchFamily="49" charset="0"/>
                        </a:rPr>
                        <a:t>CHAR(32)</a:t>
                      </a:r>
                      <a:endParaRPr lang="es-CO" sz="18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SÍ</a:t>
                      </a:r>
                      <a:r>
                        <a:rPr lang="es-CO" sz="1800"/>
                        <a:t> (PK)</a:t>
                      </a: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SÍ</a:t>
                      </a:r>
                      <a:r>
                        <a:rPr lang="es-CO" sz="1800"/>
                        <a:t> (Auto)</a:t>
                      </a: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/>
                        <a:t>Es un hash fijo (hexadecimal). Usar </a:t>
                      </a:r>
                      <a:r>
                        <a:rPr lang="es-ES" sz="1800">
                          <a:latin typeface="Courier New" panose="02070309020205020404" pitchFamily="49" charset="0"/>
                        </a:rPr>
                        <a:t>VARCHAR</a:t>
                      </a:r>
                      <a:r>
                        <a:rPr lang="es-ES" sz="1800"/>
                        <a:t> desperdiciaría CPU.</a:t>
                      </a: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929776"/>
                  </a:ext>
                </a:extLst>
              </a:tr>
              <a:tr h="866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customer_unique_id</a:t>
                      </a: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>
                          <a:latin typeface="Courier New" panose="02070309020205020404" pitchFamily="49" charset="0"/>
                        </a:rPr>
                        <a:t>CHAR(32)</a:t>
                      </a: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 dirty="0"/>
                        <a:t>SÍ</a:t>
                      </a:r>
                      <a:endParaRPr lang="es-CO" sz="18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 dirty="0"/>
                        <a:t>SÍ</a:t>
                      </a:r>
                      <a:endParaRPr lang="es-CO" sz="18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dirty="0"/>
                        <a:t>Vital para análisis de recurrencia (</a:t>
                      </a:r>
                      <a:r>
                        <a:rPr lang="es-CO" sz="1800" dirty="0" err="1"/>
                        <a:t>Cohort</a:t>
                      </a:r>
                      <a:r>
                        <a:rPr lang="es-CO" sz="1800" dirty="0"/>
                        <a:t> </a:t>
                      </a:r>
                      <a:r>
                        <a:rPr lang="es-CO" sz="1800" dirty="0" err="1"/>
                        <a:t>Analysis</a:t>
                      </a:r>
                      <a:r>
                        <a:rPr lang="es-CO" sz="1800" dirty="0"/>
                        <a:t>). Cardinalidad alta.</a:t>
                      </a: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48435"/>
                  </a:ext>
                </a:extLst>
              </a:tr>
              <a:tr h="1061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zip_code_prefix</a:t>
                      </a: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>
                          <a:latin typeface="Courier New" panose="02070309020205020404" pitchFamily="49" charset="0"/>
                        </a:rPr>
                        <a:t>VARCHAR(5)</a:t>
                      </a: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SÍ</a:t>
                      </a: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SÍ</a:t>
                      </a: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dirty="0"/>
                        <a:t>Se usará frecuentemente en </a:t>
                      </a:r>
                      <a:r>
                        <a:rPr lang="es-ES" sz="1800" dirty="0" err="1"/>
                        <a:t>JOINs</a:t>
                      </a:r>
                      <a:r>
                        <a:rPr lang="es-ES" sz="1800" dirty="0"/>
                        <a:t> con la tabla de Geolocalización.</a:t>
                      </a: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336218"/>
                  </a:ext>
                </a:extLst>
              </a:tr>
              <a:tr h="1061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city</a:t>
                      </a: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>
                          <a:latin typeface="Courier New" panose="02070309020205020404" pitchFamily="49" charset="0"/>
                        </a:rPr>
                        <a:t>VARCHAR(50)</a:t>
                      </a: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 dirty="0"/>
                        <a:t>SÍ</a:t>
                      </a:r>
                      <a:endParaRPr lang="es-CO" sz="18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/>
                        <a:t>No</a:t>
                      </a: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dirty="0"/>
                        <a:t>Cardinalidad media. Rara vez se busca por ciudad exacta sin estado.</a:t>
                      </a:r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670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91521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B408F-703A-70B0-83DC-B34E3B78D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F4776FC-2F53-5E0F-0F15-19446EE7B12A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01F88C7-93C5-AB48-6BBD-528F5EA56246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552F0A97-C682-F162-DF35-38AF6CB1B7CC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7DC7E167-C60C-2377-EFF0-978309AB87B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E7BDFA9F-927B-B035-1D0B-FCFA18D2415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63F0211-7E5F-1BC6-1453-D8CE105E06E4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9C5F0A-A457-678A-B5B6-1D2A041FC92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6A8DCA8D-07CF-D16B-242C-0D9E2C6053EF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CA543DAE-9D31-4338-A99E-4BBBA07B05BB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EFC2A86B-B776-5C99-0550-C38AF9EAA0F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pic>
        <p:nvPicPr>
          <p:cNvPr id="14" name="Imagen 13">
            <a:extLst>
              <a:ext uri="{FF2B5EF4-FFF2-40B4-BE49-F238E27FC236}">
                <a16:creationId xmlns:a16="http://schemas.microsoft.com/office/drawing/2014/main" id="{940942C0-022C-5D63-ECF7-E7F92F3078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178" y="2299007"/>
            <a:ext cx="9983593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6445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0F299-8CD1-660A-96B6-1542F2202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77D3A3B-5037-0936-B10A-DCE246CA7A5E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27852E8-B8F4-C478-E749-97044D3EE4D2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ABDED500-7720-836B-4E0F-D740D8261775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FB6D7200-5A79-9FDC-8320-CE5F838F3895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972BE93B-187D-4E17-0A8B-EAC6DDF4F94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50DE2AB-503A-19D5-04F1-A52EC6E04F2F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F3A714B-5E64-11F6-227C-B41B50074ED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FBD91D86-A40C-4FFE-F9AA-2F5C34B53901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6DCA89EC-F28F-1177-4A8B-9D8000E10192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112D14D3-F8E0-ABAE-0D85-B58666A72FA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0EBE69D-0824-F371-8A2A-1648B441EEA9}"/>
              </a:ext>
            </a:extLst>
          </p:cNvPr>
          <p:cNvSpPr txBox="1"/>
          <p:nvPr/>
        </p:nvSpPr>
        <p:spPr>
          <a:xfrm>
            <a:off x="1059238" y="3066008"/>
            <a:ext cx="586347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La Orden y sus Tiempos</a:t>
            </a:r>
          </a:p>
          <a:p>
            <a:pPr>
              <a:buNone/>
            </a:pPr>
            <a:r>
              <a:rPr lang="es-ES" sz="3200" b="1" dirty="0"/>
              <a:t>Análisis de </a:t>
            </a:r>
            <a:r>
              <a:rPr lang="es-ES" sz="3200" b="1" dirty="0" err="1">
                <a:latin typeface="Courier New" panose="02070309020205020404" pitchFamily="49" charset="0"/>
              </a:rPr>
              <a:t>olist_orders</a:t>
            </a:r>
            <a:endParaRPr lang="es-ES" sz="3200" b="1" dirty="0">
              <a:latin typeface="Courier New" panose="02070309020205020404" pitchFamily="49" charset="0"/>
            </a:endParaRPr>
          </a:p>
          <a:p>
            <a:pPr>
              <a:buNone/>
            </a:pPr>
            <a:endParaRPr lang="es-ES" sz="4000" dirty="0"/>
          </a:p>
          <a:p>
            <a:pPr>
              <a:buNone/>
            </a:pPr>
            <a:r>
              <a:rPr lang="es-ES" sz="4000" dirty="0"/>
              <a:t>Una orden no es solo un ID, es una historia en el tiempo. Necesitamos </a:t>
            </a:r>
            <a:r>
              <a:rPr lang="es-ES" sz="4000" i="1" dirty="0" err="1"/>
              <a:t>Timestamps</a:t>
            </a:r>
            <a:r>
              <a:rPr lang="es-ES" sz="4000" dirty="0"/>
              <a:t>.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3F7DFDA5-B73A-7FEE-AD46-EF25EDC61F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4487" y="1791810"/>
            <a:ext cx="9440592" cy="730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065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43F15-F006-AADB-B561-A19135DA8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76A679F-6806-1D7E-65C4-E9FB6AFD36B0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4AA2E31-0BFB-A2A2-2C19-350B7DE0DC5D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DAC5E921-94A3-1A1B-94E9-EFA69D985310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075DB71-BBAB-172F-7A54-6C021737CC80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121E3D02-2347-66D4-D272-F6E184D1C33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EC37227-95FC-902C-B788-FD62562B8890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4BD12AA-F368-7C23-5654-1AF8BEC551F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22965CE2-3AA6-A9BD-FD1F-4239805A11F3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2A695EF5-30B2-4AFC-9F49-E440E84A79B6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0C3BE467-83D9-1A7E-0E11-8CC0EC14F70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9AB27EFD-4492-A836-526D-012F3CD2C7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224747"/>
              </p:ext>
            </p:extLst>
          </p:nvPr>
        </p:nvGraphicFramePr>
        <p:xfrm>
          <a:off x="3307893" y="2543838"/>
          <a:ext cx="12529135" cy="4525964"/>
        </p:xfrm>
        <a:graphic>
          <a:graphicData uri="http://schemas.openxmlformats.org/drawingml/2006/table">
            <a:tbl>
              <a:tblPr/>
              <a:tblGrid>
                <a:gridCol w="2505827">
                  <a:extLst>
                    <a:ext uri="{9D8B030D-6E8A-4147-A177-3AD203B41FA5}">
                      <a16:colId xmlns:a16="http://schemas.microsoft.com/office/drawing/2014/main" val="2610676289"/>
                    </a:ext>
                  </a:extLst>
                </a:gridCol>
                <a:gridCol w="2505827">
                  <a:extLst>
                    <a:ext uri="{9D8B030D-6E8A-4147-A177-3AD203B41FA5}">
                      <a16:colId xmlns:a16="http://schemas.microsoft.com/office/drawing/2014/main" val="1097042710"/>
                    </a:ext>
                  </a:extLst>
                </a:gridCol>
                <a:gridCol w="2505827">
                  <a:extLst>
                    <a:ext uri="{9D8B030D-6E8A-4147-A177-3AD203B41FA5}">
                      <a16:colId xmlns:a16="http://schemas.microsoft.com/office/drawing/2014/main" val="2996412133"/>
                    </a:ext>
                  </a:extLst>
                </a:gridCol>
                <a:gridCol w="2505827">
                  <a:extLst>
                    <a:ext uri="{9D8B030D-6E8A-4147-A177-3AD203B41FA5}">
                      <a16:colId xmlns:a16="http://schemas.microsoft.com/office/drawing/2014/main" val="1842422476"/>
                    </a:ext>
                  </a:extLst>
                </a:gridCol>
                <a:gridCol w="2505827">
                  <a:extLst>
                    <a:ext uri="{9D8B030D-6E8A-4147-A177-3AD203B41FA5}">
                      <a16:colId xmlns:a16="http://schemas.microsoft.com/office/drawing/2014/main" val="4203989792"/>
                    </a:ext>
                  </a:extLst>
                </a:gridCol>
              </a:tblGrid>
              <a:tr h="47494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86454"/>
                  </a:ext>
                </a:extLst>
              </a:tr>
              <a:tr h="10616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942537"/>
                  </a:ext>
                </a:extLst>
              </a:tr>
              <a:tr h="86607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553749"/>
                  </a:ext>
                </a:extLst>
              </a:tr>
              <a:tr h="10616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18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45285"/>
                  </a:ext>
                </a:extLst>
              </a:tr>
              <a:tr h="10616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18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714905"/>
                  </a:ext>
                </a:extLst>
              </a:tr>
            </a:tbl>
          </a:graphicData>
        </a:graphic>
      </p:graphicFrame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4C9D6250-E448-7460-9173-240854D68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977901"/>
              </p:ext>
            </p:extLst>
          </p:nvPr>
        </p:nvGraphicFramePr>
        <p:xfrm>
          <a:off x="4482446" y="3326325"/>
          <a:ext cx="8229600" cy="42976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1284767178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55477143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14117007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13624586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831216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Campo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Tipo Sugerido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¿Requerido?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¿Indexado?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Justificación Técnica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8917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b="1"/>
                        <a:t>order_id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>
                          <a:latin typeface="Courier New" panose="02070309020205020404" pitchFamily="49" charset="0"/>
                        </a:rPr>
                        <a:t>CHAR(32)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b="1"/>
                        <a:t>SÍ</a:t>
                      </a:r>
                      <a:r>
                        <a:rPr lang="es-CO"/>
                        <a:t> (PK)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b="1"/>
                        <a:t>SÍ</a:t>
                      </a:r>
                      <a:r>
                        <a:rPr lang="es-CO"/>
                        <a:t> (Auto)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Identificador principal.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017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b="1"/>
                        <a:t>order_status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>
                          <a:latin typeface="Courier New" panose="02070309020205020404" pitchFamily="49" charset="0"/>
                        </a:rPr>
                        <a:t>VARCHAR(20)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b="1"/>
                        <a:t>SÍ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b="1"/>
                        <a:t>SÍ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Cardinalidad baja (aprox 8 estados), pero esencial para filtrar "dashboards operativos".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695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b="1"/>
                        <a:t>purchase_timestamp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>
                          <a:latin typeface="Courier New" panose="02070309020205020404" pitchFamily="49" charset="0"/>
                        </a:rPr>
                        <a:t>TIMESTAMP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b="1"/>
                        <a:t>SÍ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b="1"/>
                        <a:t>SÍ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Filtro #1 en reportes ("Ventas de Ayer"). Indispensable el índice.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241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b="1"/>
                        <a:t>delivered_customer_date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>
                          <a:latin typeface="Courier New" panose="02070309020205020404" pitchFamily="49" charset="0"/>
                        </a:rPr>
                        <a:t>TIMESTAMP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b="1"/>
                        <a:t>NO</a:t>
                      </a:r>
                      <a:r>
                        <a:rPr lang="es-CO"/>
                        <a:t> (Nullable)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b="1" dirty="0"/>
                        <a:t>Alerta:</a:t>
                      </a:r>
                      <a:r>
                        <a:rPr lang="es-ES" dirty="0"/>
                        <a:t> Al crear la orden, esto </a:t>
                      </a:r>
                      <a:r>
                        <a:rPr lang="es-ES" i="1" dirty="0"/>
                        <a:t>aún no existe</a:t>
                      </a:r>
                      <a:r>
                        <a:rPr lang="es-ES" dirty="0"/>
                        <a:t>. Debe permitir </a:t>
                      </a:r>
                      <a:r>
                        <a:rPr lang="es-ES" dirty="0">
                          <a:latin typeface="Courier New" panose="02070309020205020404" pitchFamily="49" charset="0"/>
                        </a:rPr>
                        <a:t>NULL</a:t>
                      </a:r>
                      <a:r>
                        <a:rPr lang="es-ES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3566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74692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1F1CA-CE3C-80EC-958F-3D6F85E4F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B120D37-B13F-E009-1698-0A5039C7DC47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82E2A64-E620-4FDC-9B66-5289A7F9C275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22FE41A3-13F3-5604-025F-5044A3E1EAA9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2CB14D35-FCF1-79DC-20F6-E9CB2B786168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5AEF11FF-008F-170C-E3CC-8A20BB0335E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05D55CA-5EC6-4454-5600-A8CD31C2E96E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54844F-56D4-13CD-9734-93ED83C8DC5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DCD653AC-B10C-6913-461A-A733077ED638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31A46772-220F-84E5-F83C-2A392928B81E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CAB9A545-5F19-5C87-61BB-E4975483C14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EE6C87CF-376D-1945-404D-9C849BB44C12}"/>
              </a:ext>
            </a:extLst>
          </p:cNvPr>
          <p:cNvGraphicFramePr>
            <a:graphicFrameLocks noGrp="1"/>
          </p:cNvGraphicFramePr>
          <p:nvPr/>
        </p:nvGraphicFramePr>
        <p:xfrm>
          <a:off x="3307893" y="2543838"/>
          <a:ext cx="12529135" cy="4525964"/>
        </p:xfrm>
        <a:graphic>
          <a:graphicData uri="http://schemas.openxmlformats.org/drawingml/2006/table">
            <a:tbl>
              <a:tblPr/>
              <a:tblGrid>
                <a:gridCol w="2505827">
                  <a:extLst>
                    <a:ext uri="{9D8B030D-6E8A-4147-A177-3AD203B41FA5}">
                      <a16:colId xmlns:a16="http://schemas.microsoft.com/office/drawing/2014/main" val="2610676289"/>
                    </a:ext>
                  </a:extLst>
                </a:gridCol>
                <a:gridCol w="2505827">
                  <a:extLst>
                    <a:ext uri="{9D8B030D-6E8A-4147-A177-3AD203B41FA5}">
                      <a16:colId xmlns:a16="http://schemas.microsoft.com/office/drawing/2014/main" val="1097042710"/>
                    </a:ext>
                  </a:extLst>
                </a:gridCol>
                <a:gridCol w="2505827">
                  <a:extLst>
                    <a:ext uri="{9D8B030D-6E8A-4147-A177-3AD203B41FA5}">
                      <a16:colId xmlns:a16="http://schemas.microsoft.com/office/drawing/2014/main" val="2996412133"/>
                    </a:ext>
                  </a:extLst>
                </a:gridCol>
                <a:gridCol w="2505827">
                  <a:extLst>
                    <a:ext uri="{9D8B030D-6E8A-4147-A177-3AD203B41FA5}">
                      <a16:colId xmlns:a16="http://schemas.microsoft.com/office/drawing/2014/main" val="1842422476"/>
                    </a:ext>
                  </a:extLst>
                </a:gridCol>
                <a:gridCol w="2505827">
                  <a:extLst>
                    <a:ext uri="{9D8B030D-6E8A-4147-A177-3AD203B41FA5}">
                      <a16:colId xmlns:a16="http://schemas.microsoft.com/office/drawing/2014/main" val="4203989792"/>
                    </a:ext>
                  </a:extLst>
                </a:gridCol>
              </a:tblGrid>
              <a:tr h="47494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86454"/>
                  </a:ext>
                </a:extLst>
              </a:tr>
              <a:tr h="10616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942537"/>
                  </a:ext>
                </a:extLst>
              </a:tr>
              <a:tr h="86607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553749"/>
                  </a:ext>
                </a:extLst>
              </a:tr>
              <a:tr h="10616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18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45285"/>
                  </a:ext>
                </a:extLst>
              </a:tr>
              <a:tr h="10616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1800" dirty="0"/>
                    </a:p>
                  </a:txBody>
                  <a:tcPr marL="83814" marR="83814" marT="41907" marB="41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714905"/>
                  </a:ext>
                </a:extLst>
              </a:tr>
            </a:tbl>
          </a:graphicData>
        </a:graphic>
      </p:graphicFrame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E04A860C-FFBE-C935-FD04-B394E5C4F7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478254"/>
              </p:ext>
            </p:extLst>
          </p:nvPr>
        </p:nvGraphicFramePr>
        <p:xfrm>
          <a:off x="2975910" y="3626190"/>
          <a:ext cx="13551035" cy="4023360"/>
        </p:xfrm>
        <a:graphic>
          <a:graphicData uri="http://schemas.openxmlformats.org/drawingml/2006/table">
            <a:tbl>
              <a:tblPr/>
              <a:tblGrid>
                <a:gridCol w="2710207">
                  <a:extLst>
                    <a:ext uri="{9D8B030D-6E8A-4147-A177-3AD203B41FA5}">
                      <a16:colId xmlns:a16="http://schemas.microsoft.com/office/drawing/2014/main" val="2718596261"/>
                    </a:ext>
                  </a:extLst>
                </a:gridCol>
                <a:gridCol w="2710207">
                  <a:extLst>
                    <a:ext uri="{9D8B030D-6E8A-4147-A177-3AD203B41FA5}">
                      <a16:colId xmlns:a16="http://schemas.microsoft.com/office/drawing/2014/main" val="432804879"/>
                    </a:ext>
                  </a:extLst>
                </a:gridCol>
                <a:gridCol w="2710207">
                  <a:extLst>
                    <a:ext uri="{9D8B030D-6E8A-4147-A177-3AD203B41FA5}">
                      <a16:colId xmlns:a16="http://schemas.microsoft.com/office/drawing/2014/main" val="3216433560"/>
                    </a:ext>
                  </a:extLst>
                </a:gridCol>
                <a:gridCol w="2710207">
                  <a:extLst>
                    <a:ext uri="{9D8B030D-6E8A-4147-A177-3AD203B41FA5}">
                      <a16:colId xmlns:a16="http://schemas.microsoft.com/office/drawing/2014/main" val="994954247"/>
                    </a:ext>
                  </a:extLst>
                </a:gridCol>
                <a:gridCol w="2710207">
                  <a:extLst>
                    <a:ext uri="{9D8B030D-6E8A-4147-A177-3AD203B41FA5}">
                      <a16:colId xmlns:a16="http://schemas.microsoft.com/office/drawing/2014/main" val="23584179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Campo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Tipo Sugerido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¿Requerido?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¿Indexado?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Justificación Técnica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537495"/>
                  </a:ext>
                </a:extLst>
              </a:tr>
              <a:tr h="477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 dirty="0" err="1"/>
                        <a:t>product_id</a:t>
                      </a:r>
                      <a:endParaRPr lang="es-CO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>
                          <a:latin typeface="Courier New" panose="02070309020205020404" pitchFamily="49" charset="0"/>
                        </a:rPr>
                        <a:t>CHAR(32)</a:t>
                      </a:r>
                      <a:endParaRPr lang="es-CO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/>
                        <a:t>SÍ</a:t>
                      </a:r>
                      <a:r>
                        <a:rPr lang="es-CO" sz="2000"/>
                        <a:t> (FK)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/>
                        <a:t>SÍ</a:t>
                      </a:r>
                      <a:endParaRPr lang="es-CO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FK estándar para JOINs.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423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/>
                        <a:t>price</a:t>
                      </a:r>
                      <a:endParaRPr lang="es-CO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>
                          <a:latin typeface="Courier New" panose="02070309020205020404" pitchFamily="49" charset="0"/>
                        </a:rPr>
                        <a:t>DECIMAL(10,2)</a:t>
                      </a:r>
                      <a:endParaRPr lang="es-CO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 dirty="0"/>
                        <a:t>SÍ</a:t>
                      </a:r>
                      <a:endParaRPr lang="es-CO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Nunca usar </a:t>
                      </a:r>
                      <a:r>
                        <a:rPr lang="es-CO" sz="2000"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es-CO" sz="2000"/>
                        <a:t> para dinero. No se suele indexar salvo para rangos de precio.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688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/>
                        <a:t>order_item_id</a:t>
                      </a:r>
                      <a:endParaRPr lang="es-CO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>
                          <a:latin typeface="Courier New" panose="02070309020205020404" pitchFamily="49" charset="0"/>
                        </a:rPr>
                        <a:t>INT</a:t>
                      </a:r>
                      <a:endParaRPr lang="es-CO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 b="1"/>
                        <a:t>SÍ</a:t>
                      </a:r>
                      <a:endParaRPr lang="es-CO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200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dirty="0"/>
                        <a:t>Es parte de la PK compuesta, pero por sí solo tiene poca utilidad de búsqueda.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5554611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FE54FD78-2D1D-4595-58A9-0782DD7FCCEA}"/>
              </a:ext>
            </a:extLst>
          </p:cNvPr>
          <p:cNvSpPr txBox="1"/>
          <p:nvPr/>
        </p:nvSpPr>
        <p:spPr>
          <a:xfrm>
            <a:off x="1530578" y="916185"/>
            <a:ext cx="58634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Muestra</a:t>
            </a:r>
            <a:endParaRPr lang="es-ES" sz="4000" dirty="0"/>
          </a:p>
        </p:txBody>
      </p:sp>
    </p:spTree>
    <p:extLst>
      <p:ext uri="{BB962C8B-B14F-4D97-AF65-F5344CB8AC3E}">
        <p14:creationId xmlns:p14="http://schemas.microsoft.com/office/powerpoint/2010/main" val="36957639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761CE-C638-6CD1-DA65-04C04F7DF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D5A95AF-8336-8909-472B-AF1A68985C5E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BCEB714-60C6-7A33-E435-A4FBC323228C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E3C70E6F-A3A2-31FC-3D66-6564F52387EC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B16C1ECC-FBB2-0C70-E900-2AE108D2BEBF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870806F7-1DF4-F8A7-140D-1E2C277D947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268B4A4-D69F-AA10-5988-F32473308C54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749E62F-E81D-6001-782D-9D2DBF29CB6E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1B45A7F3-5602-854F-9C4B-D1C109A130E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E4DF7B5B-491D-D3AC-58A9-BBDBC32ED6F9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6DD84319-279D-91CE-C667-CFAEC00613F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2E18296-D80C-37CB-3961-306BA02AEB32}"/>
              </a:ext>
            </a:extLst>
          </p:cNvPr>
          <p:cNvSpPr txBox="1"/>
          <p:nvPr/>
        </p:nvSpPr>
        <p:spPr>
          <a:xfrm>
            <a:off x="1610903" y="2029520"/>
            <a:ext cx="6445577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3200" b="1" dirty="0"/>
              <a:t>El Corazón Transaccional (</a:t>
            </a:r>
            <a:r>
              <a:rPr lang="es-ES" sz="3200" b="1" dirty="0" err="1"/>
              <a:t>Order</a:t>
            </a:r>
            <a:r>
              <a:rPr lang="es-ES" sz="3200" b="1" dirty="0"/>
              <a:t> </a:t>
            </a:r>
            <a:r>
              <a:rPr lang="es-ES" sz="3200" b="1" dirty="0" err="1"/>
              <a:t>Items</a:t>
            </a:r>
            <a:r>
              <a:rPr lang="es-ES" sz="3200" b="1" dirty="0"/>
              <a:t>)</a:t>
            </a:r>
          </a:p>
          <a:p>
            <a:pPr>
              <a:buNone/>
            </a:pPr>
            <a:r>
              <a:rPr lang="es-ES" sz="3200" b="1" dirty="0"/>
              <a:t>Análisis de </a:t>
            </a:r>
            <a:r>
              <a:rPr lang="es-ES" sz="3200" b="1" dirty="0">
                <a:latin typeface="Courier New" panose="02070309020205020404" pitchFamily="49" charset="0"/>
              </a:rPr>
              <a:t>olist_order_items_dataset.csv</a:t>
            </a:r>
            <a:endParaRPr lang="es-ES" sz="3200" dirty="0"/>
          </a:p>
          <a:p>
            <a:pPr>
              <a:buNone/>
            </a:pPr>
            <a:r>
              <a:rPr lang="es-ES" sz="3200" dirty="0"/>
              <a:t>Aquí hay una lección crítica de diseño: </a:t>
            </a:r>
            <a:r>
              <a:rPr lang="es-ES" sz="3200" b="1" dirty="0"/>
              <a:t>La Llave Compuesta</a:t>
            </a:r>
            <a:r>
              <a:rPr lang="es-ES" sz="3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/>
              <a:t>No hay un "ID único de ítem" global.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/>
              <a:t>La llave es la combinación de </a:t>
            </a:r>
            <a:r>
              <a:rPr lang="es-ES" sz="3200" dirty="0" err="1">
                <a:latin typeface="Courier New" panose="02070309020205020404" pitchFamily="49" charset="0"/>
              </a:rPr>
              <a:t>order_id</a:t>
            </a:r>
            <a:r>
              <a:rPr lang="es-ES" sz="3200" dirty="0"/>
              <a:t> + </a:t>
            </a:r>
            <a:r>
              <a:rPr lang="es-ES" sz="3200" dirty="0" err="1">
                <a:latin typeface="Courier New" panose="02070309020205020404" pitchFamily="49" charset="0"/>
              </a:rPr>
              <a:t>order_item_id</a:t>
            </a:r>
            <a:r>
              <a:rPr lang="es-ES" sz="3200" dirty="0"/>
              <a:t> (1, 2, 3...).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9B87A72-3DDF-080C-B772-1F294959A4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8422" y="2271860"/>
            <a:ext cx="8947113" cy="551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8766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9DC32-6EA5-4724-26C8-9B38A0BFB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E7041E9-73DE-62A5-32B5-2D237296FB32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B7E025A-C234-C187-4DC5-BA0BA14A3564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FE674308-DA3F-C818-4F4F-F7F058E863CA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43A5F6F8-8499-2F0D-75FA-F5444D02170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37B5EDFA-B11F-ACAF-51C0-EA850D6483B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E408313-DFCD-7858-8285-98D06A82015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FD9EBE9-90C4-E9B4-05DB-E725EF8682D7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8ABF8983-8E80-4C1A-1E5E-745206041616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9F6C4841-CC09-E0B9-36CC-133888F999BD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7A8C2F05-6C67-2DCA-F1AF-FAED203801E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BFBB4E0-D130-EEDF-E0A8-428A17CA7757}"/>
              </a:ext>
            </a:extLst>
          </p:cNvPr>
          <p:cNvSpPr txBox="1"/>
          <p:nvPr/>
        </p:nvSpPr>
        <p:spPr>
          <a:xfrm>
            <a:off x="3095429" y="968983"/>
            <a:ext cx="1303383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800" b="1" dirty="0"/>
              <a:t>Productos y Vendedores (Catálogos)</a:t>
            </a:r>
          </a:p>
          <a:p>
            <a:pPr>
              <a:buNone/>
            </a:pPr>
            <a:endParaRPr lang="es-ES" sz="2800" b="1" dirty="0"/>
          </a:p>
          <a:p>
            <a:pPr>
              <a:buNone/>
            </a:pPr>
            <a:r>
              <a:rPr lang="es-ES" sz="2800" b="1" dirty="0"/>
              <a:t>Análisis de </a:t>
            </a:r>
            <a:r>
              <a:rPr lang="es-ES" sz="2800" b="1" dirty="0" err="1">
                <a:latin typeface="Courier New" panose="02070309020205020404" pitchFamily="49" charset="0"/>
              </a:rPr>
              <a:t>products</a:t>
            </a:r>
            <a:r>
              <a:rPr lang="es-ES" sz="2800" b="1" dirty="0"/>
              <a:t> y </a:t>
            </a:r>
            <a:r>
              <a:rPr lang="es-ES" sz="2800" b="1" dirty="0" err="1">
                <a:latin typeface="Courier New" panose="02070309020205020404" pitchFamily="49" charset="0"/>
              </a:rPr>
              <a:t>sellers</a:t>
            </a:r>
            <a:endParaRPr lang="es-ES" sz="2800" dirty="0"/>
          </a:p>
          <a:p>
            <a:pPr>
              <a:buNone/>
            </a:pPr>
            <a:r>
              <a:rPr lang="es-ES" sz="2800" dirty="0"/>
              <a:t>Estas son tablas maestras. Su función es guardar las características estáticas.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BFB28C8E-6E01-21E8-7FD3-31F9064C9A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7348" y="3287118"/>
            <a:ext cx="10888595" cy="618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5019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5A6A7-AE82-0D03-4A4A-73BB5F6F6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22391A1-D7CE-6E73-9E67-BBBD9CF56826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45E793D-0188-5C8C-C64E-5D1C791452D4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3A2D4A00-426F-BE67-5874-94851E346E78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A85679C4-953D-0533-3D7E-CB4B16CB3BE0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45AC1C83-91B9-3D50-1468-A981D883863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64B8C95-7046-E825-B668-D94A36348821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001AA3B-D36C-C864-FBF1-CBDAF99154F5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BF2B61A6-6791-F8C3-9CFC-84FAE5928AE4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FA971B63-8177-7618-E33C-B0AC28800448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583BA2EE-CDF0-1BC2-BFBC-05BD839EDC2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2FEF8BD-7B82-247D-B7B6-9717D83CD355}"/>
              </a:ext>
            </a:extLst>
          </p:cNvPr>
          <p:cNvSpPr txBox="1"/>
          <p:nvPr/>
        </p:nvSpPr>
        <p:spPr>
          <a:xfrm>
            <a:off x="4046456" y="763222"/>
            <a:ext cx="91864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Pagos y Reseñas (Detalles Finales)</a:t>
            </a:r>
          </a:p>
          <a:p>
            <a:pPr>
              <a:buNone/>
            </a:pPr>
            <a:endParaRPr lang="es-ES" b="1" dirty="0"/>
          </a:p>
          <a:p>
            <a:pPr>
              <a:buNone/>
            </a:pPr>
            <a:r>
              <a:rPr lang="es-ES" b="1" dirty="0"/>
              <a:t>La importancia de la Integridad</a:t>
            </a:r>
          </a:p>
          <a:p>
            <a:pPr>
              <a:buNone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Pagos:</a:t>
            </a:r>
            <a:r>
              <a:rPr lang="es-ES" dirty="0"/>
              <a:t> Usamos una llave compuesta o secuencial porque un pago puede dividirse.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Reseñas:</a:t>
            </a:r>
            <a:r>
              <a:rPr lang="es-ES" dirty="0"/>
              <a:t> Texto libre (</a:t>
            </a:r>
            <a:r>
              <a:rPr lang="es-ES" dirty="0">
                <a:latin typeface="Courier New" panose="02070309020205020404" pitchFamily="49" charset="0"/>
              </a:rPr>
              <a:t>TEXT</a:t>
            </a:r>
            <a:r>
              <a:rPr lang="es-ES" dirty="0"/>
              <a:t> o </a:t>
            </a:r>
            <a:r>
              <a:rPr lang="es-ES" dirty="0">
                <a:latin typeface="Courier New" panose="02070309020205020404" pitchFamily="49" charset="0"/>
              </a:rPr>
              <a:t>VARCHAR</a:t>
            </a:r>
            <a:r>
              <a:rPr lang="es-ES" dirty="0"/>
              <a:t> largo).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536C118-59F2-12A7-59A9-442B3077D6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2834" y="3545056"/>
            <a:ext cx="13355763" cy="410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1442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27CAD-F95E-CC97-C429-D537DBB95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D6F2185-2651-143E-A444-3F50111FAB26}"/>
              </a:ext>
            </a:extLst>
          </p:cNvPr>
          <p:cNvSpPr/>
          <p:nvPr/>
        </p:nvSpPr>
        <p:spPr>
          <a:xfrm>
            <a:off x="16526945" y="207818"/>
            <a:ext cx="1388509" cy="555404"/>
          </a:xfrm>
          <a:custGeom>
            <a:avLst/>
            <a:gdLst/>
            <a:ahLst/>
            <a:cxnLst/>
            <a:rect l="l" t="t" r="r" b="b"/>
            <a:pathLst>
              <a:path w="1388509" h="555404">
                <a:moveTo>
                  <a:pt x="0" y="0"/>
                </a:moveTo>
                <a:lnTo>
                  <a:pt x="1388510" y="0"/>
                </a:lnTo>
                <a:lnTo>
                  <a:pt x="1388510" y="555404"/>
                </a:lnTo>
                <a:lnTo>
                  <a:pt x="0" y="55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63663D1-AC95-7B54-B430-DA67578E98BD}"/>
              </a:ext>
            </a:extLst>
          </p:cNvPr>
          <p:cNvGrpSpPr/>
          <p:nvPr/>
        </p:nvGrpSpPr>
        <p:grpSpPr>
          <a:xfrm>
            <a:off x="-76200" y="0"/>
            <a:ext cx="449045" cy="10287000"/>
            <a:chOff x="0" y="0"/>
            <a:chExt cx="598727" cy="1371600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C58B6C39-BBEB-A228-4A11-C80854305DDF}"/>
                </a:ext>
              </a:extLst>
            </p:cNvPr>
            <p:cNvGrpSpPr/>
            <p:nvPr/>
          </p:nvGrpSpPr>
          <p:grpSpPr>
            <a:xfrm>
              <a:off x="77114" y="0"/>
              <a:ext cx="444500" cy="13716000"/>
              <a:chOff x="0" y="0"/>
              <a:chExt cx="87802" cy="2709333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029F4927-1DF2-6906-99CC-38995E44420D}"/>
                  </a:ext>
                </a:extLst>
              </p:cNvPr>
              <p:cNvSpPr/>
              <p:nvPr/>
            </p:nvSpPr>
            <p:spPr>
              <a:xfrm>
                <a:off x="0" y="0"/>
                <a:ext cx="87802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2709333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B1374">
                      <a:alpha val="100000"/>
                    </a:srgbClr>
                  </a:gs>
                  <a:gs pos="33333">
                    <a:srgbClr val="700A89">
                      <a:alpha val="100000"/>
                    </a:srgbClr>
                  </a:gs>
                  <a:gs pos="66667">
                    <a:srgbClr val="C20052">
                      <a:alpha val="100000"/>
                    </a:srgbClr>
                  </a:gs>
                  <a:gs pos="100000">
                    <a:srgbClr val="FF0055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730C126F-89E4-0A70-878C-5D339B2079F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7802" cy="2747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40B576D-1FD0-46E6-7145-63B7D7B458B5}"/>
                </a:ext>
              </a:extLst>
            </p:cNvPr>
            <p:cNvSpPr/>
            <p:nvPr/>
          </p:nvSpPr>
          <p:spPr>
            <a:xfrm>
              <a:off x="22810" y="1020609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56985DF-343D-6706-9A65-53A1415DBF98}"/>
                </a:ext>
              </a:extLst>
            </p:cNvPr>
            <p:cNvSpPr/>
            <p:nvPr/>
          </p:nvSpPr>
          <p:spPr>
            <a:xfrm rot="-10800000">
              <a:off x="22810" y="102655"/>
              <a:ext cx="553108" cy="542737"/>
            </a:xfrm>
            <a:custGeom>
              <a:avLst/>
              <a:gdLst/>
              <a:ahLst/>
              <a:cxnLst/>
              <a:rect l="l" t="t" r="r" b="b"/>
              <a:pathLst>
                <a:path w="553108" h="542737">
                  <a:moveTo>
                    <a:pt x="0" y="0"/>
                  </a:moveTo>
                  <a:lnTo>
                    <a:pt x="553108" y="0"/>
                  </a:lnTo>
                  <a:lnTo>
                    <a:pt x="553108" y="542737"/>
                  </a:lnTo>
                  <a:lnTo>
                    <a:pt x="0" y="542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927B62D3-0C5E-9F77-5CDE-87BAAE2630C3}"/>
                </a:ext>
              </a:extLst>
            </p:cNvPr>
            <p:cNvGrpSpPr/>
            <p:nvPr/>
          </p:nvGrpSpPr>
          <p:grpSpPr>
            <a:xfrm rot="1460314">
              <a:off x="1518" y="765089"/>
              <a:ext cx="595692" cy="135824"/>
              <a:chOff x="0" y="0"/>
              <a:chExt cx="1355149" cy="3089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12C8DE0B-7820-703C-8610-8449C180AE39}"/>
                  </a:ext>
                </a:extLst>
              </p:cNvPr>
              <p:cNvSpPr/>
              <p:nvPr/>
            </p:nvSpPr>
            <p:spPr>
              <a:xfrm>
                <a:off x="0" y="0"/>
                <a:ext cx="1355149" cy="308989"/>
              </a:xfrm>
              <a:custGeom>
                <a:avLst/>
                <a:gdLst/>
                <a:ahLst/>
                <a:cxnLst/>
                <a:rect l="l" t="t" r="r" b="b"/>
                <a:pathLst>
                  <a:path w="1355149" h="308989">
                    <a:moveTo>
                      <a:pt x="154494" y="0"/>
                    </a:moveTo>
                    <a:lnTo>
                      <a:pt x="1200655" y="0"/>
                    </a:lnTo>
                    <a:cubicBezTo>
                      <a:pt x="1241629" y="0"/>
                      <a:pt x="1280926" y="16277"/>
                      <a:pt x="1309899" y="45250"/>
                    </a:cubicBezTo>
                    <a:cubicBezTo>
                      <a:pt x="1338872" y="74224"/>
                      <a:pt x="1355149" y="113520"/>
                      <a:pt x="1355149" y="154494"/>
                    </a:cubicBezTo>
                    <a:lnTo>
                      <a:pt x="1355149" y="154494"/>
                    </a:lnTo>
                    <a:cubicBezTo>
                      <a:pt x="1355149" y="239819"/>
                      <a:pt x="1285980" y="308989"/>
                      <a:pt x="1200655" y="308989"/>
                    </a:cubicBezTo>
                    <a:lnTo>
                      <a:pt x="154494" y="308989"/>
                    </a:lnTo>
                    <a:cubicBezTo>
                      <a:pt x="113520" y="308989"/>
                      <a:pt x="74224" y="292712"/>
                      <a:pt x="45250" y="263738"/>
                    </a:cubicBezTo>
                    <a:cubicBezTo>
                      <a:pt x="16277" y="234765"/>
                      <a:pt x="0" y="195469"/>
                      <a:pt x="0" y="154494"/>
                    </a:cubicBezTo>
                    <a:lnTo>
                      <a:pt x="0" y="154494"/>
                    </a:lnTo>
                    <a:cubicBezTo>
                      <a:pt x="0" y="113520"/>
                      <a:pt x="16277" y="74224"/>
                      <a:pt x="45250" y="45250"/>
                    </a:cubicBezTo>
                    <a:cubicBezTo>
                      <a:pt x="74224" y="16277"/>
                      <a:pt x="113520" y="0"/>
                      <a:pt x="1544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8C954F68-7F02-15F9-5BAD-104E543DC15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355149" cy="3470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31ADD70-B7B2-92C8-3A53-74FBB2F9CCE2}"/>
              </a:ext>
            </a:extLst>
          </p:cNvPr>
          <p:cNvSpPr txBox="1"/>
          <p:nvPr/>
        </p:nvSpPr>
        <p:spPr>
          <a:xfrm>
            <a:off x="2754983" y="510790"/>
            <a:ext cx="91864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000" b="1" dirty="0"/>
              <a:t>El Modelo Físico Completo (ERD Final)</a:t>
            </a:r>
          </a:p>
          <a:p>
            <a:pPr>
              <a:buNone/>
            </a:pPr>
            <a:r>
              <a:rPr lang="es-ES" sz="2000" b="1" dirty="0"/>
              <a:t>La "Blue </a:t>
            </a:r>
            <a:r>
              <a:rPr lang="es-ES" sz="2000" b="1" dirty="0" err="1"/>
              <a:t>Print</a:t>
            </a:r>
            <a:r>
              <a:rPr lang="es-ES" sz="2000" b="1" dirty="0"/>
              <a:t>" para el DBA</a:t>
            </a:r>
            <a:endParaRPr lang="es-ES" sz="2000" dirty="0"/>
          </a:p>
          <a:p>
            <a:pPr>
              <a:buNone/>
            </a:pPr>
            <a:r>
              <a:rPr lang="es-ES" sz="2000" dirty="0"/>
              <a:t>Este diagrama contiene toda la información necesaria para escribir el comando </a:t>
            </a:r>
            <a:r>
              <a:rPr lang="es-ES" sz="2000" dirty="0">
                <a:latin typeface="Courier New" panose="02070309020205020404" pitchFamily="49" charset="0"/>
              </a:rPr>
              <a:t>CREATE TABLE</a:t>
            </a:r>
            <a:r>
              <a:rPr lang="es-ES" sz="2000" dirty="0"/>
              <a:t> en SQL.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BDC44B7-7B9E-9AA1-23BE-984A90E2C7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423" y="2180000"/>
            <a:ext cx="10155067" cy="698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8832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8"/>
          <p:cNvGrpSpPr/>
          <p:nvPr/>
        </p:nvGrpSpPr>
        <p:grpSpPr>
          <a:xfrm rot="10800000">
            <a:off x="10392303" y="0"/>
            <a:ext cx="7895697" cy="10431661"/>
            <a:chOff x="0" y="-38100"/>
            <a:chExt cx="2079525" cy="2747433"/>
          </a:xfrm>
        </p:grpSpPr>
        <p:sp>
          <p:nvSpPr>
            <p:cNvPr id="362" name="Google Shape;362;p8"/>
            <p:cNvSpPr/>
            <p:nvPr/>
          </p:nvSpPr>
          <p:spPr>
            <a:xfrm>
              <a:off x="0" y="0"/>
              <a:ext cx="2079525" cy="2709333"/>
            </a:xfrm>
            <a:custGeom>
              <a:avLst/>
              <a:gdLst/>
              <a:ahLst/>
              <a:cxnLst/>
              <a:rect l="l" t="t" r="r" b="b"/>
              <a:pathLst>
                <a:path w="2079525" h="2709333" extrusionOk="0">
                  <a:moveTo>
                    <a:pt x="0" y="0"/>
                  </a:moveTo>
                  <a:lnTo>
                    <a:pt x="2079525" y="0"/>
                  </a:lnTo>
                  <a:lnTo>
                    <a:pt x="2079525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8"/>
            <p:cNvSpPr txBox="1"/>
            <p:nvPr/>
          </p:nvSpPr>
          <p:spPr>
            <a:xfrm>
              <a:off x="0" y="-38100"/>
              <a:ext cx="2079525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4" name="Google Shape;364;p8"/>
          <p:cNvSpPr/>
          <p:nvPr/>
        </p:nvSpPr>
        <p:spPr>
          <a:xfrm>
            <a:off x="9562641" y="4953536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 extrusionOk="0">
                <a:moveTo>
                  <a:pt x="0" y="0"/>
                </a:moveTo>
                <a:lnTo>
                  <a:pt x="4777511" y="0"/>
                </a:lnTo>
                <a:lnTo>
                  <a:pt x="4777511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"/>
          <p:cNvSpPr/>
          <p:nvPr/>
        </p:nvSpPr>
        <p:spPr>
          <a:xfrm rot="10800000">
            <a:off x="14340152" y="455568"/>
            <a:ext cx="4777510" cy="4687932"/>
          </a:xfrm>
          <a:custGeom>
            <a:avLst/>
            <a:gdLst/>
            <a:ahLst/>
            <a:cxnLst/>
            <a:rect l="l" t="t" r="r" b="b"/>
            <a:pathLst>
              <a:path w="4777510" h="4687932" extrusionOk="0">
                <a:moveTo>
                  <a:pt x="0" y="0"/>
                </a:moveTo>
                <a:lnTo>
                  <a:pt x="4777510" y="0"/>
                </a:lnTo>
                <a:lnTo>
                  <a:pt x="4777510" y="4687932"/>
                </a:lnTo>
                <a:lnTo>
                  <a:pt x="0" y="4687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6" name="Google Shape;366;p8"/>
          <p:cNvGrpSpPr/>
          <p:nvPr/>
        </p:nvGrpSpPr>
        <p:grpSpPr>
          <a:xfrm rot="1460314">
            <a:off x="11030759" y="4449732"/>
            <a:ext cx="7356554" cy="1393786"/>
            <a:chOff x="0" y="-38100"/>
            <a:chExt cx="1937529" cy="367088"/>
          </a:xfrm>
        </p:grpSpPr>
        <p:sp>
          <p:nvSpPr>
            <p:cNvPr id="367" name="Google Shape;367;p8"/>
            <p:cNvSpPr/>
            <p:nvPr/>
          </p:nvSpPr>
          <p:spPr>
            <a:xfrm>
              <a:off x="0" y="0"/>
              <a:ext cx="1937528" cy="328988"/>
            </a:xfrm>
            <a:custGeom>
              <a:avLst/>
              <a:gdLst/>
              <a:ahLst/>
              <a:cxnLst/>
              <a:rect l="l" t="t" r="r" b="b"/>
              <a:pathLst>
                <a:path w="1937528" h="328988" extrusionOk="0">
                  <a:moveTo>
                    <a:pt x="105238" y="0"/>
                  </a:moveTo>
                  <a:lnTo>
                    <a:pt x="1832290" y="0"/>
                  </a:lnTo>
                  <a:cubicBezTo>
                    <a:pt x="1860201" y="0"/>
                    <a:pt x="1886969" y="11088"/>
                    <a:pt x="1906705" y="30824"/>
                  </a:cubicBezTo>
                  <a:cubicBezTo>
                    <a:pt x="1926441" y="50560"/>
                    <a:pt x="1937528" y="77327"/>
                    <a:pt x="1937528" y="105238"/>
                  </a:cubicBezTo>
                  <a:lnTo>
                    <a:pt x="1937528" y="223749"/>
                  </a:lnTo>
                  <a:cubicBezTo>
                    <a:pt x="1937528" y="281871"/>
                    <a:pt x="1890412" y="328988"/>
                    <a:pt x="1832290" y="328988"/>
                  </a:cubicBezTo>
                  <a:lnTo>
                    <a:pt x="105238" y="328988"/>
                  </a:lnTo>
                  <a:cubicBezTo>
                    <a:pt x="77327" y="328988"/>
                    <a:pt x="50560" y="317900"/>
                    <a:pt x="30824" y="298164"/>
                  </a:cubicBezTo>
                  <a:cubicBezTo>
                    <a:pt x="11088" y="278428"/>
                    <a:pt x="0" y="251660"/>
                    <a:pt x="0" y="223749"/>
                  </a:cubicBezTo>
                  <a:lnTo>
                    <a:pt x="0" y="105238"/>
                  </a:lnTo>
                  <a:cubicBezTo>
                    <a:pt x="0" y="47117"/>
                    <a:pt x="47117" y="0"/>
                    <a:pt x="1052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8"/>
            <p:cNvSpPr txBox="1"/>
            <p:nvPr/>
          </p:nvSpPr>
          <p:spPr>
            <a:xfrm>
              <a:off x="0" y="-38100"/>
              <a:ext cx="1937529" cy="3670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8"/>
          <p:cNvGrpSpPr/>
          <p:nvPr/>
        </p:nvGrpSpPr>
        <p:grpSpPr>
          <a:xfrm>
            <a:off x="2068637" y="2993049"/>
            <a:ext cx="6434234" cy="2940731"/>
            <a:chOff x="0" y="-560842"/>
            <a:chExt cx="8578979" cy="3920975"/>
          </a:xfrm>
        </p:grpSpPr>
        <p:grpSp>
          <p:nvGrpSpPr>
            <p:cNvPr id="370" name="Google Shape;370;p8"/>
            <p:cNvGrpSpPr/>
            <p:nvPr/>
          </p:nvGrpSpPr>
          <p:grpSpPr>
            <a:xfrm>
              <a:off x="0" y="-560842"/>
              <a:ext cx="8578979" cy="3920975"/>
              <a:chOff x="0" y="-38100"/>
              <a:chExt cx="582801" cy="266366"/>
            </a:xfrm>
          </p:grpSpPr>
          <p:sp>
            <p:nvSpPr>
              <p:cNvPr id="371" name="Google Shape;371;p8"/>
              <p:cNvSpPr/>
              <p:nvPr/>
            </p:nvSpPr>
            <p:spPr>
              <a:xfrm>
                <a:off x="0" y="0"/>
                <a:ext cx="582801" cy="228266"/>
              </a:xfrm>
              <a:custGeom>
                <a:avLst/>
                <a:gdLst/>
                <a:ahLst/>
                <a:cxnLst/>
                <a:rect l="l" t="t" r="r" b="b"/>
                <a:pathLst>
                  <a:path w="582801" h="228266" extrusionOk="0">
                    <a:moveTo>
                      <a:pt x="87467" y="0"/>
                    </a:moveTo>
                    <a:lnTo>
                      <a:pt x="495335" y="0"/>
                    </a:lnTo>
                    <a:cubicBezTo>
                      <a:pt x="543641" y="0"/>
                      <a:pt x="582801" y="39160"/>
                      <a:pt x="582801" y="87467"/>
                    </a:cubicBezTo>
                    <a:lnTo>
                      <a:pt x="582801" y="140800"/>
                    </a:lnTo>
                    <a:cubicBezTo>
                      <a:pt x="582801" y="189106"/>
                      <a:pt x="543641" y="228266"/>
                      <a:pt x="495335" y="228266"/>
                    </a:cubicBezTo>
                    <a:lnTo>
                      <a:pt x="87467" y="228266"/>
                    </a:lnTo>
                    <a:cubicBezTo>
                      <a:pt x="39160" y="228266"/>
                      <a:pt x="0" y="189106"/>
                      <a:pt x="0" y="140800"/>
                    </a:cubicBezTo>
                    <a:lnTo>
                      <a:pt x="0" y="87467"/>
                    </a:lnTo>
                    <a:cubicBezTo>
                      <a:pt x="0" y="39160"/>
                      <a:pt x="39160" y="0"/>
                      <a:pt x="874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 cmpd="sng">
                <a:solidFill>
                  <a:srgbClr val="6B137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8"/>
              <p:cNvSpPr txBox="1"/>
              <p:nvPr/>
            </p:nvSpPr>
            <p:spPr>
              <a:xfrm>
                <a:off x="0" y="-38100"/>
                <a:ext cx="582801" cy="266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3" name="Google Shape;373;p8"/>
            <p:cNvSpPr txBox="1"/>
            <p:nvPr/>
          </p:nvSpPr>
          <p:spPr>
            <a:xfrm>
              <a:off x="355297" y="630411"/>
              <a:ext cx="7868384" cy="2659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2400" dirty="0">
                  <a:solidFill>
                    <a:srgbClr val="1F1F1D"/>
                  </a:solidFill>
                  <a:latin typeface="Poppins"/>
                  <a:ea typeface="Poppins"/>
                  <a:cs typeface="Poppins"/>
                  <a:sym typeface="Poppins"/>
                </a:rPr>
                <a:t>Juan Esteban Mejía Velásquez</a:t>
              </a:r>
              <a:endParaRPr dirty="0"/>
            </a:p>
            <a:p>
              <a:pPr marL="0" marR="0" lvl="0" indent="0" algn="ctr" rtl="0">
                <a:lnSpc>
                  <a:spcPct val="21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2000" dirty="0">
                  <a:solidFill>
                    <a:srgbClr val="1F1F1D"/>
                  </a:solidFill>
                  <a:latin typeface="Poppins"/>
                  <a:ea typeface="Poppins"/>
                  <a:cs typeface="Poppins"/>
                  <a:sym typeface="Poppins"/>
                </a:rPr>
                <a:t>Docente</a:t>
              </a:r>
              <a:endParaRPr sz="2000" dirty="0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2400" u="sng" dirty="0">
                  <a:solidFill>
                    <a:srgbClr val="1F1F1D"/>
                  </a:solidFill>
                  <a:latin typeface="Poppins"/>
                  <a:ea typeface="Poppins"/>
                  <a:cs typeface="Poppins"/>
                  <a:sym typeface="Poppins"/>
                </a:rPr>
                <a:t>Correo</a:t>
              </a:r>
              <a:endParaRPr dirty="0"/>
            </a:p>
          </p:txBody>
        </p:sp>
      </p:grpSp>
      <p:sp>
        <p:nvSpPr>
          <p:cNvPr id="374" name="Google Shape;374;p8">
            <a:hlinkClick r:id="rId4"/>
          </p:cNvPr>
          <p:cNvSpPr/>
          <p:nvPr/>
        </p:nvSpPr>
        <p:spPr>
          <a:xfrm>
            <a:off x="2068637" y="6536925"/>
            <a:ext cx="360000" cy="332550"/>
          </a:xfrm>
          <a:custGeom>
            <a:avLst/>
            <a:gdLst/>
            <a:ahLst/>
            <a:cxnLst/>
            <a:rect l="l" t="t" r="r" b="b"/>
            <a:pathLst>
              <a:path w="360000" h="332550" extrusionOk="0">
                <a:moveTo>
                  <a:pt x="0" y="0"/>
                </a:moveTo>
                <a:lnTo>
                  <a:pt x="360000" y="0"/>
                </a:lnTo>
                <a:lnTo>
                  <a:pt x="360000" y="332550"/>
                </a:lnTo>
                <a:lnTo>
                  <a:pt x="0" y="332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>
            <a:hlinkClick r:id="rId6"/>
          </p:cNvPr>
          <p:cNvSpPr/>
          <p:nvPr/>
        </p:nvSpPr>
        <p:spPr>
          <a:xfrm>
            <a:off x="5758126" y="6535688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60000" h="360000" extrusionOk="0">
                <a:moveTo>
                  <a:pt x="0" y="0"/>
                </a:moveTo>
                <a:lnTo>
                  <a:pt x="360000" y="0"/>
                </a:lnTo>
                <a:lnTo>
                  <a:pt x="360000" y="360000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8">
            <a:hlinkClick r:id="rId8"/>
          </p:cNvPr>
          <p:cNvSpPr/>
          <p:nvPr/>
        </p:nvSpPr>
        <p:spPr>
          <a:xfrm>
            <a:off x="5775261" y="7145700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60000" h="360000" extrusionOk="0">
                <a:moveTo>
                  <a:pt x="0" y="0"/>
                </a:moveTo>
                <a:lnTo>
                  <a:pt x="360000" y="0"/>
                </a:lnTo>
                <a:lnTo>
                  <a:pt x="360000" y="360000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2096214" y="7144126"/>
            <a:ext cx="332423" cy="332422"/>
          </a:xfrm>
          <a:custGeom>
            <a:avLst/>
            <a:gdLst/>
            <a:ahLst/>
            <a:cxnLst/>
            <a:rect l="l" t="t" r="r" b="b"/>
            <a:pathLst>
              <a:path w="332423" h="332422" extrusionOk="0">
                <a:moveTo>
                  <a:pt x="0" y="0"/>
                </a:moveTo>
                <a:lnTo>
                  <a:pt x="332423" y="0"/>
                </a:lnTo>
                <a:lnTo>
                  <a:pt x="332423" y="332423"/>
                </a:lnTo>
                <a:lnTo>
                  <a:pt x="0" y="332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 txBox="1"/>
          <p:nvPr/>
        </p:nvSpPr>
        <p:spPr>
          <a:xfrm>
            <a:off x="6214196" y="7136825"/>
            <a:ext cx="1721048" cy="33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u="sng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www.enyoi.co</a:t>
            </a:r>
            <a:endParaRPr/>
          </a:p>
        </p:txBody>
      </p:sp>
      <p:sp>
        <p:nvSpPr>
          <p:cNvPr id="379" name="Google Shape;379;p8"/>
          <p:cNvSpPr txBox="1"/>
          <p:nvPr/>
        </p:nvSpPr>
        <p:spPr>
          <a:xfrm>
            <a:off x="6212929" y="6526813"/>
            <a:ext cx="1048048" cy="33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u="sng" dirty="0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enyoi.co</a:t>
            </a:r>
            <a:endParaRPr dirty="0"/>
          </a:p>
        </p:txBody>
      </p:sp>
      <p:sp>
        <p:nvSpPr>
          <p:cNvPr id="380" name="Google Shape;380;p8"/>
          <p:cNvSpPr txBox="1"/>
          <p:nvPr/>
        </p:nvSpPr>
        <p:spPr>
          <a:xfrm>
            <a:off x="2520238" y="6526813"/>
            <a:ext cx="246784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u="sng" dirty="0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+57 </a:t>
            </a:r>
            <a:r>
              <a:rPr lang="es-MX" sz="2000" u="sng" dirty="0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</a:rPr>
              <a:t>301 673 6729</a:t>
            </a:r>
            <a:endParaRPr dirty="0"/>
          </a:p>
        </p:txBody>
      </p:sp>
      <p:sp>
        <p:nvSpPr>
          <p:cNvPr id="381" name="Google Shape;381;p8"/>
          <p:cNvSpPr txBox="1"/>
          <p:nvPr/>
        </p:nvSpPr>
        <p:spPr>
          <a:xfrm>
            <a:off x="2520164" y="7136825"/>
            <a:ext cx="1048048" cy="339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u="sng">
                <a:solidFill>
                  <a:srgbClr val="1F1F1D"/>
                </a:solidFill>
                <a:latin typeface="Poppins"/>
                <a:ea typeface="Poppins"/>
                <a:cs typeface="Poppins"/>
                <a:sym typeface="Poppins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enyoi.co</a:t>
            </a:r>
            <a:endParaRPr/>
          </a:p>
        </p:txBody>
      </p:sp>
      <p:grpSp>
        <p:nvGrpSpPr>
          <p:cNvPr id="382" name="Google Shape;382;p8"/>
          <p:cNvGrpSpPr/>
          <p:nvPr/>
        </p:nvGrpSpPr>
        <p:grpSpPr>
          <a:xfrm>
            <a:off x="2068637" y="6865719"/>
            <a:ext cx="2744745" cy="192288"/>
            <a:chOff x="0" y="-38100"/>
            <a:chExt cx="722896" cy="50643"/>
          </a:xfrm>
        </p:grpSpPr>
        <p:sp>
          <p:nvSpPr>
            <p:cNvPr id="383" name="Google Shape;383;p8"/>
            <p:cNvSpPr/>
            <p:nvPr/>
          </p:nvSpPr>
          <p:spPr>
            <a:xfrm>
              <a:off x="0" y="0"/>
              <a:ext cx="722896" cy="12543"/>
            </a:xfrm>
            <a:custGeom>
              <a:avLst/>
              <a:gdLst/>
              <a:ahLst/>
              <a:cxnLst/>
              <a:rect l="l" t="t" r="r" b="b"/>
              <a:pathLst>
                <a:path w="722896" h="12543" extrusionOk="0">
                  <a:moveTo>
                    <a:pt x="6272" y="0"/>
                  </a:moveTo>
                  <a:lnTo>
                    <a:pt x="716624" y="0"/>
                  </a:lnTo>
                  <a:cubicBezTo>
                    <a:pt x="718288" y="0"/>
                    <a:pt x="719883" y="661"/>
                    <a:pt x="721059" y="1837"/>
                  </a:cubicBezTo>
                  <a:cubicBezTo>
                    <a:pt x="722235" y="3013"/>
                    <a:pt x="722896" y="4608"/>
                    <a:pt x="722896" y="6272"/>
                  </a:cubicBezTo>
                  <a:lnTo>
                    <a:pt x="722896" y="6272"/>
                  </a:lnTo>
                  <a:cubicBezTo>
                    <a:pt x="722896" y="7935"/>
                    <a:pt x="722235" y="9530"/>
                    <a:pt x="721059" y="10706"/>
                  </a:cubicBezTo>
                  <a:cubicBezTo>
                    <a:pt x="719883" y="11882"/>
                    <a:pt x="718288" y="12543"/>
                    <a:pt x="716624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8"/>
            <p:cNvSpPr txBox="1"/>
            <p:nvPr/>
          </p:nvSpPr>
          <p:spPr>
            <a:xfrm>
              <a:off x="0" y="-38100"/>
              <a:ext cx="722896" cy="5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5" name="Google Shape;385;p8"/>
          <p:cNvGrpSpPr/>
          <p:nvPr/>
        </p:nvGrpSpPr>
        <p:grpSpPr>
          <a:xfrm>
            <a:off x="5758126" y="6865719"/>
            <a:ext cx="2744745" cy="192288"/>
            <a:chOff x="0" y="-38100"/>
            <a:chExt cx="722896" cy="50643"/>
          </a:xfrm>
        </p:grpSpPr>
        <p:sp>
          <p:nvSpPr>
            <p:cNvPr id="386" name="Google Shape;386;p8"/>
            <p:cNvSpPr/>
            <p:nvPr/>
          </p:nvSpPr>
          <p:spPr>
            <a:xfrm>
              <a:off x="0" y="0"/>
              <a:ext cx="722896" cy="12543"/>
            </a:xfrm>
            <a:custGeom>
              <a:avLst/>
              <a:gdLst/>
              <a:ahLst/>
              <a:cxnLst/>
              <a:rect l="l" t="t" r="r" b="b"/>
              <a:pathLst>
                <a:path w="722896" h="12543" extrusionOk="0">
                  <a:moveTo>
                    <a:pt x="6272" y="0"/>
                  </a:moveTo>
                  <a:lnTo>
                    <a:pt x="716624" y="0"/>
                  </a:lnTo>
                  <a:cubicBezTo>
                    <a:pt x="718288" y="0"/>
                    <a:pt x="719883" y="661"/>
                    <a:pt x="721059" y="1837"/>
                  </a:cubicBezTo>
                  <a:cubicBezTo>
                    <a:pt x="722235" y="3013"/>
                    <a:pt x="722896" y="4608"/>
                    <a:pt x="722896" y="6272"/>
                  </a:cubicBezTo>
                  <a:lnTo>
                    <a:pt x="722896" y="6272"/>
                  </a:lnTo>
                  <a:cubicBezTo>
                    <a:pt x="722896" y="7935"/>
                    <a:pt x="722235" y="9530"/>
                    <a:pt x="721059" y="10706"/>
                  </a:cubicBezTo>
                  <a:cubicBezTo>
                    <a:pt x="719883" y="11882"/>
                    <a:pt x="718288" y="12543"/>
                    <a:pt x="716624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>
              <a:gsLst>
                <a:gs pos="0">
                  <a:srgbClr val="6B1374"/>
                </a:gs>
                <a:gs pos="33333">
                  <a:srgbClr val="700A89"/>
                </a:gs>
                <a:gs pos="66667">
                  <a:srgbClr val="C20052"/>
                </a:gs>
                <a:gs pos="100000">
                  <a:srgbClr val="FF005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8"/>
            <p:cNvSpPr txBox="1"/>
            <p:nvPr/>
          </p:nvSpPr>
          <p:spPr>
            <a:xfrm>
              <a:off x="0" y="-38100"/>
              <a:ext cx="722896" cy="5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8" name="Google Shape;388;p8"/>
          <p:cNvPicPr preferRelativeResize="0"/>
          <p:nvPr/>
        </p:nvPicPr>
        <p:blipFill rotWithShape="1">
          <a:blip r:embed="rId12">
            <a:alphaModFix/>
          </a:blip>
          <a:srcRect l="53990" t="15859" r="8554" b="69322"/>
          <a:stretch/>
        </p:blipFill>
        <p:spPr>
          <a:xfrm>
            <a:off x="5001939" y="578151"/>
            <a:ext cx="4721448" cy="1048052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8"/>
          <p:cNvSpPr/>
          <p:nvPr/>
        </p:nvSpPr>
        <p:spPr>
          <a:xfrm>
            <a:off x="729281" y="455568"/>
            <a:ext cx="3004519" cy="1201808"/>
          </a:xfrm>
          <a:custGeom>
            <a:avLst/>
            <a:gdLst/>
            <a:ahLst/>
            <a:cxnLst/>
            <a:rect l="l" t="t" r="r" b="b"/>
            <a:pathLst>
              <a:path w="3457174" h="1382870" extrusionOk="0">
                <a:moveTo>
                  <a:pt x="0" y="0"/>
                </a:moveTo>
                <a:lnTo>
                  <a:pt x="3457174" y="0"/>
                </a:lnTo>
                <a:lnTo>
                  <a:pt x="3457174" y="1382870"/>
                </a:lnTo>
                <a:lnTo>
                  <a:pt x="0" y="13828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E0DDBAFD1725F409D01B56EA32EFDE3" ma:contentTypeVersion="7" ma:contentTypeDescription="Crear nuevo documento." ma:contentTypeScope="" ma:versionID="7dc7d2ffd02d580038770cdc54fb49b2">
  <xsd:schema xmlns:xsd="http://www.w3.org/2001/XMLSchema" xmlns:xs="http://www.w3.org/2001/XMLSchema" xmlns:p="http://schemas.microsoft.com/office/2006/metadata/properties" xmlns:ns2="6c275f7e-0654-4a6d-8904-2cca8e28e712" xmlns:ns3="cd0e0202-030e-462a-aa27-6a6a82479e70" targetNamespace="http://schemas.microsoft.com/office/2006/metadata/properties" ma:root="true" ma:fieldsID="6553f877db16f6ec9bb39e8e018c4235" ns2:_="" ns3:_="">
    <xsd:import namespace="6c275f7e-0654-4a6d-8904-2cca8e28e712"/>
    <xsd:import namespace="cd0e0202-030e-462a-aa27-6a6a82479e70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275f7e-0654-4a6d-8904-2cca8e28e712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Etiquetas de imagen" ma:readOnly="false" ma:fieldId="{5cf76f15-5ced-4ddc-b409-7134ff3c332f}" ma:taxonomyMulti="true" ma:sspId="39d08eb0-6654-4c6a-ad6e-6625fbda6b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0e0202-030e-462a-aa27-6a6a82479e70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821bf81b-0d50-4df5-8eec-576b1a7382f6}" ma:internalName="TaxCatchAll" ma:showField="CatchAllData" ma:web="cd0e0202-030e-462a-aa27-6a6a82479e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d0e0202-030e-462a-aa27-6a6a82479e70" xsi:nil="true"/>
    <lcf76f155ced4ddcb4097134ff3c332f xmlns="6c275f7e-0654-4a6d-8904-2cca8e28e712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2897171-D617-4035-84F5-B2C4786536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275f7e-0654-4a6d-8904-2cca8e28e712"/>
    <ds:schemaRef ds:uri="cd0e0202-030e-462a-aa27-6a6a82479e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B26D1D1-A15E-45AB-876A-271BF38AB980}">
  <ds:schemaRefs>
    <ds:schemaRef ds:uri="http://schemas.microsoft.com/office/2006/metadata/properties"/>
    <ds:schemaRef ds:uri="http://schemas.microsoft.com/office/infopath/2007/PartnerControls"/>
    <ds:schemaRef ds:uri="cd0e0202-030e-462a-aa27-6a6a82479e70"/>
    <ds:schemaRef ds:uri="6c275f7e-0654-4a6d-8904-2cca8e28e712"/>
  </ds:schemaRefs>
</ds:datastoreItem>
</file>

<file path=customXml/itemProps3.xml><?xml version="1.0" encoding="utf-8"?>
<ds:datastoreItem xmlns:ds="http://schemas.openxmlformats.org/officeDocument/2006/customXml" ds:itemID="{FE3D0385-A233-4172-ADB2-B697B7C4755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6328</TotalTime>
  <Words>3488</Words>
  <Application>Microsoft Office PowerPoint</Application>
  <PresentationFormat>Personalizado</PresentationFormat>
  <Paragraphs>494</Paragraphs>
  <Slides>45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51" baseType="lpstr">
      <vt:lpstr>Poppins</vt:lpstr>
      <vt:lpstr>Courier New</vt:lpstr>
      <vt:lpstr>Calibri</vt:lpstr>
      <vt:lpstr>Poppins 1 Bold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Administrador</dc:creator>
  <cp:lastModifiedBy>Juan Esteban Mejia Velasquez</cp:lastModifiedBy>
  <cp:revision>26</cp:revision>
  <dcterms:created xsi:type="dcterms:W3CDTF">2006-08-16T00:00:00Z</dcterms:created>
  <dcterms:modified xsi:type="dcterms:W3CDTF">2025-11-28T02:19:06Z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0x0101009E0DDBAFD1725F409D01B56EA32EFDE3</vt:lpwstr>
  </property>
  <property fmtid="{D5CDD505-2E9C-101B-9397-08002B2CF9AE}" pid="3" name="GUID">
    <vt:lpwstr>8ee56194-4f5f-4314-9a7c-fa71b263b52c</vt:lpwstr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SharedWithUsers">
    <vt:lpwstr/>
  </property>
  <property fmtid="{D5CDD505-2E9C-101B-9397-08002B2CF9AE}" pid="8" name="TriggerFlowInfo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MediaServiceImageTags">
    <vt:lpwstr/>
  </property>
</Properties>
</file>