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1"/>
  </p:notesMasterIdLst>
  <p:sldIdLst>
    <p:sldId id="256" r:id="rId5"/>
    <p:sldId id="331" r:id="rId6"/>
    <p:sldId id="8497" r:id="rId7"/>
    <p:sldId id="8504" r:id="rId8"/>
    <p:sldId id="8510" r:id="rId9"/>
    <p:sldId id="8516" r:id="rId10"/>
    <p:sldId id="8505" r:id="rId11"/>
    <p:sldId id="8506" r:id="rId12"/>
    <p:sldId id="8524" r:id="rId13"/>
    <p:sldId id="8525" r:id="rId14"/>
    <p:sldId id="8502" r:id="rId15"/>
    <p:sldId id="8518" r:id="rId16"/>
    <p:sldId id="8521" r:id="rId17"/>
    <p:sldId id="8523" r:id="rId18"/>
    <p:sldId id="8527" r:id="rId19"/>
    <p:sldId id="8508" r:id="rId20"/>
    <p:sldId id="8526" r:id="rId21"/>
    <p:sldId id="8513" r:id="rId22"/>
    <p:sldId id="8507" r:id="rId23"/>
    <p:sldId id="8511" r:id="rId24"/>
    <p:sldId id="8509" r:id="rId25"/>
    <p:sldId id="8512" r:id="rId26"/>
    <p:sldId id="8514" r:id="rId27"/>
    <p:sldId id="8515" r:id="rId28"/>
    <p:sldId id="8517" r:id="rId29"/>
    <p:sldId id="268" r:id="rId30"/>
  </p:sldIdLst>
  <p:sldSz cx="18288000" cy="10287000"/>
  <p:notesSz cx="6858000" cy="9144000"/>
  <p:embeddedFontLst>
    <p:embeddedFont>
      <p:font typeface="Poppins" panose="00000500000000000000" pitchFamily="2" charset="0"/>
      <p:regular r:id="rId32"/>
      <p:bold r:id="rId33"/>
      <p:italic r:id="rId34"/>
      <p:boldItalic r:id="rId35"/>
    </p:embeddedFont>
    <p:embeddedFont>
      <p:font typeface="Poppins 1 Bold"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iCuhGeosWqeH/wf4kyj2KadRk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8" autoAdjust="0"/>
    <p:restoredTop sz="94660"/>
  </p:normalViewPr>
  <p:slideViewPr>
    <p:cSldViewPr snapToGrid="0">
      <p:cViewPr varScale="1">
        <p:scale>
          <a:sx n="82" d="100"/>
          <a:sy n="82" d="100"/>
        </p:scale>
        <p:origin x="1296" y="8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93"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91"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95"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hyperlink" Target="http://www.enyoi.co" TargetMode="External"/><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instagram.com/enyoi.co/" TargetMode="External"/><Relationship Id="rId11" Type="http://schemas.openxmlformats.org/officeDocument/2006/relationships/hyperlink" Target="https://www.tiktok.com/@enyoi.co" TargetMode="External"/><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hyperlink" Target="https://wa.me/573206649412" TargetMode="External"/><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358764"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9" name="Google Shape;89;p1"/>
          <p:cNvGrpSpPr/>
          <p:nvPr/>
        </p:nvGrpSpPr>
        <p:grpSpPr>
          <a:xfrm rot="10800000">
            <a:off x="10392303" y="15240"/>
            <a:ext cx="7895697" cy="10431661"/>
            <a:chOff x="0" y="-38100"/>
            <a:chExt cx="2079525" cy="2747433"/>
          </a:xfrm>
        </p:grpSpPr>
        <p:sp>
          <p:nvSpPr>
            <p:cNvPr id="90" name="Google Shape;90;p1"/>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1"/>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92" name="Google Shape;92;p1"/>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4" name="Google Shape;94;p1"/>
          <p:cNvGrpSpPr/>
          <p:nvPr/>
        </p:nvGrpSpPr>
        <p:grpSpPr>
          <a:xfrm rot="1460314">
            <a:off x="10691684" y="4380706"/>
            <a:ext cx="7356554" cy="1393786"/>
            <a:chOff x="0" y="-38100"/>
            <a:chExt cx="1937529" cy="367088"/>
          </a:xfrm>
        </p:grpSpPr>
        <p:sp>
          <p:nvSpPr>
            <p:cNvPr id="95" name="Google Shape;95;p1"/>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
          <p:cNvGrpSpPr/>
          <p:nvPr/>
        </p:nvGrpSpPr>
        <p:grpSpPr>
          <a:xfrm rot="10800000">
            <a:off x="-536261" y="9574006"/>
            <a:ext cx="8704395" cy="279585"/>
            <a:chOff x="0" y="-38100"/>
            <a:chExt cx="2292515" cy="73635"/>
          </a:xfrm>
        </p:grpSpPr>
        <p:sp>
          <p:nvSpPr>
            <p:cNvPr id="98" name="Google Shape;98;p1"/>
            <p:cNvSpPr/>
            <p:nvPr/>
          </p:nvSpPr>
          <p:spPr>
            <a:xfrm>
              <a:off x="0" y="0"/>
              <a:ext cx="2292515" cy="35535"/>
            </a:xfrm>
            <a:custGeom>
              <a:avLst/>
              <a:gdLst/>
              <a:ahLst/>
              <a:cxnLst/>
              <a:rect l="l" t="t" r="r" b="b"/>
              <a:pathLst>
                <a:path w="2292515" h="35535" extrusionOk="0">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
            <p:cNvSpPr txBox="1"/>
            <p:nvPr/>
          </p:nvSpPr>
          <p:spPr>
            <a:xfrm>
              <a:off x="0" y="-38100"/>
              <a:ext cx="2292514" cy="7363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
          <p:cNvSpPr txBox="1"/>
          <p:nvPr/>
        </p:nvSpPr>
        <p:spPr>
          <a:xfrm>
            <a:off x="948909" y="3058526"/>
            <a:ext cx="8115300" cy="3144900"/>
          </a:xfrm>
          <a:prstGeom prst="rect">
            <a:avLst/>
          </a:prstGeom>
          <a:noFill/>
          <a:ln>
            <a:noFill/>
          </a:ln>
        </p:spPr>
        <p:txBody>
          <a:bodyPr spcFirstLastPara="1" wrap="square" lIns="0" tIns="0" rIns="0" bIns="0" anchor="t" anchorCtr="0">
            <a:spAutoFit/>
          </a:bodyPr>
          <a:lstStyle/>
          <a:p>
            <a:pPr algn="ctr">
              <a:lnSpc>
                <a:spcPct val="140009"/>
              </a:lnSpc>
            </a:pPr>
            <a:endParaRPr lang="es-CO" sz="4399" b="1" dirty="0">
              <a:solidFill>
                <a:srgbClr val="700A89"/>
              </a:solidFill>
              <a:latin typeface="Poppins"/>
              <a:cs typeface="Poppins"/>
              <a:sym typeface="Poppins"/>
            </a:endParaRPr>
          </a:p>
          <a:p>
            <a:pPr algn="ctr">
              <a:lnSpc>
                <a:spcPct val="140009"/>
              </a:lnSpc>
            </a:pPr>
            <a:r>
              <a:rPr lang="es-CO" sz="4399" b="1" dirty="0">
                <a:solidFill>
                  <a:srgbClr val="700A89"/>
                </a:solidFill>
                <a:latin typeface="Poppins"/>
                <a:cs typeface="Poppins"/>
              </a:rPr>
              <a:t>Rendimiento y optimización de consultas</a:t>
            </a:r>
          </a:p>
          <a:p>
            <a:pPr marL="0" marR="0" lvl="0" indent="0" algn="ctr" rtl="0">
              <a:lnSpc>
                <a:spcPct val="140009"/>
              </a:lnSpc>
              <a:spcBef>
                <a:spcPts val="0"/>
              </a:spcBef>
              <a:spcAft>
                <a:spcPts val="0"/>
              </a:spcAft>
              <a:buNone/>
            </a:pPr>
            <a:endParaRPr dirty="0"/>
          </a:p>
        </p:txBody>
      </p:sp>
      <p:pic>
        <p:nvPicPr>
          <p:cNvPr id="101" name="Google Shape;101;p1"/>
          <p:cNvPicPr preferRelativeResize="0"/>
          <p:nvPr/>
        </p:nvPicPr>
        <p:blipFill rotWithShape="1">
          <a:blip r:embed="rId5">
            <a:alphaModFix/>
          </a:blip>
          <a:srcRect l="53990" t="15859" r="8554" b="69322"/>
          <a:stretch/>
        </p:blipFill>
        <p:spPr>
          <a:xfrm>
            <a:off x="5181600" y="609324"/>
            <a:ext cx="4721448" cy="10480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29EE-1985-2225-31E2-050DC896E6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E846FC-1099-F5A4-7D4D-94754DDF4519}"/>
              </a:ext>
            </a:extLst>
          </p:cNvPr>
          <p:cNvSpPr/>
          <p:nvPr/>
        </p:nvSpPr>
        <p:spPr>
          <a:xfrm>
            <a:off x="-437361" y="8801100"/>
            <a:ext cx="1656562" cy="1607056"/>
          </a:xfrm>
          <a:custGeom>
            <a:avLst/>
            <a:gdLst/>
            <a:ahLst/>
            <a:cxnLst/>
            <a:rect l="l" t="t" r="r" b="b"/>
            <a:pathLst>
              <a:path w="2052835" h="2064911">
                <a:moveTo>
                  <a:pt x="0" y="0"/>
                </a:moveTo>
                <a:lnTo>
                  <a:pt x="2052835" y="0"/>
                </a:lnTo>
                <a:lnTo>
                  <a:pt x="2052835" y="2064910"/>
                </a:lnTo>
                <a:lnTo>
                  <a:pt x="0" y="2064910"/>
                </a:lnTo>
                <a:lnTo>
                  <a:pt x="0" y="0"/>
                </a:lnTo>
                <a:close/>
              </a:path>
            </a:pathLst>
          </a:custGeom>
          <a:blipFill>
            <a:blip r:embed="rId2"/>
            <a:stretch>
              <a:fillRect l="-34848" t="-49459" r="-26429" b="-59444"/>
            </a:stretch>
          </a:blipFill>
        </p:spPr>
        <p:txBody>
          <a:bodyPr/>
          <a:lstStyle/>
          <a:p>
            <a:endParaRPr lang="es-CO"/>
          </a:p>
        </p:txBody>
      </p:sp>
      <p:sp>
        <p:nvSpPr>
          <p:cNvPr id="3" name="Freeform 3">
            <a:extLst>
              <a:ext uri="{FF2B5EF4-FFF2-40B4-BE49-F238E27FC236}">
                <a16:creationId xmlns:a16="http://schemas.microsoft.com/office/drawing/2014/main" id="{B433B88B-431D-F520-8A64-604BAC5A4F71}"/>
              </a:ext>
            </a:extLst>
          </p:cNvPr>
          <p:cNvSpPr/>
          <p:nvPr/>
        </p:nvSpPr>
        <p:spPr>
          <a:xfrm rot="-10800000">
            <a:off x="16136495" y="-695866"/>
            <a:ext cx="1607799" cy="1648365"/>
          </a:xfrm>
          <a:custGeom>
            <a:avLst/>
            <a:gdLst/>
            <a:ahLst/>
            <a:cxnLst/>
            <a:rect l="l" t="t" r="r" b="b"/>
            <a:pathLst>
              <a:path w="1607799" h="1648365">
                <a:moveTo>
                  <a:pt x="0" y="0"/>
                </a:moveTo>
                <a:lnTo>
                  <a:pt x="1607799" y="0"/>
                </a:lnTo>
                <a:lnTo>
                  <a:pt x="1607799" y="1648364"/>
                </a:lnTo>
                <a:lnTo>
                  <a:pt x="0" y="1648364"/>
                </a:lnTo>
                <a:lnTo>
                  <a:pt x="0" y="0"/>
                </a:lnTo>
                <a:close/>
              </a:path>
            </a:pathLst>
          </a:custGeom>
          <a:blipFill>
            <a:blip r:embed="rId3"/>
            <a:stretch>
              <a:fillRect l="-36892" t="-49695" r="-28270" b="-60205"/>
            </a:stretch>
          </a:blipFill>
        </p:spPr>
        <p:txBody>
          <a:bodyPr/>
          <a:lstStyle/>
          <a:p>
            <a:endParaRPr lang="es-CO"/>
          </a:p>
        </p:txBody>
      </p:sp>
      <p:sp>
        <p:nvSpPr>
          <p:cNvPr id="9" name="Freeform 21">
            <a:extLst>
              <a:ext uri="{FF2B5EF4-FFF2-40B4-BE49-F238E27FC236}">
                <a16:creationId xmlns:a16="http://schemas.microsoft.com/office/drawing/2014/main" id="{1D05F255-F2E3-68A0-D911-D29FFBA02339}"/>
              </a:ext>
            </a:extLst>
          </p:cNvPr>
          <p:cNvSpPr/>
          <p:nvPr/>
        </p:nvSpPr>
        <p:spPr>
          <a:xfrm>
            <a:off x="14954160" y="7813562"/>
            <a:ext cx="2743200" cy="2438400"/>
          </a:xfrm>
          <a:custGeom>
            <a:avLst/>
            <a:gdLst/>
            <a:ahLst/>
            <a:cxnLst/>
            <a:rect l="l" t="t" r="r" b="b"/>
            <a:pathLst>
              <a:path w="5397947" h="4972858">
                <a:moveTo>
                  <a:pt x="0" y="0"/>
                </a:moveTo>
                <a:lnTo>
                  <a:pt x="5397947" y="0"/>
                </a:lnTo>
                <a:lnTo>
                  <a:pt x="5397947" y="4972859"/>
                </a:lnTo>
                <a:lnTo>
                  <a:pt x="0" y="4972859"/>
                </a:lnTo>
                <a:lnTo>
                  <a:pt x="0" y="0"/>
                </a:lnTo>
                <a:close/>
              </a:path>
            </a:pathLst>
          </a:custGeom>
          <a:blipFill>
            <a:blip r:embed="rId4"/>
            <a:stretch>
              <a:fillRect/>
            </a:stretch>
          </a:blipFill>
        </p:spPr>
        <p:txBody>
          <a:bodyPr/>
          <a:lstStyle/>
          <a:p>
            <a:endParaRPr lang="es-CO"/>
          </a:p>
        </p:txBody>
      </p:sp>
      <p:sp>
        <p:nvSpPr>
          <p:cNvPr id="8" name="CuadroTexto 7">
            <a:extLst>
              <a:ext uri="{FF2B5EF4-FFF2-40B4-BE49-F238E27FC236}">
                <a16:creationId xmlns:a16="http://schemas.microsoft.com/office/drawing/2014/main" id="{096DCFA7-361F-02A9-70F0-6BC7CADA3C28}"/>
              </a:ext>
            </a:extLst>
          </p:cNvPr>
          <p:cNvSpPr txBox="1"/>
          <p:nvPr/>
        </p:nvSpPr>
        <p:spPr>
          <a:xfrm>
            <a:off x="2000250" y="1952625"/>
            <a:ext cx="14668500" cy="1754326"/>
          </a:xfrm>
          <a:prstGeom prst="rect">
            <a:avLst/>
          </a:prstGeom>
          <a:noFill/>
        </p:spPr>
        <p:txBody>
          <a:bodyPr wrap="square">
            <a:spAutoFit/>
          </a:bodyPr>
          <a:lstStyle/>
          <a:p>
            <a:r>
              <a:rPr lang="es-MX" sz="2800" b="1" dirty="0">
                <a:latin typeface="Poppins" panose="00000500000000000000" pitchFamily="2" charset="0"/>
                <a:cs typeface="Poppins" panose="00000500000000000000" pitchFamily="2" charset="0"/>
              </a:rPr>
              <a:t>Objetivo</a:t>
            </a:r>
          </a:p>
          <a:p>
            <a:endParaRPr lang="es-MX" sz="2800" b="1" dirty="0">
              <a:latin typeface="Poppins" panose="00000500000000000000" pitchFamily="2" charset="0"/>
              <a:cs typeface="Poppins" panose="00000500000000000000" pitchFamily="2" charset="0"/>
            </a:endParaRPr>
          </a:p>
          <a:p>
            <a:endParaRPr lang="es-MX" sz="2800" b="1" dirty="0">
              <a:latin typeface="Poppins" panose="00000500000000000000" pitchFamily="2" charset="0"/>
              <a:cs typeface="Poppins" panose="00000500000000000000" pitchFamily="2" charset="0"/>
            </a:endParaRPr>
          </a:p>
          <a:p>
            <a:endParaRPr lang="es-MX" sz="2400" b="1" dirty="0">
              <a:latin typeface="Poppins" panose="00000500000000000000" pitchFamily="2" charset="0"/>
              <a:cs typeface="Poppins" panose="00000500000000000000" pitchFamily="2" charset="0"/>
            </a:endParaRPr>
          </a:p>
        </p:txBody>
      </p:sp>
      <p:sp>
        <p:nvSpPr>
          <p:cNvPr id="5" name="CuadroTexto 4">
            <a:extLst>
              <a:ext uri="{FF2B5EF4-FFF2-40B4-BE49-F238E27FC236}">
                <a16:creationId xmlns:a16="http://schemas.microsoft.com/office/drawing/2014/main" id="{EEDE2EA7-AEF5-E18B-709A-70CE2B01FED3}"/>
              </a:ext>
            </a:extLst>
          </p:cNvPr>
          <p:cNvSpPr txBox="1"/>
          <p:nvPr/>
        </p:nvSpPr>
        <p:spPr>
          <a:xfrm>
            <a:off x="2975213" y="3405178"/>
            <a:ext cx="10495128" cy="2259080"/>
          </a:xfrm>
          <a:prstGeom prst="rect">
            <a:avLst/>
          </a:prstGeom>
          <a:noFill/>
        </p:spPr>
        <p:txBody>
          <a:bodyPr wrap="square">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Entender qué partes del motor afectan el rendimiento de una consulta.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Saber cuándo y cómo usar índices de forma efectiva.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Aprender a leer EXPLAIN (ANALYZE) y comparar planes.</a:t>
            </a:r>
          </a:p>
        </p:txBody>
      </p:sp>
    </p:spTree>
    <p:extLst>
      <p:ext uri="{BB962C8B-B14F-4D97-AF65-F5344CB8AC3E}">
        <p14:creationId xmlns:p14="http://schemas.microsoft.com/office/powerpoint/2010/main" val="1004461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E647-2F94-13D5-27DE-4A5DB74E1A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863DAD-F684-284C-2ED7-62294E5E595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898E5CA-37A9-0597-9D10-9A6A87597AA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C395F84-2666-E01F-7240-1F6F93BDA7B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6FA7629-9511-F4A4-7613-1B201C33252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446395D-E9BA-9E85-56A5-2F6A6409A8F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9A0ECEB-C6B6-16E0-C6D1-98D056177F2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513AD4A-301F-94CD-5896-56702A74C75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FBD03C7-19EF-C8F7-680E-2A1D5D5406D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8FEA821-FD08-DD49-404E-B2A3BAB88CF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1FD1F1-29DA-B476-936B-2C9DEF53253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57BA99F3-AD4F-5DD2-1C4B-646F8957AD1B}"/>
              </a:ext>
            </a:extLst>
          </p:cNvPr>
          <p:cNvSpPr txBox="1"/>
          <p:nvPr/>
        </p:nvSpPr>
        <p:spPr>
          <a:xfrm>
            <a:off x="1950461" y="509599"/>
            <a:ext cx="14554200" cy="3600986"/>
          </a:xfrm>
          <a:prstGeom prst="rect">
            <a:avLst/>
          </a:prstGeom>
          <a:noFill/>
        </p:spPr>
        <p:txBody>
          <a:bodyPr wrap="square">
            <a:spAutoFit/>
          </a:bodyPr>
          <a:lstStyle/>
          <a:p>
            <a:r>
              <a:rPr lang="es-ES" sz="3600" b="1" dirty="0">
                <a:latin typeface="Poppins 1 Bold" panose="020B0604020202020204" charset="0"/>
                <a:cs typeface="Poppins 1 Bold" panose="020B0604020202020204" charset="0"/>
              </a:rPr>
              <a:t>Agenda</a:t>
            </a:r>
          </a:p>
          <a:p>
            <a:endParaRPr lang="es-ES" sz="3600" b="1" dirty="0">
              <a:latin typeface="Poppins 1 Bold" panose="020B0604020202020204" charset="0"/>
              <a:cs typeface="Poppins 1 Bold" panose="020B0604020202020204" charset="0"/>
            </a:endParaRPr>
          </a:p>
          <a:p>
            <a:endParaRPr lang="es-ES" sz="3600" b="1" dirty="0">
              <a:latin typeface="Poppins 1 Bold" panose="020B0604020202020204" charset="0"/>
              <a:cs typeface="Poppins 1 Bold" panose="020B0604020202020204" charset="0"/>
            </a:endParaRPr>
          </a:p>
          <a:p>
            <a:pPr marL="742950" indent="-742950">
              <a:buFont typeface="+mj-lt"/>
              <a:buAutoNum type="arabicPeriod"/>
            </a:pPr>
            <a:endParaRPr lang="es-CO" sz="3600" dirty="0"/>
          </a:p>
          <a:p>
            <a:pPr lvl="0"/>
            <a:endParaRPr lang="es-CO" sz="3600" dirty="0"/>
          </a:p>
          <a:p>
            <a:endParaRPr lang="es-ES" sz="2400" dirty="0"/>
          </a:p>
          <a:p>
            <a:endParaRPr lang="es-ES" sz="2400" dirty="0"/>
          </a:p>
        </p:txBody>
      </p:sp>
    </p:spTree>
    <p:extLst>
      <p:ext uri="{BB962C8B-B14F-4D97-AF65-F5344CB8AC3E}">
        <p14:creationId xmlns:p14="http://schemas.microsoft.com/office/powerpoint/2010/main" val="326370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02988-5B20-975C-4D0E-9B4AFC2EE3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3E1B576-408A-5022-C48C-9D2B84D39D12}"/>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D181A6C1-72B8-7822-8193-179A30B90CC0}"/>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6B192318-C160-661A-1028-5E99CD1BF57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21EAE9F-202C-43DE-28EB-6B4513A08C3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A94B96B-6A98-E8C4-A64A-4BACB47463E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8F812900-0CF4-E476-A042-B6395D63B1B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2F0CE2F6-8464-E538-387B-550C3847024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7BE449B8-0207-3BDF-02C9-D69FBD5DF37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CCEA92F2-676E-7D59-9417-A678AB69E1C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1112222-3A89-BD87-0A61-06C44BAB05F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3" name="Tabla 2">
            <a:extLst>
              <a:ext uri="{FF2B5EF4-FFF2-40B4-BE49-F238E27FC236}">
                <a16:creationId xmlns:a16="http://schemas.microsoft.com/office/drawing/2014/main" id="{D993D1DB-FB13-23A6-68E3-6EB8E759B4C7}"/>
              </a:ext>
            </a:extLst>
          </p:cNvPr>
          <p:cNvGraphicFramePr>
            <a:graphicFrameLocks noGrp="1"/>
          </p:cNvGraphicFramePr>
          <p:nvPr>
            <p:extLst>
              <p:ext uri="{D42A27DB-BD31-4B8C-83A1-F6EECF244321}">
                <p14:modId xmlns:p14="http://schemas.microsoft.com/office/powerpoint/2010/main" val="3372465910"/>
              </p:ext>
            </p:extLst>
          </p:nvPr>
        </p:nvGraphicFramePr>
        <p:xfrm>
          <a:off x="701973" y="1192845"/>
          <a:ext cx="16357728" cy="8053128"/>
        </p:xfrm>
        <a:graphic>
          <a:graphicData uri="http://schemas.openxmlformats.org/drawingml/2006/table">
            <a:tbl>
              <a:tblPr firstRow="1" firstCol="1">
                <a:tableStyleId>{EB9631B5-78F2-41C9-869B-9F39066F8104}</a:tableStyleId>
              </a:tblPr>
              <a:tblGrid>
                <a:gridCol w="4089432">
                  <a:extLst>
                    <a:ext uri="{9D8B030D-6E8A-4147-A177-3AD203B41FA5}">
                      <a16:colId xmlns:a16="http://schemas.microsoft.com/office/drawing/2014/main" val="3997690373"/>
                    </a:ext>
                  </a:extLst>
                </a:gridCol>
                <a:gridCol w="4089432">
                  <a:extLst>
                    <a:ext uri="{9D8B030D-6E8A-4147-A177-3AD203B41FA5}">
                      <a16:colId xmlns:a16="http://schemas.microsoft.com/office/drawing/2014/main" val="3396199347"/>
                    </a:ext>
                  </a:extLst>
                </a:gridCol>
                <a:gridCol w="4089432">
                  <a:extLst>
                    <a:ext uri="{9D8B030D-6E8A-4147-A177-3AD203B41FA5}">
                      <a16:colId xmlns:a16="http://schemas.microsoft.com/office/drawing/2014/main" val="3652914674"/>
                    </a:ext>
                  </a:extLst>
                </a:gridCol>
                <a:gridCol w="4089432">
                  <a:extLst>
                    <a:ext uri="{9D8B030D-6E8A-4147-A177-3AD203B41FA5}">
                      <a16:colId xmlns:a16="http://schemas.microsoft.com/office/drawing/2014/main" val="2719112098"/>
                    </a:ext>
                  </a:extLst>
                </a:gridCol>
              </a:tblGrid>
              <a:tr h="311570">
                <a:tc>
                  <a:txBody>
                    <a:bodyPr/>
                    <a:lstStyle/>
                    <a:p>
                      <a:pPr rtl="0">
                        <a:buNone/>
                      </a:pPr>
                      <a:r>
                        <a:rPr lang="es-CO" sz="1800" b="1" dirty="0">
                          <a:solidFill>
                            <a:schemeClr val="bg1"/>
                          </a:solidFill>
                          <a:effectLst/>
                        </a:rPr>
                        <a:t>Categoría</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Recurso</a:t>
                      </a:r>
                      <a:endParaRPr lang="es-CO" sz="20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Recomendación para Cliente</a:t>
                      </a:r>
                      <a:endParaRPr lang="es-CO" sz="20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Recomendación para Servidor</a:t>
                      </a:r>
                      <a:endParaRPr lang="es-CO" sz="2000" dirty="0">
                        <a:solidFill>
                          <a:schemeClr val="bg1"/>
                        </a:solidFill>
                        <a:effectLst/>
                        <a:latin typeface="Google Sans Text"/>
                      </a:endParaRPr>
                    </a:p>
                  </a:txBody>
                  <a:tcPr marL="61494" marR="61494" marT="40996" marB="40996" anchor="ctr"/>
                </a:tc>
                <a:extLst>
                  <a:ext uri="{0D108BD9-81ED-4DB2-BD59-A6C34878D82A}">
                    <a16:rowId xmlns:a16="http://schemas.microsoft.com/office/drawing/2014/main" val="2448950253"/>
                  </a:ext>
                </a:extLst>
              </a:tr>
              <a:tr h="770726">
                <a:tc>
                  <a:txBody>
                    <a:bodyPr/>
                    <a:lstStyle/>
                    <a:p>
                      <a:pPr rtl="0">
                        <a:buNone/>
                      </a:pPr>
                      <a:r>
                        <a:rPr lang="es-CO" sz="1800" b="1" dirty="0">
                          <a:solidFill>
                            <a:schemeClr val="bg1"/>
                          </a:solidFill>
                          <a:effectLst/>
                        </a:rPr>
                        <a:t>Hardware</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CPU</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Quad-core</a:t>
                      </a:r>
                      <a:r>
                        <a:rPr lang="es-ES" sz="2000">
                          <a:solidFill>
                            <a:srgbClr val="1F1F1F"/>
                          </a:solidFill>
                          <a:effectLst/>
                        </a:rPr>
                        <a:t> o superior, la </a:t>
                      </a:r>
                      <a:r>
                        <a:rPr lang="es-ES" sz="2000" b="1">
                          <a:solidFill>
                            <a:srgbClr val="1F1F1F"/>
                          </a:solidFill>
                          <a:effectLst/>
                        </a:rPr>
                        <a:t>más rápida posible</a:t>
                      </a:r>
                      <a:r>
                        <a:rPr lang="es-ES" sz="2000">
                          <a:solidFill>
                            <a:srgbClr val="1F1F1F"/>
                          </a:solidFill>
                          <a:effectLst/>
                        </a:rPr>
                        <a:t>. Acepta escritorios virtualizados.</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Múltiples procesadores</a:t>
                      </a:r>
                      <a:r>
                        <a:rPr lang="es-ES" sz="2000" dirty="0">
                          <a:solidFill>
                            <a:srgbClr val="1F1F1F"/>
                          </a:solidFill>
                          <a:effectLst/>
                        </a:rPr>
                        <a:t> (</a:t>
                      </a:r>
                      <a:r>
                        <a:rPr lang="es-ES" sz="2000" dirty="0" err="1">
                          <a:solidFill>
                            <a:srgbClr val="1F1F1F"/>
                          </a:solidFill>
                          <a:effectLst/>
                        </a:rPr>
                        <a:t>Quad-core</a:t>
                      </a:r>
                      <a:r>
                        <a:rPr lang="es-ES" sz="2000" dirty="0">
                          <a:solidFill>
                            <a:srgbClr val="1F1F1F"/>
                          </a:solidFill>
                          <a:effectLst/>
                        </a:rPr>
                        <a:t> o superior), los </a:t>
                      </a:r>
                      <a:r>
                        <a:rPr lang="es-ES" sz="2000" b="1" dirty="0">
                          <a:solidFill>
                            <a:srgbClr val="1F1F1F"/>
                          </a:solidFill>
                          <a:effectLst/>
                        </a:rPr>
                        <a:t>más rápidos posible</a:t>
                      </a:r>
                      <a:r>
                        <a:rPr lang="es-ES" sz="2000" dirty="0">
                          <a:solidFill>
                            <a:srgbClr val="1F1F1F"/>
                          </a:solidFill>
                          <a:effectLst/>
                        </a:rPr>
                        <a:t>. Ideal para </a:t>
                      </a:r>
                      <a:r>
                        <a:rPr lang="es-ES" sz="2000" b="1" dirty="0">
                          <a:solidFill>
                            <a:srgbClr val="1F1F1F"/>
                          </a:solidFill>
                          <a:effectLst/>
                        </a:rPr>
                        <a:t>alta concurrencia</a:t>
                      </a:r>
                      <a:r>
                        <a:rPr lang="es-ES" sz="2000" dirty="0">
                          <a:solidFill>
                            <a:srgbClr val="1F1F1F"/>
                          </a:solidFill>
                          <a:effectLst/>
                        </a:rPr>
                        <a:t>. Acepta virtualización o clúster.</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41361080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RAM</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a:solidFill>
                            <a:srgbClr val="1F1F1F"/>
                          </a:solidFill>
                          <a:effectLst/>
                        </a:rPr>
                        <a:t>La </a:t>
                      </a:r>
                      <a:r>
                        <a:rPr lang="es-ES" sz="2000" b="1">
                          <a:solidFill>
                            <a:srgbClr val="1F1F1F"/>
                          </a:solidFill>
                          <a:effectLst/>
                        </a:rPr>
                        <a:t>máxima posible</a:t>
                      </a:r>
                      <a:r>
                        <a:rPr lang="es-ES" sz="2000">
                          <a:solidFill>
                            <a:srgbClr val="1F1F1F"/>
                          </a:solidFill>
                          <a:effectLst/>
                        </a:rPr>
                        <a:t> para evitar el swapping.</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a:solidFill>
                            <a:srgbClr val="1F1F1F"/>
                          </a:solidFill>
                          <a:effectLst/>
                        </a:rPr>
                        <a:t>La </a:t>
                      </a:r>
                      <a:r>
                        <a:rPr lang="es-ES" sz="2000" b="1">
                          <a:solidFill>
                            <a:srgbClr val="1F1F1F"/>
                          </a:solidFill>
                          <a:effectLst/>
                        </a:rPr>
                        <a:t>máxima posible</a:t>
                      </a:r>
                      <a:r>
                        <a:rPr lang="es-ES" sz="2000">
                          <a:solidFill>
                            <a:srgbClr val="1F1F1F"/>
                          </a:solidFill>
                          <a:effectLst/>
                        </a:rPr>
                        <a:t> para </a:t>
                      </a:r>
                      <a:r>
                        <a:rPr lang="es-ES" sz="2000" b="1">
                          <a:solidFill>
                            <a:srgbClr val="1F1F1F"/>
                          </a:solidFill>
                          <a:effectLst/>
                        </a:rPr>
                        <a:t>caching de datos</a:t>
                      </a:r>
                      <a:r>
                        <a:rPr lang="es-ES" sz="2000">
                          <a:solidFill>
                            <a:srgbClr val="1F1F1F"/>
                          </a:solidFill>
                          <a:effectLst/>
                        </a:rPr>
                        <a:t> y evitar el swapping.</a:t>
                      </a:r>
                      <a:endParaRPr lang="es-ES" sz="200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874946329"/>
                  </a:ext>
                </a:extLst>
              </a:tr>
              <a:tr h="885514">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Almacenamiento</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Disco duro </a:t>
                      </a:r>
                      <a:r>
                        <a:rPr lang="es-ES" sz="2000" b="1" dirty="0">
                          <a:solidFill>
                            <a:srgbClr val="1F1F1F"/>
                          </a:solidFill>
                          <a:effectLst/>
                        </a:rPr>
                        <a:t>SATA rápido</a:t>
                      </a:r>
                      <a:r>
                        <a:rPr lang="es-ES" sz="2000" dirty="0">
                          <a:solidFill>
                            <a:srgbClr val="1F1F1F"/>
                          </a:solidFill>
                          <a:effectLst/>
                        </a:rPr>
                        <a:t> con suficiente espacio. </a:t>
                      </a:r>
                      <a:r>
                        <a:rPr lang="es-ES" sz="2000" b="1" dirty="0">
                          <a:solidFill>
                            <a:srgbClr val="1F1F1F"/>
                          </a:solidFill>
                          <a:effectLst/>
                        </a:rPr>
                        <a:t>SSD</a:t>
                      </a:r>
                      <a:r>
                        <a:rPr lang="es-ES" sz="2000" dirty="0">
                          <a:solidFill>
                            <a:srgbClr val="1F1F1F"/>
                          </a:solidFill>
                          <a:effectLst/>
                        </a:rPr>
                        <a:t> recomendado.</a:t>
                      </a:r>
                      <a:endParaRPr lang="es-ES" sz="2000" dirty="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Múltiples discos</a:t>
                      </a:r>
                      <a:r>
                        <a:rPr lang="es-ES" sz="2000" dirty="0">
                          <a:solidFill>
                            <a:srgbClr val="1F1F1F"/>
                          </a:solidFill>
                          <a:effectLst/>
                        </a:rPr>
                        <a:t> de alta velocidad. Configuración </a:t>
                      </a:r>
                      <a:r>
                        <a:rPr lang="es-ES" sz="2000" b="1" dirty="0">
                          <a:solidFill>
                            <a:srgbClr val="1F1F1F"/>
                          </a:solidFill>
                          <a:effectLst/>
                        </a:rPr>
                        <a:t>RAID</a:t>
                      </a:r>
                      <a:r>
                        <a:rPr lang="es-ES" sz="2000" dirty="0">
                          <a:solidFill>
                            <a:srgbClr val="1F1F1F"/>
                          </a:solidFill>
                          <a:effectLst/>
                        </a:rPr>
                        <a:t> optimizada para </a:t>
                      </a:r>
                      <a:r>
                        <a:rPr lang="es-ES" sz="2000" dirty="0" err="1">
                          <a:solidFill>
                            <a:srgbClr val="1F1F1F"/>
                          </a:solidFill>
                          <a:effectLst/>
                        </a:rPr>
                        <a:t>throughput</a:t>
                      </a:r>
                      <a:r>
                        <a:rPr lang="es-ES" sz="2000" dirty="0">
                          <a:solidFill>
                            <a:srgbClr val="1F1F1F"/>
                          </a:solidFill>
                          <a:effectLst/>
                        </a:rPr>
                        <a:t>. </a:t>
                      </a:r>
                      <a:r>
                        <a:rPr lang="es-ES" sz="2000" b="1" dirty="0">
                          <a:solidFill>
                            <a:srgbClr val="1F1F1F"/>
                          </a:solidFill>
                          <a:effectLst/>
                        </a:rPr>
                        <a:t>SSD</a:t>
                      </a:r>
                      <a:r>
                        <a:rPr lang="es-ES" sz="2000" dirty="0">
                          <a:solidFill>
                            <a:srgbClr val="1F1F1F"/>
                          </a:solidFill>
                          <a:effectLst/>
                        </a:rPr>
                        <a:t> recomendado. </a:t>
                      </a:r>
                      <a:r>
                        <a:rPr lang="es-ES" sz="2000" b="1" dirty="0">
                          <a:solidFill>
                            <a:srgbClr val="1F1F1F"/>
                          </a:solidFill>
                          <a:effectLst/>
                        </a:rPr>
                        <a:t>Discos separados</a:t>
                      </a:r>
                      <a:r>
                        <a:rPr lang="es-ES" sz="2000" dirty="0">
                          <a:solidFill>
                            <a:srgbClr val="1F1F1F"/>
                          </a:solidFill>
                          <a:effectLst/>
                        </a:rPr>
                        <a:t> para SO, DBMS y Datos.</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348390285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Red</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Conexión de </a:t>
                      </a:r>
                      <a:r>
                        <a:rPr lang="es-ES" sz="2000" b="1" dirty="0">
                          <a:solidFill>
                            <a:srgbClr val="1F1F1F"/>
                          </a:solidFill>
                          <a:effectLst/>
                        </a:rPr>
                        <a:t>alta velocidad</a:t>
                      </a:r>
                      <a:r>
                        <a:rPr lang="es-ES" sz="2000" dirty="0">
                          <a:solidFill>
                            <a:srgbClr val="1F1F1F"/>
                          </a:solidFill>
                          <a:effectLst/>
                        </a:rPr>
                        <a:t> (baja latencia).</a:t>
                      </a:r>
                      <a:endParaRPr lang="es-ES" sz="2000" dirty="0">
                        <a:solidFill>
                          <a:srgbClr val="1F1F1F"/>
                        </a:solidFill>
                        <a:effectLst/>
                        <a:latin typeface="Google Sans Text"/>
                      </a:endParaRPr>
                    </a:p>
                  </a:txBody>
                  <a:tcPr marL="61494" marR="61494" marT="40996" marB="40996" anchor="ctr"/>
                </a:tc>
                <a:tc>
                  <a:txBody>
                    <a:bodyPr/>
                    <a:lstStyle/>
                    <a:p>
                      <a:pPr rtl="0">
                        <a:buNone/>
                      </a:pPr>
                      <a:r>
                        <a:rPr lang="es-ES" sz="2000">
                          <a:solidFill>
                            <a:srgbClr val="1F1F1F"/>
                          </a:solidFill>
                          <a:effectLst/>
                        </a:rPr>
                        <a:t>Conexión de </a:t>
                      </a:r>
                      <a:r>
                        <a:rPr lang="es-ES" sz="2000" b="1">
                          <a:solidFill>
                            <a:srgbClr val="1F1F1F"/>
                          </a:solidFill>
                          <a:effectLst/>
                        </a:rPr>
                        <a:t>alta velocidad</a:t>
                      </a:r>
                      <a:r>
                        <a:rPr lang="es-ES" sz="2000">
                          <a:solidFill>
                            <a:srgbClr val="1F1F1F"/>
                          </a:solidFill>
                          <a:effectLst/>
                        </a:rPr>
                        <a:t> (alto ancho de banda/throughput).</a:t>
                      </a:r>
                      <a:endParaRPr lang="es-ES" sz="200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645002368"/>
                  </a:ext>
                </a:extLst>
              </a:tr>
              <a:tr h="196781">
                <a:tc>
                  <a:txBody>
                    <a:bodyPr/>
                    <a:lstStyle/>
                    <a:p>
                      <a:pPr rtl="0">
                        <a:buNone/>
                      </a:pPr>
                      <a:r>
                        <a:rPr lang="es-CO" sz="1800" dirty="0">
                          <a:solidFill>
                            <a:schemeClr val="bg1"/>
                          </a:solidFill>
                          <a:effectLst/>
                        </a:rPr>
                        <a:t>---</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4193276931"/>
                  </a:ext>
                </a:extLst>
              </a:tr>
              <a:tr h="541148">
                <a:tc>
                  <a:txBody>
                    <a:bodyPr/>
                    <a:lstStyle/>
                    <a:p>
                      <a:pPr rtl="0">
                        <a:buNone/>
                      </a:pPr>
                      <a:r>
                        <a:rPr lang="es-CO" sz="1800" b="1" dirty="0">
                          <a:solidFill>
                            <a:schemeClr val="bg1"/>
                          </a:solidFill>
                          <a:effectLst/>
                        </a:rPr>
                        <a:t>Software</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Sistema Operativo (SO)</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64 bits</a:t>
                      </a:r>
                      <a:r>
                        <a:rPr lang="es-ES" sz="2000">
                          <a:solidFill>
                            <a:srgbClr val="1F1F1F"/>
                          </a:solidFill>
                          <a:effectLst/>
                        </a:rPr>
                        <a:t> y </a:t>
                      </a:r>
                      <a:r>
                        <a:rPr lang="es-ES" sz="2000" b="1">
                          <a:solidFill>
                            <a:srgbClr val="1F1F1F"/>
                          </a:solidFill>
                          <a:effectLst/>
                        </a:rPr>
                        <a:t>ajustado</a:t>
                      </a:r>
                      <a:r>
                        <a:rPr lang="es-ES" sz="2000">
                          <a:solidFill>
                            <a:srgbClr val="1F1F1F"/>
                          </a:solidFill>
                          <a:effectLst/>
                        </a:rPr>
                        <a:t> (fine-tuned) para el rendimiento de la aplicación cliente.</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64 bits</a:t>
                      </a:r>
                      <a:r>
                        <a:rPr lang="es-ES" sz="2000" dirty="0">
                          <a:solidFill>
                            <a:srgbClr val="1F1F1F"/>
                          </a:solidFill>
                          <a:effectLst/>
                        </a:rPr>
                        <a:t> y </a:t>
                      </a:r>
                      <a:r>
                        <a:rPr lang="es-ES" sz="2000" b="1" dirty="0">
                          <a:solidFill>
                            <a:srgbClr val="1F1F1F"/>
                          </a:solidFill>
                          <a:effectLst/>
                        </a:rPr>
                        <a:t>ajustado</a:t>
                      </a:r>
                      <a:r>
                        <a:rPr lang="es-ES" sz="2000" dirty="0">
                          <a:solidFill>
                            <a:srgbClr val="1F1F1F"/>
                          </a:solidFill>
                          <a:effectLst/>
                        </a:rPr>
                        <a:t> para el </a:t>
                      </a:r>
                      <a:r>
                        <a:rPr lang="es-ES" sz="2000" b="1" dirty="0">
                          <a:solidFill>
                            <a:srgbClr val="1F1F1F"/>
                          </a:solidFill>
                          <a:effectLst/>
                        </a:rPr>
                        <a:t>rendimiento del servidor</a:t>
                      </a:r>
                      <a:r>
                        <a:rPr lang="es-ES" sz="2000" dirty="0">
                          <a:solidFill>
                            <a:srgbClr val="1F1F1F"/>
                          </a:solidFill>
                          <a:effectLst/>
                        </a:rPr>
                        <a:t> y </a:t>
                      </a:r>
                      <a:r>
                        <a:rPr lang="es-ES" sz="2000" b="1" dirty="0">
                          <a:solidFill>
                            <a:srgbClr val="1F1F1F"/>
                          </a:solidFill>
                          <a:effectLst/>
                        </a:rPr>
                        <a:t>concurrencia</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313513698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Red (Config.)</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Ajustada</a:t>
                      </a:r>
                      <a:r>
                        <a:rPr lang="es-ES" sz="2000">
                          <a:solidFill>
                            <a:srgbClr val="1F1F1F"/>
                          </a:solidFill>
                          <a:effectLst/>
                        </a:rPr>
                        <a:t> para el mejor throughput.</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Ajustada</a:t>
                      </a:r>
                      <a:r>
                        <a:rPr lang="es-ES" sz="2000" dirty="0">
                          <a:solidFill>
                            <a:srgbClr val="1F1F1F"/>
                          </a:solidFill>
                          <a:effectLst/>
                        </a:rPr>
                        <a:t> para el mejor </a:t>
                      </a:r>
                      <a:r>
                        <a:rPr lang="es-ES" sz="2000" dirty="0" err="1">
                          <a:solidFill>
                            <a:srgbClr val="1F1F1F"/>
                          </a:solidFill>
                          <a:effectLst/>
                        </a:rPr>
                        <a:t>throughput</a:t>
                      </a:r>
                      <a:r>
                        <a:rPr lang="es-ES" sz="2000" dirty="0">
                          <a:solidFill>
                            <a:srgbClr val="1F1F1F"/>
                          </a:solidFill>
                          <a:effectLst/>
                        </a:rPr>
                        <a:t> (transferencia de datos).</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630449803"/>
                  </a:ext>
                </a:extLst>
              </a:tr>
              <a:tr h="541148">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Aplicación</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Optimizar el código SQL</a:t>
                      </a:r>
                      <a:r>
                        <a:rPr lang="es-ES" sz="2000">
                          <a:solidFill>
                            <a:srgbClr val="1F1F1F"/>
                          </a:solidFill>
                          <a:effectLst/>
                        </a:rPr>
                        <a:t> para que las consultas sean eficientes.</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Optimizar el servidor DBMS</a:t>
                      </a:r>
                      <a:r>
                        <a:rPr lang="es-ES" sz="2000" dirty="0">
                          <a:solidFill>
                            <a:srgbClr val="1F1F1F"/>
                          </a:solidFill>
                          <a:effectLst/>
                        </a:rPr>
                        <a:t> (configuración y </a:t>
                      </a:r>
                      <a:r>
                        <a:rPr lang="es-ES" sz="2000" dirty="0" err="1">
                          <a:solidFill>
                            <a:srgbClr val="1F1F1F"/>
                          </a:solidFill>
                          <a:effectLst/>
                        </a:rPr>
                        <a:t>tuning</a:t>
                      </a:r>
                      <a:r>
                        <a:rPr lang="es-ES" sz="2000" dirty="0">
                          <a:solidFill>
                            <a:srgbClr val="1F1F1F"/>
                          </a:solidFill>
                          <a:effectLst/>
                        </a:rPr>
                        <a:t>) para manejar la </a:t>
                      </a:r>
                      <a:r>
                        <a:rPr lang="es-ES" sz="2000" b="1" dirty="0">
                          <a:solidFill>
                            <a:srgbClr val="1F1F1F"/>
                          </a:solidFill>
                          <a:effectLst/>
                        </a:rPr>
                        <a:t>carga automatizada</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797867319"/>
                  </a:ext>
                </a:extLst>
              </a:tr>
            </a:tbl>
          </a:graphicData>
        </a:graphic>
      </p:graphicFrame>
    </p:spTree>
    <p:extLst>
      <p:ext uri="{BB962C8B-B14F-4D97-AF65-F5344CB8AC3E}">
        <p14:creationId xmlns:p14="http://schemas.microsoft.com/office/powerpoint/2010/main" val="2770307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8194-5C90-ACB0-BE10-E5C75CD8E83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F5B70A-D267-3278-50DA-77ADA0E96C16}"/>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8E84F7C-6667-7F09-392F-4A01D7617CCD}"/>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220AB6C8-E1B2-FEE0-918A-FDCA7EEB3CC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3441CC92-DF24-3DC9-C085-5432CDF17F6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F951BC2-FE13-8536-EF0E-58D32314368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5555388-490D-D455-086E-DB832AC9B3D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430DB2D-49FA-152D-80B7-2639E4E4DD1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2B87C1A-451C-5250-75F1-A4D0BC0F8CB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F53E7588-7AD3-45E3-9905-DE511B7D02D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4A4A438-94B8-0D14-195F-CD357FE5EE7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74469427-7890-1062-319C-042BA242C528}"/>
              </a:ext>
            </a:extLst>
          </p:cNvPr>
          <p:cNvGrpSpPr/>
          <p:nvPr/>
        </p:nvGrpSpPr>
        <p:grpSpPr>
          <a:xfrm>
            <a:off x="273156" y="174150"/>
            <a:ext cx="9293538" cy="935359"/>
            <a:chOff x="0" y="-1"/>
            <a:chExt cx="7433261" cy="892722"/>
          </a:xfrm>
        </p:grpSpPr>
        <p:sp>
          <p:nvSpPr>
            <p:cNvPr id="17" name="Google Shape;110;p2">
              <a:extLst>
                <a:ext uri="{FF2B5EF4-FFF2-40B4-BE49-F238E27FC236}">
                  <a16:creationId xmlns:a16="http://schemas.microsoft.com/office/drawing/2014/main" id="{BC7927F0-6F51-D67A-4A48-D0BEB00E378E}"/>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97DDA42-199E-09CA-475B-F0581D734E97}"/>
                </a:ext>
              </a:extLst>
            </p:cNvPr>
            <p:cNvSpPr txBox="1"/>
            <p:nvPr/>
          </p:nvSpPr>
          <p:spPr>
            <a:xfrm>
              <a:off x="14425" y="238348"/>
              <a:ext cx="7182154" cy="411246"/>
            </a:xfrm>
            <a:prstGeom prst="rect">
              <a:avLst/>
            </a:prstGeom>
            <a:noFill/>
            <a:ln>
              <a:noFill/>
            </a:ln>
          </p:spPr>
          <p:txBody>
            <a:bodyPr spcFirstLastPara="1" wrap="square" lIns="0" tIns="0" rIns="0" bIns="0" anchor="t" anchorCtr="0">
              <a:spAutoFit/>
            </a:bodyPr>
            <a:lstStyle/>
            <a:p>
              <a:pPr algn="ctr"/>
              <a:r>
                <a:rPr lang="es-ES" sz="2800" dirty="0">
                  <a:solidFill>
                    <a:schemeClr val="bg1"/>
                  </a:solidFill>
                </a:rPr>
                <a:t>Cachés, RAM y acceso a disco</a:t>
              </a:r>
              <a:endParaRPr lang="es-CO" sz="3071" b="1" dirty="0">
                <a:solidFill>
                  <a:schemeClr val="bg1"/>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0E94135B-8EEF-599C-C5C9-AD8F180C0C6C}"/>
              </a:ext>
            </a:extLst>
          </p:cNvPr>
          <p:cNvSpPr txBox="1"/>
          <p:nvPr/>
        </p:nvSpPr>
        <p:spPr>
          <a:xfrm>
            <a:off x="1136782" y="1767686"/>
            <a:ext cx="6377709" cy="7478970"/>
          </a:xfrm>
          <a:prstGeom prst="rect">
            <a:avLst/>
          </a:prstGeom>
          <a:noFill/>
        </p:spPr>
        <p:txBody>
          <a:bodyPr wrap="square">
            <a:spAutoFit/>
          </a:bodyPr>
          <a:lstStyle/>
          <a:p>
            <a:r>
              <a:rPr lang="es-ES" sz="3200" b="1" dirty="0"/>
              <a:t>SQL cache: </a:t>
            </a:r>
            <a:r>
              <a:rPr lang="es-ES" sz="3200" dirty="0"/>
              <a:t>almacena planes de ejecución que se pueden reutilizar.</a:t>
            </a:r>
          </a:p>
          <a:p>
            <a:endParaRPr lang="es-ES" sz="3200" dirty="0"/>
          </a:p>
          <a:p>
            <a:r>
              <a:rPr lang="es-ES" sz="3200" b="1" dirty="0"/>
              <a:t>Data cache: </a:t>
            </a:r>
            <a:r>
              <a:rPr lang="es-ES" sz="3200" dirty="0"/>
              <a:t>guarda páginas de datos leídas del disco para reusarlas.</a:t>
            </a:r>
          </a:p>
          <a:p>
            <a:r>
              <a:rPr lang="es-ES" sz="3200" dirty="0"/>
              <a:t>Si el dato está en caché, ahorramos un I/O a disco (mucho más lento).</a:t>
            </a:r>
          </a:p>
          <a:p>
            <a:endParaRPr lang="es-ES" sz="3200" dirty="0"/>
          </a:p>
          <a:p>
            <a:endParaRPr lang="es-ES" sz="3200" dirty="0"/>
          </a:p>
          <a:p>
            <a:r>
              <a:rPr lang="es-ES" sz="3200" dirty="0"/>
              <a:t>Más RAM y buen uso de caché suelen mejorar mucho el rendimiento</a:t>
            </a:r>
            <a:r>
              <a:rPr lang="es-ES" dirty="0"/>
              <a:t>.</a:t>
            </a:r>
          </a:p>
        </p:txBody>
      </p:sp>
      <p:sp>
        <p:nvSpPr>
          <p:cNvPr id="5" name="CuadroTexto 4">
            <a:extLst>
              <a:ext uri="{FF2B5EF4-FFF2-40B4-BE49-F238E27FC236}">
                <a16:creationId xmlns:a16="http://schemas.microsoft.com/office/drawing/2014/main" id="{D1006688-4125-2EC9-234D-26CB6675A5BE}"/>
              </a:ext>
            </a:extLst>
          </p:cNvPr>
          <p:cNvSpPr txBox="1"/>
          <p:nvPr/>
        </p:nvSpPr>
        <p:spPr>
          <a:xfrm>
            <a:off x="9493100" y="1976709"/>
            <a:ext cx="7441876" cy="6001643"/>
          </a:xfrm>
          <a:prstGeom prst="rect">
            <a:avLst/>
          </a:prstGeom>
          <a:noFill/>
        </p:spPr>
        <p:txBody>
          <a:bodyPr wrap="square">
            <a:spAutoFit/>
          </a:bodyPr>
          <a:lstStyle/>
          <a:p>
            <a:r>
              <a:rPr lang="es-ES" sz="3200" b="1" dirty="0"/>
              <a:t>EXPLAIN: </a:t>
            </a:r>
            <a:r>
              <a:rPr lang="es-ES" sz="3200" dirty="0"/>
              <a:t>muestra el plan estimado por el optimizador sin ejecutar la consulta.</a:t>
            </a:r>
          </a:p>
          <a:p>
            <a:endParaRPr lang="es-ES" sz="3200" dirty="0"/>
          </a:p>
          <a:p>
            <a:r>
              <a:rPr lang="es-ES" sz="3200" b="1" dirty="0"/>
              <a:t>EXPLAIN ANALYZE: </a:t>
            </a:r>
            <a:r>
              <a:rPr lang="es-ES" sz="3200" dirty="0"/>
              <a:t>ejecuta la consulta y añade tiempos reales y filas procesadas.</a:t>
            </a:r>
          </a:p>
          <a:p>
            <a:r>
              <a:rPr lang="es-ES" sz="3200" dirty="0"/>
              <a:t>Útil para entender por qué una consulta es lenta y qué operadores usa.</a:t>
            </a:r>
          </a:p>
          <a:p>
            <a:endParaRPr lang="es-ES" sz="3200" dirty="0"/>
          </a:p>
          <a:p>
            <a:r>
              <a:rPr lang="es-ES" sz="3200" dirty="0"/>
              <a:t>Cuidado al usarlo en producción con consultas muy pesadas (realmente ejecuta la consulta).</a:t>
            </a:r>
          </a:p>
        </p:txBody>
      </p:sp>
    </p:spTree>
    <p:extLst>
      <p:ext uri="{BB962C8B-B14F-4D97-AF65-F5344CB8AC3E}">
        <p14:creationId xmlns:p14="http://schemas.microsoft.com/office/powerpoint/2010/main" val="417149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2EA1-6D09-5CE5-4A89-57A1E8B5E5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B1AD4E-9953-E049-06ED-0E7F10C63367}"/>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A5D8C49-3F3B-3F01-07E5-76D67BF8712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C44E9F3D-F298-89F8-99A4-92A262610DB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D565B340-7B7E-2731-1768-50A9EF2E91D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8D6F0946-5076-3C32-F6FD-3131038DC8E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4AB36672-246A-EA25-2AAC-591AF91129C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EBC892C3-C5E1-3FA5-F21D-3F93CC31E1C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64C61E1-124E-9818-AB59-8FCC849541C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EB23096E-AE52-30DA-4E89-6BAED831D08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F9A3E43E-E6E3-07CC-8B4F-8213460C95BC}"/>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B69EBDA-208C-F24E-1723-F406A31E96F5}"/>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A6C9DDD2-EF0D-470F-8975-0FB4CD8914B6}"/>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37F3762-D1EE-6761-0641-7F7BE0A62CE6}"/>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3" name="Imagen 2">
            <a:extLst>
              <a:ext uri="{FF2B5EF4-FFF2-40B4-BE49-F238E27FC236}">
                <a16:creationId xmlns:a16="http://schemas.microsoft.com/office/drawing/2014/main" id="{BE1C546F-747C-A4EE-267C-05B350D02433}"/>
              </a:ext>
            </a:extLst>
          </p:cNvPr>
          <p:cNvPicPr>
            <a:picLocks noChangeAspect="1"/>
          </p:cNvPicPr>
          <p:nvPr/>
        </p:nvPicPr>
        <p:blipFill>
          <a:blip r:embed="rId5"/>
          <a:stretch>
            <a:fillRect/>
          </a:stretch>
        </p:blipFill>
        <p:spPr>
          <a:xfrm>
            <a:off x="1454679" y="1953923"/>
            <a:ext cx="15821939" cy="5763265"/>
          </a:xfrm>
          <a:prstGeom prst="rect">
            <a:avLst/>
          </a:prstGeom>
        </p:spPr>
      </p:pic>
    </p:spTree>
    <p:extLst>
      <p:ext uri="{BB962C8B-B14F-4D97-AF65-F5344CB8AC3E}">
        <p14:creationId xmlns:p14="http://schemas.microsoft.com/office/powerpoint/2010/main" val="412075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EFEB-32D3-0CA6-B85B-5D1857798D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2C6EA0-B19E-89E2-281F-161DB5DBF5D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D18AA8A-E475-63C3-CB78-2BDCC29C31B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C38FF1A-5D5D-AEC6-42A4-E21C054240FA}"/>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03EAC6C-0581-5AA8-3C61-FAAC2FA4196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6D3ABC9-506F-6163-BEB0-63C32B4F262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0EEF507-491C-AF62-9594-7BAF0430D2E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BAC37C42-41E4-268F-DBED-68644850F42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4F296D6-9244-6A68-5905-3CA2F87FDF9C}"/>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E8F2B2ED-CC86-366F-23DE-509ACC8967E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707A41E6-2AA8-B6DA-535E-F69C20F7DC6C}"/>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CE9AF1A-D4C5-2084-90D2-3D2B184F2C6F}"/>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DCBFD42F-2408-5EB4-CFB6-9FEAC6E8384A}"/>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7D7A13B-30AC-F8E9-D590-C579F53DB99F}"/>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3" name="Imagen 2">
            <a:extLst>
              <a:ext uri="{FF2B5EF4-FFF2-40B4-BE49-F238E27FC236}">
                <a16:creationId xmlns:a16="http://schemas.microsoft.com/office/drawing/2014/main" id="{831F4F25-A4E3-4910-58CF-7D384A8D3B26}"/>
              </a:ext>
            </a:extLst>
          </p:cNvPr>
          <p:cNvPicPr>
            <a:picLocks noChangeAspect="1"/>
          </p:cNvPicPr>
          <p:nvPr/>
        </p:nvPicPr>
        <p:blipFill>
          <a:blip r:embed="rId5"/>
          <a:stretch>
            <a:fillRect/>
          </a:stretch>
        </p:blipFill>
        <p:spPr>
          <a:xfrm>
            <a:off x="2191652" y="2008709"/>
            <a:ext cx="13030151" cy="6807745"/>
          </a:xfrm>
          <a:prstGeom prst="rect">
            <a:avLst/>
          </a:prstGeom>
        </p:spPr>
      </p:pic>
    </p:spTree>
    <p:extLst>
      <p:ext uri="{BB962C8B-B14F-4D97-AF65-F5344CB8AC3E}">
        <p14:creationId xmlns:p14="http://schemas.microsoft.com/office/powerpoint/2010/main" val="1617269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F7DA-388F-4C0F-BD79-816E26CF45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F86443-4607-0D1A-1012-14AE3305C223}"/>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919FFD1-6EB7-1CF1-8C52-3B0309F906D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8D9695A4-A9E4-9B5E-8025-DB4D9C1A6D7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284398B-494D-1163-6F87-FA987B86DA2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80FD4AC-64B6-806D-BB30-1C5A58EAEB2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5AC4B649-467B-09B9-2BBD-5C6466E93B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A031F0C-1FD2-3CCF-AF8B-8550A9C919C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8A94D9C-3C32-08E4-657B-EFC191997D73}"/>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3445BD28-F3C8-D987-9CDF-5186D588D88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7EBBB37-BC35-CF16-8D6E-7E101CAC900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BE69B25-7F2D-8397-79DF-7632E9642926}"/>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0C95E9BF-179C-275A-1381-CA071F59DB07}"/>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BEE9B58-F231-AB2F-B3B4-0968B6599B86}"/>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523E012A-EE1D-D405-4B99-E1E42756292A}"/>
              </a:ext>
            </a:extLst>
          </p:cNvPr>
          <p:cNvSpPr txBox="1"/>
          <p:nvPr/>
        </p:nvSpPr>
        <p:spPr>
          <a:xfrm>
            <a:off x="762378" y="1988727"/>
            <a:ext cx="16036006" cy="7171194"/>
          </a:xfrm>
          <a:prstGeom prst="rect">
            <a:avLst/>
          </a:prstGeom>
          <a:noFill/>
        </p:spPr>
        <p:txBody>
          <a:bodyPr wrap="square">
            <a:spAutoFit/>
          </a:bodyPr>
          <a:lstStyle/>
          <a:p>
            <a:pPr marL="457200" indent="-457200">
              <a:buAutoNum type="arabicPeriod"/>
            </a:pPr>
            <a:r>
              <a:rPr lang="es-ES" sz="2400" b="1" dirty="0"/>
              <a:t>Recepción y Procesamiento (RAM)</a:t>
            </a:r>
          </a:p>
          <a:p>
            <a:pPr marL="457200" indent="-457200">
              <a:buAutoNum type="arabicPeriod"/>
            </a:pPr>
            <a:endParaRPr lang="es-ES" sz="2400" b="1" dirty="0"/>
          </a:p>
          <a:p>
            <a:pPr>
              <a:buNone/>
            </a:pPr>
            <a:r>
              <a:rPr lang="es-ES" sz="2400" dirty="0"/>
              <a:t>Estos procesos residen en la </a:t>
            </a:r>
            <a:r>
              <a:rPr lang="es-ES" sz="2400" b="1" dirty="0"/>
              <a:t>Memoria Principal (RAM)</a:t>
            </a:r>
            <a:r>
              <a:rPr lang="es-ES" sz="2400" dirty="0"/>
              <a:t> del servidor DBMS y son cruciales porque operan a alta velocidad:</a:t>
            </a:r>
          </a:p>
          <a:p>
            <a:pPr>
              <a:buFont typeface="Arial" panose="020B0604020202020204" pitchFamily="34" charset="0"/>
              <a:buChar char="•"/>
            </a:pPr>
            <a:r>
              <a:rPr lang="es-ES" sz="2400" b="1" dirty="0" err="1"/>
              <a:t>Listener</a:t>
            </a:r>
            <a:r>
              <a:rPr lang="es-ES" sz="2400" b="1" dirty="0"/>
              <a:t> (Oyente):</a:t>
            </a:r>
            <a:r>
              <a:rPr lang="es-ES" sz="2400" dirty="0"/>
              <a:t> Recibe la </a:t>
            </a:r>
            <a:r>
              <a:rPr lang="es-ES" sz="2400" b="1" dirty="0"/>
              <a:t>consulta SQL</a:t>
            </a:r>
            <a:r>
              <a:rPr lang="es-ES" sz="2400" dirty="0"/>
              <a:t> del </a:t>
            </a:r>
            <a:r>
              <a:rPr lang="es-ES" sz="2400" b="1" dirty="0"/>
              <a:t>Proceso Cliente</a:t>
            </a:r>
            <a:r>
              <a:rPr lang="es-ES" sz="2400" dirty="0"/>
              <a:t> a través de la red. Si el </a:t>
            </a:r>
            <a:r>
              <a:rPr lang="es-ES" sz="2400" dirty="0" err="1"/>
              <a:t>Listener</a:t>
            </a:r>
            <a:r>
              <a:rPr lang="es-ES" sz="2400" dirty="0"/>
              <a:t> está saturado, la consulta se retrasará antes de ser procesada.</a:t>
            </a:r>
          </a:p>
          <a:p>
            <a:pPr>
              <a:buFont typeface="Arial" panose="020B0604020202020204" pitchFamily="34" charset="0"/>
              <a:buChar char="•"/>
            </a:pPr>
            <a:r>
              <a:rPr lang="es-ES" sz="2400" b="1" dirty="0" err="1"/>
              <a:t>User</a:t>
            </a:r>
            <a:r>
              <a:rPr lang="es-ES" sz="2400" b="1" dirty="0"/>
              <a:t> </a:t>
            </a:r>
            <a:r>
              <a:rPr lang="es-ES" sz="2400" b="1" dirty="0" err="1"/>
              <a:t>Process</a:t>
            </a:r>
            <a:r>
              <a:rPr lang="es-ES" sz="2400" b="1" dirty="0"/>
              <a:t> (Proceso de Usuario):</a:t>
            </a:r>
            <a:r>
              <a:rPr lang="es-ES" sz="2400" dirty="0"/>
              <a:t> Se dedica a manejar la conexión y la ejecución de la consulta específica enviada por el cliente.</a:t>
            </a:r>
          </a:p>
          <a:p>
            <a:pPr>
              <a:buFont typeface="Arial" panose="020B0604020202020204" pitchFamily="34" charset="0"/>
              <a:buChar char="•"/>
            </a:pPr>
            <a:r>
              <a:rPr lang="es-ES" sz="2400" b="1" dirty="0" err="1"/>
              <a:t>Optimizer</a:t>
            </a:r>
            <a:r>
              <a:rPr lang="es-ES" sz="2400" b="1" dirty="0"/>
              <a:t> (Optimizador):</a:t>
            </a:r>
            <a:r>
              <a:rPr lang="es-ES" sz="2400" dirty="0"/>
              <a:t> Este es el corazón de la optimización. Su trabajo es tomar la consulta SQL y determinar la </a:t>
            </a:r>
            <a:r>
              <a:rPr lang="es-ES" sz="2400" b="1" dirty="0"/>
              <a:t>ruta de ejecución más eficiente</a:t>
            </a:r>
            <a:r>
              <a:rPr lang="es-ES" sz="2400" dirty="0"/>
              <a:t> (el mejor </a:t>
            </a:r>
            <a:r>
              <a:rPr lang="es-ES" sz="2400" i="1" dirty="0"/>
              <a:t>plan de ejecución</a:t>
            </a:r>
            <a:r>
              <a:rPr lang="es-ES" sz="2400" dirty="0"/>
              <a:t>).</a:t>
            </a:r>
          </a:p>
          <a:p>
            <a:pPr marL="742950" lvl="1" indent="-285750">
              <a:buFont typeface="Arial" panose="020B0604020202020204" pitchFamily="34" charset="0"/>
              <a:buChar char="•"/>
            </a:pPr>
            <a:r>
              <a:rPr lang="es-ES" sz="2400" b="1" dirty="0"/>
              <a:t>Optimización:</a:t>
            </a:r>
            <a:r>
              <a:rPr lang="es-ES" sz="2400" dirty="0"/>
              <a:t> El Optimizador consulta las </a:t>
            </a:r>
            <a:r>
              <a:rPr lang="es-ES" sz="2400" b="1" dirty="0"/>
              <a:t>estadísticas</a:t>
            </a:r>
            <a:r>
              <a:rPr lang="es-ES" sz="2400" dirty="0"/>
              <a:t> de la base de datos (índices, tamaños de tablas) para decidir si debe usar un índice, realizar un escaneo completo de la tabla, o qué orden de </a:t>
            </a:r>
            <a:r>
              <a:rPr lang="es-ES" sz="2400" i="1" dirty="0" err="1"/>
              <a:t>joins</a:t>
            </a:r>
            <a:r>
              <a:rPr lang="es-ES" sz="2400" dirty="0"/>
              <a:t> (uniones) utilizar. Tu rol como desarrollador es escribir SQL que el Optimizador pueda interpretar y mejorar.</a:t>
            </a:r>
          </a:p>
          <a:p>
            <a:pPr>
              <a:buFont typeface="Arial" panose="020B0604020202020204" pitchFamily="34" charset="0"/>
              <a:buChar char="•"/>
            </a:pPr>
            <a:r>
              <a:rPr lang="es-ES" sz="2400" b="1" dirty="0" err="1"/>
              <a:t>Scheduler</a:t>
            </a:r>
            <a:r>
              <a:rPr lang="es-ES" sz="2400" b="1" dirty="0"/>
              <a:t> (Planificador):</a:t>
            </a:r>
            <a:r>
              <a:rPr lang="es-ES" sz="2400" dirty="0"/>
              <a:t> Gestiona los recursos del CPU y la prioridad de las tareas. Una mala configuración puede hacer que las consultas se esperen innecesariamente.</a:t>
            </a:r>
          </a:p>
          <a:p>
            <a:pPr>
              <a:buFont typeface="Arial" panose="020B0604020202020204" pitchFamily="34" charset="0"/>
              <a:buChar char="•"/>
            </a:pPr>
            <a:r>
              <a:rPr lang="es-ES" sz="2400" b="1" dirty="0" err="1"/>
              <a:t>Lock</a:t>
            </a:r>
            <a:r>
              <a:rPr lang="es-ES" sz="2400" b="1" dirty="0"/>
              <a:t> Manager (Gestor de Bloqueos):</a:t>
            </a:r>
            <a:r>
              <a:rPr lang="es-ES" sz="2400" dirty="0"/>
              <a:t> Controla el </a:t>
            </a:r>
            <a:r>
              <a:rPr lang="es-ES" sz="2400" b="1" dirty="0"/>
              <a:t>acceso concurrente</a:t>
            </a:r>
            <a:r>
              <a:rPr lang="es-ES" sz="2400" dirty="0"/>
              <a:t> a los datos. Si una consulta automatizada (o manual) bloquea los recursos que otra necesita, ambas se detendrán, generando </a:t>
            </a:r>
            <a:r>
              <a:rPr lang="es-ES" sz="2400" b="1" dirty="0"/>
              <a:t>contención</a:t>
            </a:r>
            <a:r>
              <a:rPr lang="es-ES" sz="2400" dirty="0"/>
              <a:t>. Optimizar las transacciones ayuda a minimizar el tiempo de bloqueo.</a:t>
            </a:r>
          </a:p>
          <a:p>
            <a:pPr>
              <a:buNone/>
            </a:pPr>
            <a:br>
              <a:rPr lang="es-ES" dirty="0"/>
            </a:br>
            <a:endParaRPr lang="es-ES" dirty="0"/>
          </a:p>
        </p:txBody>
      </p:sp>
    </p:spTree>
    <p:extLst>
      <p:ext uri="{BB962C8B-B14F-4D97-AF65-F5344CB8AC3E}">
        <p14:creationId xmlns:p14="http://schemas.microsoft.com/office/powerpoint/2010/main" val="2210011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576A-4F42-51F3-8432-DF15CD0610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07CF16-F593-3CE1-445E-BF49FC2DAFB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F0E8803-F9AC-53CF-17E6-6B0554D7A09B}"/>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E7ADBD5-80C5-88B7-61CA-259EBA969AF0}"/>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10DF77E-090B-1D18-25F4-AE9AE64DBC0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19FFC3BA-2E10-7AB1-86C3-8E65F19D7B7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B0CA927-6119-BB16-F252-3938F36FDA2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15B6F21-1AF6-B5D5-3E05-36A0EEE9760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C76ED52C-233C-FA1B-703E-00E8358B659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57DE6DCA-47A2-CE70-1644-95A2B48545A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7D60456-1B8C-4B9F-E87E-FDDE46A0B61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8299349-7457-16D6-6AB5-18106D849F38}"/>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881766C-C3D0-3BA3-BBAD-7A2826ED8579}"/>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B2DAC48E-EFF0-93FA-F82F-23F1473F936A}"/>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F8FDEBDA-2865-9C9D-13B3-14A9972F974E}"/>
              </a:ext>
            </a:extLst>
          </p:cNvPr>
          <p:cNvSpPr txBox="1"/>
          <p:nvPr/>
        </p:nvSpPr>
        <p:spPr>
          <a:xfrm>
            <a:off x="658769" y="1766924"/>
            <a:ext cx="16036006" cy="7848302"/>
          </a:xfrm>
          <a:prstGeom prst="rect">
            <a:avLst/>
          </a:prstGeom>
          <a:noFill/>
        </p:spPr>
        <p:txBody>
          <a:bodyPr wrap="square">
            <a:spAutoFit/>
          </a:bodyPr>
          <a:lstStyle/>
          <a:p>
            <a:pPr>
              <a:buNone/>
            </a:pPr>
            <a:r>
              <a:rPr lang="es-ES" sz="2800" b="1" dirty="0"/>
              <a:t>2. Memoria Cache (RAM)</a:t>
            </a:r>
          </a:p>
          <a:p>
            <a:pPr>
              <a:buNone/>
            </a:pPr>
            <a:r>
              <a:rPr lang="es-ES" sz="2800" dirty="0"/>
              <a:t>Las áreas de memoria </a:t>
            </a:r>
            <a:r>
              <a:rPr lang="es-ES" sz="2800" b="1" dirty="0"/>
              <a:t>Cache</a:t>
            </a:r>
            <a:r>
              <a:rPr lang="es-ES" sz="2800" dirty="0"/>
              <a:t> son la primera línea de defensa contra las operaciones lentas de I/O al disco:</a:t>
            </a:r>
          </a:p>
          <a:p>
            <a:pPr>
              <a:buNone/>
            </a:pPr>
            <a:endParaRPr lang="es-ES" sz="2800" dirty="0"/>
          </a:p>
          <a:p>
            <a:pPr>
              <a:buFont typeface="Arial" panose="020B0604020202020204" pitchFamily="34" charset="0"/>
              <a:buChar char="•"/>
            </a:pPr>
            <a:r>
              <a:rPr lang="es-ES" sz="2800" b="1" dirty="0"/>
              <a:t>SQL Cache (Caché SQL / Biblioteca de Sentencias):</a:t>
            </a:r>
            <a:r>
              <a:rPr lang="es-ES" sz="2800" dirty="0"/>
              <a:t> Almacena el </a:t>
            </a:r>
            <a:r>
              <a:rPr lang="es-ES" sz="2800" b="1" dirty="0"/>
              <a:t>plan de ejecución</a:t>
            </a:r>
            <a:r>
              <a:rPr lang="es-ES" sz="2800" dirty="0"/>
              <a:t> ya optimizado de una consulta. Si el mismo </a:t>
            </a:r>
            <a:r>
              <a:rPr lang="es-ES" sz="2800" i="1" dirty="0" err="1"/>
              <a:t>statement</a:t>
            </a:r>
            <a:r>
              <a:rPr lang="es-ES" sz="2800" dirty="0"/>
              <a:t> SQL (consulta) se ejecuta de nuevo (común en consultas automatizadas), el DBMS </a:t>
            </a:r>
            <a:r>
              <a:rPr lang="es-ES" sz="2800" b="1" dirty="0"/>
              <a:t>omite al Optimizador</a:t>
            </a:r>
            <a:r>
              <a:rPr lang="es-ES" sz="2800" dirty="0"/>
              <a:t> y reutiliza el plan ya existente.</a:t>
            </a:r>
          </a:p>
          <a:p>
            <a:pPr>
              <a:buFont typeface="Arial" panose="020B0604020202020204" pitchFamily="34" charset="0"/>
              <a:buChar char="•"/>
            </a:pPr>
            <a:endParaRPr lang="es-ES" sz="2800" dirty="0"/>
          </a:p>
          <a:p>
            <a:pPr marL="742950" lvl="1" indent="-285750">
              <a:buFont typeface="Arial" panose="020B0604020202020204" pitchFamily="34" charset="0"/>
              <a:buChar char="•"/>
            </a:pPr>
            <a:r>
              <a:rPr lang="es-ES" sz="2800" b="1" dirty="0"/>
              <a:t>Optimización:</a:t>
            </a:r>
            <a:r>
              <a:rPr lang="es-ES" sz="2800" dirty="0"/>
              <a:t> Usar </a:t>
            </a:r>
            <a:r>
              <a:rPr lang="es-ES" sz="2800" b="1" dirty="0"/>
              <a:t>consultas parametrizadas</a:t>
            </a:r>
            <a:r>
              <a:rPr lang="es-ES" sz="2800" dirty="0"/>
              <a:t> aumenta la probabilidad de reutilizar el plan de ejecución en la SQL Cache, lo que reduce la carga del servidor.</a:t>
            </a:r>
          </a:p>
          <a:p>
            <a:pPr marL="742950" lvl="1" indent="-285750">
              <a:buFont typeface="Arial" panose="020B0604020202020204" pitchFamily="34" charset="0"/>
              <a:buChar char="•"/>
            </a:pPr>
            <a:endParaRPr lang="es-ES" sz="2800" dirty="0"/>
          </a:p>
          <a:p>
            <a:pPr>
              <a:buFont typeface="Arial" panose="020B0604020202020204" pitchFamily="34" charset="0"/>
              <a:buChar char="•"/>
            </a:pPr>
            <a:r>
              <a:rPr lang="es-ES" sz="2800" b="1" dirty="0"/>
              <a:t>Data Cache (Caché de Datos / Buffer Cache):</a:t>
            </a:r>
            <a:r>
              <a:rPr lang="es-ES" sz="2800" dirty="0"/>
              <a:t> Almacena los </a:t>
            </a:r>
            <a:r>
              <a:rPr lang="es-ES" sz="2800" b="1" dirty="0"/>
              <a:t>bloques de datos</a:t>
            </a:r>
            <a:r>
              <a:rPr lang="es-ES" sz="2800" dirty="0"/>
              <a:t> que han sido leídos recientemente desde el disco. Si una consulta requiere datos que ya están en esta caché, el DBMS evita una costosa operación de I/O.</a:t>
            </a:r>
          </a:p>
          <a:p>
            <a:pPr>
              <a:buFont typeface="Arial" panose="020B0604020202020204" pitchFamily="34" charset="0"/>
              <a:buChar char="•"/>
            </a:pPr>
            <a:endParaRPr lang="es-ES" sz="2800" dirty="0"/>
          </a:p>
          <a:p>
            <a:pPr marL="742950" lvl="1" indent="-285750">
              <a:buFont typeface="Arial" panose="020B0604020202020204" pitchFamily="34" charset="0"/>
              <a:buChar char="•"/>
            </a:pPr>
            <a:r>
              <a:rPr lang="es-ES" sz="2800" b="1" dirty="0"/>
              <a:t>Optimización:</a:t>
            </a:r>
            <a:r>
              <a:rPr lang="es-ES" sz="2800" dirty="0"/>
              <a:t> Asegurar que la </a:t>
            </a:r>
            <a:r>
              <a:rPr lang="es-ES" sz="2800" b="1" dirty="0"/>
              <a:t>RAM del servidor sea máxima</a:t>
            </a:r>
            <a:r>
              <a:rPr lang="es-ES" sz="2800" dirty="0"/>
              <a:t> (como se discutió en las tablas anteriores) permite que esta caché sea grande, aumentando la probabilidad de encontrar los datos aquí (lo que se conoce como </a:t>
            </a:r>
            <a:r>
              <a:rPr lang="es-ES" sz="2800" i="1" dirty="0"/>
              <a:t>hit-</a:t>
            </a:r>
            <a:r>
              <a:rPr lang="es-ES" sz="2800" i="1" dirty="0" err="1"/>
              <a:t>rate</a:t>
            </a:r>
            <a:r>
              <a:rPr lang="es-ES" sz="2800" dirty="0"/>
              <a:t>).</a:t>
            </a:r>
          </a:p>
        </p:txBody>
      </p:sp>
    </p:spTree>
    <p:extLst>
      <p:ext uri="{BB962C8B-B14F-4D97-AF65-F5344CB8AC3E}">
        <p14:creationId xmlns:p14="http://schemas.microsoft.com/office/powerpoint/2010/main" val="2044897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02FE6-AE9F-4C3C-D3A5-A2DE1D49AAB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50AA42-D4CA-B02C-96B9-C012DF83874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1129EE45-B080-159D-4F51-F115CAF4A595}"/>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B4B7FE0-3292-856A-B62D-452F5E31108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07894BB-BA72-0D06-4159-E84D6E301E9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A935FEC-A423-6FEE-374B-4F687685F82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8D14F653-BB52-B9C4-3304-51278149952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7F001C47-3014-FDD1-D826-FFE70A85453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A789EE8-747D-6AA7-0097-B968AEB9647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D946843-7A7E-7F2A-515A-EF89A16A939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DFF37B4A-9E53-6887-0FF5-588E81BE4FB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D20D6512-4218-FD2A-B2CC-9BF906CC4B86}"/>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FCB3CCBA-7D2A-0188-11BA-4A41048A0DEF}"/>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782374A-22BD-E8CC-AC67-C0DCAB0CB6B2}"/>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A36BFA59-E22B-1540-2A84-FD4CC4844A50}"/>
              </a:ext>
            </a:extLst>
          </p:cNvPr>
          <p:cNvSpPr txBox="1"/>
          <p:nvPr/>
        </p:nvSpPr>
        <p:spPr>
          <a:xfrm>
            <a:off x="898970" y="1766924"/>
            <a:ext cx="16036006" cy="7201972"/>
          </a:xfrm>
          <a:prstGeom prst="rect">
            <a:avLst/>
          </a:prstGeom>
          <a:noFill/>
        </p:spPr>
        <p:txBody>
          <a:bodyPr wrap="square">
            <a:spAutoFit/>
          </a:bodyPr>
          <a:lstStyle/>
          <a:p>
            <a:pPr>
              <a:buNone/>
            </a:pPr>
            <a:br>
              <a:rPr lang="es-ES" dirty="0"/>
            </a:br>
            <a:r>
              <a:rPr lang="es-ES" sz="3200" b="1" dirty="0"/>
              <a:t>3. Almacenamiento (Disco Duro)</a:t>
            </a:r>
          </a:p>
          <a:p>
            <a:pPr>
              <a:buNone/>
            </a:pPr>
            <a:endParaRPr lang="es-ES" sz="3200" b="1" dirty="0"/>
          </a:p>
          <a:p>
            <a:pPr>
              <a:buNone/>
            </a:pPr>
            <a:r>
              <a:rPr lang="es-ES" sz="3200" dirty="0"/>
              <a:t>La </a:t>
            </a:r>
            <a:r>
              <a:rPr lang="es-ES" sz="3200" b="1" dirty="0"/>
              <a:t>Base de Datos</a:t>
            </a:r>
            <a:r>
              <a:rPr lang="es-ES" sz="3200" dirty="0"/>
              <a:t> reside en la </a:t>
            </a:r>
            <a:r>
              <a:rPr lang="es-ES" sz="3200" b="1" dirty="0"/>
              <a:t>Memoria Secundaria Permanente (Disco Duro)</a:t>
            </a:r>
            <a:r>
              <a:rPr lang="es-ES" sz="3200" dirty="0"/>
              <a:t> y solo se accede mediante operaciones de </a:t>
            </a:r>
            <a:r>
              <a:rPr lang="es-ES" sz="3200" b="1" dirty="0"/>
              <a:t>I/O</a:t>
            </a:r>
            <a:r>
              <a:rPr lang="es-ES" sz="3200" dirty="0"/>
              <a:t> cuando el dato o el plan no están en la RAM.</a:t>
            </a:r>
          </a:p>
          <a:p>
            <a:pPr>
              <a:buNone/>
            </a:pPr>
            <a:endParaRPr lang="es-ES" sz="3200" dirty="0"/>
          </a:p>
          <a:p>
            <a:pPr>
              <a:buFont typeface="Arial" panose="020B0604020202020204" pitchFamily="34" charset="0"/>
              <a:buChar char="•"/>
            </a:pPr>
            <a:r>
              <a:rPr lang="es-ES" sz="3200" b="1" dirty="0"/>
              <a:t>Optimización:</a:t>
            </a:r>
            <a:r>
              <a:rPr lang="es-ES" sz="3200" dirty="0"/>
              <a:t> La clave aquí es minimizar las operaciones de I/O:</a:t>
            </a:r>
          </a:p>
          <a:p>
            <a:pPr>
              <a:buFont typeface="Arial" panose="020B0604020202020204" pitchFamily="34" charset="0"/>
              <a:buChar char="•"/>
            </a:pPr>
            <a:endParaRPr lang="es-ES" sz="3200" dirty="0"/>
          </a:p>
          <a:p>
            <a:pPr marL="742950" lvl="1" indent="-285750">
              <a:buFont typeface="Arial" panose="020B0604020202020204" pitchFamily="34" charset="0"/>
              <a:buChar char="•"/>
            </a:pPr>
            <a:r>
              <a:rPr lang="es-ES" sz="3200" b="1" dirty="0"/>
              <a:t>Índices:</a:t>
            </a:r>
            <a:r>
              <a:rPr lang="es-ES" sz="3200" dirty="0"/>
              <a:t> Los índices permiten que el Optimizador dirija la consulta directamente a los bloques de datos relevantes en los </a:t>
            </a:r>
            <a:r>
              <a:rPr lang="es-ES" sz="3200" b="1" dirty="0"/>
              <a:t>Data Files</a:t>
            </a:r>
            <a:r>
              <a:rPr lang="es-ES" sz="3200" dirty="0"/>
              <a:t>, en lugar de escanear toda la tabla.</a:t>
            </a:r>
          </a:p>
          <a:p>
            <a:pPr marL="742950" lvl="1" indent="-285750">
              <a:buFont typeface="Arial" panose="020B0604020202020204" pitchFamily="34" charset="0"/>
              <a:buChar char="•"/>
            </a:pPr>
            <a:endParaRPr lang="es-ES" sz="3200" dirty="0"/>
          </a:p>
          <a:p>
            <a:pPr marL="742950" lvl="1" indent="-285750">
              <a:buFont typeface="Arial" panose="020B0604020202020204" pitchFamily="34" charset="0"/>
              <a:buChar char="•"/>
            </a:pPr>
            <a:r>
              <a:rPr lang="es-ES" sz="3200" b="1" dirty="0"/>
              <a:t>Configuración de Disco (RAID/SSD):</a:t>
            </a:r>
            <a:r>
              <a:rPr lang="es-ES" sz="3200" dirty="0"/>
              <a:t> Si una operación de I/O es inevitable, el uso de </a:t>
            </a:r>
            <a:r>
              <a:rPr lang="es-ES" sz="3200" b="1" dirty="0"/>
              <a:t>SSD</a:t>
            </a:r>
            <a:r>
              <a:rPr lang="es-ES" sz="3200" dirty="0"/>
              <a:t> y configuraciones </a:t>
            </a:r>
            <a:r>
              <a:rPr lang="es-ES" sz="3200" b="1" dirty="0"/>
              <a:t>RAID</a:t>
            </a:r>
            <a:r>
              <a:rPr lang="es-ES" sz="3200" dirty="0"/>
              <a:t> de alto rendimiento asegura que la lectura/escritura sea lo más rápida posible.</a:t>
            </a:r>
          </a:p>
        </p:txBody>
      </p:sp>
    </p:spTree>
    <p:extLst>
      <p:ext uri="{BB962C8B-B14F-4D97-AF65-F5344CB8AC3E}">
        <p14:creationId xmlns:p14="http://schemas.microsoft.com/office/powerpoint/2010/main" val="1670250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6C45F-F224-C0E9-23C0-EA88255570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10A362-E5D9-B78F-5EB7-68A757D51EE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61D4664-3355-8AAD-7124-F0202A2DA571}"/>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5D56474A-4BC3-EA4F-925D-4EA6AC7EBE5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AC87779-97A8-392A-1B5E-F5B1ABD0368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7A83654-65DE-E991-7EC3-B93AC1C70B7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075D075F-7C4E-7296-21AA-F899B458545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FB61135-E644-1BDA-DADD-D4C7E1B7798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AE0DC93-F644-1492-6C8F-4E176C1F959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D25724F-8549-084C-044C-80F3DF6704C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A6EE45B8-9A7F-9BAD-4A68-64074BA6918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B0891FE9-0E0D-21BE-90F6-C91B915C178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3A3EE381-8630-E438-75C5-BEC354CC6B2C}"/>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D0CCB8E7-9C9F-3700-9C3D-9D6248D7B480}"/>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20" name="CuadroTexto 19">
            <a:extLst>
              <a:ext uri="{FF2B5EF4-FFF2-40B4-BE49-F238E27FC236}">
                <a16:creationId xmlns:a16="http://schemas.microsoft.com/office/drawing/2014/main" id="{5CA98DAB-EC49-E7EA-66EF-31FFE976E886}"/>
              </a:ext>
            </a:extLst>
          </p:cNvPr>
          <p:cNvSpPr txBox="1"/>
          <p:nvPr/>
        </p:nvSpPr>
        <p:spPr>
          <a:xfrm>
            <a:off x="10366691" y="2291864"/>
            <a:ext cx="7345735" cy="655564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Gather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es el nodo que junta los resultados de varios procesos en paralelo y los entrega como una sola tabla.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Planned</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1 /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Launched</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1</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PostgreSQL planeó usar 1 </a:t>
            </a:r>
            <a:r>
              <a:rPr kumimoji="0" lang="es-CO" altLang="es-CO" sz="20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en paralelo (más el proceso “líder”).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En total trabajaron 2 procesos: líder + 1 </a:t>
            </a:r>
            <a:r>
              <a:rPr kumimoji="0" lang="es-CO" altLang="es-CO" sz="20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cost</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=2812.80..9001.44</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costo estimado interno (no son milisegundos).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Primer número: costo estimado para empezar a producir filas.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Segundo número: costo estimado total.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rows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=40480</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filas que el optimizador creía que iban a salir.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width</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=356</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tamaño promedio en bytes de cada fila estimada.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actual time=43.365..124.079</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43.365 ms: tiempo hasta producir la primera fila.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124.079 ms: tiempo total hasta la última fila.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rows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=99441</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filas reales que salieron.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El plan estimaba ~40 k y salieron ~99 </a:t>
            </a:r>
            <a:endParaRPr lang="es-CO" sz="2000" dirty="0">
              <a:latin typeface="Poppins" panose="00000500000000000000" pitchFamily="2" charset="0"/>
              <a:cs typeface="Poppins" panose="00000500000000000000" pitchFamily="2" charset="0"/>
            </a:endParaRPr>
          </a:p>
        </p:txBody>
      </p:sp>
      <p:sp>
        <p:nvSpPr>
          <p:cNvPr id="22" name="CuadroTexto 21">
            <a:extLst>
              <a:ext uri="{FF2B5EF4-FFF2-40B4-BE49-F238E27FC236}">
                <a16:creationId xmlns:a16="http://schemas.microsoft.com/office/drawing/2014/main" id="{45FC048C-77E4-B001-90FB-1E93334ED24F}"/>
              </a:ext>
            </a:extLst>
          </p:cNvPr>
          <p:cNvSpPr txBox="1"/>
          <p:nvPr/>
        </p:nvSpPr>
        <p:spPr>
          <a:xfrm>
            <a:off x="1414453" y="6867413"/>
            <a:ext cx="7463430" cy="1169551"/>
          </a:xfrm>
          <a:prstGeom prst="rect">
            <a:avLst/>
          </a:prstGeom>
          <a:noFill/>
        </p:spPr>
        <p:txBody>
          <a:bodyPr wrap="square">
            <a:spAutoFit/>
          </a:bodyPr>
          <a:lstStyle/>
          <a:p>
            <a:r>
              <a:rPr lang="es-ES" dirty="0"/>
              <a:t>“Los costos se miden en unidades arbitrarias, determinadas por los parámetros de costo del planificador (véase la Sección 19.7.2). Tradicionalmente, los costos se miden en unidades de páginas recuperadas en disco; es decir, </a:t>
            </a:r>
            <a:r>
              <a:rPr lang="es-ES" dirty="0" err="1"/>
              <a:t>seq_page_cost</a:t>
            </a:r>
            <a:r>
              <a:rPr lang="es-ES" dirty="0"/>
              <a:t> se establece convencionalmente en 1.0 y los demás parámetros de costo se establecen en relación con este valor. Los ejemplos de esta sección se ejecutan con los parámetros de costo predeterminados.”</a:t>
            </a:r>
            <a:endParaRPr lang="es-CO" dirty="0"/>
          </a:p>
        </p:txBody>
      </p:sp>
      <p:sp>
        <p:nvSpPr>
          <p:cNvPr id="24" name="CuadroTexto 23">
            <a:extLst>
              <a:ext uri="{FF2B5EF4-FFF2-40B4-BE49-F238E27FC236}">
                <a16:creationId xmlns:a16="http://schemas.microsoft.com/office/drawing/2014/main" id="{D6B2EA19-E9F6-3245-4333-61720A5A4A10}"/>
              </a:ext>
            </a:extLst>
          </p:cNvPr>
          <p:cNvSpPr txBox="1"/>
          <p:nvPr/>
        </p:nvSpPr>
        <p:spPr>
          <a:xfrm>
            <a:off x="732935" y="8693616"/>
            <a:ext cx="9176994" cy="307777"/>
          </a:xfrm>
          <a:prstGeom prst="rect">
            <a:avLst/>
          </a:prstGeom>
          <a:noFill/>
        </p:spPr>
        <p:txBody>
          <a:bodyPr wrap="square">
            <a:spAutoFit/>
          </a:bodyPr>
          <a:lstStyle/>
          <a:p>
            <a:r>
              <a:rPr lang="es-CO" dirty="0"/>
              <a:t>https://www.postgresql.org/docs/current/runtime-config-query.html#RUNTIME-CONFIG-QUERY-CONSTANTS</a:t>
            </a:r>
          </a:p>
        </p:txBody>
      </p:sp>
      <p:pic>
        <p:nvPicPr>
          <p:cNvPr id="25" name="Imagen 24" descr="Interfaz de usuario gráfica, Texto, Aplicación, Correo electrónico&#10;&#10;El contenido generado por IA puede ser incorrecto.">
            <a:extLst>
              <a:ext uri="{FF2B5EF4-FFF2-40B4-BE49-F238E27FC236}">
                <a16:creationId xmlns:a16="http://schemas.microsoft.com/office/drawing/2014/main" id="{E7F6EB73-BFF0-D9DA-7EE5-1681266909A9}"/>
              </a:ext>
            </a:extLst>
          </p:cNvPr>
          <p:cNvPicPr>
            <a:picLocks noChangeAspect="1"/>
          </p:cNvPicPr>
          <p:nvPr/>
        </p:nvPicPr>
        <p:blipFill>
          <a:blip r:embed="rId5"/>
          <a:stretch>
            <a:fillRect/>
          </a:stretch>
        </p:blipFill>
        <p:spPr>
          <a:xfrm>
            <a:off x="575574" y="2387398"/>
            <a:ext cx="9293539" cy="3444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8952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446F-4332-01F5-2301-26E84DCDF5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A0A74E-8DAF-08EA-D42C-D962D1413AB2}"/>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74E4079-4BCD-AA80-9B5C-83EF59EF6DCF}"/>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50BC0EDE-C9C3-2BCC-3C69-24CE8677D153}"/>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8CB4711-CE01-C4D2-D2F0-E06E95332DF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D73DB2F-D34B-7137-56E3-FE03D334B1E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F5E52B05-9586-3291-F4AA-1299B51D7F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C26BB4B1-2BB3-C6D6-663E-B4AB9CB073D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7F012B9E-107A-D621-4F9D-44C68EBC69C5}"/>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4692D28-528B-681E-5E5F-EC99F8B9B5F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5378E3E-861F-3FAD-4D37-4C57B045704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6360325-3E0B-F5CC-5B79-D12B24163525}"/>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A6921137-13B0-0021-115F-9C7DE2E0A5B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3F0A3355-34AC-42A4-A757-666807115C6C}"/>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4" name="Imagen 3" descr="Interfaz de usuario gráfica, Aplicación, Word&#10;&#10;El contenido generado por IA puede ser incorrecto.">
            <a:extLst>
              <a:ext uri="{FF2B5EF4-FFF2-40B4-BE49-F238E27FC236}">
                <a16:creationId xmlns:a16="http://schemas.microsoft.com/office/drawing/2014/main" id="{2FD4040D-34C5-F0BD-3F10-389C0B87EB6E}"/>
              </a:ext>
            </a:extLst>
          </p:cNvPr>
          <p:cNvPicPr>
            <a:picLocks noChangeAspect="1"/>
          </p:cNvPicPr>
          <p:nvPr/>
        </p:nvPicPr>
        <p:blipFill>
          <a:blip r:embed="rId5"/>
          <a:stretch>
            <a:fillRect/>
          </a:stretch>
        </p:blipFill>
        <p:spPr>
          <a:xfrm>
            <a:off x="145466" y="2908078"/>
            <a:ext cx="17483765" cy="4470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16081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466C-AD3E-78B6-3B7A-8FEE7B2392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DFE6E1-90B1-0FE2-58B4-E33D4068BE74}"/>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AAB3A4E-E527-7276-C01D-BFB2F7800AF7}"/>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AC9EA375-112B-D547-950F-D118FCF81BD1}"/>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BB791D4-DE73-0754-FE25-43802001CE4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A5F163E0-DD93-B556-DF22-4E7D4DA657A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E5663D73-B07B-4388-4D00-D5585360BEA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A8986C26-6245-D8CD-9945-791EF289F12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DFC012B-2DD6-4AB1-793B-51F8E6E27EF7}"/>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9B3732C-A261-6BA9-4F1E-D3D0EFCEE49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FB5F2333-D11A-5E85-43B0-735B1FA4EC0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4" name="CuadroTexto 3">
            <a:extLst>
              <a:ext uri="{FF2B5EF4-FFF2-40B4-BE49-F238E27FC236}">
                <a16:creationId xmlns:a16="http://schemas.microsoft.com/office/drawing/2014/main" id="{1B53A8DB-E023-A958-B757-8BDEAFEC21E0}"/>
              </a:ext>
            </a:extLst>
          </p:cNvPr>
          <p:cNvSpPr txBox="1"/>
          <p:nvPr/>
        </p:nvSpPr>
        <p:spPr>
          <a:xfrm>
            <a:off x="658769" y="280517"/>
            <a:ext cx="15576777" cy="9879628"/>
          </a:xfrm>
          <a:prstGeom prst="rect">
            <a:avLst/>
          </a:prstGeom>
          <a:noFill/>
        </p:spPr>
        <p:txBody>
          <a:bodyPr wrap="square">
            <a:spAutoFit/>
          </a:bodyPr>
          <a:lstStyle/>
          <a:p>
            <a:r>
              <a:rPr lang="es-ES" sz="2400" b="1" dirty="0">
                <a:latin typeface="Poppins" panose="00000500000000000000" pitchFamily="2" charset="0"/>
                <a:cs typeface="Poppins" panose="00000500000000000000" pitchFamily="2" charset="0"/>
              </a:rPr>
              <a:t>Plan 1:</a:t>
            </a:r>
            <a:r>
              <a:rPr lang="es-ES" sz="2400" dirty="0">
                <a:latin typeface="Poppins" panose="00000500000000000000" pitchFamily="2" charset="0"/>
                <a:cs typeface="Poppins" panose="00000500000000000000" pitchFamily="2" charset="0"/>
              </a:rPr>
              <a:t> Es un enfoque de </a:t>
            </a:r>
            <a:r>
              <a:rPr lang="es-ES" sz="2400" b="1" dirty="0">
                <a:latin typeface="Poppins" panose="00000500000000000000" pitchFamily="2" charset="0"/>
                <a:cs typeface="Poppins" panose="00000500000000000000" pitchFamily="2" charset="0"/>
              </a:rPr>
              <a:t>fuerza bruta y paralelo</a:t>
            </a:r>
            <a:r>
              <a:rPr lang="es-ES" sz="2400" dirty="0">
                <a:latin typeface="Poppins" panose="00000500000000000000" pitchFamily="2" charset="0"/>
                <a:cs typeface="Poppins" panose="00000500000000000000" pitchFamily="2" charset="0"/>
              </a:rPr>
              <a:t>. Escanea tablas completas utilizando múltiples </a:t>
            </a:r>
            <a:r>
              <a:rPr lang="es-ES" sz="2400" dirty="0" err="1">
                <a:latin typeface="Poppins" panose="00000500000000000000" pitchFamily="2" charset="0"/>
                <a:cs typeface="Poppins" panose="00000500000000000000" pitchFamily="2" charset="0"/>
              </a:rPr>
              <a:t>CPUs</a:t>
            </a:r>
            <a:r>
              <a:rPr lang="es-ES" sz="2400" dirty="0">
                <a:latin typeface="Poppins" panose="00000500000000000000" pitchFamily="2" charset="0"/>
                <a:cs typeface="Poppins" panose="00000500000000000000" pitchFamily="2" charset="0"/>
              </a:rPr>
              <a:t> y las une usando una tabla hash en memoria. Procesa muchas más filas (~99,441).</a:t>
            </a:r>
          </a:p>
          <a:p>
            <a:pPr marL="742950" lvl="1" indent="-285750">
              <a:buFont typeface="Arial" panose="020B0604020202020204" pitchFamily="34" charset="0"/>
              <a:buChar char="•"/>
            </a:pPr>
            <a:r>
              <a:rPr lang="es-ES" sz="2400" i="1" dirty="0">
                <a:latin typeface="Poppins" panose="00000500000000000000" pitchFamily="2" charset="0"/>
                <a:cs typeface="Poppins" panose="00000500000000000000" pitchFamily="2" charset="0"/>
              </a:rPr>
              <a:t>Tiempo de ejecución:</a:t>
            </a:r>
            <a:r>
              <a:rPr lang="es-ES" sz="2400" dirty="0">
                <a:latin typeface="Poppins" panose="00000500000000000000" pitchFamily="2" charset="0"/>
                <a:cs typeface="Poppins" panose="00000500000000000000" pitchFamily="2" charset="0"/>
              </a:rPr>
              <a:t> ~130 ms.</a:t>
            </a:r>
          </a:p>
          <a:p>
            <a:r>
              <a:rPr lang="es-ES" sz="2400" b="1" dirty="0">
                <a:latin typeface="Poppins" panose="00000500000000000000" pitchFamily="2" charset="0"/>
                <a:cs typeface="Poppins" panose="00000500000000000000" pitchFamily="2" charset="0"/>
              </a:rPr>
              <a:t>Plan 2:</a:t>
            </a:r>
            <a:r>
              <a:rPr lang="es-ES" sz="2400" dirty="0">
                <a:latin typeface="Poppins" panose="00000500000000000000" pitchFamily="2" charset="0"/>
                <a:cs typeface="Poppins" panose="00000500000000000000" pitchFamily="2" charset="0"/>
              </a:rPr>
              <a:t> Es un enfoque </a:t>
            </a:r>
            <a:r>
              <a:rPr lang="es-ES" sz="2400" b="1" dirty="0">
                <a:latin typeface="Poppins" panose="00000500000000000000" pitchFamily="2" charset="0"/>
                <a:cs typeface="Poppins" panose="00000500000000000000" pitchFamily="2" charset="0"/>
              </a:rPr>
              <a:t>quirúrgico y selectivo</a:t>
            </a:r>
            <a:r>
              <a:rPr lang="es-ES" sz="2400" dirty="0">
                <a:latin typeface="Poppins" panose="00000500000000000000" pitchFamily="2" charset="0"/>
                <a:cs typeface="Poppins" panose="00000500000000000000" pitchFamily="2" charset="0"/>
              </a:rPr>
              <a:t>. Utiliza índices para encontrar un pequeño conjunto de filas (800) y unirlas mediante un bucle.</a:t>
            </a:r>
          </a:p>
          <a:p>
            <a:pPr marL="742950" lvl="1" indent="-285750">
              <a:buFont typeface="Arial" panose="020B0604020202020204" pitchFamily="34" charset="0"/>
              <a:buChar char="•"/>
            </a:pPr>
            <a:r>
              <a:rPr lang="es-ES" sz="2400" i="1" dirty="0">
                <a:latin typeface="Poppins" panose="00000500000000000000" pitchFamily="2" charset="0"/>
                <a:cs typeface="Poppins" panose="00000500000000000000" pitchFamily="2" charset="0"/>
              </a:rPr>
              <a:t>Tiempo de ejecución:</a:t>
            </a:r>
            <a:r>
              <a:rPr lang="es-ES" sz="2400" dirty="0">
                <a:latin typeface="Poppins" panose="00000500000000000000" pitchFamily="2" charset="0"/>
                <a:cs typeface="Poppins" panose="00000500000000000000" pitchFamily="2" charset="0"/>
              </a:rPr>
              <a:t> ~327 ms.</a:t>
            </a:r>
          </a:p>
          <a:p>
            <a:pPr>
              <a:buNone/>
            </a:pPr>
            <a:r>
              <a:rPr lang="es-ES" sz="2400" b="1" dirty="0">
                <a:latin typeface="Poppins" panose="00000500000000000000" pitchFamily="2" charset="0"/>
                <a:cs typeface="Poppins" panose="00000500000000000000" pitchFamily="2" charset="0"/>
              </a:rPr>
              <a:t>Lo más notable:</a:t>
            </a:r>
            <a:r>
              <a:rPr lang="es-ES" sz="2400" dirty="0">
                <a:latin typeface="Poppins" panose="00000500000000000000" pitchFamily="2" charset="0"/>
                <a:cs typeface="Poppins" panose="00000500000000000000" pitchFamily="2" charset="0"/>
              </a:rPr>
              <a:t> El Plan 1 es casi </a:t>
            </a:r>
            <a:r>
              <a:rPr lang="es-ES" sz="2400" b="1" dirty="0">
                <a:latin typeface="Poppins" panose="00000500000000000000" pitchFamily="2" charset="0"/>
                <a:cs typeface="Poppins" panose="00000500000000000000" pitchFamily="2" charset="0"/>
              </a:rPr>
              <a:t>3 veces más rápido</a:t>
            </a:r>
            <a:r>
              <a:rPr lang="es-ES" sz="2400" dirty="0">
                <a:latin typeface="Poppins" panose="00000500000000000000" pitchFamily="2" charset="0"/>
                <a:cs typeface="Poppins" panose="00000500000000000000" pitchFamily="2" charset="0"/>
              </a:rPr>
              <a:t> que el Plan 2, a pesar de procesar </a:t>
            </a:r>
            <a:r>
              <a:rPr lang="es-ES" sz="2400" b="1" dirty="0">
                <a:latin typeface="Poppins" panose="00000500000000000000" pitchFamily="2" charset="0"/>
                <a:cs typeface="Poppins" panose="00000500000000000000" pitchFamily="2" charset="0"/>
              </a:rPr>
              <a:t>120 veces más datos</a:t>
            </a:r>
            <a:r>
              <a:rPr lang="es-ES" sz="2400" dirty="0">
                <a:latin typeface="Poppins" panose="00000500000000000000" pitchFamily="2" charset="0"/>
                <a:cs typeface="Poppins" panose="00000500000000000000" pitchFamily="2" charset="0"/>
              </a:rPr>
              <a:t> (99k filas frente a 800).</a:t>
            </a:r>
          </a:p>
          <a:p>
            <a:pPr>
              <a:buNone/>
            </a:pPr>
            <a:br>
              <a:rPr lang="es-ES" sz="2400" dirty="0">
                <a:latin typeface="Poppins" panose="00000500000000000000" pitchFamily="2" charset="0"/>
                <a:cs typeface="Poppins" panose="00000500000000000000" pitchFamily="2" charset="0"/>
              </a:rPr>
            </a:br>
            <a:endParaRPr lang="es-ES" sz="2400" dirty="0">
              <a:latin typeface="Poppins" panose="00000500000000000000" pitchFamily="2" charset="0"/>
              <a:cs typeface="Poppins" panose="00000500000000000000" pitchFamily="2" charset="0"/>
            </a:endParaRPr>
          </a:p>
          <a:p>
            <a:pPr>
              <a:buNone/>
            </a:pPr>
            <a:r>
              <a:rPr lang="es-ES" sz="2400" b="1" dirty="0">
                <a:latin typeface="Poppins" panose="00000500000000000000" pitchFamily="2" charset="0"/>
                <a:cs typeface="Poppins" panose="00000500000000000000" pitchFamily="2" charset="0"/>
              </a:rPr>
              <a:t>Comparación Detallada</a:t>
            </a:r>
          </a:p>
          <a:p>
            <a:pPr marL="457200" indent="-457200">
              <a:buAutoNum type="arabicPeriod"/>
            </a:pPr>
            <a:r>
              <a:rPr lang="es-ES" sz="2400" b="1" dirty="0">
                <a:latin typeface="Poppins" panose="00000500000000000000" pitchFamily="2" charset="0"/>
                <a:cs typeface="Poppins" panose="00000500000000000000" pitchFamily="2" charset="0"/>
              </a:rPr>
              <a:t>Estrategia de Unión (</a:t>
            </a:r>
            <a:r>
              <a:rPr lang="es-ES" sz="2400" b="1" dirty="0" err="1">
                <a:latin typeface="Poppins" panose="00000500000000000000" pitchFamily="2" charset="0"/>
                <a:cs typeface="Poppins" panose="00000500000000000000" pitchFamily="2" charset="0"/>
              </a:rPr>
              <a:t>Join</a:t>
            </a:r>
            <a:r>
              <a:rPr lang="es-ES" sz="2400" b="1" dirty="0">
                <a:latin typeface="Poppins" panose="00000500000000000000" pitchFamily="2" charset="0"/>
                <a:cs typeface="Poppins" panose="00000500000000000000" pitchFamily="2" charset="0"/>
              </a:rPr>
              <a:t> </a:t>
            </a:r>
            <a:r>
              <a:rPr lang="es-ES" sz="2400" b="1" dirty="0" err="1">
                <a:latin typeface="Poppins" panose="00000500000000000000" pitchFamily="2" charset="0"/>
                <a:cs typeface="Poppins" panose="00000500000000000000" pitchFamily="2" charset="0"/>
              </a:rPr>
              <a:t>Strategy</a:t>
            </a:r>
            <a:r>
              <a:rPr lang="es-ES" sz="2400" b="1" dirty="0">
                <a:latin typeface="Poppins" panose="00000500000000000000" pitchFamily="2" charset="0"/>
                <a:cs typeface="Poppins" panose="00000500000000000000" pitchFamily="2" charset="0"/>
              </a:rPr>
              <a:t>)</a:t>
            </a:r>
          </a:p>
          <a:p>
            <a:pPr marL="457200" indent="-457200">
              <a:buAutoNum type="arabicPeriod"/>
            </a:pPr>
            <a:endParaRPr lang="es-ES" sz="2400" b="1" dirty="0">
              <a:latin typeface="Poppins" panose="00000500000000000000" pitchFamily="2" charset="0"/>
              <a:cs typeface="Poppins" panose="00000500000000000000" pitchFamily="2" charset="0"/>
            </a:endParaRPr>
          </a:p>
          <a:p>
            <a:r>
              <a:rPr lang="es-ES" sz="2400" b="1" dirty="0">
                <a:latin typeface="Poppins" panose="00000500000000000000" pitchFamily="2" charset="0"/>
                <a:cs typeface="Poppins" panose="00000500000000000000" pitchFamily="2" charset="0"/>
              </a:rPr>
              <a:t>Plan 1: </a:t>
            </a:r>
            <a:r>
              <a:rPr lang="es-ES" sz="2400" b="1" dirty="0" err="1">
                <a:latin typeface="Poppins" panose="00000500000000000000" pitchFamily="2" charset="0"/>
                <a:cs typeface="Poppins" panose="00000500000000000000" pitchFamily="2" charset="0"/>
              </a:rPr>
              <a:t>Parallel</a:t>
            </a:r>
            <a:r>
              <a:rPr lang="es-ES" sz="2400" b="1" dirty="0">
                <a:latin typeface="Poppins" panose="00000500000000000000" pitchFamily="2" charset="0"/>
                <a:cs typeface="Poppins" panose="00000500000000000000" pitchFamily="2" charset="0"/>
              </a:rPr>
              <a:t> Hash </a:t>
            </a:r>
            <a:r>
              <a:rPr lang="es-ES" sz="2400" b="1" dirty="0" err="1">
                <a:latin typeface="Poppins" panose="00000500000000000000" pitchFamily="2" charset="0"/>
                <a:cs typeface="Poppins" panose="00000500000000000000" pitchFamily="2" charset="0"/>
              </a:rPr>
              <a:t>Join</a:t>
            </a:r>
            <a:r>
              <a:rPr lang="es-ES" sz="2400" b="1" dirty="0">
                <a:latin typeface="Poppins" panose="00000500000000000000" pitchFamily="2" charset="0"/>
                <a:cs typeface="Poppins" panose="00000500000000000000" pitchFamily="2" charset="0"/>
              </a:rPr>
              <a:t> (Unión Hash Paralela)</a:t>
            </a:r>
            <a:endParaRPr lang="es-ES" sz="2400" dirty="0">
              <a:latin typeface="Poppins" panose="00000500000000000000" pitchFamily="2" charset="0"/>
              <a:cs typeface="Poppins" panose="00000500000000000000" pitchFamily="2" charset="0"/>
            </a:endParaRP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Esta estrategia es ideal para unir dos conjuntos de datos grandes.</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Funciona así: Lee una tabla completa (clientes) y crea una "tabla hash" en la memoria RAM. Luego, lee la otra tabla completa (pedidos) y compara cada fila contra esa tabla hash. Es muy rápido para grandes volúmenes.</a:t>
            </a:r>
          </a:p>
          <a:p>
            <a:r>
              <a:rPr lang="es-ES" sz="2400" b="1" dirty="0">
                <a:latin typeface="Poppins" panose="00000500000000000000" pitchFamily="2" charset="0"/>
                <a:cs typeface="Poppins" panose="00000500000000000000" pitchFamily="2" charset="0"/>
              </a:rPr>
              <a:t>Plan 2: </a:t>
            </a:r>
            <a:r>
              <a:rPr lang="es-ES" sz="2400" b="1" dirty="0" err="1">
                <a:latin typeface="Poppins" panose="00000500000000000000" pitchFamily="2" charset="0"/>
                <a:cs typeface="Poppins" panose="00000500000000000000" pitchFamily="2" charset="0"/>
              </a:rPr>
              <a:t>Nested</a:t>
            </a:r>
            <a:r>
              <a:rPr lang="es-ES" sz="2400" b="1" dirty="0">
                <a:latin typeface="Poppins" panose="00000500000000000000" pitchFamily="2" charset="0"/>
                <a:cs typeface="Poppins" panose="00000500000000000000" pitchFamily="2" charset="0"/>
              </a:rPr>
              <a:t> </a:t>
            </a:r>
            <a:r>
              <a:rPr lang="es-ES" sz="2400" b="1" dirty="0" err="1">
                <a:latin typeface="Poppins" panose="00000500000000000000" pitchFamily="2" charset="0"/>
                <a:cs typeface="Poppins" panose="00000500000000000000" pitchFamily="2" charset="0"/>
              </a:rPr>
              <a:t>Loop</a:t>
            </a:r>
            <a:r>
              <a:rPr lang="es-ES" sz="2400" b="1" dirty="0">
                <a:latin typeface="Poppins" panose="00000500000000000000" pitchFamily="2" charset="0"/>
                <a:cs typeface="Poppins" panose="00000500000000000000" pitchFamily="2" charset="0"/>
              </a:rPr>
              <a:t> (Bucle Anidado)</a:t>
            </a:r>
            <a:endParaRPr lang="es-ES" sz="2400" dirty="0">
              <a:latin typeface="Poppins" panose="00000500000000000000" pitchFamily="2" charset="0"/>
              <a:cs typeface="Poppins" panose="00000500000000000000" pitchFamily="2" charset="0"/>
            </a:endParaRP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Esta estrategia es ideal cuando una de las tablas que se unen es muy pequeña.</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Funciona así: Para cada una de las 800 filas encontradas en la tabla de pedidos (</a:t>
            </a:r>
            <a:r>
              <a:rPr lang="es-ES" sz="2400" dirty="0" err="1">
                <a:latin typeface="Poppins" panose="00000500000000000000" pitchFamily="2" charset="0"/>
                <a:cs typeface="Poppins" panose="00000500000000000000" pitchFamily="2" charset="0"/>
              </a:rPr>
              <a:t>olist_orders</a:t>
            </a:r>
            <a:r>
              <a:rPr lang="es-ES" sz="2400" dirty="0">
                <a:latin typeface="Poppins" panose="00000500000000000000" pitchFamily="2" charset="0"/>
                <a:cs typeface="Poppins" panose="00000500000000000000" pitchFamily="2" charset="0"/>
              </a:rPr>
              <a:t>), PostgreSQL realiza una búsqueda individual en la tabla de clientes (</a:t>
            </a:r>
            <a:r>
              <a:rPr lang="es-ES" sz="2400" dirty="0" err="1">
                <a:latin typeface="Poppins" panose="00000500000000000000" pitchFamily="2" charset="0"/>
                <a:cs typeface="Poppins" panose="00000500000000000000" pitchFamily="2" charset="0"/>
              </a:rPr>
              <a:t>olist_customers</a:t>
            </a:r>
            <a:r>
              <a:rPr lang="es-ES" sz="2400" dirty="0">
                <a:latin typeface="Poppins" panose="00000500000000000000" pitchFamily="2" charset="0"/>
                <a:cs typeface="Poppins" panose="00000500000000000000" pitchFamily="2" charset="0"/>
              </a:rPr>
              <a:t>) usando su clave primaria.</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Mira el nodo </a:t>
            </a:r>
            <a:r>
              <a:rPr lang="es-ES" sz="2400" dirty="0" err="1">
                <a:latin typeface="Poppins" panose="00000500000000000000" pitchFamily="2" charset="0"/>
                <a:cs typeface="Poppins" panose="00000500000000000000" pitchFamily="2" charset="0"/>
              </a:rPr>
              <a:t>Index</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Scan</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using</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olist_customers_pkey</a:t>
            </a:r>
            <a:r>
              <a:rPr lang="es-ES" sz="2400" dirty="0">
                <a:latin typeface="Poppins" panose="00000500000000000000" pitchFamily="2" charset="0"/>
                <a:cs typeface="Poppins" panose="00000500000000000000" pitchFamily="2" charset="0"/>
              </a:rPr>
              <a:t>: dice </a:t>
            </a:r>
            <a:r>
              <a:rPr lang="es-ES" sz="2400" dirty="0" err="1">
                <a:latin typeface="Poppins" panose="00000500000000000000" pitchFamily="2" charset="0"/>
                <a:cs typeface="Poppins" panose="00000500000000000000" pitchFamily="2" charset="0"/>
              </a:rPr>
              <a:t>loops</a:t>
            </a:r>
            <a:r>
              <a:rPr lang="es-ES" sz="2400" dirty="0">
                <a:latin typeface="Poppins" panose="00000500000000000000" pitchFamily="2" charset="0"/>
                <a:cs typeface="Poppins" panose="00000500000000000000" pitchFamily="2" charset="0"/>
              </a:rPr>
              <a:t>=800. Significa que esa operación se ejecutó 800 veces de forma secuencial.</a:t>
            </a:r>
          </a:p>
          <a:p>
            <a:pPr>
              <a:buNone/>
            </a:pPr>
            <a:endParaRPr lang="es-ES" sz="1800" dirty="0">
              <a:latin typeface="Poppins" panose="00000500000000000000" pitchFamily="2" charset="0"/>
              <a:cs typeface="Poppins" panose="00000500000000000000" pitchFamily="2" charset="0"/>
            </a:endParaRPr>
          </a:p>
          <a:p>
            <a:pPr>
              <a:buNone/>
            </a:pPr>
            <a:endParaRPr lang="es-ES" sz="1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7948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8A9EA-42E9-3CAE-37DE-3579AE87B1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1F0B2E-9935-56F9-B8A0-9D1DC1279C8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C0E0E7F-64EB-8B68-DC2D-C7A28A27086D}"/>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3E83779-863D-AEE9-0C3D-0B742A1A8F2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393E32F-EFE7-434C-0F5C-68338634A90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353A82BD-B23A-ED5A-9B7B-5DE0C910046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44E17F0-FE74-8238-1569-07B5B422F26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73AB38EC-61D9-3721-3D0D-6CF765D4164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F8D4738-0936-D3E1-8750-AC12BAA84BE4}"/>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DB53F9E-8503-BEB3-C0BB-585A89BC5FF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47A56DFA-FCD6-696E-6D0E-F32B17F3F96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4" name="CuadroTexto 3">
            <a:extLst>
              <a:ext uri="{FF2B5EF4-FFF2-40B4-BE49-F238E27FC236}">
                <a16:creationId xmlns:a16="http://schemas.microsoft.com/office/drawing/2014/main" id="{C76ABC81-6EB0-539A-46CD-470855CE6EAE}"/>
              </a:ext>
            </a:extLst>
          </p:cNvPr>
          <p:cNvSpPr txBox="1"/>
          <p:nvPr/>
        </p:nvSpPr>
        <p:spPr>
          <a:xfrm>
            <a:off x="599496" y="619028"/>
            <a:ext cx="16539643" cy="8925520"/>
          </a:xfrm>
          <a:prstGeom prst="rect">
            <a:avLst/>
          </a:prstGeom>
          <a:noFill/>
        </p:spPr>
        <p:txBody>
          <a:bodyPr wrap="square">
            <a:spAutoFit/>
          </a:bodyPr>
          <a:lstStyle/>
          <a:p>
            <a:pPr>
              <a:buNone/>
            </a:pPr>
            <a:r>
              <a:rPr lang="es-ES" sz="2800" b="1" dirty="0"/>
              <a:t>2. Método de Acceso a los Datos (Data Access)</a:t>
            </a:r>
          </a:p>
          <a:p>
            <a:pPr>
              <a:buNone/>
            </a:pPr>
            <a:endParaRPr lang="es-ES" sz="2800" b="1" dirty="0"/>
          </a:p>
          <a:p>
            <a:r>
              <a:rPr lang="es-ES" sz="2800" b="1" dirty="0"/>
              <a:t>Plan 1: </a:t>
            </a:r>
            <a:r>
              <a:rPr lang="es-ES" sz="2800" b="1" dirty="0" err="1"/>
              <a:t>Parallel</a:t>
            </a:r>
            <a:r>
              <a:rPr lang="es-ES" sz="2800" b="1" dirty="0"/>
              <a:t> </a:t>
            </a:r>
            <a:r>
              <a:rPr lang="es-ES" sz="2800" b="1" dirty="0" err="1"/>
              <a:t>Seq</a:t>
            </a:r>
            <a:r>
              <a:rPr lang="es-ES" sz="2800" b="1" dirty="0"/>
              <a:t> </a:t>
            </a:r>
            <a:r>
              <a:rPr lang="es-ES" sz="2800" b="1" dirty="0" err="1"/>
              <a:t>Scan</a:t>
            </a:r>
            <a:r>
              <a:rPr lang="es-ES" sz="2800" b="1" dirty="0"/>
              <a:t> (Escaneo Secuencial Paralelo)</a:t>
            </a:r>
            <a:endParaRPr lang="es-ES" sz="2800" dirty="0"/>
          </a:p>
          <a:p>
            <a:pPr marL="742950" lvl="1" indent="-285750">
              <a:buFont typeface="Arial" panose="020B0604020202020204" pitchFamily="34" charset="0"/>
              <a:buChar char="•"/>
            </a:pPr>
            <a:r>
              <a:rPr lang="es-ES" sz="2800" b="1" dirty="0"/>
              <a:t>No está usando el filtro de fecha.</a:t>
            </a:r>
            <a:r>
              <a:rPr lang="es-ES" sz="2800" dirty="0"/>
              <a:t> Esto es clave. El plan muestra que está leyendo la </a:t>
            </a:r>
            <a:r>
              <a:rPr lang="es-ES" sz="2800" i="1" dirty="0"/>
              <a:t>totalidad</a:t>
            </a:r>
            <a:r>
              <a:rPr lang="es-ES" sz="2800" dirty="0"/>
              <a:t> de las tablas </a:t>
            </a:r>
            <a:r>
              <a:rPr lang="es-ES" sz="2800" dirty="0" err="1">
                <a:latin typeface="Courier New" panose="02070309020205020404" pitchFamily="49" charset="0"/>
              </a:rPr>
              <a:t>olist_orders</a:t>
            </a:r>
            <a:r>
              <a:rPr lang="es-ES" sz="2800" dirty="0"/>
              <a:t> y </a:t>
            </a:r>
            <a:r>
              <a:rPr lang="es-ES" sz="2800" dirty="0" err="1">
                <a:latin typeface="Courier New" panose="02070309020205020404" pitchFamily="49" charset="0"/>
              </a:rPr>
              <a:t>olist_customers</a:t>
            </a:r>
            <a:r>
              <a:rPr lang="es-ES" sz="2800" dirty="0"/>
              <a:t>.</a:t>
            </a:r>
          </a:p>
          <a:p>
            <a:pPr marL="742950" lvl="1" indent="-285750">
              <a:buFont typeface="Arial" panose="020B0604020202020204" pitchFamily="34" charset="0"/>
              <a:buChar char="•"/>
            </a:pPr>
            <a:r>
              <a:rPr lang="es-ES" sz="2800" dirty="0"/>
              <a:t>Utiliza "</a:t>
            </a:r>
            <a:r>
              <a:rPr lang="es-ES" sz="2800" dirty="0" err="1"/>
              <a:t>Parallel</a:t>
            </a:r>
            <a:r>
              <a:rPr lang="es-ES" sz="2800" dirty="0"/>
              <a:t>", lo que significa que ha lanzado un proceso de trabajo adicional (</a:t>
            </a:r>
            <a:r>
              <a:rPr lang="es-ES" sz="2800" dirty="0" err="1"/>
              <a:t>Worker</a:t>
            </a:r>
            <a:r>
              <a:rPr lang="es-ES" sz="2800" dirty="0"/>
              <a:t>) para ayudar a leer los discos más rápido.</a:t>
            </a:r>
          </a:p>
          <a:p>
            <a:r>
              <a:rPr lang="es-ES" sz="2800" b="1" dirty="0"/>
              <a:t>Plan 2: </a:t>
            </a:r>
            <a:r>
              <a:rPr lang="es-ES" sz="2800" b="1" dirty="0" err="1"/>
              <a:t>Index</a:t>
            </a:r>
            <a:r>
              <a:rPr lang="es-ES" sz="2800" b="1" dirty="0"/>
              <a:t> </a:t>
            </a:r>
            <a:r>
              <a:rPr lang="es-ES" sz="2800" b="1" dirty="0" err="1"/>
              <a:t>Scan</a:t>
            </a:r>
            <a:r>
              <a:rPr lang="es-ES" sz="2800" b="1" dirty="0"/>
              <a:t> (Escaneo de Índice)</a:t>
            </a:r>
            <a:endParaRPr lang="es-ES" sz="2800" dirty="0"/>
          </a:p>
          <a:p>
            <a:pPr marL="742950" lvl="1" indent="-285750">
              <a:buFont typeface="Arial" panose="020B0604020202020204" pitchFamily="34" charset="0"/>
              <a:buChar char="•"/>
            </a:pPr>
            <a:r>
              <a:rPr lang="es-ES" sz="2800" dirty="0"/>
              <a:t>Utiliza un índice de fecha (</a:t>
            </a:r>
            <a:r>
              <a:rPr lang="es-ES" sz="2800" dirty="0" err="1">
                <a:latin typeface="Courier New" panose="02070309020205020404" pitchFamily="49" charset="0"/>
              </a:rPr>
              <a:t>idx_orders_purchase_ts</a:t>
            </a:r>
            <a:r>
              <a:rPr lang="es-ES" sz="2800" dirty="0"/>
              <a:t>) para filtrar específicamente el rango de fechas '2017-01-01' a '2017-02-01'.</a:t>
            </a:r>
          </a:p>
          <a:p>
            <a:pPr marL="742950" lvl="1" indent="-285750">
              <a:buFont typeface="Arial" panose="020B0604020202020204" pitchFamily="34" charset="0"/>
              <a:buChar char="•"/>
            </a:pPr>
            <a:r>
              <a:rPr lang="es-ES" sz="2800" dirty="0"/>
              <a:t>Esto es muy eficiente para encontrar pocas filas.</a:t>
            </a:r>
          </a:p>
          <a:p>
            <a:pPr marL="742950" lvl="1" indent="-285750">
              <a:buFont typeface="Arial" panose="020B0604020202020204" pitchFamily="34" charset="0"/>
              <a:buChar char="•"/>
            </a:pPr>
            <a:r>
              <a:rPr lang="es-ES" sz="2800" i="1" dirty="0"/>
              <a:t>Nota:</a:t>
            </a:r>
            <a:r>
              <a:rPr lang="es-ES" sz="2800" dirty="0"/>
              <a:t> Utiliza un "Bitmap </a:t>
            </a:r>
            <a:r>
              <a:rPr lang="es-ES" sz="2800" dirty="0" err="1"/>
              <a:t>Scan</a:t>
            </a:r>
            <a:r>
              <a:rPr lang="es-ES" sz="2800" dirty="0"/>
              <a:t>", que es una técnica intermedia donde primero encuentra las ubicaciones en el índice y luego va a la tabla a buscar los datos reales.</a:t>
            </a:r>
          </a:p>
          <a:p>
            <a:pPr marL="742950" lvl="1" indent="-285750">
              <a:buFont typeface="Arial" panose="020B0604020202020204" pitchFamily="34" charset="0"/>
              <a:buChar char="•"/>
            </a:pPr>
            <a:endParaRPr lang="es-ES" sz="2800" dirty="0"/>
          </a:p>
          <a:p>
            <a:pPr>
              <a:buNone/>
            </a:pPr>
            <a:r>
              <a:rPr lang="es-ES" sz="2800" b="1" dirty="0"/>
              <a:t>3. Volumen de Datos Procesados</a:t>
            </a:r>
          </a:p>
          <a:p>
            <a:pPr>
              <a:buNone/>
            </a:pPr>
            <a:endParaRPr lang="es-ES" sz="2800" b="1" dirty="0"/>
          </a:p>
          <a:p>
            <a:pPr>
              <a:buNone/>
            </a:pPr>
            <a:r>
              <a:rPr lang="es-ES" sz="2800" dirty="0"/>
              <a:t>Esta es la diferencia más crítica y sugiere que </a:t>
            </a:r>
            <a:r>
              <a:rPr lang="es-ES" sz="2800" b="1" dirty="0"/>
              <a:t>las consultas ejecutadas probablemente no eran idénticas</a:t>
            </a:r>
            <a:r>
              <a:rPr lang="es-ES" sz="2800" dirty="0"/>
              <a:t>:</a:t>
            </a:r>
          </a:p>
          <a:p>
            <a:r>
              <a:rPr lang="es-ES" sz="2800" b="1" dirty="0"/>
              <a:t>Plan 1:</a:t>
            </a:r>
            <a:r>
              <a:rPr lang="es-ES" sz="2800" dirty="0"/>
              <a:t> Al no aplicar un filtro selectivo, está uniendo </a:t>
            </a:r>
            <a:r>
              <a:rPr lang="es-ES" sz="2800" b="1" dirty="0"/>
              <a:t>99,441 filas</a:t>
            </a:r>
            <a:r>
              <a:rPr lang="es-ES" sz="2800" dirty="0"/>
              <a:t>.</a:t>
            </a:r>
          </a:p>
          <a:p>
            <a:r>
              <a:rPr lang="es-ES" sz="2800" b="1" dirty="0"/>
              <a:t>Plan 2:</a:t>
            </a:r>
            <a:r>
              <a:rPr lang="es-ES" sz="2800" dirty="0"/>
              <a:t> El filtro de fecha es efectivo y reduce el conjunto de trabajo a solo </a:t>
            </a:r>
            <a:r>
              <a:rPr lang="es-ES" sz="2800" b="1" dirty="0"/>
              <a:t>800 filas</a:t>
            </a:r>
            <a:r>
              <a:rPr lang="es-ES" sz="2800" dirty="0"/>
              <a:t>.</a:t>
            </a:r>
          </a:p>
          <a:p>
            <a:pPr>
              <a:buNone/>
            </a:pPr>
            <a:endParaRPr lang="es-ES" dirty="0"/>
          </a:p>
        </p:txBody>
      </p:sp>
    </p:spTree>
    <p:extLst>
      <p:ext uri="{BB962C8B-B14F-4D97-AF65-F5344CB8AC3E}">
        <p14:creationId xmlns:p14="http://schemas.microsoft.com/office/powerpoint/2010/main" val="604891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AF8ED-32AB-68BC-7B43-4B77EEB2E1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F10CF95-ACCF-7547-F628-A65A6214495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7D10524-4D6D-6B7A-A391-612BB5B7FE7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DC2AD158-A367-0EBB-0088-1DFBF39C361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CDA73729-80E5-58A8-53AF-91D4190191B3}"/>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4EBE997-8B17-7171-56E9-DBA528F294C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A33C195-9149-9F5A-5978-26AB100521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1A2B1490-5F64-B62C-D87A-F64A4A32A49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AB27888-B26A-210A-3557-2113839D416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29C1C830-3A68-331A-9BE4-A0CCDF49F26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46B0ED4-F0A1-5FFE-5D58-F8C86038041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3BE93FA-A20E-DC40-43F7-9C445BCC1541}"/>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268A18F-93BF-8C35-0DF7-C04F6874154E}"/>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F3D9BE5A-01D1-FB3B-696C-A502A866B164}"/>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5" name="Imagen 4">
            <a:extLst>
              <a:ext uri="{FF2B5EF4-FFF2-40B4-BE49-F238E27FC236}">
                <a16:creationId xmlns:a16="http://schemas.microsoft.com/office/drawing/2014/main" id="{95C9F416-529D-BB73-9106-8690ED88CE68}"/>
              </a:ext>
            </a:extLst>
          </p:cNvPr>
          <p:cNvPicPr>
            <a:picLocks noChangeAspect="1"/>
          </p:cNvPicPr>
          <p:nvPr/>
        </p:nvPicPr>
        <p:blipFill>
          <a:blip r:embed="rId5"/>
          <a:stretch>
            <a:fillRect/>
          </a:stretch>
        </p:blipFill>
        <p:spPr>
          <a:xfrm>
            <a:off x="1230922" y="2299602"/>
            <a:ext cx="14431108" cy="6386472"/>
          </a:xfrm>
          <a:prstGeom prst="rect">
            <a:avLst/>
          </a:prstGeom>
        </p:spPr>
      </p:pic>
      <p:sp>
        <p:nvSpPr>
          <p:cNvPr id="15" name="CuadroTexto 14">
            <a:extLst>
              <a:ext uri="{FF2B5EF4-FFF2-40B4-BE49-F238E27FC236}">
                <a16:creationId xmlns:a16="http://schemas.microsoft.com/office/drawing/2014/main" id="{7EEE8AF9-1584-9DBD-B4C7-119757455517}"/>
              </a:ext>
            </a:extLst>
          </p:cNvPr>
          <p:cNvSpPr txBox="1"/>
          <p:nvPr/>
        </p:nvSpPr>
        <p:spPr>
          <a:xfrm>
            <a:off x="1133100" y="9215898"/>
            <a:ext cx="7463430" cy="307777"/>
          </a:xfrm>
          <a:prstGeom prst="rect">
            <a:avLst/>
          </a:prstGeom>
          <a:noFill/>
        </p:spPr>
        <p:txBody>
          <a:bodyPr wrap="square">
            <a:spAutoFit/>
          </a:bodyPr>
          <a:lstStyle/>
          <a:p>
            <a:r>
              <a:rPr lang="es-ES" dirty="0"/>
              <a:t>Ejemplo Plan de </a:t>
            </a:r>
            <a:r>
              <a:rPr lang="es-ES" dirty="0" err="1"/>
              <a:t>Athena</a:t>
            </a:r>
            <a:endParaRPr lang="es-CO" dirty="0"/>
          </a:p>
        </p:txBody>
      </p:sp>
    </p:spTree>
    <p:extLst>
      <p:ext uri="{BB962C8B-B14F-4D97-AF65-F5344CB8AC3E}">
        <p14:creationId xmlns:p14="http://schemas.microsoft.com/office/powerpoint/2010/main" val="1581525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21D6-6B9A-4ECD-FC0C-B662E9564B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A20B71-8EBD-DA88-CC40-932BCEB09B27}"/>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5C97867-9252-62A8-AB86-56C894224035}"/>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BA7A92C-F5CF-869C-9370-3999733C27F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3E5D6B6-D9AC-3F94-5FED-5C7FB25FDBA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30C2491F-DB4F-2956-7FF9-A372E70B98A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9C1293F2-1444-8602-8F33-62C3C78836D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E9311E4-60C4-B3A3-53E9-C38296D62CA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F148CF58-5C4E-B158-294A-90DFFBD952FD}"/>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0D99AFE-A7A3-025A-836A-486B7CBCABD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A26BA9B8-E6F5-DC18-1279-8093335628F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87B770C0-57DF-14CB-1C6A-6BF02D6BF1DB}"/>
              </a:ext>
            </a:extLst>
          </p:cNvPr>
          <p:cNvGrpSpPr/>
          <p:nvPr/>
        </p:nvGrpSpPr>
        <p:grpSpPr>
          <a:xfrm>
            <a:off x="499398" y="269492"/>
            <a:ext cx="13286939" cy="1186143"/>
            <a:chOff x="0" y="-1"/>
            <a:chExt cx="7433261" cy="1132074"/>
          </a:xfrm>
        </p:grpSpPr>
        <p:sp>
          <p:nvSpPr>
            <p:cNvPr id="17" name="Google Shape;110;p2">
              <a:extLst>
                <a:ext uri="{FF2B5EF4-FFF2-40B4-BE49-F238E27FC236}">
                  <a16:creationId xmlns:a16="http://schemas.microsoft.com/office/drawing/2014/main" id="{56904A2F-6313-5398-6D53-C592578EE400}"/>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5AD8CAA4-520A-AAAE-F78B-EA92F9E35A6B}"/>
                </a:ext>
              </a:extLst>
            </p:cNvPr>
            <p:cNvSpPr txBox="1"/>
            <p:nvPr/>
          </p:nvSpPr>
          <p:spPr>
            <a:xfrm>
              <a:off x="14425" y="238348"/>
              <a:ext cx="7182154" cy="893725"/>
            </a:xfrm>
            <a:prstGeom prst="rect">
              <a:avLst/>
            </a:prstGeom>
            <a:noFill/>
            <a:ln>
              <a:noFill/>
            </a:ln>
          </p:spPr>
          <p:txBody>
            <a:bodyPr spcFirstLastPara="1" wrap="square" lIns="0" tIns="0" rIns="0" bIns="0" anchor="t" anchorCtr="0">
              <a:spAutoFit/>
            </a:bodyPr>
            <a:lstStyle/>
            <a:p>
              <a:pPr algn="ctr">
                <a:buNone/>
              </a:pPr>
              <a:r>
                <a:rPr lang="es-ES" sz="2400" b="1" dirty="0">
                  <a:solidFill>
                    <a:schemeClr val="bg1"/>
                  </a:solidFill>
                  <a:latin typeface="Poppins" panose="00000500000000000000" pitchFamily="2" charset="0"/>
                  <a:cs typeface="Poppins" panose="00000500000000000000" pitchFamily="2" charset="0"/>
                </a:rPr>
                <a:t>¿Por qué el Plan 1 (fuerza bruta) es más rápido que el Plan 2 (selectivo)?</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9088DEE7-D19A-7D54-CCC7-AB0B4C219B26}"/>
              </a:ext>
            </a:extLst>
          </p:cNvPr>
          <p:cNvSpPr txBox="1"/>
          <p:nvPr/>
        </p:nvSpPr>
        <p:spPr>
          <a:xfrm>
            <a:off x="341195" y="1517191"/>
            <a:ext cx="15899528" cy="6863417"/>
          </a:xfrm>
          <a:prstGeom prst="rect">
            <a:avLst/>
          </a:prstGeom>
          <a:noFill/>
        </p:spPr>
        <p:txBody>
          <a:bodyPr wrap="square">
            <a:spAutoFit/>
          </a:bodyPr>
          <a:lstStyle/>
          <a:p>
            <a:pPr>
              <a:buNone/>
            </a:pPr>
            <a:endParaRPr lang="es-ES" sz="2000" b="1" dirty="0">
              <a:latin typeface="Poppins" panose="00000500000000000000" pitchFamily="2" charset="0"/>
              <a:cs typeface="Poppins" panose="00000500000000000000" pitchFamily="2" charset="0"/>
            </a:endParaRPr>
          </a:p>
          <a:p>
            <a:pPr>
              <a:buNone/>
            </a:pPr>
            <a:r>
              <a:rPr lang="es-ES" sz="2000" dirty="0">
                <a:latin typeface="Poppins" panose="00000500000000000000" pitchFamily="2" charset="0"/>
                <a:cs typeface="Poppins" panose="00000500000000000000" pitchFamily="2" charset="0"/>
              </a:rPr>
              <a:t>Es fácil asumir que usar índices siempre es más rápido, pero este ejemplo demuestra lo contrario por varias razones:</a:t>
            </a:r>
          </a:p>
          <a:p>
            <a:pPr>
              <a:buNone/>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Paralelismo:</a:t>
            </a:r>
            <a:r>
              <a:rPr lang="es-ES" sz="2000" dirty="0">
                <a:latin typeface="Poppins" panose="00000500000000000000" pitchFamily="2" charset="0"/>
                <a:cs typeface="Poppins" panose="00000500000000000000" pitchFamily="2" charset="0"/>
              </a:rPr>
              <a:t> El Plan 1 está utilizando 2 núcleos de CPU (1 líder + 1 </a:t>
            </a:r>
            <a:r>
              <a:rPr lang="es-ES" sz="2000" dirty="0" err="1">
                <a:latin typeface="Poppins" panose="00000500000000000000" pitchFamily="2" charset="0"/>
                <a:cs typeface="Poppins" panose="00000500000000000000" pitchFamily="2" charset="0"/>
              </a:rPr>
              <a:t>worker</a:t>
            </a:r>
            <a:r>
              <a:rPr lang="es-ES" sz="2000" dirty="0">
                <a:latin typeface="Poppins" panose="00000500000000000000" pitchFamily="2" charset="0"/>
                <a:cs typeface="Poppins" panose="00000500000000000000" pitchFamily="2" charset="0"/>
              </a:rPr>
              <a:t>) para leer datos y procesar el Hash </a:t>
            </a:r>
            <a:r>
              <a:rPr lang="es-ES" sz="2000" dirty="0" err="1">
                <a:latin typeface="Poppins" panose="00000500000000000000" pitchFamily="2" charset="0"/>
                <a:cs typeface="Poppins" panose="00000500000000000000" pitchFamily="2" charset="0"/>
              </a:rPr>
              <a:t>Join</a:t>
            </a:r>
            <a:r>
              <a:rPr lang="es-ES" sz="2000" dirty="0">
                <a:latin typeface="Poppins" panose="00000500000000000000" pitchFamily="2" charset="0"/>
                <a:cs typeface="Poppins" panose="00000500000000000000" pitchFamily="2" charset="0"/>
              </a:rPr>
              <a:t> simultáneamente. El Plan 2 es de un solo hilo (single-</a:t>
            </a:r>
            <a:r>
              <a:rPr lang="es-ES" sz="2000" dirty="0" err="1">
                <a:latin typeface="Poppins" panose="00000500000000000000" pitchFamily="2" charset="0"/>
                <a:cs typeface="Poppins" panose="00000500000000000000" pitchFamily="2" charset="0"/>
              </a:rPr>
              <a:t>threaded</a:t>
            </a:r>
            <a:r>
              <a:rPr lang="es-ES" sz="2000" dirty="0">
                <a:latin typeface="Poppins" panose="00000500000000000000" pitchFamily="2" charset="0"/>
                <a:cs typeface="Poppins" panose="00000500000000000000" pitchFamily="2" charset="0"/>
              </a:rPr>
              <a:t>).</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El costo de los "</a:t>
            </a:r>
            <a:r>
              <a:rPr lang="es-ES" sz="2000" b="1" dirty="0" err="1">
                <a:latin typeface="Poppins" panose="00000500000000000000" pitchFamily="2" charset="0"/>
                <a:cs typeface="Poppins" panose="00000500000000000000" pitchFamily="2" charset="0"/>
              </a:rPr>
              <a:t>Loops</a:t>
            </a:r>
            <a:r>
              <a:rPr lang="es-ES" sz="2000" b="1" dirty="0">
                <a:latin typeface="Poppins" panose="00000500000000000000" pitchFamily="2" charset="0"/>
                <a:cs typeface="Poppins" panose="00000500000000000000" pitchFamily="2" charset="0"/>
              </a:rPr>
              <a:t>" (Bucles):</a:t>
            </a:r>
            <a:r>
              <a:rPr lang="es-ES" sz="2000" dirty="0">
                <a:latin typeface="Poppins" panose="00000500000000000000" pitchFamily="2" charset="0"/>
                <a:cs typeface="Poppins" panose="00000500000000000000" pitchFamily="2" charset="0"/>
              </a:rPr>
              <a:t> En el Plan 2, aunque buscar un cliente por clave primaria es rápido, hacerlo 800 veces una tras otra suma tiempo. El </a:t>
            </a:r>
            <a:r>
              <a:rPr lang="es-ES" sz="2000" dirty="0" err="1">
                <a:latin typeface="Poppins" panose="00000500000000000000" pitchFamily="2" charset="0"/>
                <a:cs typeface="Poppins" panose="00000500000000000000" pitchFamily="2" charset="0"/>
              </a:rPr>
              <a:t>Nested</a:t>
            </a:r>
            <a:r>
              <a:rPr lang="es-ES" sz="2000" dirty="0">
                <a:latin typeface="Poppins" panose="00000500000000000000" pitchFamily="2" charset="0"/>
                <a:cs typeface="Poppins" panose="00000500000000000000" pitchFamily="2" charset="0"/>
              </a:rPr>
              <a:t> </a:t>
            </a:r>
            <a:r>
              <a:rPr lang="es-ES" sz="2000" dirty="0" err="1">
                <a:latin typeface="Poppins" panose="00000500000000000000" pitchFamily="2" charset="0"/>
                <a:cs typeface="Poppins" panose="00000500000000000000" pitchFamily="2" charset="0"/>
              </a:rPr>
              <a:t>Loop</a:t>
            </a:r>
            <a:r>
              <a:rPr lang="es-ES" sz="2000" dirty="0">
                <a:latin typeface="Poppins" panose="00000500000000000000" pitchFamily="2" charset="0"/>
                <a:cs typeface="Poppins" panose="00000500000000000000" pitchFamily="2" charset="0"/>
              </a:rPr>
              <a:t> tiene un tiempo real de 326ms, que es donde se fue casi todo el tiempo.</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Eficiencia del Hash </a:t>
            </a:r>
            <a:r>
              <a:rPr lang="es-ES" sz="2000" b="1" dirty="0" err="1">
                <a:latin typeface="Poppins" panose="00000500000000000000" pitchFamily="2" charset="0"/>
                <a:cs typeface="Poppins" panose="00000500000000000000" pitchFamily="2" charset="0"/>
              </a:rPr>
              <a:t>Join</a:t>
            </a:r>
            <a:r>
              <a:rPr lang="es-ES" sz="2000" b="1" dirty="0">
                <a:latin typeface="Poppins" panose="00000500000000000000" pitchFamily="2" charset="0"/>
                <a:cs typeface="Poppins" panose="00000500000000000000" pitchFamily="2" charset="0"/>
              </a:rPr>
              <a:t>:</a:t>
            </a:r>
            <a:r>
              <a:rPr lang="es-ES" sz="2000" dirty="0">
                <a:latin typeface="Poppins" panose="00000500000000000000" pitchFamily="2" charset="0"/>
                <a:cs typeface="Poppins" panose="00000500000000000000" pitchFamily="2" charset="0"/>
              </a:rPr>
              <a:t> Para conjuntos de datos medianos o grandes, crear una tabla hash en memoria y probar contra ella una vez es a menudo más rápido que hacer cientos o miles de búsquedas aleatorias en un índice.</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E/S Secuencial vs. Aleatoria:</a:t>
            </a:r>
            <a:r>
              <a:rPr lang="es-ES" sz="2000" dirty="0">
                <a:latin typeface="Poppins" panose="00000500000000000000" pitchFamily="2" charset="0"/>
                <a:cs typeface="Poppins" panose="00000500000000000000" pitchFamily="2" charset="0"/>
              </a:rPr>
              <a:t> Un escaneo secuencial completo (Plan 1) es muy rápido en discos modernos (especialmente </a:t>
            </a:r>
            <a:r>
              <a:rPr lang="es-ES" sz="2000" dirty="0" err="1">
                <a:latin typeface="Poppins" panose="00000500000000000000" pitchFamily="2" charset="0"/>
                <a:cs typeface="Poppins" panose="00000500000000000000" pitchFamily="2" charset="0"/>
              </a:rPr>
              <a:t>SSDs</a:t>
            </a:r>
            <a:r>
              <a:rPr lang="es-ES" sz="2000" dirty="0">
                <a:latin typeface="Poppins" panose="00000500000000000000" pitchFamily="2" charset="0"/>
                <a:cs typeface="Poppins" panose="00000500000000000000" pitchFamily="2" charset="0"/>
              </a:rPr>
              <a:t>). El "Bitmap </a:t>
            </a:r>
            <a:r>
              <a:rPr lang="es-ES" sz="2000" dirty="0" err="1">
                <a:latin typeface="Poppins" panose="00000500000000000000" pitchFamily="2" charset="0"/>
                <a:cs typeface="Poppins" panose="00000500000000000000" pitchFamily="2" charset="0"/>
              </a:rPr>
              <a:t>Heap</a:t>
            </a:r>
            <a:r>
              <a:rPr lang="es-ES" sz="2000" dirty="0">
                <a:latin typeface="Poppins" panose="00000500000000000000" pitchFamily="2" charset="0"/>
                <a:cs typeface="Poppins" panose="00000500000000000000" pitchFamily="2" charset="0"/>
              </a:rPr>
              <a:t> </a:t>
            </a:r>
            <a:r>
              <a:rPr lang="es-ES" sz="2000" dirty="0" err="1">
                <a:latin typeface="Poppins" panose="00000500000000000000" pitchFamily="2" charset="0"/>
                <a:cs typeface="Poppins" panose="00000500000000000000" pitchFamily="2" charset="0"/>
              </a:rPr>
              <a:t>Scan</a:t>
            </a:r>
            <a:r>
              <a:rPr lang="es-ES" sz="2000" dirty="0">
                <a:latin typeface="Poppins" panose="00000500000000000000" pitchFamily="2" charset="0"/>
                <a:cs typeface="Poppins" panose="00000500000000000000" pitchFamily="2" charset="0"/>
              </a:rPr>
              <a:t>" del Plan 2 puede implicar E/S aleatoria (saltar por el disco para buscar las 800 filas dispersas), lo cual es más lento.</a:t>
            </a:r>
          </a:p>
          <a:p>
            <a:pPr>
              <a:buFont typeface="+mj-lt"/>
              <a:buAutoNum type="arabicPeriod"/>
            </a:pPr>
            <a:endParaRPr lang="es-ES" sz="2000" dirty="0">
              <a:latin typeface="Poppins" panose="00000500000000000000" pitchFamily="2" charset="0"/>
              <a:cs typeface="Poppins" panose="00000500000000000000" pitchFamily="2" charset="0"/>
            </a:endParaRPr>
          </a:p>
          <a:p>
            <a:pPr>
              <a:buNone/>
            </a:pPr>
            <a:r>
              <a:rPr lang="es-ES" sz="2000" b="1" dirty="0">
                <a:latin typeface="Poppins" panose="00000500000000000000" pitchFamily="2" charset="0"/>
                <a:cs typeface="Poppins" panose="00000500000000000000" pitchFamily="2" charset="0"/>
              </a:rPr>
              <a:t>Conclusión</a:t>
            </a:r>
          </a:p>
          <a:p>
            <a:r>
              <a:rPr lang="es-ES" sz="2000" dirty="0">
                <a:latin typeface="Poppins" panose="00000500000000000000" pitchFamily="2" charset="0"/>
                <a:cs typeface="Poppins" panose="00000500000000000000" pitchFamily="2" charset="0"/>
              </a:rPr>
              <a:t>El </a:t>
            </a:r>
            <a:r>
              <a:rPr lang="es-ES" sz="2000" b="1" dirty="0">
                <a:latin typeface="Poppins" panose="00000500000000000000" pitchFamily="2" charset="0"/>
                <a:cs typeface="Poppins" panose="00000500000000000000" pitchFamily="2" charset="0"/>
              </a:rPr>
              <a:t>Plan 1</a:t>
            </a:r>
            <a:r>
              <a:rPr lang="es-ES" sz="2000" dirty="0">
                <a:latin typeface="Poppins" panose="00000500000000000000" pitchFamily="2" charset="0"/>
                <a:cs typeface="Poppins" panose="00000500000000000000" pitchFamily="2" charset="0"/>
              </a:rPr>
              <a:t> demuestra el poder del motor de ejecución paralelo de PostgreSQL moderno. Aunque parece ineficiente leer toda la tabla, la combinación de lectura secuencial rápida, paralelismo y la eficiencia de la unión Hash en memoria supera al enfoque basado en índices en este escenario particular.</a:t>
            </a:r>
          </a:p>
          <a:p>
            <a:r>
              <a:rPr lang="es-ES" sz="2000" dirty="0">
                <a:latin typeface="Poppins" panose="00000500000000000000" pitchFamily="2" charset="0"/>
                <a:cs typeface="Poppins" panose="00000500000000000000" pitchFamily="2" charset="0"/>
              </a:rPr>
              <a:t>El </a:t>
            </a:r>
            <a:r>
              <a:rPr lang="es-ES" sz="2000" b="1" dirty="0">
                <a:latin typeface="Poppins" panose="00000500000000000000" pitchFamily="2" charset="0"/>
                <a:cs typeface="Poppins" panose="00000500000000000000" pitchFamily="2" charset="0"/>
              </a:rPr>
              <a:t>Plan 2</a:t>
            </a:r>
            <a:r>
              <a:rPr lang="es-ES" sz="2000" dirty="0">
                <a:latin typeface="Poppins" panose="00000500000000000000" pitchFamily="2" charset="0"/>
                <a:cs typeface="Poppins" panose="00000500000000000000" pitchFamily="2" charset="0"/>
              </a:rPr>
              <a:t> es el plan "clásico" que uno esperaría para una consulta con un WHERE selectivo. Es eficiente en recursos pero, en este hardware específico, resultó ser más lento debido a la sobrecarga del bucle anidado secuencial.</a:t>
            </a:r>
          </a:p>
        </p:txBody>
      </p:sp>
    </p:spTree>
    <p:extLst>
      <p:ext uri="{BB962C8B-B14F-4D97-AF65-F5344CB8AC3E}">
        <p14:creationId xmlns:p14="http://schemas.microsoft.com/office/powerpoint/2010/main" val="80879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DCC8-6A67-53CA-7FE0-4CBB08AFBB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242B7AF-DF8D-E56E-64E6-F5BFA5B28CA5}"/>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90FA6B6-5BF2-BC17-74B1-D15058F05C70}"/>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2DB8E4D-3949-85A5-B8CA-20E00EBB14E8}"/>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813F1D34-C877-1601-7E7B-6E8D3F43B63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F1BB17D0-6519-EC4B-9C94-DDBEE54D6ED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D89EAEF-4523-E158-4BAE-80135A2D728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815014B9-21E1-8167-2BCE-87C2BF91B13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372551D-1AF6-653C-F58E-CFB9D9E6CC72}"/>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561B346-DDD0-052D-75D8-BF1CEDA71E6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28C33A5C-1626-14A2-2B3F-16FA862E762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427D47A8-EC69-7A00-ACE2-393315E49AE9}"/>
              </a:ext>
            </a:extLst>
          </p:cNvPr>
          <p:cNvGrpSpPr/>
          <p:nvPr/>
        </p:nvGrpSpPr>
        <p:grpSpPr>
          <a:xfrm>
            <a:off x="499399" y="269492"/>
            <a:ext cx="9293538" cy="1247699"/>
            <a:chOff x="0" y="-1"/>
            <a:chExt cx="7433261" cy="1190825"/>
          </a:xfrm>
        </p:grpSpPr>
        <p:sp>
          <p:nvSpPr>
            <p:cNvPr id="17" name="Google Shape;110;p2">
              <a:extLst>
                <a:ext uri="{FF2B5EF4-FFF2-40B4-BE49-F238E27FC236}">
                  <a16:creationId xmlns:a16="http://schemas.microsoft.com/office/drawing/2014/main" id="{3EF1F083-72AB-CA9E-D139-F5F5339FA814}"/>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5FEF7D8-7810-7A45-5722-3888A26D997C}"/>
                </a:ext>
              </a:extLst>
            </p:cNvPr>
            <p:cNvSpPr txBox="1"/>
            <p:nvPr/>
          </p:nvSpPr>
          <p:spPr>
            <a:xfrm>
              <a:off x="14425" y="238348"/>
              <a:ext cx="7182154" cy="952476"/>
            </a:xfrm>
            <a:prstGeom prst="rect">
              <a:avLst/>
            </a:prstGeom>
            <a:noFill/>
            <a:ln>
              <a:noFill/>
            </a:ln>
          </p:spPr>
          <p:txBody>
            <a:bodyPr spcFirstLastPara="1" wrap="square" lIns="0" tIns="0" rIns="0" bIns="0" anchor="t" anchorCtr="0">
              <a:spAutoFit/>
            </a:bodyPr>
            <a:lstStyle/>
            <a:p>
              <a:pPr algn="ctr">
                <a:buNone/>
              </a:pPr>
              <a:r>
                <a:rPr lang="es-ES" sz="2800" b="1" dirty="0">
                  <a:solidFill>
                    <a:schemeClr val="bg1"/>
                  </a:solidFill>
                </a:rPr>
                <a:t>¿Por qué no indexar todo? </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AAF28C63-0F4F-3E48-1706-B19C2559421B}"/>
              </a:ext>
            </a:extLst>
          </p:cNvPr>
          <p:cNvSpPr txBox="1"/>
          <p:nvPr/>
        </p:nvSpPr>
        <p:spPr>
          <a:xfrm>
            <a:off x="888409" y="1675373"/>
            <a:ext cx="16171291" cy="7848302"/>
          </a:xfrm>
          <a:prstGeom prst="rect">
            <a:avLst/>
          </a:prstGeom>
          <a:noFill/>
        </p:spPr>
        <p:txBody>
          <a:bodyPr wrap="square">
            <a:spAutoFit/>
          </a:bodyPr>
          <a:lstStyle/>
          <a:p>
            <a:pPr>
              <a:buNone/>
            </a:pPr>
            <a:r>
              <a:rPr lang="es-ES" sz="2400" b="1" dirty="0"/>
              <a:t>El problema del mantenimiento</a:t>
            </a:r>
          </a:p>
          <a:p>
            <a:pPr>
              <a:buNone/>
            </a:pPr>
            <a:endParaRPr lang="es-ES" sz="2400" b="1" dirty="0"/>
          </a:p>
          <a:p>
            <a:pPr>
              <a:buNone/>
            </a:pPr>
            <a:r>
              <a:rPr lang="es-ES" sz="2400" dirty="0"/>
              <a:t>Aunque los índices aceleran las búsquedas, no es práctico indexar cada columna de cada tabla. La razón principal es que </a:t>
            </a:r>
            <a:r>
              <a:rPr lang="es-ES" sz="2400" b="1" dirty="0"/>
              <a:t>los índices requieren mantenimiento</a:t>
            </a:r>
            <a:r>
              <a:rPr lang="es-ES" sz="2400" dirty="0"/>
              <a:t>. Cada vez que se insertan, actualizan o eliminan datos en una tabla, el sistema gestor de base de datos (DBMS) también debe actualizar los índices asociados, lo que sobrecarga el sistema y ralentiza estas operaciones de modificación.</a:t>
            </a:r>
          </a:p>
          <a:p>
            <a:pPr>
              <a:buNone/>
            </a:pPr>
            <a:endParaRPr lang="es-ES" sz="2400" dirty="0"/>
          </a:p>
          <a:p>
            <a:pPr>
              <a:buNone/>
            </a:pPr>
            <a:r>
              <a:rPr lang="es-ES" sz="2400" b="1" dirty="0"/>
              <a:t>2. El criterio clave: La Dispersión de los Datos (Data </a:t>
            </a:r>
            <a:r>
              <a:rPr lang="es-ES" sz="2400" b="1" dirty="0" err="1"/>
              <a:t>Sparsity</a:t>
            </a:r>
            <a:r>
              <a:rPr lang="es-ES" sz="2400" b="1" dirty="0"/>
              <a:t>)</a:t>
            </a:r>
          </a:p>
          <a:p>
            <a:pPr>
              <a:buNone/>
            </a:pPr>
            <a:endParaRPr lang="es-ES" sz="2400" b="1" dirty="0"/>
          </a:p>
          <a:p>
            <a:pPr>
              <a:buNone/>
            </a:pPr>
            <a:r>
              <a:rPr lang="es-ES" sz="2400" dirty="0"/>
              <a:t>Para decidir si un índice es necesario, se evalúa la "dispersión de datos", que se refiere a la cantidad de valores </a:t>
            </a:r>
            <a:r>
              <a:rPr lang="es-ES" sz="2400" b="1" dirty="0"/>
              <a:t>diferentes</a:t>
            </a:r>
            <a:r>
              <a:rPr lang="es-ES" sz="2400" dirty="0"/>
              <a:t> y únicos que tiene una columna:</a:t>
            </a:r>
          </a:p>
          <a:p>
            <a:pPr>
              <a:buNone/>
            </a:pPr>
            <a:endParaRPr lang="es-ES" sz="2400" dirty="0"/>
          </a:p>
          <a:p>
            <a:pPr>
              <a:buFont typeface="Arial" panose="020B0604020202020204" pitchFamily="34" charset="0"/>
              <a:buChar char="•"/>
            </a:pPr>
            <a:r>
              <a:rPr lang="es-ES" sz="2400" b="1" dirty="0"/>
              <a:t>Baja dispersión (Low </a:t>
            </a:r>
            <a:r>
              <a:rPr lang="es-ES" sz="2400" b="1" dirty="0" err="1"/>
              <a:t>sparsity</a:t>
            </a:r>
            <a:r>
              <a:rPr lang="es-ES" sz="2400" b="1" dirty="0"/>
              <a:t>):</a:t>
            </a:r>
            <a:r>
              <a:rPr lang="es-ES" sz="2400" dirty="0"/>
              <a:t> La columna tiene muy pocos valores posibles distintos.</a:t>
            </a:r>
          </a:p>
          <a:p>
            <a:pPr marL="742950" lvl="1" indent="-285750">
              <a:buFont typeface="Arial" panose="020B0604020202020204" pitchFamily="34" charset="0"/>
              <a:buChar char="•"/>
            </a:pPr>
            <a:r>
              <a:rPr lang="es-ES" sz="2400" i="1" dirty="0"/>
              <a:t>Ejemplo:</a:t>
            </a:r>
            <a:r>
              <a:rPr lang="es-ES" sz="2400" dirty="0"/>
              <a:t> Una columna de "Sexo" que solo contiene 'M' o 'F'.</a:t>
            </a:r>
          </a:p>
          <a:p>
            <a:pPr marL="742950" lvl="1" indent="-285750">
              <a:buFont typeface="Arial" panose="020B0604020202020204" pitchFamily="34" charset="0"/>
              <a:buChar char="•"/>
            </a:pPr>
            <a:r>
              <a:rPr lang="es-ES" sz="2400" i="1" dirty="0"/>
              <a:t>Uso del índice:</a:t>
            </a:r>
            <a:r>
              <a:rPr lang="es-ES" sz="2400" dirty="0"/>
              <a:t> Generalmente </a:t>
            </a:r>
            <a:r>
              <a:rPr lang="es-ES" sz="2400" b="1" dirty="0"/>
              <a:t>no se recomienda</a:t>
            </a:r>
            <a:r>
              <a:rPr lang="es-ES" sz="2400" dirty="0"/>
              <a:t> indexar estas columnas. Al buscar, es probable que el sistema termine leyendo un alto porcentaje de las filas de la tabla de todos modos, por lo que el índice no aporta una ventaja significativa y sí añade trabajo extra.</a:t>
            </a:r>
          </a:p>
          <a:p>
            <a:pPr marL="457200" lvl="1"/>
            <a:endParaRPr lang="es-ES" sz="2400" dirty="0"/>
          </a:p>
          <a:p>
            <a:pPr>
              <a:buFont typeface="Arial" panose="020B0604020202020204" pitchFamily="34" charset="0"/>
              <a:buChar char="•"/>
            </a:pPr>
            <a:r>
              <a:rPr lang="es-ES" sz="2400" b="1" dirty="0"/>
              <a:t>Alta dispersión (High </a:t>
            </a:r>
            <a:r>
              <a:rPr lang="es-ES" sz="2400" b="1" dirty="0" err="1"/>
              <a:t>sparsity</a:t>
            </a:r>
            <a:r>
              <a:rPr lang="es-ES" sz="2400" b="1" dirty="0"/>
              <a:t>):</a:t>
            </a:r>
            <a:r>
              <a:rPr lang="es-ES" sz="2400" dirty="0"/>
              <a:t> La columna tiene muchos valores distintos.</a:t>
            </a:r>
          </a:p>
          <a:p>
            <a:pPr marL="742950" lvl="1" indent="-285750">
              <a:buFont typeface="Arial" panose="020B0604020202020204" pitchFamily="34" charset="0"/>
              <a:buChar char="•"/>
            </a:pPr>
            <a:r>
              <a:rPr lang="es-ES" sz="2400" i="1" dirty="0"/>
              <a:t>Ejemplo:</a:t>
            </a:r>
            <a:r>
              <a:rPr lang="es-ES" sz="2400" dirty="0"/>
              <a:t> Una columna de "Fecha de Nacimiento".</a:t>
            </a:r>
          </a:p>
          <a:p>
            <a:pPr marL="742950" lvl="1" indent="-285750">
              <a:buFont typeface="Arial" panose="020B0604020202020204" pitchFamily="34" charset="0"/>
              <a:buChar char="•"/>
            </a:pPr>
            <a:r>
              <a:rPr lang="es-ES" sz="2400" i="1" dirty="0"/>
              <a:t>Uso del índice:</a:t>
            </a:r>
            <a:r>
              <a:rPr lang="es-ES" sz="2400" dirty="0"/>
              <a:t> Es aquí donde los índices son más útiles y recomendados.</a:t>
            </a:r>
          </a:p>
        </p:txBody>
      </p:sp>
    </p:spTree>
    <p:extLst>
      <p:ext uri="{BB962C8B-B14F-4D97-AF65-F5344CB8AC3E}">
        <p14:creationId xmlns:p14="http://schemas.microsoft.com/office/powerpoint/2010/main" val="1797186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0F435-560E-E502-0639-C52222053E9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F67CA5-630E-98A0-9ABE-1AAD02266FC1}"/>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32B37CB7-28A0-0AD8-FFDF-BB381BB8D736}"/>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CCFADA48-3DBE-D11B-8FF9-F96BFC813CE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A5CABDE8-C60E-E760-782F-871C8C77BB7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A1560FD7-0891-CC3A-4A00-526599D2615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C22EFCDA-3D85-5582-3981-86685AEF7AC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E6C582C7-ED3C-2DAC-39EC-F3E88466932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8DCDEA6-3EC9-781E-E7D0-0650692722D6}"/>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45A8C08-B14A-9409-7FCA-62F8C33AF76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2EA7A388-0B77-816D-A873-A5CBA8A53B1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B41868F-AA2B-6AA9-B489-AB1BE0EAC3FF}"/>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95164C4-B60E-59B2-E106-E1EF0F6F107D}"/>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F75B4FE-CCF4-7BD7-2A0F-B012F7CE44E7}"/>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06F85DF9-9CFF-FB8E-40D1-0517812A44C5}"/>
              </a:ext>
            </a:extLst>
          </p:cNvPr>
          <p:cNvSpPr txBox="1"/>
          <p:nvPr/>
        </p:nvSpPr>
        <p:spPr>
          <a:xfrm>
            <a:off x="517434" y="1675373"/>
            <a:ext cx="16660505" cy="7848302"/>
          </a:xfrm>
          <a:prstGeom prst="rect">
            <a:avLst/>
          </a:prstGeom>
          <a:noFill/>
        </p:spPr>
        <p:txBody>
          <a:bodyPr wrap="square">
            <a:spAutoFit/>
          </a:bodyPr>
          <a:lstStyle/>
          <a:p>
            <a:pPr>
              <a:buNone/>
            </a:pPr>
            <a:r>
              <a:rPr lang="es-ES" sz="2400" b="1" dirty="0"/>
              <a:t>3. Tipos comunes de estructuras de índice</a:t>
            </a:r>
          </a:p>
          <a:p>
            <a:pPr>
              <a:buNone/>
            </a:pPr>
            <a:endParaRPr lang="es-ES" sz="2400" b="1" dirty="0"/>
          </a:p>
          <a:p>
            <a:pPr>
              <a:buNone/>
            </a:pPr>
            <a:r>
              <a:rPr lang="es-ES" sz="2400" dirty="0"/>
              <a:t>La mayoría de los DBMS implementan índices utilizando principalmente tres estructuras de datos:</a:t>
            </a:r>
          </a:p>
          <a:p>
            <a:pPr>
              <a:buNone/>
            </a:pPr>
            <a:endParaRPr lang="es-ES" sz="2400" dirty="0"/>
          </a:p>
          <a:p>
            <a:pPr>
              <a:buFont typeface="+mj-lt"/>
              <a:buAutoNum type="arabicPeriod"/>
            </a:pPr>
            <a:r>
              <a:rPr lang="es-ES" sz="2400" b="1" dirty="0"/>
              <a:t>Índice Hash:</a:t>
            </a:r>
            <a:endParaRPr lang="es-ES" sz="2400" dirty="0"/>
          </a:p>
          <a:p>
            <a:pPr marL="742950" lvl="1" indent="-285750">
              <a:buFont typeface="+mj-lt"/>
              <a:buAutoNum type="arabicPeriod"/>
            </a:pPr>
            <a:r>
              <a:rPr lang="es-ES" sz="2400" dirty="0"/>
              <a:t>Utiliza un algoritmo para crear un valor "hash" a partir de la columna clave, el cual apunta directamente a la ubicación de los datos.</a:t>
            </a:r>
          </a:p>
          <a:p>
            <a:pPr marL="742950" lvl="1" indent="-285750">
              <a:buFont typeface="+mj-lt"/>
              <a:buAutoNum type="arabicPeriod"/>
            </a:pPr>
            <a:r>
              <a:rPr lang="es-ES" sz="2400" b="1" dirty="0"/>
              <a:t>Mejor uso:</a:t>
            </a:r>
            <a:r>
              <a:rPr lang="es-ES" sz="2400" dirty="0"/>
              <a:t> Operaciones de búsqueda simples y muy rápidas basadas en </a:t>
            </a:r>
            <a:r>
              <a:rPr lang="es-ES" sz="2400" b="1" dirty="0"/>
              <a:t>igualdad exacta</a:t>
            </a:r>
            <a:r>
              <a:rPr lang="es-ES" sz="2400" dirty="0"/>
              <a:t> (por ejemplo: </a:t>
            </a:r>
            <a:r>
              <a:rPr lang="es-ES" sz="2400" dirty="0">
                <a:latin typeface="Courier New" panose="02070309020205020404" pitchFamily="49" charset="0"/>
              </a:rPr>
              <a:t>WHERE apellido = "Scott"</a:t>
            </a:r>
            <a:r>
              <a:rPr lang="es-ES" sz="2400" dirty="0"/>
              <a:t>).</a:t>
            </a:r>
          </a:p>
          <a:p>
            <a:pPr marL="742950" lvl="1" indent="-285750">
              <a:buFont typeface="+mj-lt"/>
              <a:buAutoNum type="arabicPeriod"/>
            </a:pPr>
            <a:endParaRPr lang="es-ES" sz="2400" dirty="0"/>
          </a:p>
          <a:p>
            <a:pPr>
              <a:buFont typeface="+mj-lt"/>
              <a:buAutoNum type="arabicPeriod"/>
            </a:pPr>
            <a:r>
              <a:rPr lang="es-ES" sz="2400" b="1" dirty="0"/>
              <a:t>Índice B-</a:t>
            </a:r>
            <a:r>
              <a:rPr lang="es-ES" sz="2400" b="1" dirty="0" err="1"/>
              <a:t>tree</a:t>
            </a:r>
            <a:r>
              <a:rPr lang="es-ES" sz="2400" b="1" dirty="0"/>
              <a:t> (Árbol-B):</a:t>
            </a:r>
            <a:endParaRPr lang="es-ES" sz="2400" dirty="0"/>
          </a:p>
          <a:p>
            <a:pPr marL="742950" lvl="1" indent="-285750">
              <a:buFont typeface="+mj-lt"/>
              <a:buAutoNum type="arabicPeriod"/>
            </a:pPr>
            <a:r>
              <a:rPr lang="es-ES" sz="2400" dirty="0"/>
              <a:t>Es una estructura de datos ordenada en forma de árbol invertido. Es "</a:t>
            </a:r>
            <a:r>
              <a:rPr lang="es-ES" sz="2400" dirty="0" err="1"/>
              <a:t>auto-balanceado</a:t>
            </a:r>
            <a:r>
              <a:rPr lang="es-ES" sz="2400" dirty="0"/>
              <a:t>", lo que significa que el tiempo para acceder a cualquier fila es aproximadamente el mismo.</a:t>
            </a:r>
          </a:p>
          <a:p>
            <a:pPr marL="742950" lvl="1" indent="-285750">
              <a:buFont typeface="+mj-lt"/>
              <a:buAutoNum type="arabicPeriod"/>
            </a:pPr>
            <a:r>
              <a:rPr lang="es-ES" sz="2400" b="1" dirty="0"/>
              <a:t>Mejor uso:</a:t>
            </a:r>
            <a:r>
              <a:rPr lang="es-ES" sz="2400" dirty="0"/>
              <a:t> Es el tipo de índice </a:t>
            </a:r>
            <a:r>
              <a:rPr lang="es-ES" sz="2400" b="1" dirty="0"/>
              <a:t>predeterminado y más común</a:t>
            </a:r>
            <a:r>
              <a:rPr lang="es-ES" sz="2400" dirty="0"/>
              <a:t>. Se utiliza principalmente cuando los valores de la columna no se repiten con mucha frecuencia (es decir, tienen una dispersión relativamente alta).</a:t>
            </a:r>
          </a:p>
          <a:p>
            <a:pPr marL="742950" lvl="1" indent="-285750">
              <a:buFont typeface="+mj-lt"/>
              <a:buAutoNum type="arabicPeriod"/>
            </a:pPr>
            <a:endParaRPr lang="es-ES" sz="2400" dirty="0"/>
          </a:p>
          <a:p>
            <a:pPr>
              <a:buFont typeface="+mj-lt"/>
              <a:buAutoNum type="arabicPeriod"/>
            </a:pPr>
            <a:r>
              <a:rPr lang="es-ES" sz="2400" b="1" dirty="0"/>
              <a:t>Índice Bitmap (Mapa de bits):</a:t>
            </a:r>
            <a:endParaRPr lang="es-ES" sz="2400" dirty="0"/>
          </a:p>
          <a:p>
            <a:pPr marL="742950" lvl="1" indent="-285750">
              <a:buFont typeface="+mj-lt"/>
              <a:buAutoNum type="arabicPeriod"/>
            </a:pPr>
            <a:r>
              <a:rPr lang="es-ES" sz="2400" dirty="0"/>
              <a:t>Utiliza un array de bits (0s y 1s) para representar si un valor existe o no. Ocupan menos espacio porque usan bits en lugar de bytes.</a:t>
            </a:r>
          </a:p>
          <a:p>
            <a:pPr marL="742950" lvl="1" indent="-285750">
              <a:buFont typeface="+mj-lt"/>
              <a:buAutoNum type="arabicPeriod"/>
            </a:pPr>
            <a:r>
              <a:rPr lang="es-ES" sz="2400" b="1" dirty="0"/>
              <a:t>Mejor uso:</a:t>
            </a:r>
            <a:r>
              <a:rPr lang="es-ES" sz="2400" dirty="0"/>
              <a:t> Aplicaciones de almacenamiento de datos (</a:t>
            </a:r>
            <a:r>
              <a:rPr lang="es-ES" sz="2400" b="1" dirty="0"/>
              <a:t>data </a:t>
            </a:r>
            <a:r>
              <a:rPr lang="es-ES" sz="2400" b="1" dirty="0" err="1"/>
              <a:t>warehouses</a:t>
            </a:r>
            <a:r>
              <a:rPr lang="es-ES" sz="2400" dirty="0"/>
              <a:t>) en tablas muy grandes donde hay pocos valores distintos que se repiten muchas veces (es decir, columnas con </a:t>
            </a:r>
            <a:r>
              <a:rPr lang="es-ES" sz="2400" b="1" dirty="0"/>
              <a:t>baja dispersión</a:t>
            </a:r>
            <a:r>
              <a:rPr lang="es-ES" sz="2400" dirty="0"/>
              <a:t>).</a:t>
            </a:r>
          </a:p>
        </p:txBody>
      </p:sp>
    </p:spTree>
    <p:extLst>
      <p:ext uri="{BB962C8B-B14F-4D97-AF65-F5344CB8AC3E}">
        <p14:creationId xmlns:p14="http://schemas.microsoft.com/office/powerpoint/2010/main" val="67157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3EEF-9C89-496F-BC7F-38CBFFDA98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2D166E-C8ED-7D35-D08F-2FD78BEA382B}"/>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46498E0C-D12B-2087-8ACA-D626B93F0DE6}"/>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2F21205-CE75-252C-31A5-1C7C0D6EA1C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D515692F-6B44-E786-FAD5-1A03E5A9627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FA42EF18-3470-4F2F-F467-6CBEC46A058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F54DAF1-10C3-A66E-7201-B4DBF0EC131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B476FECB-6D30-75BD-A3A8-F1D62DF938E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9D827910-9489-2337-0500-66F2294A8DE4}"/>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8EE68F57-A25C-7ADC-1F0B-58D80343F8D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1C18EDC6-982E-499F-A0C6-B8C8258EA4E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3EDE9E0-423A-8E32-7734-11D9B037992E}"/>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45887284-FC2A-121F-54B7-AB7097B58DE2}"/>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2316E6B-5A5A-F0F1-DD9C-D9D9D34AF49C}"/>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3" name="AutoShape 2">
            <a:extLst>
              <a:ext uri="{FF2B5EF4-FFF2-40B4-BE49-F238E27FC236}">
                <a16:creationId xmlns:a16="http://schemas.microsoft.com/office/drawing/2014/main" id="{379D7044-F688-D252-88FA-973976E2993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5" name="AutoShape 4" descr="Imagen de ">
            <a:extLst>
              <a:ext uri="{FF2B5EF4-FFF2-40B4-BE49-F238E27FC236}">
                <a16:creationId xmlns:a16="http://schemas.microsoft.com/office/drawing/2014/main" id="{6A6EE226-6CBC-7C86-0142-0C720ECCD238}"/>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0" name="Imagen 19">
            <a:extLst>
              <a:ext uri="{FF2B5EF4-FFF2-40B4-BE49-F238E27FC236}">
                <a16:creationId xmlns:a16="http://schemas.microsoft.com/office/drawing/2014/main" id="{63A27615-BB48-DA5A-82B2-CB79728E70AA}"/>
              </a:ext>
            </a:extLst>
          </p:cNvPr>
          <p:cNvPicPr>
            <a:picLocks noChangeAspect="1"/>
          </p:cNvPicPr>
          <p:nvPr/>
        </p:nvPicPr>
        <p:blipFill>
          <a:blip r:embed="rId5"/>
          <a:stretch>
            <a:fillRect/>
          </a:stretch>
        </p:blipFill>
        <p:spPr>
          <a:xfrm>
            <a:off x="2838734" y="1553353"/>
            <a:ext cx="12069170" cy="8733647"/>
          </a:xfrm>
          <a:prstGeom prst="rect">
            <a:avLst/>
          </a:prstGeom>
        </p:spPr>
      </p:pic>
    </p:spTree>
    <p:extLst>
      <p:ext uri="{BB962C8B-B14F-4D97-AF65-F5344CB8AC3E}">
        <p14:creationId xmlns:p14="http://schemas.microsoft.com/office/powerpoint/2010/main" val="412319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46BA-87F4-0426-60F7-51A6821D10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8567FD-3DD0-5448-A0B3-2ACE5AB3986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D7170EE-D7F3-BE2D-21FE-95804AA004F7}"/>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6277767B-AA1E-C6AF-21C1-9E719FCBA03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C8303F4-AC2A-A9C5-A500-53A04EB29A6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259F9196-FE3D-EA4C-7BCB-543B5201AD87}"/>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341F5C78-9C6F-EAA6-343C-8D62762FA2E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91388A16-794E-7ADE-A9A5-646393A02F0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D8C13A07-3D90-5B55-02DD-0FA73B81B56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9225F2B0-3DC1-B56E-462D-770956566F9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C5D39DA-AE14-74CB-8D38-B27C39B2765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86DBC5B8-D1D5-709E-E20F-C26C78F4A23A}"/>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2B6E5D7F-6164-84A9-1E8F-A28175F33ED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B7152E7C-1F69-D5F2-AB59-163999F2E9CB}"/>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5122" name="Picture 2" descr="Interfaz de usuario gráfica, Texto, Aplicación&#10;&#10;El contenido generado por IA puede ser incorrecto.">
            <a:extLst>
              <a:ext uri="{FF2B5EF4-FFF2-40B4-BE49-F238E27FC236}">
                <a16:creationId xmlns:a16="http://schemas.microsoft.com/office/drawing/2014/main" id="{FEF57969-7F6E-5E2E-E035-7455A74654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3073" y="1961842"/>
            <a:ext cx="12501350" cy="3209377"/>
          </a:xfrm>
          <a:prstGeom prst="rect">
            <a:avLst/>
          </a:prstGeom>
          <a:noFill/>
          <a:extLst>
            <a:ext uri="{909E8E84-426E-40DD-AFC4-6F175D3DCCD1}">
              <a14:hiddenFill xmlns:a14="http://schemas.microsoft.com/office/drawing/2010/main">
                <a:solidFill>
                  <a:srgbClr val="FFFFFF"/>
                </a:solidFill>
              </a14:hiddenFill>
            </a:ext>
          </a:extLst>
        </p:spPr>
      </p:pic>
      <p:pic>
        <p:nvPicPr>
          <p:cNvPr id="5121" name="Imagen 1" descr="Aplicación&#10;&#10;El contenido generado por IA puede ser incorrecto.">
            <a:extLst>
              <a:ext uri="{FF2B5EF4-FFF2-40B4-BE49-F238E27FC236}">
                <a16:creationId xmlns:a16="http://schemas.microsoft.com/office/drawing/2014/main" id="{1BAE723D-FC2B-2FAE-70CB-BC2234B601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6420" y="6146479"/>
            <a:ext cx="15014655" cy="274999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7B25C76F-AD82-17B4-15C5-F26B657C2B03}"/>
              </a:ext>
            </a:extLst>
          </p:cNvPr>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4" name="Rectangle 4">
            <a:extLst>
              <a:ext uri="{FF2B5EF4-FFF2-40B4-BE49-F238E27FC236}">
                <a16:creationId xmlns:a16="http://schemas.microsoft.com/office/drawing/2014/main" id="{0E1EE5CF-DE7F-321D-4B12-208407C73364}"/>
              </a:ext>
            </a:extLst>
          </p:cNvPr>
          <p:cNvSpPr>
            <a:spLocks noChangeArrowheads="1"/>
          </p:cNvSpPr>
          <p:nvPr/>
        </p:nvSpPr>
        <p:spPr bwMode="auto">
          <a:xfrm>
            <a:off x="0" y="1897063"/>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Tree>
    <p:extLst>
      <p:ext uri="{BB962C8B-B14F-4D97-AF65-F5344CB8AC3E}">
        <p14:creationId xmlns:p14="http://schemas.microsoft.com/office/powerpoint/2010/main" val="3639373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E6BA-6B15-F3BD-F2F9-65B70B6776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3946F9-C9EC-610A-073F-F882645D124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1E9ACDE-638D-7954-7B23-ED0CB8592C5A}"/>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878C4D6-CB58-6141-B42A-79D4FA4A57A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49A5FE3-6DF1-3E48-6BA1-6EC72C7E331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292E14B-C6F4-9D60-1CC5-E9CC2C2197E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E32BDD1-F5BB-EF65-F1C4-DAED94D63DC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E19FB57-B65B-24ED-73B0-68A430A7DCB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7A6C5F9-E3BE-FBF3-3D08-12A92F8C21FE}"/>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3FD21DC-A40E-E757-4D9B-466677A8B8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C2647B3F-5632-F205-CE0F-747D74EC43D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96FE5C29-A0AB-FE83-D74B-EB2967E0A613}"/>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9360E38-3EC1-D849-87A6-AEADD3621AF9}"/>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9F9299E-D385-8632-6D73-1AC23297FA02}"/>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014DF7A1-A460-E6ED-41C6-A658C32EFFDD}"/>
              </a:ext>
            </a:extLst>
          </p:cNvPr>
          <p:cNvSpPr txBox="1"/>
          <p:nvPr/>
        </p:nvSpPr>
        <p:spPr>
          <a:xfrm>
            <a:off x="691661" y="1576879"/>
            <a:ext cx="14888307" cy="7571303"/>
          </a:xfrm>
          <a:prstGeom prst="rect">
            <a:avLst/>
          </a:prstGeom>
          <a:noFill/>
        </p:spPr>
        <p:txBody>
          <a:bodyPr wrap="square">
            <a:spAutoFit/>
          </a:bodyPr>
          <a:lstStyle/>
          <a:p>
            <a:pPr>
              <a:buNone/>
            </a:pPr>
            <a:r>
              <a:rPr lang="es-ES" sz="1800" b="1" dirty="0"/>
              <a:t>Resumen Ejecutivo</a:t>
            </a:r>
          </a:p>
          <a:p>
            <a:pPr>
              <a:buFont typeface="Arial" panose="020B0604020202020204" pitchFamily="34" charset="0"/>
              <a:buChar char="•"/>
            </a:pPr>
            <a:r>
              <a:rPr lang="es-ES" sz="1800" b="1" dirty="0"/>
              <a:t>Plan 2 es el ganador.</a:t>
            </a:r>
            <a:r>
              <a:rPr lang="es-ES" sz="1800" dirty="0"/>
              <a:t> Es más rápido y mucho más eficiente en términos de costos estimados por el optimizador.</a:t>
            </a:r>
          </a:p>
          <a:p>
            <a:pPr>
              <a:buFont typeface="Arial" panose="020B0604020202020204" pitchFamily="34" charset="0"/>
              <a:buChar char="•"/>
            </a:pPr>
            <a:r>
              <a:rPr lang="es-ES" sz="1800" b="1" dirty="0"/>
              <a:t>La razón principal:</a:t>
            </a:r>
            <a:r>
              <a:rPr lang="es-ES" sz="1800" dirty="0"/>
              <a:t> Utiliza un </a:t>
            </a:r>
            <a:r>
              <a:rPr lang="es-ES" sz="1800" b="1" dirty="0"/>
              <a:t>índice compuesto</a:t>
            </a:r>
            <a:r>
              <a:rPr lang="es-ES" sz="1800" dirty="0"/>
              <a:t> (un índice que incluye múltiples columnas) que cubre </a:t>
            </a:r>
            <a:r>
              <a:rPr lang="es-ES" sz="1800" i="1" dirty="0"/>
              <a:t>todas</a:t>
            </a:r>
            <a:r>
              <a:rPr lang="es-ES" sz="1800" dirty="0"/>
              <a:t> las condiciones del filtro </a:t>
            </a:r>
            <a:r>
              <a:rPr lang="es-ES" sz="1800" dirty="0">
                <a:latin typeface="Courier New" panose="02070309020205020404" pitchFamily="49" charset="0"/>
              </a:rPr>
              <a:t>WHERE</a:t>
            </a:r>
            <a:r>
              <a:rPr lang="es-ES" sz="1800" dirty="0"/>
              <a:t>.</a:t>
            </a:r>
          </a:p>
          <a:p>
            <a:pPr>
              <a:buFont typeface="Arial" panose="020B0604020202020204" pitchFamily="34" charset="0"/>
              <a:buChar char="•"/>
            </a:pPr>
            <a:r>
              <a:rPr lang="es-ES" sz="1800" b="1" dirty="0"/>
              <a:t>Plan 1 es menos eficiente.</a:t>
            </a:r>
            <a:r>
              <a:rPr lang="es-ES" sz="1800" dirty="0"/>
              <a:t> Utiliza un índice solo en una columna y luego tiene que hacer trabajo extra para filtrar la segunda condición.</a:t>
            </a:r>
          </a:p>
          <a:p>
            <a:pPr>
              <a:buNone/>
            </a:pPr>
            <a:br>
              <a:rPr lang="es-ES" sz="1800" dirty="0"/>
            </a:br>
            <a:endParaRPr lang="es-ES" sz="1800" dirty="0"/>
          </a:p>
          <a:p>
            <a:pPr>
              <a:buNone/>
            </a:pPr>
            <a:r>
              <a:rPr lang="es-ES" sz="1800" b="1" dirty="0"/>
              <a:t>Análisis Detallado</a:t>
            </a:r>
          </a:p>
          <a:p>
            <a:pPr>
              <a:buNone/>
            </a:pPr>
            <a:endParaRPr lang="es-ES" sz="1800" b="1" dirty="0"/>
          </a:p>
          <a:p>
            <a:pPr>
              <a:buNone/>
            </a:pPr>
            <a:r>
              <a:rPr lang="es-ES" sz="1800" b="1" dirty="0"/>
              <a:t>1. El Índice Utilizado (La diferencia clave)</a:t>
            </a:r>
          </a:p>
          <a:p>
            <a:r>
              <a:rPr lang="es-ES" sz="1800" b="1" dirty="0"/>
              <a:t>Plan 1 </a:t>
            </a:r>
            <a:r>
              <a:rPr lang="es-ES" sz="1800" dirty="0"/>
              <a:t>Utiliza el índice </a:t>
            </a:r>
            <a:r>
              <a:rPr lang="es-ES" sz="1800" dirty="0" err="1">
                <a:latin typeface="Courier New" panose="02070309020205020404" pitchFamily="49" charset="0"/>
              </a:rPr>
              <a:t>idx_orders_purchase_ts</a:t>
            </a:r>
            <a:r>
              <a:rPr lang="es-ES" sz="1800" dirty="0"/>
              <a:t>.</a:t>
            </a:r>
          </a:p>
          <a:p>
            <a:pPr marL="742950" lvl="1" indent="-285750">
              <a:buFont typeface="Arial" panose="020B0604020202020204" pitchFamily="34" charset="0"/>
              <a:buChar char="•"/>
            </a:pPr>
            <a:r>
              <a:rPr lang="es-ES" sz="1800" dirty="0"/>
              <a:t>Este índice parece ser solo sobre la columna de tiempo </a:t>
            </a:r>
            <a:r>
              <a:rPr lang="es-ES" sz="1800" dirty="0">
                <a:latin typeface="Courier New" panose="02070309020205020404" pitchFamily="49" charset="0"/>
              </a:rPr>
              <a:t>(</a:t>
            </a:r>
            <a:r>
              <a:rPr lang="es-ES" sz="1800" dirty="0" err="1">
                <a:latin typeface="Courier New" panose="02070309020205020404" pitchFamily="49" charset="0"/>
              </a:rPr>
              <a:t>order_purchase_timestamp</a:t>
            </a:r>
            <a:r>
              <a:rPr lang="es-ES" sz="1800" dirty="0">
                <a:latin typeface="Courier New" panose="02070309020205020404" pitchFamily="49" charset="0"/>
              </a:rPr>
              <a:t>)</a:t>
            </a:r>
            <a:r>
              <a:rPr lang="es-ES" sz="1800" dirty="0"/>
              <a:t>.</a:t>
            </a:r>
          </a:p>
          <a:p>
            <a:pPr marL="742950" lvl="1" indent="-285750">
              <a:buFont typeface="Arial" panose="020B0604020202020204" pitchFamily="34" charset="0"/>
              <a:buChar char="•"/>
            </a:pPr>
            <a:r>
              <a:rPr lang="es-ES" sz="1800" dirty="0"/>
              <a:t>El motor solo puede usar esto para reducir los datos basándose en la fecha, pero no sabe nada sobre el estado de la orden.</a:t>
            </a:r>
          </a:p>
          <a:p>
            <a:r>
              <a:rPr lang="es-ES" sz="1800" b="1" dirty="0"/>
              <a:t>Plan 2 </a:t>
            </a:r>
            <a:r>
              <a:rPr lang="es-ES" sz="1800" dirty="0"/>
              <a:t>Utiliza el índice </a:t>
            </a:r>
            <a:r>
              <a:rPr lang="es-ES" sz="1800" dirty="0" err="1">
                <a:latin typeface="Courier New" panose="02070309020205020404" pitchFamily="49" charset="0"/>
              </a:rPr>
              <a:t>idx_olist_orders_status_date</a:t>
            </a:r>
            <a:r>
              <a:rPr lang="es-ES" sz="1800" dirty="0"/>
              <a:t>.</a:t>
            </a:r>
          </a:p>
          <a:p>
            <a:pPr marL="742950" lvl="1" indent="-285750">
              <a:buFont typeface="Arial" panose="020B0604020202020204" pitchFamily="34" charset="0"/>
              <a:buChar char="•"/>
            </a:pPr>
            <a:r>
              <a:rPr lang="es-ES" sz="1800" dirty="0"/>
              <a:t>Como su nombre sugiere, este es casi seguro un </a:t>
            </a:r>
            <a:r>
              <a:rPr lang="es-ES" sz="1800" b="1" dirty="0"/>
              <a:t>índice compuesto</a:t>
            </a:r>
            <a:r>
              <a:rPr lang="es-ES" sz="1800" dirty="0"/>
              <a:t> sobre </a:t>
            </a:r>
            <a:r>
              <a:rPr lang="es-ES" sz="1800" dirty="0">
                <a:latin typeface="Courier New" panose="02070309020205020404" pitchFamily="49" charset="0"/>
              </a:rPr>
              <a:t>(</a:t>
            </a:r>
            <a:r>
              <a:rPr lang="es-ES" sz="1800" dirty="0" err="1">
                <a:latin typeface="Courier New" panose="02070309020205020404" pitchFamily="49" charset="0"/>
              </a:rPr>
              <a:t>order_status</a:t>
            </a:r>
            <a:r>
              <a:rPr lang="es-ES" sz="1800" dirty="0">
                <a:latin typeface="Courier New" panose="02070309020205020404" pitchFamily="49" charset="0"/>
              </a:rPr>
              <a:t>, </a:t>
            </a:r>
            <a:r>
              <a:rPr lang="es-ES" sz="1800" dirty="0" err="1">
                <a:latin typeface="Courier New" panose="02070309020205020404" pitchFamily="49" charset="0"/>
              </a:rPr>
              <a:t>order_purchase_timestamp</a:t>
            </a:r>
            <a:r>
              <a:rPr lang="es-ES" sz="1800" dirty="0">
                <a:latin typeface="Courier New" panose="02070309020205020404" pitchFamily="49" charset="0"/>
              </a:rPr>
              <a:t>)</a:t>
            </a:r>
            <a:r>
              <a:rPr lang="es-ES" sz="1800" dirty="0"/>
              <a:t>.</a:t>
            </a:r>
          </a:p>
          <a:p>
            <a:pPr marL="742950" lvl="1" indent="-285750">
              <a:buFont typeface="Arial" panose="020B0604020202020204" pitchFamily="34" charset="0"/>
              <a:buChar char="•"/>
            </a:pPr>
            <a:r>
              <a:rPr lang="es-ES" sz="1800" dirty="0"/>
              <a:t>El motor de base de datos puede usar este único índice para encontrar </a:t>
            </a:r>
            <a:r>
              <a:rPr lang="es-ES" sz="1800" i="1" dirty="0"/>
              <a:t>exactamente</a:t>
            </a:r>
            <a:r>
              <a:rPr lang="es-ES" sz="1800" dirty="0"/>
              <a:t> las filas que cumplen ambas condiciones simultáneamente.</a:t>
            </a:r>
          </a:p>
          <a:p>
            <a:pPr marL="742950" lvl="1" indent="-285750">
              <a:buFont typeface="Arial" panose="020B0604020202020204" pitchFamily="34" charset="0"/>
              <a:buChar char="•"/>
            </a:pPr>
            <a:endParaRPr lang="es-ES" sz="1800" dirty="0"/>
          </a:p>
          <a:p>
            <a:pPr>
              <a:buNone/>
            </a:pPr>
            <a:r>
              <a:rPr lang="es-ES" sz="1800" b="1" dirty="0"/>
              <a:t>2. Estrategia de Filtrado (Cómo se aplican las condiciones)</a:t>
            </a:r>
          </a:p>
          <a:p>
            <a:r>
              <a:rPr lang="es-ES" sz="1800" b="1" dirty="0"/>
              <a:t>Plan 1 (Ineficiente):</a:t>
            </a:r>
            <a:endParaRPr lang="es-ES" sz="1800" dirty="0"/>
          </a:p>
          <a:p>
            <a:pPr marL="742950" lvl="1" indent="-285750">
              <a:buFont typeface="Arial" panose="020B0604020202020204" pitchFamily="34" charset="0"/>
              <a:buChar char="•"/>
            </a:pPr>
            <a:r>
              <a:rPr lang="es-ES" sz="1800" dirty="0"/>
              <a:t>Mira la línea </a:t>
            </a:r>
            <a:r>
              <a:rPr lang="es-ES" sz="1800" dirty="0" err="1">
                <a:latin typeface="Courier New" panose="02070309020205020404" pitchFamily="49" charset="0"/>
              </a:rPr>
              <a:t>Index</a:t>
            </a:r>
            <a:r>
              <a:rPr lang="es-ES" sz="1800" dirty="0">
                <a:latin typeface="Courier New" panose="02070309020205020404" pitchFamily="49" charset="0"/>
              </a:rPr>
              <a:t> Cond</a:t>
            </a:r>
            <a:r>
              <a:rPr lang="es-ES" sz="1800" dirty="0"/>
              <a:t>. Solo aplica el rango de fechas. Esto devuelve </a:t>
            </a:r>
            <a:r>
              <a:rPr lang="es-ES" sz="1800" b="1" dirty="0"/>
              <a:t>800 filas</a:t>
            </a:r>
            <a:r>
              <a:rPr lang="es-ES" sz="1800" dirty="0"/>
              <a:t> (todas las órdenes de enero, independientemente de su estado).</a:t>
            </a:r>
          </a:p>
          <a:p>
            <a:pPr marL="742950" lvl="1" indent="-285750">
              <a:buFont typeface="Arial" panose="020B0604020202020204" pitchFamily="34" charset="0"/>
              <a:buChar char="•"/>
            </a:pPr>
            <a:r>
              <a:rPr lang="es-ES" sz="1800" dirty="0"/>
              <a:t>Luego, mira la línea </a:t>
            </a:r>
            <a:r>
              <a:rPr lang="es-ES" sz="1800" dirty="0" err="1">
                <a:latin typeface="Courier New" panose="02070309020205020404" pitchFamily="49" charset="0"/>
              </a:rPr>
              <a:t>Filter</a:t>
            </a:r>
            <a:r>
              <a:rPr lang="es-ES" sz="1800" dirty="0">
                <a:latin typeface="Courier New" panose="02070309020205020404" pitchFamily="49" charset="0"/>
              </a:rPr>
              <a:t>: ((</a:t>
            </a:r>
            <a:r>
              <a:rPr lang="es-ES" sz="1800" dirty="0" err="1">
                <a:latin typeface="Courier New" panose="02070309020205020404" pitchFamily="49" charset="0"/>
              </a:rPr>
              <a:t>order_status</a:t>
            </a:r>
            <a:r>
              <a:rPr lang="es-ES" sz="1800" dirty="0">
                <a:latin typeface="Courier New" panose="02070309020205020404" pitchFamily="49" charset="0"/>
              </a:rPr>
              <a:t>)::</a:t>
            </a:r>
            <a:r>
              <a:rPr lang="es-ES" sz="1800" dirty="0" err="1">
                <a:latin typeface="Courier New" panose="02070309020205020404" pitchFamily="49" charset="0"/>
              </a:rPr>
              <a:t>text</a:t>
            </a:r>
            <a:r>
              <a:rPr lang="es-ES" sz="1800" dirty="0">
                <a:latin typeface="Courier New" panose="02070309020205020404" pitchFamily="49" charset="0"/>
              </a:rPr>
              <a:t> = '</a:t>
            </a:r>
            <a:r>
              <a:rPr lang="es-ES" sz="1800" dirty="0" err="1">
                <a:latin typeface="Courier New" panose="02070309020205020404" pitchFamily="49" charset="0"/>
              </a:rPr>
              <a:t>delivered</a:t>
            </a:r>
            <a:r>
              <a:rPr lang="es-ES" sz="1800" dirty="0">
                <a:latin typeface="Courier New" panose="02070309020205020404" pitchFamily="49" charset="0"/>
              </a:rPr>
              <a:t>'::</a:t>
            </a:r>
            <a:r>
              <a:rPr lang="es-ES" sz="1800" dirty="0" err="1">
                <a:latin typeface="Courier New" panose="02070309020205020404" pitchFamily="49" charset="0"/>
              </a:rPr>
              <a:t>text</a:t>
            </a:r>
            <a:r>
              <a:rPr lang="es-ES" sz="1800" dirty="0">
                <a:latin typeface="Courier New" panose="02070309020205020404" pitchFamily="49" charset="0"/>
              </a:rPr>
              <a:t>)</a:t>
            </a:r>
            <a:r>
              <a:rPr lang="es-ES" sz="1800" dirty="0"/>
              <a:t> y debajo </a:t>
            </a:r>
            <a:r>
              <a:rPr lang="es-ES" sz="1800" dirty="0" err="1">
                <a:latin typeface="Courier New" panose="02070309020205020404" pitchFamily="49" charset="0"/>
              </a:rPr>
              <a:t>Rows</a:t>
            </a:r>
            <a:r>
              <a:rPr lang="es-ES" sz="1800" dirty="0">
                <a:latin typeface="Courier New" panose="02070309020205020404" pitchFamily="49" charset="0"/>
              </a:rPr>
              <a:t> Removed </a:t>
            </a:r>
            <a:r>
              <a:rPr lang="es-ES" sz="1800" dirty="0" err="1">
                <a:latin typeface="Courier New" panose="02070309020205020404" pitchFamily="49" charset="0"/>
              </a:rPr>
              <a:t>by</a:t>
            </a:r>
            <a:r>
              <a:rPr lang="es-ES" sz="1800" dirty="0">
                <a:latin typeface="Courier New" panose="02070309020205020404" pitchFamily="49" charset="0"/>
              </a:rPr>
              <a:t> </a:t>
            </a:r>
            <a:r>
              <a:rPr lang="es-ES" sz="1800" dirty="0" err="1">
                <a:latin typeface="Courier New" panose="02070309020205020404" pitchFamily="49" charset="0"/>
              </a:rPr>
              <a:t>Filter</a:t>
            </a:r>
            <a:r>
              <a:rPr lang="es-ES" sz="1800" dirty="0">
                <a:latin typeface="Courier New" panose="02070309020205020404" pitchFamily="49" charset="0"/>
              </a:rPr>
              <a:t>: 50</a:t>
            </a:r>
            <a:r>
              <a:rPr lang="es-ES" sz="1800" dirty="0"/>
              <a:t>.</a:t>
            </a:r>
          </a:p>
          <a:p>
            <a:pPr marL="742950" lvl="1" indent="-285750">
              <a:buFont typeface="Arial" panose="020B0604020202020204" pitchFamily="34" charset="0"/>
              <a:buChar char="•"/>
            </a:pPr>
            <a:r>
              <a:rPr lang="es-ES" sz="1800" b="1" dirty="0"/>
              <a:t>Esto significa trabajo extra:</a:t>
            </a:r>
            <a:r>
              <a:rPr lang="es-ES" sz="1800" dirty="0"/>
              <a:t> La base de datos tuvo que recuperar 800 filas, revisarlas una por una, y descartar 50 que no estaban '</a:t>
            </a:r>
            <a:r>
              <a:rPr lang="es-ES" sz="1800" dirty="0" err="1"/>
              <a:t>delivered</a:t>
            </a:r>
            <a:r>
              <a:rPr lang="es-ES" sz="1800" dirty="0"/>
              <a:t>' para llegar a las 750 finales. Esto es desperdicio de CPU y E/S.</a:t>
            </a:r>
          </a:p>
          <a:p>
            <a:r>
              <a:rPr lang="es-ES" sz="1800" b="1" dirty="0"/>
              <a:t>Plan 2 (Eficiente):</a:t>
            </a:r>
            <a:endParaRPr lang="es-ES" sz="1800" dirty="0"/>
          </a:p>
          <a:p>
            <a:pPr marL="742950" lvl="1" indent="-285750">
              <a:buFont typeface="Arial" panose="020B0604020202020204" pitchFamily="34" charset="0"/>
              <a:buChar char="•"/>
            </a:pPr>
            <a:r>
              <a:rPr lang="es-ES" sz="1800" dirty="0"/>
              <a:t>Mira la línea </a:t>
            </a:r>
            <a:r>
              <a:rPr lang="es-ES" sz="1800" dirty="0" err="1">
                <a:latin typeface="Courier New" panose="02070309020205020404" pitchFamily="49" charset="0"/>
              </a:rPr>
              <a:t>Index</a:t>
            </a:r>
            <a:r>
              <a:rPr lang="es-ES" sz="1800" dirty="0">
                <a:latin typeface="Courier New" panose="02070309020205020404" pitchFamily="49" charset="0"/>
              </a:rPr>
              <a:t> Cond</a:t>
            </a:r>
            <a:r>
              <a:rPr lang="es-ES" sz="1800" dirty="0"/>
              <a:t>. Ambas condiciones (status = '</a:t>
            </a:r>
            <a:r>
              <a:rPr lang="es-ES" sz="1800" dirty="0" err="1"/>
              <a:t>delivered</a:t>
            </a:r>
            <a:r>
              <a:rPr lang="es-ES" sz="1800" dirty="0"/>
              <a:t>' Y el rango de fechas) se aplican </a:t>
            </a:r>
            <a:r>
              <a:rPr lang="es-ES" sz="1800" b="1" dirty="0"/>
              <a:t>dentro</a:t>
            </a:r>
            <a:r>
              <a:rPr lang="es-ES" sz="1800" dirty="0"/>
              <a:t> del escaneo del índice.</a:t>
            </a:r>
          </a:p>
          <a:p>
            <a:pPr marL="742950" lvl="1" indent="-285750">
              <a:buFont typeface="Arial" panose="020B0604020202020204" pitchFamily="34" charset="0"/>
              <a:buChar char="•"/>
            </a:pPr>
            <a:r>
              <a:rPr lang="es-ES" sz="1800" dirty="0"/>
              <a:t>El índice devuelve exactamente las 750 filas necesarias. Es un tiro de precisión.</a:t>
            </a:r>
          </a:p>
        </p:txBody>
      </p:sp>
    </p:spTree>
    <p:extLst>
      <p:ext uri="{BB962C8B-B14F-4D97-AF65-F5344CB8AC3E}">
        <p14:creationId xmlns:p14="http://schemas.microsoft.com/office/powerpoint/2010/main" val="1385504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814A0-1A25-A063-D821-4CA0057065B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EBB90E-6EE8-088B-FBFF-FE1F46EB7836}"/>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6C57A420-551C-08E5-D53E-6A0B309631A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441BFFF9-1B1B-BD52-6DB4-9FBDE806BD6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FA8840D9-92CF-750F-A8BE-3A939830D2A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8553DCFC-84E8-2916-C710-28D5DDA72C8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0C81DC43-669C-E293-79AF-C42FD37D71D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BB33FA6-2E5A-FC12-9DC2-4BBEFD2F033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958F2E5-6958-D7DA-5703-DB34F0973DB0}"/>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D1BCE27-3EF2-7FCB-8566-A4C66BC384F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060DD6B1-2AB8-7E8A-F789-0B4157F96A6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E3756DFC-8C1B-BBD8-34AE-FFBB095A7B33}"/>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27E7E219-B642-0C0B-1BE0-BF6673C389DF}"/>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8F8A290-B6C8-97B0-6794-F8A5659CD1FB}"/>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FB9DE636-7B6C-6ACC-6198-9B4A90098699}"/>
              </a:ext>
            </a:extLst>
          </p:cNvPr>
          <p:cNvGraphicFramePr>
            <a:graphicFrameLocks noGrp="1"/>
          </p:cNvGraphicFramePr>
          <p:nvPr>
            <p:extLst>
              <p:ext uri="{D42A27DB-BD31-4B8C-83A1-F6EECF244321}">
                <p14:modId xmlns:p14="http://schemas.microsoft.com/office/powerpoint/2010/main" val="1419741465"/>
              </p:ext>
            </p:extLst>
          </p:nvPr>
        </p:nvGraphicFramePr>
        <p:xfrm>
          <a:off x="1828800" y="3303746"/>
          <a:ext cx="13289924" cy="4328160"/>
        </p:xfrm>
        <a:graphic>
          <a:graphicData uri="http://schemas.openxmlformats.org/drawingml/2006/table">
            <a:tbl>
              <a:tblPr firstRow="1" firstCol="1">
                <a:tableStyleId>{00A15C55-8517-42AA-B614-E9B94910E393}</a:tableStyleId>
              </a:tblPr>
              <a:tblGrid>
                <a:gridCol w="3322481">
                  <a:extLst>
                    <a:ext uri="{9D8B030D-6E8A-4147-A177-3AD203B41FA5}">
                      <a16:colId xmlns:a16="http://schemas.microsoft.com/office/drawing/2014/main" val="202002125"/>
                    </a:ext>
                  </a:extLst>
                </a:gridCol>
                <a:gridCol w="3322481">
                  <a:extLst>
                    <a:ext uri="{9D8B030D-6E8A-4147-A177-3AD203B41FA5}">
                      <a16:colId xmlns:a16="http://schemas.microsoft.com/office/drawing/2014/main" val="3558556208"/>
                    </a:ext>
                  </a:extLst>
                </a:gridCol>
                <a:gridCol w="3322481">
                  <a:extLst>
                    <a:ext uri="{9D8B030D-6E8A-4147-A177-3AD203B41FA5}">
                      <a16:colId xmlns:a16="http://schemas.microsoft.com/office/drawing/2014/main" val="832387523"/>
                    </a:ext>
                  </a:extLst>
                </a:gridCol>
                <a:gridCol w="3322481">
                  <a:extLst>
                    <a:ext uri="{9D8B030D-6E8A-4147-A177-3AD203B41FA5}">
                      <a16:colId xmlns:a16="http://schemas.microsoft.com/office/drawing/2014/main" val="1266139901"/>
                    </a:ext>
                  </a:extLst>
                </a:gridCol>
              </a:tblGrid>
              <a:tr h="0">
                <a:tc>
                  <a:txBody>
                    <a:bodyPr/>
                    <a:lstStyle/>
                    <a:p>
                      <a:pPr>
                        <a:buNone/>
                      </a:pPr>
                      <a:r>
                        <a:rPr lang="es-CO" sz="2000" b="1" dirty="0">
                          <a:effectLst/>
                        </a:rPr>
                        <a:t>Métrica</a:t>
                      </a:r>
                      <a:endParaRPr lang="es-CO" sz="2000" dirty="0">
                        <a:effectLst/>
                        <a:latin typeface="Google Sans Text"/>
                      </a:endParaRPr>
                    </a:p>
                  </a:txBody>
                  <a:tcPr anchor="ctr"/>
                </a:tc>
                <a:tc>
                  <a:txBody>
                    <a:bodyPr/>
                    <a:lstStyle/>
                    <a:p>
                      <a:pPr>
                        <a:buNone/>
                      </a:pPr>
                      <a:r>
                        <a:rPr lang="es-ES" sz="2000" b="1">
                          <a:effectLst/>
                        </a:rPr>
                        <a:t>Plan 1 (Índice Simple + Filtro)</a:t>
                      </a:r>
                      <a:endParaRPr lang="es-ES" sz="2000">
                        <a:effectLst/>
                        <a:latin typeface="Google Sans Text"/>
                      </a:endParaRPr>
                    </a:p>
                  </a:txBody>
                  <a:tcPr anchor="ctr"/>
                </a:tc>
                <a:tc>
                  <a:txBody>
                    <a:bodyPr/>
                    <a:lstStyle/>
                    <a:p>
                      <a:pPr>
                        <a:buNone/>
                      </a:pPr>
                      <a:r>
                        <a:rPr lang="es-CO" sz="2000" b="1">
                          <a:effectLst/>
                        </a:rPr>
                        <a:t>Plan 2 (Índice Compuesto)</a:t>
                      </a:r>
                      <a:endParaRPr lang="es-CO" sz="2000">
                        <a:effectLst/>
                        <a:latin typeface="Google Sans Text"/>
                      </a:endParaRPr>
                    </a:p>
                  </a:txBody>
                  <a:tcPr anchor="ctr"/>
                </a:tc>
                <a:tc>
                  <a:txBody>
                    <a:bodyPr/>
                    <a:lstStyle/>
                    <a:p>
                      <a:pPr>
                        <a:buNone/>
                      </a:pPr>
                      <a:r>
                        <a:rPr lang="es-CO" sz="2000" b="1">
                          <a:effectLst/>
                        </a:rPr>
                        <a:t>Análisis</a:t>
                      </a:r>
                      <a:endParaRPr lang="es-CO" sz="2000">
                        <a:effectLst/>
                        <a:latin typeface="Google Sans Text"/>
                      </a:endParaRPr>
                    </a:p>
                  </a:txBody>
                  <a:tcPr anchor="ctr"/>
                </a:tc>
                <a:extLst>
                  <a:ext uri="{0D108BD9-81ED-4DB2-BD59-A6C34878D82A}">
                    <a16:rowId xmlns:a16="http://schemas.microsoft.com/office/drawing/2014/main" val="3335502244"/>
                  </a:ext>
                </a:extLst>
              </a:tr>
              <a:tr h="0">
                <a:tc>
                  <a:txBody>
                    <a:bodyPr/>
                    <a:lstStyle/>
                    <a:p>
                      <a:pPr>
                        <a:buNone/>
                      </a:pPr>
                      <a:r>
                        <a:rPr lang="es-CO" sz="2000" b="1">
                          <a:effectLst/>
                        </a:rPr>
                        <a:t>Costo Estimado (Total)</a:t>
                      </a:r>
                      <a:endParaRPr lang="es-CO" sz="2000">
                        <a:effectLst/>
                        <a:latin typeface="Google Sans Text"/>
                      </a:endParaRPr>
                    </a:p>
                  </a:txBody>
                  <a:tcPr anchor="ctr"/>
                </a:tc>
                <a:tc>
                  <a:txBody>
                    <a:bodyPr/>
                    <a:lstStyle/>
                    <a:p>
                      <a:pPr>
                        <a:buNone/>
                      </a:pPr>
                      <a:r>
                        <a:rPr lang="es-CO" sz="2000" dirty="0">
                          <a:effectLst/>
                        </a:rPr>
                        <a:t>595.78</a:t>
                      </a:r>
                      <a:endParaRPr lang="es-CO" sz="2000" dirty="0">
                        <a:effectLst/>
                        <a:latin typeface="Google Sans Text"/>
                      </a:endParaRPr>
                    </a:p>
                  </a:txBody>
                  <a:tcPr anchor="ctr"/>
                </a:tc>
                <a:tc>
                  <a:txBody>
                    <a:bodyPr/>
                    <a:lstStyle/>
                    <a:p>
                      <a:pPr>
                        <a:buNone/>
                      </a:pPr>
                      <a:r>
                        <a:rPr lang="es-CO" sz="2000" b="1" dirty="0">
                          <a:effectLst/>
                        </a:rPr>
                        <a:t>12.28</a:t>
                      </a:r>
                      <a:endParaRPr lang="es-CO" sz="2000" dirty="0">
                        <a:effectLst/>
                        <a:latin typeface="Google Sans Text"/>
                      </a:endParaRPr>
                    </a:p>
                  </a:txBody>
                  <a:tcPr anchor="ctr"/>
                </a:tc>
                <a:tc>
                  <a:txBody>
                    <a:bodyPr/>
                    <a:lstStyle/>
                    <a:p>
                      <a:pPr>
                        <a:buNone/>
                      </a:pPr>
                      <a:r>
                        <a:rPr lang="es-ES" sz="2000" dirty="0">
                          <a:effectLst/>
                        </a:rPr>
                        <a:t>El planificador sabe que el Plan 1 es mucho más caro (casi 50 veces más costoso en estimación) porque implica leer más datos y filtrarlos después.</a:t>
                      </a:r>
                      <a:endParaRPr lang="es-ES" sz="2000" dirty="0">
                        <a:effectLst/>
                        <a:latin typeface="Google Sans Text"/>
                      </a:endParaRPr>
                    </a:p>
                  </a:txBody>
                  <a:tcPr anchor="ctr"/>
                </a:tc>
                <a:extLst>
                  <a:ext uri="{0D108BD9-81ED-4DB2-BD59-A6C34878D82A}">
                    <a16:rowId xmlns:a16="http://schemas.microsoft.com/office/drawing/2014/main" val="4089995241"/>
                  </a:ext>
                </a:extLst>
              </a:tr>
              <a:tr h="0">
                <a:tc>
                  <a:txBody>
                    <a:bodyPr/>
                    <a:lstStyle/>
                    <a:p>
                      <a:pPr>
                        <a:buNone/>
                      </a:pPr>
                      <a:r>
                        <a:rPr lang="es-CO" sz="2000" b="1">
                          <a:effectLst/>
                        </a:rPr>
                        <a:t>Filas leídas del Índice</a:t>
                      </a:r>
                      <a:endParaRPr lang="es-CO" sz="2000">
                        <a:effectLst/>
                        <a:latin typeface="Google Sans Text"/>
                      </a:endParaRPr>
                    </a:p>
                  </a:txBody>
                  <a:tcPr anchor="ctr"/>
                </a:tc>
                <a:tc>
                  <a:txBody>
                    <a:bodyPr/>
                    <a:lstStyle/>
                    <a:p>
                      <a:pPr>
                        <a:buNone/>
                      </a:pPr>
                      <a:r>
                        <a:rPr lang="es-CO" sz="2000">
                          <a:effectLst/>
                        </a:rPr>
                        <a:t>800 (Excesivas)</a:t>
                      </a:r>
                      <a:endParaRPr lang="es-CO" sz="2000">
                        <a:effectLst/>
                        <a:latin typeface="Google Sans Text"/>
                      </a:endParaRPr>
                    </a:p>
                  </a:txBody>
                  <a:tcPr anchor="ctr"/>
                </a:tc>
                <a:tc>
                  <a:txBody>
                    <a:bodyPr/>
                    <a:lstStyle/>
                    <a:p>
                      <a:pPr>
                        <a:buNone/>
                      </a:pPr>
                      <a:r>
                        <a:rPr lang="es-CO" sz="2000" b="1" dirty="0">
                          <a:effectLst/>
                        </a:rPr>
                        <a:t>750</a:t>
                      </a:r>
                      <a:r>
                        <a:rPr lang="es-CO" sz="2000" dirty="0">
                          <a:effectLst/>
                        </a:rPr>
                        <a:t> (Exactas)</a:t>
                      </a:r>
                      <a:endParaRPr lang="es-CO" sz="2000" dirty="0">
                        <a:effectLst/>
                        <a:latin typeface="Google Sans Text"/>
                      </a:endParaRPr>
                    </a:p>
                  </a:txBody>
                  <a:tcPr anchor="ctr"/>
                </a:tc>
                <a:tc>
                  <a:txBody>
                    <a:bodyPr/>
                    <a:lstStyle/>
                    <a:p>
                      <a:pPr>
                        <a:buNone/>
                      </a:pPr>
                      <a:r>
                        <a:rPr lang="es-ES" sz="2000">
                          <a:effectLst/>
                        </a:rPr>
                        <a:t>El Plan 1 leyó 50 filas innecesariamente.</a:t>
                      </a:r>
                      <a:endParaRPr lang="es-ES" sz="2000">
                        <a:effectLst/>
                        <a:latin typeface="Google Sans Text"/>
                      </a:endParaRPr>
                    </a:p>
                  </a:txBody>
                  <a:tcPr anchor="ctr"/>
                </a:tc>
                <a:extLst>
                  <a:ext uri="{0D108BD9-81ED-4DB2-BD59-A6C34878D82A}">
                    <a16:rowId xmlns:a16="http://schemas.microsoft.com/office/drawing/2014/main" val="468194356"/>
                  </a:ext>
                </a:extLst>
              </a:tr>
              <a:tr h="0">
                <a:tc>
                  <a:txBody>
                    <a:bodyPr/>
                    <a:lstStyle/>
                    <a:p>
                      <a:pPr>
                        <a:buNone/>
                      </a:pPr>
                      <a:r>
                        <a:rPr lang="es-CO" sz="2000" b="1">
                          <a:effectLst/>
                        </a:rPr>
                        <a:t>Tiempo de Ejecución</a:t>
                      </a:r>
                      <a:endParaRPr lang="es-CO" sz="2000">
                        <a:effectLst/>
                        <a:latin typeface="Google Sans Text"/>
                      </a:endParaRPr>
                    </a:p>
                  </a:txBody>
                  <a:tcPr anchor="ctr"/>
                </a:tc>
                <a:tc>
                  <a:txBody>
                    <a:bodyPr/>
                    <a:lstStyle/>
                    <a:p>
                      <a:pPr>
                        <a:buNone/>
                      </a:pPr>
                      <a:r>
                        <a:rPr lang="es-CO" sz="2000">
                          <a:effectLst/>
                        </a:rPr>
                        <a:t>1.529 ms</a:t>
                      </a:r>
                      <a:endParaRPr lang="es-CO" sz="2000">
                        <a:effectLst/>
                        <a:latin typeface="Google Sans Text"/>
                      </a:endParaRPr>
                    </a:p>
                  </a:txBody>
                  <a:tcPr anchor="ctr"/>
                </a:tc>
                <a:tc>
                  <a:txBody>
                    <a:bodyPr/>
                    <a:lstStyle/>
                    <a:p>
                      <a:pPr>
                        <a:buNone/>
                      </a:pPr>
                      <a:r>
                        <a:rPr lang="es-CO" sz="2000" b="1">
                          <a:effectLst/>
                        </a:rPr>
                        <a:t>1.291 ms</a:t>
                      </a:r>
                      <a:endParaRPr lang="es-CO" sz="2000">
                        <a:effectLst/>
                        <a:latin typeface="Google Sans Text"/>
                      </a:endParaRPr>
                    </a:p>
                  </a:txBody>
                  <a:tcPr anchor="ctr"/>
                </a:tc>
                <a:tc>
                  <a:txBody>
                    <a:bodyPr/>
                    <a:lstStyle/>
                    <a:p>
                      <a:pPr>
                        <a:buNone/>
                      </a:pPr>
                      <a:r>
                        <a:rPr lang="es-ES" sz="2000" dirty="0">
                          <a:effectLst/>
                        </a:rPr>
                        <a:t>El Plan 2 es aproximadamente un </a:t>
                      </a:r>
                      <a:r>
                        <a:rPr lang="es-ES" sz="2000" b="1" dirty="0">
                          <a:effectLst/>
                        </a:rPr>
                        <a:t>18% más rápido</a:t>
                      </a:r>
                      <a:r>
                        <a:rPr lang="es-ES" sz="2000" dirty="0">
                          <a:effectLst/>
                        </a:rPr>
                        <a:t>.</a:t>
                      </a:r>
                      <a:endParaRPr lang="es-ES" sz="2000" dirty="0">
                        <a:effectLst/>
                        <a:latin typeface="Google Sans Text"/>
                      </a:endParaRPr>
                    </a:p>
                  </a:txBody>
                  <a:tcPr anchor="ctr"/>
                </a:tc>
                <a:extLst>
                  <a:ext uri="{0D108BD9-81ED-4DB2-BD59-A6C34878D82A}">
                    <a16:rowId xmlns:a16="http://schemas.microsoft.com/office/drawing/2014/main" val="3307072960"/>
                  </a:ext>
                </a:extLst>
              </a:tr>
            </a:tbl>
          </a:graphicData>
        </a:graphic>
      </p:graphicFrame>
    </p:spTree>
    <p:extLst>
      <p:ext uri="{BB962C8B-B14F-4D97-AF65-F5344CB8AC3E}">
        <p14:creationId xmlns:p14="http://schemas.microsoft.com/office/powerpoint/2010/main" val="110551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99C6-1A68-364F-9EEB-E5DFC06423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ADEA3B-2A81-A260-0E8D-9C9FC4E2282B}"/>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6DE4F917-2BAA-B1D8-5C87-C40CBF78FA2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F1185B13-BD49-D086-C9EC-0ADE4BA6A95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1E5C2E9-B28D-3C91-D37F-B8DB1A77DCF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4BBF9A8-2C47-26ED-0ECE-DE9BA28E380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C8AEE6C5-215F-506D-041F-86240D77D51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C90B81D-3D20-7E7E-FAD5-0CC8F69AF9C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93A973AE-8870-4E62-A6BA-18B5068C5ECE}"/>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5D57C014-595D-50CA-6AAE-3E444A47489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13FADB5-0759-AC7D-04E5-317126CFAB1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34F4FA4-EC5F-6456-2545-5558EF11186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9F4A2165-E211-1548-58DC-1F7F19AC5BF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448A343A-8115-FFB0-5F31-E9A02644662D}"/>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Resumen Final</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5CD375A2-0EC1-1086-A41A-DF0980D7CF8D}"/>
              </a:ext>
            </a:extLst>
          </p:cNvPr>
          <p:cNvGraphicFramePr>
            <a:graphicFrameLocks noGrp="1"/>
          </p:cNvGraphicFramePr>
          <p:nvPr>
            <p:extLst>
              <p:ext uri="{D42A27DB-BD31-4B8C-83A1-F6EECF244321}">
                <p14:modId xmlns:p14="http://schemas.microsoft.com/office/powerpoint/2010/main" val="3371822362"/>
              </p:ext>
            </p:extLst>
          </p:nvPr>
        </p:nvGraphicFramePr>
        <p:xfrm>
          <a:off x="2825262" y="2617817"/>
          <a:ext cx="11699630" cy="6197936"/>
        </p:xfrm>
        <a:graphic>
          <a:graphicData uri="http://schemas.openxmlformats.org/drawingml/2006/table">
            <a:tbl>
              <a:tblPr firstRow="1" firstCol="1">
                <a:tableStyleId>{00A15C55-8517-42AA-B614-E9B94910E393}</a:tableStyleId>
              </a:tblPr>
              <a:tblGrid>
                <a:gridCol w="3028114">
                  <a:extLst>
                    <a:ext uri="{9D8B030D-6E8A-4147-A177-3AD203B41FA5}">
                      <a16:colId xmlns:a16="http://schemas.microsoft.com/office/drawing/2014/main" val="1355282586"/>
                    </a:ext>
                  </a:extLst>
                </a:gridCol>
                <a:gridCol w="4335758">
                  <a:extLst>
                    <a:ext uri="{9D8B030D-6E8A-4147-A177-3AD203B41FA5}">
                      <a16:colId xmlns:a16="http://schemas.microsoft.com/office/drawing/2014/main" val="623084113"/>
                    </a:ext>
                  </a:extLst>
                </a:gridCol>
                <a:gridCol w="4335758">
                  <a:extLst>
                    <a:ext uri="{9D8B030D-6E8A-4147-A177-3AD203B41FA5}">
                      <a16:colId xmlns:a16="http://schemas.microsoft.com/office/drawing/2014/main" val="2032426761"/>
                    </a:ext>
                  </a:extLst>
                </a:gridCol>
              </a:tblGrid>
              <a:tr h="516495">
                <a:tc>
                  <a:txBody>
                    <a:bodyPr/>
                    <a:lstStyle/>
                    <a:p>
                      <a:pPr rtl="0">
                        <a:buNone/>
                      </a:pPr>
                      <a:r>
                        <a:rPr lang="es-CO" sz="2000" b="1" dirty="0">
                          <a:solidFill>
                            <a:schemeClr val="bg1"/>
                          </a:solidFill>
                          <a:effectLst/>
                        </a:rPr>
                        <a:t>Problema</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b="1">
                          <a:solidFill>
                            <a:schemeClr val="bg1"/>
                          </a:solidFill>
                          <a:effectLst/>
                        </a:rPr>
                        <a:t>Solución</a:t>
                      </a:r>
                      <a:endParaRPr lang="es-CO" sz="2000">
                        <a:solidFill>
                          <a:schemeClr val="bg1"/>
                        </a:solidFill>
                        <a:effectLst/>
                        <a:latin typeface="Google Sans Text"/>
                      </a:endParaRPr>
                    </a:p>
                  </a:txBody>
                  <a:tcPr marL="114300" marR="114300" marT="76200" marB="76200" anchor="ctr"/>
                </a:tc>
                <a:tc>
                  <a:txBody>
                    <a:bodyPr/>
                    <a:lstStyle/>
                    <a:p>
                      <a:pPr rtl="0">
                        <a:buNone/>
                      </a:pPr>
                      <a:r>
                        <a:rPr lang="es-CO" sz="2000" b="1" dirty="0">
                          <a:solidFill>
                            <a:schemeClr val="bg1"/>
                          </a:solidFill>
                          <a:effectLst/>
                        </a:rPr>
                        <a:t>Impacto</a:t>
                      </a:r>
                      <a:endParaRPr lang="es-CO" sz="2000" dirty="0">
                        <a:solidFill>
                          <a:schemeClr val="bg1"/>
                        </a:solidFill>
                        <a:effectLst/>
                        <a:latin typeface="Google Sans Text"/>
                      </a:endParaRPr>
                    </a:p>
                  </a:txBody>
                  <a:tcPr marL="114300" marR="114300" marT="76200" marB="76200" anchor="ctr"/>
                </a:tc>
                <a:extLst>
                  <a:ext uri="{0D108BD9-81ED-4DB2-BD59-A6C34878D82A}">
                    <a16:rowId xmlns:a16="http://schemas.microsoft.com/office/drawing/2014/main" val="1793522500"/>
                  </a:ext>
                </a:extLst>
              </a:tr>
              <a:tr h="1205154">
                <a:tc>
                  <a:txBody>
                    <a:bodyPr/>
                    <a:lstStyle/>
                    <a:p>
                      <a:pPr rtl="0">
                        <a:buNone/>
                      </a:pPr>
                      <a:r>
                        <a:rPr lang="es-ES" sz="2000" b="1" dirty="0">
                          <a:solidFill>
                            <a:schemeClr val="bg1"/>
                          </a:solidFill>
                          <a:effectLst/>
                        </a:rPr>
                        <a:t>Lectura lenta de toda la tabla</a:t>
                      </a:r>
                      <a:endParaRPr lang="es-ES"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Crear Índices (B-Tree)</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a:solidFill>
                            <a:srgbClr val="1F1F1F"/>
                          </a:solidFill>
                          <a:effectLst/>
                        </a:rPr>
                        <a:t>Alto</a:t>
                      </a:r>
                      <a:endParaRPr lang="es-CO" sz="2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61186437"/>
                  </a:ext>
                </a:extLst>
              </a:tr>
              <a:tr h="1549484">
                <a:tc>
                  <a:txBody>
                    <a:bodyPr/>
                    <a:lstStyle/>
                    <a:p>
                      <a:pPr rtl="0">
                        <a:buNone/>
                      </a:pPr>
                      <a:r>
                        <a:rPr lang="en-US" sz="2000" b="1" dirty="0" err="1">
                          <a:solidFill>
                            <a:schemeClr val="bg1"/>
                          </a:solidFill>
                          <a:effectLst/>
                        </a:rPr>
                        <a:t>Funciones</a:t>
                      </a:r>
                      <a:r>
                        <a:rPr lang="en-US" sz="2000" b="1" dirty="0">
                          <a:solidFill>
                            <a:schemeClr val="bg1"/>
                          </a:solidFill>
                          <a:effectLst/>
                        </a:rPr>
                        <a:t> </a:t>
                      </a:r>
                      <a:r>
                        <a:rPr lang="en-US" sz="2000" b="1" dirty="0" err="1">
                          <a:solidFill>
                            <a:schemeClr val="bg1"/>
                          </a:solidFill>
                          <a:effectLst/>
                        </a:rPr>
                        <a:t>en</a:t>
                      </a:r>
                      <a:r>
                        <a:rPr lang="en-US" sz="2000" b="1" dirty="0">
                          <a:solidFill>
                            <a:schemeClr val="bg1"/>
                          </a:solidFill>
                          <a:effectLst/>
                        </a:rPr>
                        <a:t> WHERE (YEAR, LOWER)</a:t>
                      </a:r>
                      <a:endParaRPr lang="en-US"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Reescribir a SARGable</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Medio/Alto</a:t>
                      </a:r>
                      <a:endParaRPr lang="es-CO" sz="20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05101080"/>
                  </a:ext>
                </a:extLst>
              </a:tr>
              <a:tr h="516495">
                <a:tc>
                  <a:txBody>
                    <a:bodyPr/>
                    <a:lstStyle/>
                    <a:p>
                      <a:pPr rtl="0">
                        <a:buNone/>
                      </a:pPr>
                      <a:r>
                        <a:rPr lang="es-CO" sz="2000" b="1" dirty="0" err="1">
                          <a:solidFill>
                            <a:schemeClr val="bg1"/>
                          </a:solidFill>
                          <a:effectLst/>
                        </a:rPr>
                        <a:t>Joins</a:t>
                      </a:r>
                      <a:r>
                        <a:rPr lang="es-CO" sz="2000" b="1" dirty="0">
                          <a:solidFill>
                            <a:schemeClr val="bg1"/>
                          </a:solidFill>
                          <a:effectLst/>
                        </a:rPr>
                        <a:t> Lentos</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Indexar Foreign Keys</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a:solidFill>
                            <a:srgbClr val="1F1F1F"/>
                          </a:solidFill>
                          <a:effectLst/>
                        </a:rPr>
                        <a:t>Medio</a:t>
                      </a:r>
                      <a:endParaRPr lang="es-CO" sz="2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119541845"/>
                  </a:ext>
                </a:extLst>
              </a:tr>
              <a:tr h="1205154">
                <a:tc>
                  <a:txBody>
                    <a:bodyPr/>
                    <a:lstStyle/>
                    <a:p>
                      <a:pPr rtl="0">
                        <a:buNone/>
                      </a:pPr>
                      <a:r>
                        <a:rPr lang="es-CO" sz="2000" b="1" dirty="0">
                          <a:solidFill>
                            <a:schemeClr val="bg1"/>
                          </a:solidFill>
                          <a:effectLst/>
                        </a:rPr>
                        <a:t>Consultas repetitivas pesadas</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Vistas Materializadas</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a:solidFill>
                            <a:srgbClr val="1F1F1F"/>
                          </a:solidFill>
                          <a:effectLst/>
                        </a:rPr>
                        <a:t>Muy Alto</a:t>
                      </a:r>
                      <a:endParaRPr lang="es-CO" sz="2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236717374"/>
                  </a:ext>
                </a:extLst>
              </a:tr>
              <a:tr h="1205154">
                <a:tc>
                  <a:txBody>
                    <a:bodyPr/>
                    <a:lstStyle/>
                    <a:p>
                      <a:pPr rtl="0">
                        <a:buNone/>
                      </a:pPr>
                      <a:r>
                        <a:rPr lang="es-CO" sz="2000" b="1" dirty="0">
                          <a:solidFill>
                            <a:schemeClr val="bg1"/>
                          </a:solidFill>
                          <a:effectLst/>
                        </a:rPr>
                        <a:t>Tráfico de red excesivo</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Evitar </a:t>
                      </a:r>
                      <a:r>
                        <a:rPr lang="es-CO" sz="2000" dirty="0">
                          <a:solidFill>
                            <a:srgbClr val="444746"/>
                          </a:solidFill>
                          <a:effectLst/>
                        </a:rPr>
                        <a:t>SELECT *</a:t>
                      </a:r>
                      <a:r>
                        <a:rPr lang="es-CO" sz="2000" dirty="0">
                          <a:solidFill>
                            <a:srgbClr val="1F1F1F"/>
                          </a:solidFill>
                          <a:effectLst/>
                        </a:rPr>
                        <a:t>, pedir columnas específicas</a:t>
                      </a:r>
                      <a:endParaRPr lang="es-CO" sz="2000" dirty="0">
                        <a:solidFill>
                          <a:srgbClr val="1F1F1F"/>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Bajo (pero acumulativo)</a:t>
                      </a:r>
                      <a:endParaRPr lang="es-CO" sz="20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289492348"/>
                  </a:ext>
                </a:extLst>
              </a:tr>
            </a:tbl>
          </a:graphicData>
        </a:graphic>
      </p:graphicFrame>
    </p:spTree>
    <p:extLst>
      <p:ext uri="{BB962C8B-B14F-4D97-AF65-F5344CB8AC3E}">
        <p14:creationId xmlns:p14="http://schemas.microsoft.com/office/powerpoint/2010/main" val="3387722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B12D-E1BE-8DC1-630B-D5E03D895B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DD39C-EE99-DDD8-DA2F-8AF26798357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92F7C04-71E4-7BB2-2D75-0A61CEBA8B0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7C3E2B5-5929-DF7D-5919-5D622834971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8191576B-BA9E-5A9B-CFCA-DD4153B2FA9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EEA9F3B0-105B-A463-7C33-38587F7E594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DCEE46B-EE99-214A-20F2-6A74AD24CDB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28299A6-71B9-53D5-2799-A85338DCBB6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F942EC15-8315-5F1E-66B9-C738645E4F3F}"/>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9B28DDA9-0330-95A9-5908-E740CA531BA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94E6636-F7E5-F4CD-5B52-AFA7FC9059D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AD089BF3-41CA-668E-6C1A-911CCBACABE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FFCC20FA-9995-15BA-7909-DE01627AA413}"/>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89CA2EDB-3DDC-9C27-61DB-A7A908EFE420}"/>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6D1F6709-65C3-977F-BBC1-C95F54D12150}"/>
              </a:ext>
            </a:extLst>
          </p:cNvPr>
          <p:cNvGraphicFramePr>
            <a:graphicFrameLocks noGrp="1"/>
          </p:cNvGraphicFramePr>
          <p:nvPr>
            <p:extLst>
              <p:ext uri="{D42A27DB-BD31-4B8C-83A1-F6EECF244321}">
                <p14:modId xmlns:p14="http://schemas.microsoft.com/office/powerpoint/2010/main" val="1309080911"/>
              </p:ext>
            </p:extLst>
          </p:nvPr>
        </p:nvGraphicFramePr>
        <p:xfrm>
          <a:off x="3068295" y="3568968"/>
          <a:ext cx="11034564" cy="4320665"/>
        </p:xfrm>
        <a:graphic>
          <a:graphicData uri="http://schemas.openxmlformats.org/drawingml/2006/table">
            <a:tbl>
              <a:tblPr firstRow="1" firstCol="1">
                <a:tableStyleId>{00A15C55-8517-42AA-B614-E9B94910E393}</a:tableStyleId>
              </a:tblPr>
              <a:tblGrid>
                <a:gridCol w="3678188">
                  <a:extLst>
                    <a:ext uri="{9D8B030D-6E8A-4147-A177-3AD203B41FA5}">
                      <a16:colId xmlns:a16="http://schemas.microsoft.com/office/drawing/2014/main" val="1692619370"/>
                    </a:ext>
                  </a:extLst>
                </a:gridCol>
                <a:gridCol w="3678188">
                  <a:extLst>
                    <a:ext uri="{9D8B030D-6E8A-4147-A177-3AD203B41FA5}">
                      <a16:colId xmlns:a16="http://schemas.microsoft.com/office/drawing/2014/main" val="1271484610"/>
                    </a:ext>
                  </a:extLst>
                </a:gridCol>
                <a:gridCol w="3678188">
                  <a:extLst>
                    <a:ext uri="{9D8B030D-6E8A-4147-A177-3AD203B41FA5}">
                      <a16:colId xmlns:a16="http://schemas.microsoft.com/office/drawing/2014/main" val="2926213169"/>
                    </a:ext>
                  </a:extLst>
                </a:gridCol>
              </a:tblGrid>
              <a:tr h="864133">
                <a:tc>
                  <a:txBody>
                    <a:bodyPr/>
                    <a:lstStyle/>
                    <a:p>
                      <a:pPr rtl="0">
                        <a:buNone/>
                      </a:pPr>
                      <a:r>
                        <a:rPr lang="es-CO" sz="1800" b="1" dirty="0">
                          <a:solidFill>
                            <a:schemeClr val="bg1"/>
                          </a:solidFill>
                          <a:effectLst/>
                        </a:rPr>
                        <a:t>Característica</a:t>
                      </a:r>
                      <a:endParaRPr lang="es-CO" sz="1800" dirty="0">
                        <a:solidFill>
                          <a:schemeClr val="bg1"/>
                        </a:solidFill>
                        <a:effectLst/>
                        <a:latin typeface="Google Sans Text"/>
                      </a:endParaRPr>
                    </a:p>
                  </a:txBody>
                  <a:tcPr marL="114300" marR="114300" marT="76200" marB="76200" anchor="ctr"/>
                </a:tc>
                <a:tc>
                  <a:txBody>
                    <a:bodyPr/>
                    <a:lstStyle/>
                    <a:p>
                      <a:pPr rtl="0">
                        <a:buNone/>
                      </a:pPr>
                      <a:r>
                        <a:rPr lang="es-CO" sz="1800" b="1" dirty="0">
                          <a:solidFill>
                            <a:schemeClr val="bg1"/>
                          </a:solidFill>
                          <a:effectLst/>
                        </a:rPr>
                        <a:t>Vista Materializada (Tu mejor amiga para BI)</a:t>
                      </a:r>
                      <a:endParaRPr lang="es-CO" sz="1800" dirty="0">
                        <a:solidFill>
                          <a:schemeClr val="bg1"/>
                        </a:solidFill>
                        <a:effectLst/>
                        <a:latin typeface="Google Sans Text"/>
                      </a:endParaRPr>
                    </a:p>
                  </a:txBody>
                  <a:tcPr marL="114300" marR="114300" marT="76200" marB="76200" anchor="ctr"/>
                </a:tc>
                <a:tc>
                  <a:txBody>
                    <a:bodyPr/>
                    <a:lstStyle/>
                    <a:p>
                      <a:pPr rtl="0">
                        <a:buNone/>
                      </a:pPr>
                      <a:r>
                        <a:rPr lang="es-ES" sz="1800" b="1">
                          <a:solidFill>
                            <a:schemeClr val="bg1"/>
                          </a:solidFill>
                          <a:effectLst/>
                        </a:rPr>
                        <a:t>Tabla Normal (Ingeniería de Datos Pura)</a:t>
                      </a:r>
                      <a:endParaRPr lang="es-ES" sz="1800">
                        <a:solidFill>
                          <a:schemeClr val="bg1"/>
                        </a:solidFill>
                        <a:effectLst/>
                        <a:latin typeface="Google Sans Text"/>
                      </a:endParaRPr>
                    </a:p>
                  </a:txBody>
                  <a:tcPr marL="114300" marR="114300" marT="76200" marB="76200" anchor="ctr"/>
                </a:tc>
                <a:extLst>
                  <a:ext uri="{0D108BD9-81ED-4DB2-BD59-A6C34878D82A}">
                    <a16:rowId xmlns:a16="http://schemas.microsoft.com/office/drawing/2014/main" val="3356058137"/>
                  </a:ext>
                </a:extLst>
              </a:tr>
              <a:tr h="864133">
                <a:tc>
                  <a:txBody>
                    <a:bodyPr/>
                    <a:lstStyle/>
                    <a:p>
                      <a:pPr rtl="0">
                        <a:buNone/>
                      </a:pPr>
                      <a:r>
                        <a:rPr lang="es-CO" sz="1800" b="1">
                          <a:solidFill>
                            <a:schemeClr val="bg1"/>
                          </a:solidFill>
                          <a:effectLst/>
                        </a:rPr>
                        <a:t>Uso ideal</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dirty="0" err="1">
                          <a:solidFill>
                            <a:schemeClr val="tx1"/>
                          </a:solidFill>
                          <a:effectLst/>
                        </a:rPr>
                        <a:t>Dashboards</a:t>
                      </a:r>
                      <a:r>
                        <a:rPr lang="es-CO" sz="1800" dirty="0">
                          <a:solidFill>
                            <a:schemeClr val="tx1"/>
                          </a:solidFill>
                          <a:effectLst/>
                        </a:rPr>
                        <a:t>, Reportes diarios/mensuales.</a:t>
                      </a:r>
                      <a:endParaRPr lang="es-CO" sz="1800" dirty="0">
                        <a:solidFill>
                          <a:schemeClr val="tx1"/>
                        </a:solidFill>
                        <a:effectLst/>
                        <a:latin typeface="Google Sans Text"/>
                      </a:endParaRPr>
                    </a:p>
                  </a:txBody>
                  <a:tcPr marL="114300" marR="114300" marT="76200" marB="76200" anchor="ctr"/>
                </a:tc>
                <a:tc>
                  <a:txBody>
                    <a:bodyPr/>
                    <a:lstStyle/>
                    <a:p>
                      <a:pPr rtl="0">
                        <a:buNone/>
                      </a:pPr>
                      <a:r>
                        <a:rPr lang="es-CO" sz="1800">
                          <a:solidFill>
                            <a:schemeClr val="tx1"/>
                          </a:solidFill>
                          <a:effectLst/>
                        </a:rPr>
                        <a:t>Sistemas transaccionales, Logs, Historiales.</a:t>
                      </a:r>
                      <a:endParaRPr lang="es-CO" sz="180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550125604"/>
                  </a:ext>
                </a:extLst>
              </a:tr>
              <a:tr h="864133">
                <a:tc>
                  <a:txBody>
                    <a:bodyPr/>
                    <a:lstStyle/>
                    <a:p>
                      <a:pPr rtl="0">
                        <a:buNone/>
                      </a:pPr>
                      <a:r>
                        <a:rPr lang="es-CO" sz="1800" b="1">
                          <a:solidFill>
                            <a:schemeClr val="bg1"/>
                          </a:solidFill>
                          <a:effectLst/>
                        </a:rPr>
                        <a:t>Origen de datos</a:t>
                      </a:r>
                      <a:endParaRPr lang="es-CO" sz="1800">
                        <a:solidFill>
                          <a:schemeClr val="bg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Derivado (viene de otras tablas).</a:t>
                      </a:r>
                      <a:endParaRPr lang="es-ES" sz="1800" dirty="0">
                        <a:solidFill>
                          <a:schemeClr val="tx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Primario (es la fuente de la verdad).</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346441183"/>
                  </a:ext>
                </a:extLst>
              </a:tr>
              <a:tr h="864133">
                <a:tc>
                  <a:txBody>
                    <a:bodyPr/>
                    <a:lstStyle/>
                    <a:p>
                      <a:pPr rtl="0">
                        <a:buNone/>
                      </a:pPr>
                      <a:r>
                        <a:rPr lang="es-CO" sz="1800" b="1">
                          <a:solidFill>
                            <a:schemeClr val="bg1"/>
                          </a:solidFill>
                          <a:effectLst/>
                        </a:rPr>
                        <a:t>Actualización</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a:solidFill>
                            <a:schemeClr val="tx1"/>
                          </a:solidFill>
                          <a:effectLst/>
                        </a:rPr>
                        <a:t>Todo o nada (REFRESH).</a:t>
                      </a:r>
                      <a:endParaRPr lang="es-CO" sz="1800">
                        <a:solidFill>
                          <a:schemeClr val="tx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Quirúrgica (puedes editar una celda).</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193062973"/>
                  </a:ext>
                </a:extLst>
              </a:tr>
              <a:tr h="864133">
                <a:tc>
                  <a:txBody>
                    <a:bodyPr/>
                    <a:lstStyle/>
                    <a:p>
                      <a:pPr rtl="0">
                        <a:buNone/>
                      </a:pPr>
                      <a:r>
                        <a:rPr lang="es-CO" sz="1800" b="1">
                          <a:solidFill>
                            <a:schemeClr val="bg1"/>
                          </a:solidFill>
                          <a:effectLst/>
                        </a:rPr>
                        <a:t>Ventaja</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b="1">
                          <a:solidFill>
                            <a:schemeClr val="tx1"/>
                          </a:solidFill>
                          <a:effectLst/>
                        </a:rPr>
                        <a:t>Simplicidad.</a:t>
                      </a:r>
                      <a:r>
                        <a:rPr lang="es-CO" sz="1800">
                          <a:solidFill>
                            <a:schemeClr val="tx1"/>
                          </a:solidFill>
                          <a:effectLst/>
                        </a:rPr>
                        <a:t> No escribes código de mantenimiento.</a:t>
                      </a:r>
                      <a:endParaRPr lang="es-CO" sz="1800">
                        <a:solidFill>
                          <a:schemeClr val="tx1"/>
                        </a:solidFill>
                        <a:effectLst/>
                        <a:latin typeface="Google Sans Text"/>
                      </a:endParaRPr>
                    </a:p>
                  </a:txBody>
                  <a:tcPr marL="114300" marR="114300" marT="76200" marB="76200" anchor="ctr"/>
                </a:tc>
                <a:tc>
                  <a:txBody>
                    <a:bodyPr/>
                    <a:lstStyle/>
                    <a:p>
                      <a:pPr rtl="0">
                        <a:buNone/>
                      </a:pPr>
                      <a:r>
                        <a:rPr lang="es-ES" sz="1800" b="1" dirty="0">
                          <a:solidFill>
                            <a:schemeClr val="tx1"/>
                          </a:solidFill>
                          <a:effectLst/>
                        </a:rPr>
                        <a:t>Control.</a:t>
                      </a:r>
                      <a:r>
                        <a:rPr lang="es-ES" sz="1800" dirty="0">
                          <a:solidFill>
                            <a:schemeClr val="tx1"/>
                          </a:solidFill>
                          <a:effectLst/>
                        </a:rPr>
                        <a:t> Decides cómo y cuándo se toca cada bit.</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88675554"/>
                  </a:ext>
                </a:extLst>
              </a:tr>
            </a:tbl>
          </a:graphicData>
        </a:graphic>
      </p:graphicFrame>
    </p:spTree>
    <p:extLst>
      <p:ext uri="{BB962C8B-B14F-4D97-AF65-F5344CB8AC3E}">
        <p14:creationId xmlns:p14="http://schemas.microsoft.com/office/powerpoint/2010/main" val="2148910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D22F-48A4-07E7-3152-EE0ADE06FB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02C65E-AAE3-248A-5728-36EBBD297F0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931E612-C340-B20E-49BA-40D3550CF52B}"/>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24CA491A-D03D-1724-E6C3-D056A7A0B10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13D1A213-DFAC-1DE4-D905-044537702B8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52D1421-E937-EE78-A15C-38F72E0E1B1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71B58A17-E68D-436C-89D4-FA094457A45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220564A0-A0F5-514D-10F6-C56588A09C0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4D005F58-C994-964C-8FBD-FC0ED4FC94F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BEDF3BE7-DE02-02AF-7330-16925405CC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4B9CC491-742D-91C9-112A-D078D5CC15E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390421BD-317C-16FF-118E-D52CA855D36E}"/>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8045A5EF-3439-DEA1-9630-A7407FC4B78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302477A5-6558-8589-E22B-AF304A26CFEB}"/>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Tree>
    <p:extLst>
      <p:ext uri="{BB962C8B-B14F-4D97-AF65-F5344CB8AC3E}">
        <p14:creationId xmlns:p14="http://schemas.microsoft.com/office/powerpoint/2010/main" val="1892750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8"/>
          <p:cNvGrpSpPr/>
          <p:nvPr/>
        </p:nvGrpSpPr>
        <p:grpSpPr>
          <a:xfrm rot="10800000">
            <a:off x="10392303" y="0"/>
            <a:ext cx="7895697" cy="10431661"/>
            <a:chOff x="0" y="-38100"/>
            <a:chExt cx="2079525" cy="2747433"/>
          </a:xfrm>
        </p:grpSpPr>
        <p:sp>
          <p:nvSpPr>
            <p:cNvPr id="362" name="Google Shape;362;p8"/>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364" name="Google Shape;364;p8"/>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6" name="Google Shape;366;p8"/>
          <p:cNvGrpSpPr/>
          <p:nvPr/>
        </p:nvGrpSpPr>
        <p:grpSpPr>
          <a:xfrm rot="1460314">
            <a:off x="11030759" y="4449732"/>
            <a:ext cx="7356554" cy="1393786"/>
            <a:chOff x="0" y="-38100"/>
            <a:chExt cx="1937529" cy="367088"/>
          </a:xfrm>
        </p:grpSpPr>
        <p:sp>
          <p:nvSpPr>
            <p:cNvPr id="367" name="Google Shape;367;p8"/>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9" name="Google Shape;369;p8"/>
          <p:cNvGrpSpPr/>
          <p:nvPr/>
        </p:nvGrpSpPr>
        <p:grpSpPr>
          <a:xfrm>
            <a:off x="2068637" y="2993049"/>
            <a:ext cx="6434234" cy="2940731"/>
            <a:chOff x="0" y="-560842"/>
            <a:chExt cx="8578979" cy="3920975"/>
          </a:xfrm>
        </p:grpSpPr>
        <p:grpSp>
          <p:nvGrpSpPr>
            <p:cNvPr id="370" name="Google Shape;370;p8"/>
            <p:cNvGrpSpPr/>
            <p:nvPr/>
          </p:nvGrpSpPr>
          <p:grpSpPr>
            <a:xfrm>
              <a:off x="0" y="-560842"/>
              <a:ext cx="8578979" cy="3920975"/>
              <a:chOff x="0" y="-38100"/>
              <a:chExt cx="582801" cy="266366"/>
            </a:xfrm>
          </p:grpSpPr>
          <p:sp>
            <p:nvSpPr>
              <p:cNvPr id="371" name="Google Shape;371;p8"/>
              <p:cNvSpPr/>
              <p:nvPr/>
            </p:nvSpPr>
            <p:spPr>
              <a:xfrm>
                <a:off x="0" y="0"/>
                <a:ext cx="582801" cy="228266"/>
              </a:xfrm>
              <a:custGeom>
                <a:avLst/>
                <a:gdLst/>
                <a:ahLst/>
                <a:cxnLst/>
                <a:rect l="l" t="t" r="r" b="b"/>
                <a:pathLst>
                  <a:path w="582801" h="228266" extrusionOk="0">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cmpd="sng">
                <a:solidFill>
                  <a:srgbClr val="6B137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txBox="1"/>
              <p:nvPr/>
            </p:nvSpPr>
            <p:spPr>
              <a:xfrm>
                <a:off x="0" y="-38100"/>
                <a:ext cx="582801" cy="266366"/>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73" name="Google Shape;373;p8"/>
            <p:cNvSpPr txBox="1"/>
            <p:nvPr/>
          </p:nvSpPr>
          <p:spPr>
            <a:xfrm>
              <a:off x="355297" y="630411"/>
              <a:ext cx="7868384" cy="265919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s-CO" sz="2400" dirty="0">
                  <a:solidFill>
                    <a:srgbClr val="1F1F1D"/>
                  </a:solidFill>
                  <a:latin typeface="Poppins"/>
                  <a:ea typeface="Poppins"/>
                  <a:cs typeface="Poppins"/>
                  <a:sym typeface="Poppins"/>
                </a:rPr>
                <a:t>Juan Esteban Mejía Velásquez</a:t>
              </a:r>
              <a:endParaRPr dirty="0"/>
            </a:p>
            <a:p>
              <a:pPr marL="0" marR="0" lvl="0" indent="0" algn="ctr" rtl="0">
                <a:lnSpc>
                  <a:spcPct val="216000"/>
                </a:lnSpc>
                <a:spcBef>
                  <a:spcPts val="0"/>
                </a:spcBef>
                <a:spcAft>
                  <a:spcPts val="0"/>
                </a:spcAft>
                <a:buNone/>
              </a:pPr>
              <a:r>
                <a:rPr lang="es-MX" sz="2000" dirty="0">
                  <a:solidFill>
                    <a:srgbClr val="1F1F1D"/>
                  </a:solidFill>
                  <a:latin typeface="Poppins"/>
                  <a:ea typeface="Poppins"/>
                  <a:cs typeface="Poppins"/>
                  <a:sym typeface="Poppins"/>
                </a:rPr>
                <a:t>Docente</a:t>
              </a:r>
              <a:endParaRPr sz="2000" dirty="0">
                <a:solidFill>
                  <a:srgbClr val="1F1F1D"/>
                </a:solidFill>
                <a:latin typeface="Poppins"/>
                <a:ea typeface="Poppins"/>
                <a:cs typeface="Poppins"/>
                <a:sym typeface="Poppins"/>
              </a:endParaRPr>
            </a:p>
            <a:p>
              <a:pPr marL="0" marR="0" lvl="0" indent="0" algn="ctr" rtl="0">
                <a:lnSpc>
                  <a:spcPct val="180000"/>
                </a:lnSpc>
                <a:spcBef>
                  <a:spcPts val="0"/>
                </a:spcBef>
                <a:spcAft>
                  <a:spcPts val="0"/>
                </a:spcAft>
                <a:buNone/>
              </a:pPr>
              <a:r>
                <a:rPr lang="es-MX" sz="2400" u="sng" dirty="0">
                  <a:solidFill>
                    <a:srgbClr val="1F1F1D"/>
                  </a:solidFill>
                  <a:latin typeface="Poppins"/>
                  <a:ea typeface="Poppins"/>
                  <a:cs typeface="Poppins"/>
                  <a:sym typeface="Poppins"/>
                </a:rPr>
                <a:t>Correo</a:t>
              </a:r>
              <a:endParaRPr dirty="0"/>
            </a:p>
          </p:txBody>
        </p:sp>
      </p:grpSp>
      <p:sp>
        <p:nvSpPr>
          <p:cNvPr id="374" name="Google Shape;374;p8">
            <a:hlinkClick r:id="rId4"/>
          </p:cNvPr>
          <p:cNvSpPr/>
          <p:nvPr/>
        </p:nvSpPr>
        <p:spPr>
          <a:xfrm>
            <a:off x="2068637" y="6536925"/>
            <a:ext cx="360000" cy="332550"/>
          </a:xfrm>
          <a:custGeom>
            <a:avLst/>
            <a:gdLst/>
            <a:ahLst/>
            <a:cxnLst/>
            <a:rect l="l" t="t" r="r" b="b"/>
            <a:pathLst>
              <a:path w="360000" h="332550" extrusionOk="0">
                <a:moveTo>
                  <a:pt x="0" y="0"/>
                </a:moveTo>
                <a:lnTo>
                  <a:pt x="360000" y="0"/>
                </a:lnTo>
                <a:lnTo>
                  <a:pt x="360000" y="332550"/>
                </a:lnTo>
                <a:lnTo>
                  <a:pt x="0" y="33255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a:hlinkClick r:id="rId6"/>
          </p:cNvPr>
          <p:cNvSpPr/>
          <p:nvPr/>
        </p:nvSpPr>
        <p:spPr>
          <a:xfrm>
            <a:off x="5758126" y="6535688"/>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a:hlinkClick r:id="rId8"/>
          </p:cNvPr>
          <p:cNvSpPr/>
          <p:nvPr/>
        </p:nvSpPr>
        <p:spPr>
          <a:xfrm>
            <a:off x="5775261" y="7145700"/>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2096214" y="7144126"/>
            <a:ext cx="332423" cy="332422"/>
          </a:xfrm>
          <a:custGeom>
            <a:avLst/>
            <a:gdLst/>
            <a:ahLst/>
            <a:cxnLst/>
            <a:rect l="l" t="t" r="r" b="b"/>
            <a:pathLst>
              <a:path w="332423" h="332422" extrusionOk="0">
                <a:moveTo>
                  <a:pt x="0" y="0"/>
                </a:moveTo>
                <a:lnTo>
                  <a:pt x="332423" y="0"/>
                </a:lnTo>
                <a:lnTo>
                  <a:pt x="332423" y="332423"/>
                </a:lnTo>
                <a:lnTo>
                  <a:pt x="0" y="332423"/>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txBox="1"/>
          <p:nvPr/>
        </p:nvSpPr>
        <p:spPr>
          <a:xfrm>
            <a:off x="6214196" y="7136825"/>
            <a:ext cx="1721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www.enyoi.co</a:t>
            </a:r>
            <a:endParaRPr/>
          </a:p>
        </p:txBody>
      </p:sp>
      <p:sp>
        <p:nvSpPr>
          <p:cNvPr id="379" name="Google Shape;379;p8"/>
          <p:cNvSpPr txBox="1"/>
          <p:nvPr/>
        </p:nvSpPr>
        <p:spPr>
          <a:xfrm>
            <a:off x="6212929" y="6526813"/>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enyoi.co</a:t>
            </a:r>
            <a:endParaRPr dirty="0"/>
          </a:p>
        </p:txBody>
      </p:sp>
      <p:sp>
        <p:nvSpPr>
          <p:cNvPr id="380" name="Google Shape;380;p8"/>
          <p:cNvSpPr txBox="1"/>
          <p:nvPr/>
        </p:nvSpPr>
        <p:spPr>
          <a:xfrm>
            <a:off x="2520238" y="6526813"/>
            <a:ext cx="246784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+57 </a:t>
            </a:r>
            <a:r>
              <a:rPr lang="es-MX" sz="2000" u="sng" dirty="0">
                <a:solidFill>
                  <a:srgbClr val="1F1F1D"/>
                </a:solidFill>
                <a:latin typeface="Poppins"/>
                <a:ea typeface="Poppins"/>
                <a:cs typeface="Poppins"/>
                <a:sym typeface="Poppins"/>
              </a:rPr>
              <a:t>301 673 6729</a:t>
            </a:r>
            <a:endParaRPr dirty="0"/>
          </a:p>
        </p:txBody>
      </p:sp>
      <p:sp>
        <p:nvSpPr>
          <p:cNvPr id="381" name="Google Shape;381;p8"/>
          <p:cNvSpPr txBox="1"/>
          <p:nvPr/>
        </p:nvSpPr>
        <p:spPr>
          <a:xfrm>
            <a:off x="2520164" y="7136825"/>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enyoi.co</a:t>
            </a:r>
            <a:endParaRPr/>
          </a:p>
        </p:txBody>
      </p:sp>
      <p:grpSp>
        <p:nvGrpSpPr>
          <p:cNvPr id="382" name="Google Shape;382;p8"/>
          <p:cNvGrpSpPr/>
          <p:nvPr/>
        </p:nvGrpSpPr>
        <p:grpSpPr>
          <a:xfrm>
            <a:off x="2068637" y="6865719"/>
            <a:ext cx="2744745" cy="192288"/>
            <a:chOff x="0" y="-38100"/>
            <a:chExt cx="722896" cy="50643"/>
          </a:xfrm>
        </p:grpSpPr>
        <p:sp>
          <p:nvSpPr>
            <p:cNvPr id="383" name="Google Shape;383;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5" name="Google Shape;385;p8"/>
          <p:cNvGrpSpPr/>
          <p:nvPr/>
        </p:nvGrpSpPr>
        <p:grpSpPr>
          <a:xfrm>
            <a:off x="5758126" y="6865719"/>
            <a:ext cx="2744745" cy="192288"/>
            <a:chOff x="0" y="-38100"/>
            <a:chExt cx="722896" cy="50643"/>
          </a:xfrm>
        </p:grpSpPr>
        <p:sp>
          <p:nvSpPr>
            <p:cNvPr id="386" name="Google Shape;386;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pic>
        <p:nvPicPr>
          <p:cNvPr id="388" name="Google Shape;388;p8"/>
          <p:cNvPicPr preferRelativeResize="0"/>
          <p:nvPr/>
        </p:nvPicPr>
        <p:blipFill rotWithShape="1">
          <a:blip r:embed="rId12">
            <a:alphaModFix/>
          </a:blip>
          <a:srcRect l="53990" t="15859" r="8554" b="69322"/>
          <a:stretch/>
        </p:blipFill>
        <p:spPr>
          <a:xfrm>
            <a:off x="5001939" y="578151"/>
            <a:ext cx="4721448" cy="1048052"/>
          </a:xfrm>
          <a:prstGeom prst="rect">
            <a:avLst/>
          </a:prstGeom>
          <a:noFill/>
          <a:ln>
            <a:noFill/>
          </a:ln>
        </p:spPr>
      </p:pic>
      <p:sp>
        <p:nvSpPr>
          <p:cNvPr id="389" name="Google Shape;389;p8"/>
          <p:cNvSpPr/>
          <p:nvPr/>
        </p:nvSpPr>
        <p:spPr>
          <a:xfrm>
            <a:off x="729281"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d0e0202-030e-462a-aa27-6a6a82479e70" xsi:nil="true"/>
    <lcf76f155ced4ddcb4097134ff3c332f xmlns="6c275f7e-0654-4a6d-8904-2cca8e28e71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E0DDBAFD1725F409D01B56EA32EFDE3" ma:contentTypeVersion="7" ma:contentTypeDescription="Crear nuevo documento." ma:contentTypeScope="" ma:versionID="7dc7d2ffd02d580038770cdc54fb49b2">
  <xsd:schema xmlns:xsd="http://www.w3.org/2001/XMLSchema" xmlns:xs="http://www.w3.org/2001/XMLSchema" xmlns:p="http://schemas.microsoft.com/office/2006/metadata/properties" xmlns:ns2="6c275f7e-0654-4a6d-8904-2cca8e28e712" xmlns:ns3="cd0e0202-030e-462a-aa27-6a6a82479e70" targetNamespace="http://schemas.microsoft.com/office/2006/metadata/properties" ma:root="true" ma:fieldsID="6553f877db16f6ec9bb39e8e018c4235" ns2:_="" ns3:_="">
    <xsd:import namespace="6c275f7e-0654-4a6d-8904-2cca8e28e712"/>
    <xsd:import namespace="cd0e0202-030e-462a-aa27-6a6a82479e70"/>
    <xsd:element name="properties">
      <xsd:complexType>
        <xsd:sequence>
          <xsd:element name="documentManagement">
            <xsd:complexType>
              <xsd:all>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275f7e-0654-4a6d-8904-2cca8e28e71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Etiquetas de imagen" ma:readOnly="false" ma:fieldId="{5cf76f15-5ced-4ddc-b409-7134ff3c332f}" ma:taxonomyMulti="true" ma:sspId="39d08eb0-6654-4c6a-ad6e-6625fbda6bf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d0e0202-030e-462a-aa27-6a6a82479e7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21bf81b-0d50-4df5-8eec-576b1a7382f6}" ma:internalName="TaxCatchAll" ma:showField="CatchAllData" ma:web="cd0e0202-030e-462a-aa27-6a6a82479e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26D1D1-A15E-45AB-876A-271BF38AB980}">
  <ds:schemaRefs>
    <ds:schemaRef ds:uri="http://schemas.microsoft.com/office/2006/metadata/properties"/>
    <ds:schemaRef ds:uri="http://schemas.microsoft.com/office/infopath/2007/PartnerControls"/>
    <ds:schemaRef ds:uri="cd0e0202-030e-462a-aa27-6a6a82479e70"/>
    <ds:schemaRef ds:uri="6c275f7e-0654-4a6d-8904-2cca8e28e712"/>
  </ds:schemaRefs>
</ds:datastoreItem>
</file>

<file path=customXml/itemProps2.xml><?xml version="1.0" encoding="utf-8"?>
<ds:datastoreItem xmlns:ds="http://schemas.openxmlformats.org/officeDocument/2006/customXml" ds:itemID="{C2897171-D617-4035-84F5-B2C4786536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275f7e-0654-4a6d-8904-2cca8e28e712"/>
    <ds:schemaRef ds:uri="cd0e0202-030e-462a-aa27-6a6a82479e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3D0385-A233-4172-ADB2-B697B7C475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7830</TotalTime>
  <Words>3221</Words>
  <Application>Microsoft Office PowerPoint</Application>
  <PresentationFormat>Personalizado</PresentationFormat>
  <Paragraphs>276</Paragraphs>
  <Slides>26</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Courier New</vt:lpstr>
      <vt:lpstr>Poppins 1 Bold</vt:lpstr>
      <vt:lpstr>Calibri</vt:lpstr>
      <vt:lpstr>Poppins</vt:lpstr>
      <vt:lpstr>Arial</vt:lpstr>
      <vt:lpstr>Google Sans Text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Administrador</dc:creator>
  <cp:lastModifiedBy>Juan Esteban Mejia Velasquez</cp:lastModifiedBy>
  <cp:revision>27</cp:revision>
  <dcterms:created xsi:type="dcterms:W3CDTF">2006-08-16T00:00:00Z</dcterms:created>
  <dcterms:modified xsi:type="dcterms:W3CDTF">2025-11-26T18:50:33Z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0x0101009E0DDBAFD1725F409D01B56EA32EFDE3</vt:lpwstr>
  </property>
  <property fmtid="{D5CDD505-2E9C-101B-9397-08002B2CF9AE}" pid="3" name="GUID">
    <vt:lpwstr>8ee56194-4f5f-4314-9a7c-fa71b263b52c</vt:lpwstr>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SharedWithUsers">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ies>
</file>