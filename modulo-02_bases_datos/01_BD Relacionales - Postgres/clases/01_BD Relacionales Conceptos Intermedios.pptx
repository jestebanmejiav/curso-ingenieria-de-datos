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331" r:id="rId6"/>
    <p:sldId id="8497" r:id="rId7"/>
    <p:sldId id="332" r:id="rId8"/>
    <p:sldId id="8472" r:id="rId9"/>
    <p:sldId id="8473" r:id="rId10"/>
    <p:sldId id="8501" r:id="rId11"/>
    <p:sldId id="8469" r:id="rId12"/>
    <p:sldId id="8475" r:id="rId13"/>
    <p:sldId id="8476" r:id="rId14"/>
    <p:sldId id="8477" r:id="rId15"/>
    <p:sldId id="8478" r:id="rId16"/>
    <p:sldId id="8479" r:id="rId17"/>
    <p:sldId id="8480" r:id="rId18"/>
    <p:sldId id="8481" r:id="rId19"/>
    <p:sldId id="8482" r:id="rId20"/>
    <p:sldId id="8483" r:id="rId21"/>
    <p:sldId id="8484" r:id="rId22"/>
    <p:sldId id="8490" r:id="rId23"/>
    <p:sldId id="8485" r:id="rId24"/>
    <p:sldId id="8486" r:id="rId25"/>
    <p:sldId id="8487" r:id="rId26"/>
    <p:sldId id="8488" r:id="rId27"/>
    <p:sldId id="8489" r:id="rId28"/>
    <p:sldId id="8491" r:id="rId29"/>
    <p:sldId id="8492" r:id="rId30"/>
    <p:sldId id="8493" r:id="rId31"/>
    <p:sldId id="8498" r:id="rId32"/>
    <p:sldId id="8494" r:id="rId33"/>
    <p:sldId id="8495" r:id="rId34"/>
    <p:sldId id="8496" r:id="rId35"/>
    <p:sldId id="8499" r:id="rId36"/>
    <p:sldId id="8500" r:id="rId37"/>
    <p:sldId id="285" r:id="rId38"/>
    <p:sldId id="8470" r:id="rId39"/>
    <p:sldId id="8471" r:id="rId40"/>
    <p:sldId id="8474" r:id="rId41"/>
    <p:sldId id="268" r:id="rId42"/>
  </p:sldIdLst>
  <p:sldSz cx="18288000" cy="10287000"/>
  <p:notesSz cx="6858000" cy="9144000"/>
  <p:embeddedFontLst>
    <p:embeddedFont>
      <p:font typeface="新細明體" panose="02020500000000000000" pitchFamily="18" charset="-120"/>
      <p:regular r:id="rId44"/>
    </p:embeddedFon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Poppins 1 Bold" panose="020B0604020202020204" charset="0"/>
      <p:regular r:id="rId49"/>
    </p:embeddedFont>
    <p:embeddedFont>
      <p:font typeface="Tahoma" panose="020B0604030504040204" pitchFamily="34" charset="0"/>
      <p:regular r:id="rId50"/>
      <p:bold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>
        <p:scale>
          <a:sx n="125" d="100"/>
          <a:sy n="125" d="100"/>
        </p:scale>
        <p:origin x="90" y="-4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779AD-D2D5-4628-8711-925E93D30F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33A415C4-DE28-4978-A3DC-619867BD9FA4}">
      <dgm:prSet/>
      <dgm:spPr/>
      <dgm:t>
        <a:bodyPr/>
        <a:lstStyle/>
        <a:p>
          <a:r>
            <a:rPr lang="es-ES" b="0" i="0"/>
            <a:t>Estándar SQL define 4 niveles:</a:t>
          </a:r>
          <a:endParaRPr lang="es-CO"/>
        </a:p>
      </dgm:t>
    </dgm:pt>
    <dgm:pt modelId="{93539CCE-DAA2-4462-8E2E-70011699E014}" type="parTrans" cxnId="{DC6A34E9-0BB5-41AB-8F42-C9EEE17C5A38}">
      <dgm:prSet/>
      <dgm:spPr/>
      <dgm:t>
        <a:bodyPr/>
        <a:lstStyle/>
        <a:p>
          <a:endParaRPr lang="es-CO"/>
        </a:p>
      </dgm:t>
    </dgm:pt>
    <dgm:pt modelId="{B671F948-12CA-4EE2-A624-D5D2B801172A}" type="sibTrans" cxnId="{DC6A34E9-0BB5-41AB-8F42-C9EEE17C5A38}">
      <dgm:prSet/>
      <dgm:spPr/>
      <dgm:t>
        <a:bodyPr/>
        <a:lstStyle/>
        <a:p>
          <a:endParaRPr lang="es-CO"/>
        </a:p>
      </dgm:t>
    </dgm:pt>
    <dgm:pt modelId="{4E150B64-F8D3-465D-85C6-6FA2F0E300F4}">
      <dgm:prSet/>
      <dgm:spPr/>
      <dgm:t>
        <a:bodyPr/>
        <a:lstStyle/>
        <a:p>
          <a:r>
            <a:rPr lang="es-ES" b="1" i="0"/>
            <a:t>READ UNCOMMITTED</a:t>
          </a:r>
          <a:endParaRPr lang="es-CO"/>
        </a:p>
      </dgm:t>
    </dgm:pt>
    <dgm:pt modelId="{A7FBF6E4-7524-412E-8565-916086F3F574}" type="parTrans" cxnId="{B4E9D49C-4603-4D02-9FDC-DABB066BDBCD}">
      <dgm:prSet/>
      <dgm:spPr/>
      <dgm:t>
        <a:bodyPr/>
        <a:lstStyle/>
        <a:p>
          <a:endParaRPr lang="es-CO"/>
        </a:p>
      </dgm:t>
    </dgm:pt>
    <dgm:pt modelId="{BA15C979-DE18-44A8-B475-07B9474BE360}" type="sibTrans" cxnId="{B4E9D49C-4603-4D02-9FDC-DABB066BDBCD}">
      <dgm:prSet/>
      <dgm:spPr/>
      <dgm:t>
        <a:bodyPr/>
        <a:lstStyle/>
        <a:p>
          <a:endParaRPr lang="es-CO"/>
        </a:p>
      </dgm:t>
    </dgm:pt>
    <dgm:pt modelId="{715EAE2F-1F63-49F4-999F-22BF68CE011C}">
      <dgm:prSet/>
      <dgm:spPr/>
      <dgm:t>
        <a:bodyPr/>
        <a:lstStyle/>
        <a:p>
          <a:r>
            <a:rPr lang="es-ES" b="0" i="0"/>
            <a:t>Permite </a:t>
          </a:r>
          <a:r>
            <a:rPr lang="es-ES" b="0" i="1"/>
            <a:t>lecturas sucias</a:t>
          </a:r>
          <a:r>
            <a:rPr lang="es-ES" b="0" i="0"/>
            <a:t> (ver datos no committeados).</a:t>
          </a:r>
          <a:endParaRPr lang="es-CO"/>
        </a:p>
      </dgm:t>
    </dgm:pt>
    <dgm:pt modelId="{93CE2E47-4ADE-44E2-84E2-9C4449D0DC4A}" type="parTrans" cxnId="{A837E7BB-B9E7-4E17-A828-8F63D07A3A17}">
      <dgm:prSet/>
      <dgm:spPr/>
      <dgm:t>
        <a:bodyPr/>
        <a:lstStyle/>
        <a:p>
          <a:endParaRPr lang="es-CO"/>
        </a:p>
      </dgm:t>
    </dgm:pt>
    <dgm:pt modelId="{208E92E1-14B0-48E0-B4DF-EEF8F3D86A56}" type="sibTrans" cxnId="{A837E7BB-B9E7-4E17-A828-8F63D07A3A17}">
      <dgm:prSet/>
      <dgm:spPr/>
      <dgm:t>
        <a:bodyPr/>
        <a:lstStyle/>
        <a:p>
          <a:endParaRPr lang="es-CO"/>
        </a:p>
      </dgm:t>
    </dgm:pt>
    <dgm:pt modelId="{FF590F2D-FD1F-4311-A16B-399896A5F1FC}">
      <dgm:prSet/>
      <dgm:spPr/>
      <dgm:t>
        <a:bodyPr/>
        <a:lstStyle/>
        <a:p>
          <a:r>
            <a:rPr lang="es-ES" b="0" i="0"/>
            <a:t>Postgres en realidad lo trata como READ COMMITTED (no hay lecturas sucias).</a:t>
          </a:r>
          <a:endParaRPr lang="es-CO"/>
        </a:p>
      </dgm:t>
    </dgm:pt>
    <dgm:pt modelId="{2B9C30A5-F1E6-4861-84CE-D5F4A7D8601F}" type="parTrans" cxnId="{3C03BDD7-CA11-4C60-A2C8-9F30F6EF9AC9}">
      <dgm:prSet/>
      <dgm:spPr/>
      <dgm:t>
        <a:bodyPr/>
        <a:lstStyle/>
        <a:p>
          <a:endParaRPr lang="es-CO"/>
        </a:p>
      </dgm:t>
    </dgm:pt>
    <dgm:pt modelId="{42BE226D-C05B-4079-9D36-92B24FF5EFEA}" type="sibTrans" cxnId="{3C03BDD7-CA11-4C60-A2C8-9F30F6EF9AC9}">
      <dgm:prSet/>
      <dgm:spPr/>
      <dgm:t>
        <a:bodyPr/>
        <a:lstStyle/>
        <a:p>
          <a:endParaRPr lang="es-CO"/>
        </a:p>
      </dgm:t>
    </dgm:pt>
    <dgm:pt modelId="{FD5AEE28-2A4A-45F3-BAA0-80F402B1DC21}">
      <dgm:prSet/>
      <dgm:spPr/>
      <dgm:t>
        <a:bodyPr/>
        <a:lstStyle/>
        <a:p>
          <a:r>
            <a:rPr lang="es-ES" b="1" i="0"/>
            <a:t>READ COMMITTED (por defecto en Postgres)</a:t>
          </a:r>
          <a:endParaRPr lang="es-CO"/>
        </a:p>
      </dgm:t>
    </dgm:pt>
    <dgm:pt modelId="{5D14D8FC-92D9-4606-A531-4C55081DB2AB}" type="parTrans" cxnId="{A7AA8066-A893-4670-AB75-00DE7600E854}">
      <dgm:prSet/>
      <dgm:spPr/>
      <dgm:t>
        <a:bodyPr/>
        <a:lstStyle/>
        <a:p>
          <a:endParaRPr lang="es-CO"/>
        </a:p>
      </dgm:t>
    </dgm:pt>
    <dgm:pt modelId="{1D58CEEE-5122-467A-BF1A-717F36001E80}" type="sibTrans" cxnId="{A7AA8066-A893-4670-AB75-00DE7600E854}">
      <dgm:prSet/>
      <dgm:spPr/>
      <dgm:t>
        <a:bodyPr/>
        <a:lstStyle/>
        <a:p>
          <a:endParaRPr lang="es-CO"/>
        </a:p>
      </dgm:t>
    </dgm:pt>
    <dgm:pt modelId="{1E64921C-8E77-4021-BE2C-175145EEBDE3}">
      <dgm:prSet/>
      <dgm:spPr/>
      <dgm:t>
        <a:bodyPr/>
        <a:lstStyle/>
        <a:p>
          <a:r>
            <a:rPr lang="es-ES" b="0" i="0"/>
            <a:t>Cada sentencia ve solo datos </a:t>
          </a:r>
          <a:r>
            <a:rPr lang="es-ES" b="0" i="1"/>
            <a:t>committeados</a:t>
          </a:r>
          <a:r>
            <a:rPr lang="es-ES" b="0" i="0"/>
            <a:t> antes de empezar esa sentencia.</a:t>
          </a:r>
          <a:endParaRPr lang="es-CO"/>
        </a:p>
      </dgm:t>
    </dgm:pt>
    <dgm:pt modelId="{316145E3-9144-478C-AEF5-D27896C2DFA4}" type="parTrans" cxnId="{15E1977A-0E6E-44FD-8E96-24307E636C30}">
      <dgm:prSet/>
      <dgm:spPr/>
      <dgm:t>
        <a:bodyPr/>
        <a:lstStyle/>
        <a:p>
          <a:endParaRPr lang="es-CO"/>
        </a:p>
      </dgm:t>
    </dgm:pt>
    <dgm:pt modelId="{CFC10525-140F-4273-868E-C4C4D83CFF10}" type="sibTrans" cxnId="{15E1977A-0E6E-44FD-8E96-24307E636C30}">
      <dgm:prSet/>
      <dgm:spPr/>
      <dgm:t>
        <a:bodyPr/>
        <a:lstStyle/>
        <a:p>
          <a:endParaRPr lang="es-CO"/>
        </a:p>
      </dgm:t>
    </dgm:pt>
    <dgm:pt modelId="{97BF56BF-9BEA-4B86-8F20-8CF5A2215FDD}">
      <dgm:prSet/>
      <dgm:spPr/>
      <dgm:t>
        <a:bodyPr/>
        <a:lstStyle/>
        <a:p>
          <a:r>
            <a:rPr lang="es-ES" b="0" i="0"/>
            <a:t>Puede haber: lecturas </a:t>
          </a:r>
          <a:r>
            <a:rPr lang="es-ES" b="1" i="0"/>
            <a:t>no repetibles</a:t>
          </a:r>
          <a:r>
            <a:rPr lang="es-ES" b="0" i="0"/>
            <a:t> y </a:t>
          </a:r>
          <a:r>
            <a:rPr lang="es-ES" b="1" i="0"/>
            <a:t>phantom</a:t>
          </a:r>
          <a:r>
            <a:rPr lang="es-ES" b="0" i="0"/>
            <a:t>.</a:t>
          </a:r>
          <a:endParaRPr lang="es-CO"/>
        </a:p>
      </dgm:t>
    </dgm:pt>
    <dgm:pt modelId="{FEB975F5-E09E-4F36-BF67-BA58125ABA2D}" type="parTrans" cxnId="{DA1F9BD5-A05D-4326-B322-3EC995496EB7}">
      <dgm:prSet/>
      <dgm:spPr/>
      <dgm:t>
        <a:bodyPr/>
        <a:lstStyle/>
        <a:p>
          <a:endParaRPr lang="es-CO"/>
        </a:p>
      </dgm:t>
    </dgm:pt>
    <dgm:pt modelId="{893E2694-5F0E-4B70-8504-BCA9B735BB7A}" type="sibTrans" cxnId="{DA1F9BD5-A05D-4326-B322-3EC995496EB7}">
      <dgm:prSet/>
      <dgm:spPr/>
      <dgm:t>
        <a:bodyPr/>
        <a:lstStyle/>
        <a:p>
          <a:endParaRPr lang="es-CO"/>
        </a:p>
      </dgm:t>
    </dgm:pt>
    <dgm:pt modelId="{E63DCBED-8611-4F19-A1B7-BBC57DCB3787}">
      <dgm:prSet/>
      <dgm:spPr/>
      <dgm:t>
        <a:bodyPr/>
        <a:lstStyle/>
        <a:p>
          <a:r>
            <a:rPr lang="es-ES" b="1" i="0" dirty="0"/>
            <a:t>REPEATABLE READ</a:t>
          </a:r>
          <a:endParaRPr lang="es-CO" dirty="0"/>
        </a:p>
      </dgm:t>
    </dgm:pt>
    <dgm:pt modelId="{74FAEA27-C730-421E-B592-665DD809326C}" type="parTrans" cxnId="{944BE8FB-DE73-46CE-9C32-06FA5EBE653B}">
      <dgm:prSet/>
      <dgm:spPr/>
      <dgm:t>
        <a:bodyPr/>
        <a:lstStyle/>
        <a:p>
          <a:endParaRPr lang="es-CO"/>
        </a:p>
      </dgm:t>
    </dgm:pt>
    <dgm:pt modelId="{E4143548-FF8D-455D-B0DA-37B0C9306D26}" type="sibTrans" cxnId="{944BE8FB-DE73-46CE-9C32-06FA5EBE653B}">
      <dgm:prSet/>
      <dgm:spPr/>
      <dgm:t>
        <a:bodyPr/>
        <a:lstStyle/>
        <a:p>
          <a:endParaRPr lang="es-CO"/>
        </a:p>
      </dgm:t>
    </dgm:pt>
    <dgm:pt modelId="{23F41D4A-775A-47EA-9E71-BCB339147968}">
      <dgm:prSet/>
      <dgm:spPr/>
      <dgm:t>
        <a:bodyPr/>
        <a:lstStyle/>
        <a:p>
          <a:r>
            <a:rPr lang="es-ES" b="0" i="0"/>
            <a:t>Toda la transacción ve un </a:t>
          </a:r>
          <a:r>
            <a:rPr lang="es-ES" b="1" i="0"/>
            <a:t>snapshot consistente</a:t>
          </a:r>
          <a:r>
            <a:rPr lang="es-ES" b="0" i="0"/>
            <a:t> del momento en que empezó.</a:t>
          </a:r>
          <a:endParaRPr lang="es-CO"/>
        </a:p>
      </dgm:t>
    </dgm:pt>
    <dgm:pt modelId="{AA367DCD-367B-4045-82C9-A3798CB35CB8}" type="parTrans" cxnId="{B8BAF64E-1970-4A7E-9C30-9EA9A426E665}">
      <dgm:prSet/>
      <dgm:spPr/>
      <dgm:t>
        <a:bodyPr/>
        <a:lstStyle/>
        <a:p>
          <a:endParaRPr lang="es-CO"/>
        </a:p>
      </dgm:t>
    </dgm:pt>
    <dgm:pt modelId="{159ECA97-1C7D-48BE-A2AF-F7A9D30A5B27}" type="sibTrans" cxnId="{B8BAF64E-1970-4A7E-9C30-9EA9A426E665}">
      <dgm:prSet/>
      <dgm:spPr/>
      <dgm:t>
        <a:bodyPr/>
        <a:lstStyle/>
        <a:p>
          <a:endParaRPr lang="es-CO"/>
        </a:p>
      </dgm:t>
    </dgm:pt>
    <dgm:pt modelId="{5E694141-7EE7-4EF7-B293-F7D42FC53544}">
      <dgm:prSet/>
      <dgm:spPr/>
      <dgm:t>
        <a:bodyPr/>
        <a:lstStyle/>
        <a:p>
          <a:r>
            <a:rPr lang="es-ES" b="0" i="0"/>
            <a:t>Se evitan lecturas no repetibles, pero aún pueden aparecer ciertos phantoms según el motor.</a:t>
          </a:r>
          <a:endParaRPr lang="es-CO"/>
        </a:p>
      </dgm:t>
    </dgm:pt>
    <dgm:pt modelId="{FE0ED87E-42CE-4B6F-83B1-F47B9515A74F}" type="parTrans" cxnId="{F4361CDC-1AD5-41AB-9A0C-E49298ED7703}">
      <dgm:prSet/>
      <dgm:spPr/>
      <dgm:t>
        <a:bodyPr/>
        <a:lstStyle/>
        <a:p>
          <a:endParaRPr lang="es-CO"/>
        </a:p>
      </dgm:t>
    </dgm:pt>
    <dgm:pt modelId="{131F516A-97F6-4821-9940-7601B7F21B2C}" type="sibTrans" cxnId="{F4361CDC-1AD5-41AB-9A0C-E49298ED7703}">
      <dgm:prSet/>
      <dgm:spPr/>
      <dgm:t>
        <a:bodyPr/>
        <a:lstStyle/>
        <a:p>
          <a:endParaRPr lang="es-CO"/>
        </a:p>
      </dgm:t>
    </dgm:pt>
    <dgm:pt modelId="{EA8E0EBA-01D5-4541-846C-7C66A77BB889}">
      <dgm:prSet/>
      <dgm:spPr/>
      <dgm:t>
        <a:bodyPr/>
        <a:lstStyle/>
        <a:p>
          <a:r>
            <a:rPr lang="es-ES" b="1" i="0"/>
            <a:t>SERIALIZABLE</a:t>
          </a:r>
          <a:endParaRPr lang="es-CO"/>
        </a:p>
      </dgm:t>
    </dgm:pt>
    <dgm:pt modelId="{2A7EF2B4-5D23-4745-8F7D-8F6871270C90}" type="parTrans" cxnId="{EBC40CAF-FF7F-4C7F-A223-543B371F39AA}">
      <dgm:prSet/>
      <dgm:spPr/>
      <dgm:t>
        <a:bodyPr/>
        <a:lstStyle/>
        <a:p>
          <a:endParaRPr lang="es-CO"/>
        </a:p>
      </dgm:t>
    </dgm:pt>
    <dgm:pt modelId="{B8F8EB88-8FAD-4AFE-8360-D52A457618CE}" type="sibTrans" cxnId="{EBC40CAF-FF7F-4C7F-A223-543B371F39AA}">
      <dgm:prSet/>
      <dgm:spPr/>
      <dgm:t>
        <a:bodyPr/>
        <a:lstStyle/>
        <a:p>
          <a:endParaRPr lang="es-CO"/>
        </a:p>
      </dgm:t>
    </dgm:pt>
    <dgm:pt modelId="{E42C9DFD-D863-4761-A723-588332EAAE90}">
      <dgm:prSet/>
      <dgm:spPr/>
      <dgm:t>
        <a:bodyPr/>
        <a:lstStyle/>
        <a:p>
          <a:r>
            <a:rPr lang="es-ES" b="0" i="0"/>
            <a:t>El resultado es como si las transacciones se hubieran ejecutado una detrás de otra.</a:t>
          </a:r>
          <a:endParaRPr lang="es-CO"/>
        </a:p>
      </dgm:t>
    </dgm:pt>
    <dgm:pt modelId="{AA55EF48-E45B-4D89-9A71-C3E34085E071}" type="parTrans" cxnId="{A22A9319-DE70-407E-9534-E6C98AF400A9}">
      <dgm:prSet/>
      <dgm:spPr/>
      <dgm:t>
        <a:bodyPr/>
        <a:lstStyle/>
        <a:p>
          <a:endParaRPr lang="es-CO"/>
        </a:p>
      </dgm:t>
    </dgm:pt>
    <dgm:pt modelId="{1231E4A4-3F26-4437-8B2E-940B67FA5E1D}" type="sibTrans" cxnId="{A22A9319-DE70-407E-9534-E6C98AF400A9}">
      <dgm:prSet/>
      <dgm:spPr/>
      <dgm:t>
        <a:bodyPr/>
        <a:lstStyle/>
        <a:p>
          <a:endParaRPr lang="es-CO"/>
        </a:p>
      </dgm:t>
    </dgm:pt>
    <dgm:pt modelId="{9D413D4A-25BF-4542-8D3A-8B7D43242604}">
      <dgm:prSet/>
      <dgm:spPr/>
      <dgm:t>
        <a:bodyPr/>
        <a:lstStyle/>
        <a:p>
          <a:r>
            <a:rPr lang="es-ES" b="0" i="0"/>
            <a:t>Máxima protección, más coste, más abortos por conflictos.</a:t>
          </a:r>
          <a:endParaRPr lang="es-CO"/>
        </a:p>
      </dgm:t>
    </dgm:pt>
    <dgm:pt modelId="{59CF0838-0D1E-4363-BAB3-F3798C0B9E72}" type="parTrans" cxnId="{38F858E0-6C35-4CE7-9EDD-2B01269D885C}">
      <dgm:prSet/>
      <dgm:spPr/>
      <dgm:t>
        <a:bodyPr/>
        <a:lstStyle/>
        <a:p>
          <a:endParaRPr lang="es-CO"/>
        </a:p>
      </dgm:t>
    </dgm:pt>
    <dgm:pt modelId="{B1347546-AFE0-4E7F-A56B-1CA6EA0DF452}" type="sibTrans" cxnId="{38F858E0-6C35-4CE7-9EDD-2B01269D885C}">
      <dgm:prSet/>
      <dgm:spPr/>
      <dgm:t>
        <a:bodyPr/>
        <a:lstStyle/>
        <a:p>
          <a:endParaRPr lang="es-CO"/>
        </a:p>
      </dgm:t>
    </dgm:pt>
    <dgm:pt modelId="{002AEB2A-7CFA-43DD-BBB4-7B5D57EC88F5}" type="pres">
      <dgm:prSet presAssocID="{945779AD-D2D5-4628-8711-925E93D30F28}" presName="linear" presStyleCnt="0">
        <dgm:presLayoutVars>
          <dgm:animLvl val="lvl"/>
          <dgm:resizeHandles val="exact"/>
        </dgm:presLayoutVars>
      </dgm:prSet>
      <dgm:spPr/>
    </dgm:pt>
    <dgm:pt modelId="{8BE515C6-6B29-4972-ADB0-C65F0AFD65B7}" type="pres">
      <dgm:prSet presAssocID="{33A415C4-DE28-4978-A3DC-619867BD9F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F22C02-8A5B-4358-A30D-BFE2C5E3FCDD}" type="pres">
      <dgm:prSet presAssocID="{B671F948-12CA-4EE2-A624-D5D2B801172A}" presName="spacer" presStyleCnt="0"/>
      <dgm:spPr/>
    </dgm:pt>
    <dgm:pt modelId="{1EA922A8-4042-41D2-85EF-12E9921A1905}" type="pres">
      <dgm:prSet presAssocID="{4E150B64-F8D3-465D-85C6-6FA2F0E300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AD51C11-21E2-4BA7-8031-A45D9A1F430A}" type="pres">
      <dgm:prSet presAssocID="{4E150B64-F8D3-465D-85C6-6FA2F0E300F4}" presName="childText" presStyleLbl="revTx" presStyleIdx="0" presStyleCnt="4">
        <dgm:presLayoutVars>
          <dgm:bulletEnabled val="1"/>
        </dgm:presLayoutVars>
      </dgm:prSet>
      <dgm:spPr/>
    </dgm:pt>
    <dgm:pt modelId="{B6A6815B-083D-41A0-8F7F-AA88BAB650BE}" type="pres">
      <dgm:prSet presAssocID="{FD5AEE28-2A4A-45F3-BAA0-80F402B1DC2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3F59D3-BC35-402F-9B87-0DA3847FBA1F}" type="pres">
      <dgm:prSet presAssocID="{FD5AEE28-2A4A-45F3-BAA0-80F402B1DC21}" presName="childText" presStyleLbl="revTx" presStyleIdx="1" presStyleCnt="4">
        <dgm:presLayoutVars>
          <dgm:bulletEnabled val="1"/>
        </dgm:presLayoutVars>
      </dgm:prSet>
      <dgm:spPr/>
    </dgm:pt>
    <dgm:pt modelId="{135A25C1-4DD4-40E4-9F53-592D1976967E}" type="pres">
      <dgm:prSet presAssocID="{E63DCBED-8611-4F19-A1B7-BBC57DCB37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097CE9-579B-4D3D-859C-2F8FFB54EF98}" type="pres">
      <dgm:prSet presAssocID="{E63DCBED-8611-4F19-A1B7-BBC57DCB3787}" presName="childText" presStyleLbl="revTx" presStyleIdx="2" presStyleCnt="4">
        <dgm:presLayoutVars>
          <dgm:bulletEnabled val="1"/>
        </dgm:presLayoutVars>
      </dgm:prSet>
      <dgm:spPr/>
    </dgm:pt>
    <dgm:pt modelId="{03631F81-8091-41F4-8E37-483C3DACEA70}" type="pres">
      <dgm:prSet presAssocID="{EA8E0EBA-01D5-4541-846C-7C66A77BB88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5359A18-97D7-4C85-B984-F865C43F5F06}" type="pres">
      <dgm:prSet presAssocID="{EA8E0EBA-01D5-4541-846C-7C66A77BB88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6103907-9387-4690-9AB3-DDC10811DC76}" type="presOf" srcId="{33A415C4-DE28-4978-A3DC-619867BD9FA4}" destId="{8BE515C6-6B29-4972-ADB0-C65F0AFD65B7}" srcOrd="0" destOrd="0" presId="urn:microsoft.com/office/officeart/2005/8/layout/vList2"/>
    <dgm:cxn modelId="{55272B18-D5B9-4E69-BAE0-FCC98BAD2DC5}" type="presOf" srcId="{E63DCBED-8611-4F19-A1B7-BBC57DCB3787}" destId="{135A25C1-4DD4-40E4-9F53-592D1976967E}" srcOrd="0" destOrd="0" presId="urn:microsoft.com/office/officeart/2005/8/layout/vList2"/>
    <dgm:cxn modelId="{A22A9319-DE70-407E-9534-E6C98AF400A9}" srcId="{EA8E0EBA-01D5-4541-846C-7C66A77BB889}" destId="{E42C9DFD-D863-4761-A723-588332EAAE90}" srcOrd="0" destOrd="0" parTransId="{AA55EF48-E45B-4D89-9A71-C3E34085E071}" sibTransId="{1231E4A4-3F26-4437-8B2E-940B67FA5E1D}"/>
    <dgm:cxn modelId="{D77C5D2D-54AC-45CF-8732-B67B5BC16061}" type="presOf" srcId="{9D413D4A-25BF-4542-8D3A-8B7D43242604}" destId="{45359A18-97D7-4C85-B984-F865C43F5F06}" srcOrd="0" destOrd="1" presId="urn:microsoft.com/office/officeart/2005/8/layout/vList2"/>
    <dgm:cxn modelId="{C30C5934-53E9-4EDE-9E0B-E7E1B4AE894D}" type="presOf" srcId="{FD5AEE28-2A4A-45F3-BAA0-80F402B1DC21}" destId="{B6A6815B-083D-41A0-8F7F-AA88BAB650BE}" srcOrd="0" destOrd="0" presId="urn:microsoft.com/office/officeart/2005/8/layout/vList2"/>
    <dgm:cxn modelId="{9B1E0C40-B6B9-4C58-AFE4-8C1AB1AAFE96}" type="presOf" srcId="{FF590F2D-FD1F-4311-A16B-399896A5F1FC}" destId="{9AD51C11-21E2-4BA7-8031-A45D9A1F430A}" srcOrd="0" destOrd="1" presId="urn:microsoft.com/office/officeart/2005/8/layout/vList2"/>
    <dgm:cxn modelId="{66699D44-5EAA-4E3A-A653-99137352D4DE}" type="presOf" srcId="{EA8E0EBA-01D5-4541-846C-7C66A77BB889}" destId="{03631F81-8091-41F4-8E37-483C3DACEA70}" srcOrd="0" destOrd="0" presId="urn:microsoft.com/office/officeart/2005/8/layout/vList2"/>
    <dgm:cxn modelId="{A7AA8066-A893-4670-AB75-00DE7600E854}" srcId="{945779AD-D2D5-4628-8711-925E93D30F28}" destId="{FD5AEE28-2A4A-45F3-BAA0-80F402B1DC21}" srcOrd="2" destOrd="0" parTransId="{5D14D8FC-92D9-4606-A531-4C55081DB2AB}" sibTransId="{1D58CEEE-5122-467A-BF1A-717F36001E80}"/>
    <dgm:cxn modelId="{09524369-E9EA-4CE4-89CE-4CD41E6891BE}" type="presOf" srcId="{97BF56BF-9BEA-4B86-8F20-8CF5A2215FDD}" destId="{783F59D3-BC35-402F-9B87-0DA3847FBA1F}" srcOrd="0" destOrd="1" presId="urn:microsoft.com/office/officeart/2005/8/layout/vList2"/>
    <dgm:cxn modelId="{E4DCF14D-B529-4A6D-8E10-FF72EFC1F35B}" type="presOf" srcId="{E42C9DFD-D863-4761-A723-588332EAAE90}" destId="{45359A18-97D7-4C85-B984-F865C43F5F06}" srcOrd="0" destOrd="0" presId="urn:microsoft.com/office/officeart/2005/8/layout/vList2"/>
    <dgm:cxn modelId="{B8BAF64E-1970-4A7E-9C30-9EA9A426E665}" srcId="{E63DCBED-8611-4F19-A1B7-BBC57DCB3787}" destId="{23F41D4A-775A-47EA-9E71-BCB339147968}" srcOrd="0" destOrd="0" parTransId="{AA367DCD-367B-4045-82C9-A3798CB35CB8}" sibTransId="{159ECA97-1C7D-48BE-A2AF-F7A9D30A5B27}"/>
    <dgm:cxn modelId="{15E1977A-0E6E-44FD-8E96-24307E636C30}" srcId="{FD5AEE28-2A4A-45F3-BAA0-80F402B1DC21}" destId="{1E64921C-8E77-4021-BE2C-175145EEBDE3}" srcOrd="0" destOrd="0" parTransId="{316145E3-9144-478C-AEF5-D27896C2DFA4}" sibTransId="{CFC10525-140F-4273-868E-C4C4D83CFF10}"/>
    <dgm:cxn modelId="{58149396-9DAB-45EE-B1EE-41FD650DF5F0}" type="presOf" srcId="{715EAE2F-1F63-49F4-999F-22BF68CE011C}" destId="{9AD51C11-21E2-4BA7-8031-A45D9A1F430A}" srcOrd="0" destOrd="0" presId="urn:microsoft.com/office/officeart/2005/8/layout/vList2"/>
    <dgm:cxn modelId="{0C1E269A-3BE3-4441-8310-85F03F87C59C}" type="presOf" srcId="{945779AD-D2D5-4628-8711-925E93D30F28}" destId="{002AEB2A-7CFA-43DD-BBB4-7B5D57EC88F5}" srcOrd="0" destOrd="0" presId="urn:microsoft.com/office/officeart/2005/8/layout/vList2"/>
    <dgm:cxn modelId="{B4E9D49C-4603-4D02-9FDC-DABB066BDBCD}" srcId="{945779AD-D2D5-4628-8711-925E93D30F28}" destId="{4E150B64-F8D3-465D-85C6-6FA2F0E300F4}" srcOrd="1" destOrd="0" parTransId="{A7FBF6E4-7524-412E-8565-916086F3F574}" sibTransId="{BA15C979-DE18-44A8-B475-07B9474BE360}"/>
    <dgm:cxn modelId="{EBC40CAF-FF7F-4C7F-A223-543B371F39AA}" srcId="{945779AD-D2D5-4628-8711-925E93D30F28}" destId="{EA8E0EBA-01D5-4541-846C-7C66A77BB889}" srcOrd="4" destOrd="0" parTransId="{2A7EF2B4-5D23-4745-8F7D-8F6871270C90}" sibTransId="{B8F8EB88-8FAD-4AFE-8360-D52A457618CE}"/>
    <dgm:cxn modelId="{A837E7BB-B9E7-4E17-A828-8F63D07A3A17}" srcId="{4E150B64-F8D3-465D-85C6-6FA2F0E300F4}" destId="{715EAE2F-1F63-49F4-999F-22BF68CE011C}" srcOrd="0" destOrd="0" parTransId="{93CE2E47-4ADE-44E2-84E2-9C4449D0DC4A}" sibTransId="{208E92E1-14B0-48E0-B4DF-EEF8F3D86A56}"/>
    <dgm:cxn modelId="{0A32B2BE-34B7-44D0-949B-C23435CB8B69}" type="presOf" srcId="{4E150B64-F8D3-465D-85C6-6FA2F0E300F4}" destId="{1EA922A8-4042-41D2-85EF-12E9921A1905}" srcOrd="0" destOrd="0" presId="urn:microsoft.com/office/officeart/2005/8/layout/vList2"/>
    <dgm:cxn modelId="{DA1F9BD5-A05D-4326-B322-3EC995496EB7}" srcId="{FD5AEE28-2A4A-45F3-BAA0-80F402B1DC21}" destId="{97BF56BF-9BEA-4B86-8F20-8CF5A2215FDD}" srcOrd="1" destOrd="0" parTransId="{FEB975F5-E09E-4F36-BF67-BA58125ABA2D}" sibTransId="{893E2694-5F0E-4B70-8504-BCA9B735BB7A}"/>
    <dgm:cxn modelId="{3C03BDD7-CA11-4C60-A2C8-9F30F6EF9AC9}" srcId="{4E150B64-F8D3-465D-85C6-6FA2F0E300F4}" destId="{FF590F2D-FD1F-4311-A16B-399896A5F1FC}" srcOrd="1" destOrd="0" parTransId="{2B9C30A5-F1E6-4861-84CE-D5F4A7D8601F}" sibTransId="{42BE226D-C05B-4079-9D36-92B24FF5EFEA}"/>
    <dgm:cxn modelId="{F4361CDC-1AD5-41AB-9A0C-E49298ED7703}" srcId="{E63DCBED-8611-4F19-A1B7-BBC57DCB3787}" destId="{5E694141-7EE7-4EF7-B293-F7D42FC53544}" srcOrd="1" destOrd="0" parTransId="{FE0ED87E-42CE-4B6F-83B1-F47B9515A74F}" sibTransId="{131F516A-97F6-4821-9940-7601B7F21B2C}"/>
    <dgm:cxn modelId="{38F858E0-6C35-4CE7-9EDD-2B01269D885C}" srcId="{EA8E0EBA-01D5-4541-846C-7C66A77BB889}" destId="{9D413D4A-25BF-4542-8D3A-8B7D43242604}" srcOrd="1" destOrd="0" parTransId="{59CF0838-0D1E-4363-BAB3-F3798C0B9E72}" sibTransId="{B1347546-AFE0-4E7F-A56B-1CA6EA0DF452}"/>
    <dgm:cxn modelId="{DC6A34E9-0BB5-41AB-8F42-C9EEE17C5A38}" srcId="{945779AD-D2D5-4628-8711-925E93D30F28}" destId="{33A415C4-DE28-4978-A3DC-619867BD9FA4}" srcOrd="0" destOrd="0" parTransId="{93539CCE-DAA2-4462-8E2E-70011699E014}" sibTransId="{B671F948-12CA-4EE2-A624-D5D2B801172A}"/>
    <dgm:cxn modelId="{C13C11F4-2F7C-41CF-9A2B-D265FF317756}" type="presOf" srcId="{1E64921C-8E77-4021-BE2C-175145EEBDE3}" destId="{783F59D3-BC35-402F-9B87-0DA3847FBA1F}" srcOrd="0" destOrd="0" presId="urn:microsoft.com/office/officeart/2005/8/layout/vList2"/>
    <dgm:cxn modelId="{F5666FF4-BE89-4BA6-AD35-63CD6A1BDD9D}" type="presOf" srcId="{5E694141-7EE7-4EF7-B293-F7D42FC53544}" destId="{77097CE9-579B-4D3D-859C-2F8FFB54EF98}" srcOrd="0" destOrd="1" presId="urn:microsoft.com/office/officeart/2005/8/layout/vList2"/>
    <dgm:cxn modelId="{BEF170F4-51B7-4AC6-928A-CD1EBC5BD88D}" type="presOf" srcId="{23F41D4A-775A-47EA-9E71-BCB339147968}" destId="{77097CE9-579B-4D3D-859C-2F8FFB54EF98}" srcOrd="0" destOrd="0" presId="urn:microsoft.com/office/officeart/2005/8/layout/vList2"/>
    <dgm:cxn modelId="{944BE8FB-DE73-46CE-9C32-06FA5EBE653B}" srcId="{945779AD-D2D5-4628-8711-925E93D30F28}" destId="{E63DCBED-8611-4F19-A1B7-BBC57DCB3787}" srcOrd="3" destOrd="0" parTransId="{74FAEA27-C730-421E-B592-665DD809326C}" sibTransId="{E4143548-FF8D-455D-B0DA-37B0C9306D26}"/>
    <dgm:cxn modelId="{0F788DCB-BD25-4C0A-9C12-4914F525D21A}" type="presParOf" srcId="{002AEB2A-7CFA-43DD-BBB4-7B5D57EC88F5}" destId="{8BE515C6-6B29-4972-ADB0-C65F0AFD65B7}" srcOrd="0" destOrd="0" presId="urn:microsoft.com/office/officeart/2005/8/layout/vList2"/>
    <dgm:cxn modelId="{3B88A6A9-1E8A-42B4-A43B-FC36ECB6912A}" type="presParOf" srcId="{002AEB2A-7CFA-43DD-BBB4-7B5D57EC88F5}" destId="{C0F22C02-8A5B-4358-A30D-BFE2C5E3FCDD}" srcOrd="1" destOrd="0" presId="urn:microsoft.com/office/officeart/2005/8/layout/vList2"/>
    <dgm:cxn modelId="{3B0B413C-4E91-461C-83E9-8ABF324964D0}" type="presParOf" srcId="{002AEB2A-7CFA-43DD-BBB4-7B5D57EC88F5}" destId="{1EA922A8-4042-41D2-85EF-12E9921A1905}" srcOrd="2" destOrd="0" presId="urn:microsoft.com/office/officeart/2005/8/layout/vList2"/>
    <dgm:cxn modelId="{F336048C-F333-429E-AC23-8927BF0F5C04}" type="presParOf" srcId="{002AEB2A-7CFA-43DD-BBB4-7B5D57EC88F5}" destId="{9AD51C11-21E2-4BA7-8031-A45D9A1F430A}" srcOrd="3" destOrd="0" presId="urn:microsoft.com/office/officeart/2005/8/layout/vList2"/>
    <dgm:cxn modelId="{9067C250-9C71-4239-A4EC-79F1D6F8E2F6}" type="presParOf" srcId="{002AEB2A-7CFA-43DD-BBB4-7B5D57EC88F5}" destId="{B6A6815B-083D-41A0-8F7F-AA88BAB650BE}" srcOrd="4" destOrd="0" presId="urn:microsoft.com/office/officeart/2005/8/layout/vList2"/>
    <dgm:cxn modelId="{8BC7A46E-37EB-47B8-BDF4-BB7F9398C33B}" type="presParOf" srcId="{002AEB2A-7CFA-43DD-BBB4-7B5D57EC88F5}" destId="{783F59D3-BC35-402F-9B87-0DA3847FBA1F}" srcOrd="5" destOrd="0" presId="urn:microsoft.com/office/officeart/2005/8/layout/vList2"/>
    <dgm:cxn modelId="{7121B7CF-8564-4FC2-A630-02288B37754B}" type="presParOf" srcId="{002AEB2A-7CFA-43DD-BBB4-7B5D57EC88F5}" destId="{135A25C1-4DD4-40E4-9F53-592D1976967E}" srcOrd="6" destOrd="0" presId="urn:microsoft.com/office/officeart/2005/8/layout/vList2"/>
    <dgm:cxn modelId="{0B1FC877-405A-4015-8B6D-1AECA09182C4}" type="presParOf" srcId="{002AEB2A-7CFA-43DD-BBB4-7B5D57EC88F5}" destId="{77097CE9-579B-4D3D-859C-2F8FFB54EF98}" srcOrd="7" destOrd="0" presId="urn:microsoft.com/office/officeart/2005/8/layout/vList2"/>
    <dgm:cxn modelId="{619387BA-B37E-4257-B896-BA82F91916FF}" type="presParOf" srcId="{002AEB2A-7CFA-43DD-BBB4-7B5D57EC88F5}" destId="{03631F81-8091-41F4-8E37-483C3DACEA70}" srcOrd="8" destOrd="0" presId="urn:microsoft.com/office/officeart/2005/8/layout/vList2"/>
    <dgm:cxn modelId="{F1935975-C540-4939-9086-309F2BC0B531}" type="presParOf" srcId="{002AEB2A-7CFA-43DD-BBB4-7B5D57EC88F5}" destId="{45359A18-97D7-4C85-B984-F865C43F5F0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15C6-6B29-4972-ADB0-C65F0AFD65B7}">
      <dsp:nvSpPr>
        <dsp:cNvPr id="0" name=""/>
        <dsp:cNvSpPr/>
      </dsp:nvSpPr>
      <dsp:spPr>
        <a:xfrm>
          <a:off x="0" y="204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0" i="0" kern="1200"/>
            <a:t>Estándar SQL define 4 niveles:</a:t>
          </a:r>
          <a:endParaRPr lang="es-CO" sz="3500" kern="1200"/>
        </a:p>
      </dsp:txBody>
      <dsp:txXfrm>
        <a:off x="39980" y="60428"/>
        <a:ext cx="15884244" cy="739039"/>
      </dsp:txXfrm>
    </dsp:sp>
    <dsp:sp modelId="{1EA922A8-4042-41D2-85EF-12E9921A1905}">
      <dsp:nvSpPr>
        <dsp:cNvPr id="0" name=""/>
        <dsp:cNvSpPr/>
      </dsp:nvSpPr>
      <dsp:spPr>
        <a:xfrm>
          <a:off x="0" y="9402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UNCOMMITTED</a:t>
          </a:r>
          <a:endParaRPr lang="es-CO" sz="3500" kern="1200"/>
        </a:p>
      </dsp:txBody>
      <dsp:txXfrm>
        <a:off x="39980" y="980228"/>
        <a:ext cx="15884244" cy="739039"/>
      </dsp:txXfrm>
    </dsp:sp>
    <dsp:sp modelId="{9AD51C11-21E2-4BA7-8031-A45D9A1F430A}">
      <dsp:nvSpPr>
        <dsp:cNvPr id="0" name=""/>
        <dsp:cNvSpPr/>
      </dsp:nvSpPr>
      <dsp:spPr>
        <a:xfrm>
          <a:off x="0" y="1759248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Permite </a:t>
          </a:r>
          <a:r>
            <a:rPr lang="es-ES" sz="2700" b="0" i="1" kern="1200"/>
            <a:t>lecturas sucias</a:t>
          </a:r>
          <a:r>
            <a:rPr lang="es-ES" sz="2700" b="0" i="0" kern="1200"/>
            <a:t> (ver datos no committeados).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Postgres en realidad lo trata como READ COMMITTED (no hay lecturas sucias).</a:t>
          </a:r>
          <a:endParaRPr lang="es-CO" sz="2700" kern="1200"/>
        </a:p>
      </dsp:txBody>
      <dsp:txXfrm>
        <a:off x="0" y="1759248"/>
        <a:ext cx="15964204" cy="887512"/>
      </dsp:txXfrm>
    </dsp:sp>
    <dsp:sp modelId="{B6A6815B-083D-41A0-8F7F-AA88BAB650BE}">
      <dsp:nvSpPr>
        <dsp:cNvPr id="0" name=""/>
        <dsp:cNvSpPr/>
      </dsp:nvSpPr>
      <dsp:spPr>
        <a:xfrm>
          <a:off x="0" y="2646761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COMMITTED (por defecto en Postgres)</a:t>
          </a:r>
          <a:endParaRPr lang="es-CO" sz="3500" kern="1200"/>
        </a:p>
      </dsp:txBody>
      <dsp:txXfrm>
        <a:off x="39980" y="2686741"/>
        <a:ext cx="15884244" cy="739039"/>
      </dsp:txXfrm>
    </dsp:sp>
    <dsp:sp modelId="{783F59D3-BC35-402F-9B87-0DA3847FBA1F}">
      <dsp:nvSpPr>
        <dsp:cNvPr id="0" name=""/>
        <dsp:cNvSpPr/>
      </dsp:nvSpPr>
      <dsp:spPr>
        <a:xfrm>
          <a:off x="0" y="3465761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Cada sentencia ve solo datos </a:t>
          </a:r>
          <a:r>
            <a:rPr lang="es-ES" sz="2700" b="0" i="1" kern="1200"/>
            <a:t>committeados</a:t>
          </a:r>
          <a:r>
            <a:rPr lang="es-ES" sz="2700" b="0" i="0" kern="1200"/>
            <a:t> antes de empezar esa sentencia.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Puede haber: lecturas </a:t>
          </a:r>
          <a:r>
            <a:rPr lang="es-ES" sz="2700" b="1" i="0" kern="1200"/>
            <a:t>no repetibles</a:t>
          </a:r>
          <a:r>
            <a:rPr lang="es-ES" sz="2700" b="0" i="0" kern="1200"/>
            <a:t> y </a:t>
          </a:r>
          <a:r>
            <a:rPr lang="es-ES" sz="2700" b="1" i="0" kern="1200"/>
            <a:t>phantom</a:t>
          </a:r>
          <a:r>
            <a:rPr lang="es-ES" sz="2700" b="0" i="0" kern="1200"/>
            <a:t>.</a:t>
          </a:r>
          <a:endParaRPr lang="es-CO" sz="2700" kern="1200"/>
        </a:p>
      </dsp:txBody>
      <dsp:txXfrm>
        <a:off x="0" y="3465761"/>
        <a:ext cx="15964204" cy="887512"/>
      </dsp:txXfrm>
    </dsp:sp>
    <dsp:sp modelId="{135A25C1-4DD4-40E4-9F53-592D1976967E}">
      <dsp:nvSpPr>
        <dsp:cNvPr id="0" name=""/>
        <dsp:cNvSpPr/>
      </dsp:nvSpPr>
      <dsp:spPr>
        <a:xfrm>
          <a:off x="0" y="4353273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 dirty="0"/>
            <a:t>REPEATABLE READ</a:t>
          </a:r>
          <a:endParaRPr lang="es-CO" sz="3500" kern="1200" dirty="0"/>
        </a:p>
      </dsp:txBody>
      <dsp:txXfrm>
        <a:off x="39980" y="4393253"/>
        <a:ext cx="15884244" cy="739039"/>
      </dsp:txXfrm>
    </dsp:sp>
    <dsp:sp modelId="{77097CE9-579B-4D3D-859C-2F8FFB54EF98}">
      <dsp:nvSpPr>
        <dsp:cNvPr id="0" name=""/>
        <dsp:cNvSpPr/>
      </dsp:nvSpPr>
      <dsp:spPr>
        <a:xfrm>
          <a:off x="0" y="5172273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Toda la transacción ve un </a:t>
          </a:r>
          <a:r>
            <a:rPr lang="es-ES" sz="2700" b="1" i="0" kern="1200"/>
            <a:t>snapshot consistente</a:t>
          </a:r>
          <a:r>
            <a:rPr lang="es-ES" sz="2700" b="0" i="0" kern="1200"/>
            <a:t> del momento en que empezó.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Se evitan lecturas no repetibles, pero aún pueden aparecer ciertos phantoms según el motor.</a:t>
          </a:r>
          <a:endParaRPr lang="es-CO" sz="2700" kern="1200"/>
        </a:p>
      </dsp:txBody>
      <dsp:txXfrm>
        <a:off x="0" y="5172273"/>
        <a:ext cx="15964204" cy="887512"/>
      </dsp:txXfrm>
    </dsp:sp>
    <dsp:sp modelId="{03631F81-8091-41F4-8E37-483C3DACEA70}">
      <dsp:nvSpPr>
        <dsp:cNvPr id="0" name=""/>
        <dsp:cNvSpPr/>
      </dsp:nvSpPr>
      <dsp:spPr>
        <a:xfrm>
          <a:off x="0" y="6059786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SERIALIZABLE</a:t>
          </a:r>
          <a:endParaRPr lang="es-CO" sz="3500" kern="1200"/>
        </a:p>
      </dsp:txBody>
      <dsp:txXfrm>
        <a:off x="39980" y="6099766"/>
        <a:ext cx="15884244" cy="739039"/>
      </dsp:txXfrm>
    </dsp:sp>
    <dsp:sp modelId="{45359A18-97D7-4C85-B984-F865C43F5F06}">
      <dsp:nvSpPr>
        <dsp:cNvPr id="0" name=""/>
        <dsp:cNvSpPr/>
      </dsp:nvSpPr>
      <dsp:spPr>
        <a:xfrm>
          <a:off x="0" y="6878786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El resultado es como si las transacciones se hubieran ejecutado una detrás de otra.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Máxima protección, más coste, más abortos por conflictos.</a:t>
          </a:r>
          <a:endParaRPr lang="es-CO" sz="2700" kern="1200"/>
        </a:p>
      </dsp:txBody>
      <dsp:txXfrm>
        <a:off x="0" y="6878786"/>
        <a:ext cx="15964204" cy="887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svg"/><Relationship Id="rId9" Type="http://schemas.microsoft.com/office/2007/relationships/diagramDrawing" Target="../diagrams/drawing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48909" y="3058526"/>
            <a:ext cx="8115300" cy="47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Bases de Datos Relacionales</a:t>
            </a: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4399" b="1" dirty="0">
              <a:solidFill>
                <a:srgbClr val="700A89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cs typeface="Poppins"/>
                <a:sym typeface="Poppins"/>
              </a:rPr>
              <a:t>Conceptos a Nivel Intermedio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EC2D-CC15-1BC1-30D0-D14EFB62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2E2753-61EF-6902-23C1-D1188C235BF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7B99F0-DF08-043E-32EA-0700AFA808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14AE4B9-3FFA-A795-90E9-B1B001AB8F1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0CA364-AB4C-4622-BFF6-E8AD30030B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DF0665E-10AB-9040-B06E-B406849BFD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FC060FF-E0B3-88DE-D40A-36B9D6BC891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CC9AE82-8B1D-D875-E75A-B6962ACD39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C0CE72D-58F6-0C19-D2FB-83BCC72F7E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0A2E158-AC94-3BA6-6C2D-75D53DCCA42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578B53-3142-A744-FED6-B5A8AF9A0B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0DC911-3CE3-067B-1826-0882AB709803}"/>
              </a:ext>
            </a:extLst>
          </p:cNvPr>
          <p:cNvSpPr txBox="1"/>
          <p:nvPr/>
        </p:nvSpPr>
        <p:spPr>
          <a:xfrm>
            <a:off x="1143877" y="513217"/>
            <a:ext cx="1455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Mapa</a:t>
            </a:r>
            <a:endParaRPr lang="es-CO" sz="36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376175F-BB66-9686-72AE-397BADC7BB44}"/>
              </a:ext>
            </a:extLst>
          </p:cNvPr>
          <p:cNvGrpSpPr/>
          <p:nvPr/>
        </p:nvGrpSpPr>
        <p:grpSpPr>
          <a:xfrm>
            <a:off x="4520484" y="2573265"/>
            <a:ext cx="9089922" cy="4462408"/>
            <a:chOff x="4393153" y="2571655"/>
            <a:chExt cx="8860386" cy="4396299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9CE11420-6E9C-1AF7-B5FF-377E972AD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577" t="2433"/>
            <a:stretch>
              <a:fillRect/>
            </a:stretch>
          </p:blipFill>
          <p:spPr>
            <a:xfrm>
              <a:off x="4393153" y="2571655"/>
              <a:ext cx="8860386" cy="4396299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EEC6BEF1-D535-E872-25B4-30F9092A69D1}"/>
                </a:ext>
              </a:extLst>
            </p:cNvPr>
            <p:cNvSpPr/>
            <p:nvPr/>
          </p:nvSpPr>
          <p:spPr>
            <a:xfrm>
              <a:off x="6788730" y="4232485"/>
              <a:ext cx="4070623" cy="950795"/>
            </a:xfrm>
            <a:prstGeom prst="roundRect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B2EEE4F-5FA8-1E34-84F5-CB9DB7996C73}"/>
              </a:ext>
            </a:extLst>
          </p:cNvPr>
          <p:cNvSpPr/>
          <p:nvPr/>
        </p:nvSpPr>
        <p:spPr>
          <a:xfrm>
            <a:off x="6302840" y="6202096"/>
            <a:ext cx="1350561" cy="965093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1482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348B-E11B-02AA-9A91-9EC71F0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01F950-8731-6FF5-DC9C-BADB515405C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3EEBD0A-B8F2-353F-109F-82E8C60FDBC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700E161-7D89-FBE5-C93C-68CB7395D2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E1498E4-A227-31DE-1929-4E01E08917B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41D2D60-C09E-EEA0-11C4-F09241E5DF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549A974-3B63-21E8-1787-B8045407728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3664A8B-F537-6C3C-4042-79348BB15D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C05E40A-F91F-7784-767B-6A91745DE17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337BD92-39FE-AF01-8D6C-6F1E528A6D6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99C207F-4E8C-D2DC-41CB-09B9419818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9E8620-D4A7-F7B8-4B07-7C157AE2ED5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FB3ACC-0476-CA60-8F8D-9FF9386D493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DC94260-D8F7-74C0-F212-B7C0AB76D37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B8B65C-6AF4-5AF0-8110-85CE29E2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29" y="1863695"/>
            <a:ext cx="12728807" cy="765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31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853BC-F193-42D3-7587-CC174400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C083C2-0074-C49D-08CD-9DB7320915F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8DEA70-D2E7-D5F0-9B0E-F19E13A24E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EE7684D-B79F-41D9-3571-8D2AD8A16F0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20D6227-44B8-AA21-0688-11EC70929AD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090597E-AE2E-4D57-B541-A243A45388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6FEA86-56E2-A496-A2AA-AE81A7F7E34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BD6703-1708-4E0B-02B9-E304AFA9E8D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C7D4FD-7199-C725-C460-0D75A16B8E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F408F30-CC71-797A-73B3-8B1993D983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6CB3AF9-6966-8D4F-A045-145C13AD65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CE25029-63B0-814D-AF7E-9F01798FA48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937C2B6-E21A-4EE0-D0B8-A11D9BDAD18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76DCCAD-D713-6918-FDA3-CF5E2AD1A4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FE2E031-F0ED-00FE-D262-9A84F5865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351" y="1359242"/>
            <a:ext cx="11584839" cy="83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CEC2-A13F-295C-1B45-4A68215E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BA4CA0-0AE9-6E47-DDBA-5B081FC8FFB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C92578C-7C14-CECA-5F6D-A2F84F5DAAE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29861F6-DF4B-945E-6EB8-B4FD47E25E0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137E05B-40AC-D70B-2F4D-87B5362CEFF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18A6F0E-8AA3-94F4-675B-71ECD77738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FE2D37-19FA-0F0B-1F6B-5A148FD8E14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FBC3FE-942F-5FFE-AD4D-B0990528343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7BAFFD5-D85C-BC52-63C3-BBA69812CD2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D731B9D-3413-758B-8EB2-3DCBE1A00BE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990D395-3BBF-A05B-CDE4-DEC3D80CCF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5BFAA28-9D10-09A5-EBEF-41BB0D1E90CD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821CE6B3-3E17-8ADF-BBE6-380ED988CB3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A9FDB2C-CBC2-1506-DF01-C30BD9C2B17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9F2DCA3-0200-CB42-E9E2-5446B77EC7D8}"/>
              </a:ext>
            </a:extLst>
          </p:cNvPr>
          <p:cNvSpPr txBox="1"/>
          <p:nvPr/>
        </p:nvSpPr>
        <p:spPr>
          <a:xfrm>
            <a:off x="1100579" y="3767662"/>
            <a:ext cx="9176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https://github.com/tolamoye/Olist-E-commerce-Data-Aanalysis/files/11643097/Olist.Data.Dictionary.2.pdf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093873-F7E9-62E7-BA89-E15BE567739A}"/>
              </a:ext>
            </a:extLst>
          </p:cNvPr>
          <p:cNvSpPr txBox="1"/>
          <p:nvPr/>
        </p:nvSpPr>
        <p:spPr>
          <a:xfrm>
            <a:off x="1100579" y="3214540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Diccionario de datos</a:t>
            </a:r>
          </a:p>
        </p:txBody>
      </p:sp>
    </p:spTree>
    <p:extLst>
      <p:ext uri="{BB962C8B-B14F-4D97-AF65-F5344CB8AC3E}">
        <p14:creationId xmlns:p14="http://schemas.microsoft.com/office/powerpoint/2010/main" val="143556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7C83-9637-0618-2918-AD2232FD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7658D1-9EFC-6A86-B99A-EAB8D07F866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D52B0ED-E8CD-FCA7-C97B-719A64ADE95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B672913-8B3A-EAF2-AA0B-39E4D52A0B4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619DCE7-03F2-B4F7-4CC5-F9839F2651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3EDFC27-F43F-0F14-36EB-4E919902B7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E07A3EB-5BEE-A4DE-126B-9ACAF945100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97EE0F7-46AE-E292-4CB4-D1EA4E5E167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FE6E8D1-8777-EF79-3860-70753F9B771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F9E66C-D71F-E21C-F8F2-7D659F77E3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9477D0C-C3C7-2810-9FC3-ADED7C17D6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D380143-544C-8A87-63A7-8637C5D0FDE8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6CC9E9-5F79-D196-0A46-91DB819592C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064BD63-3D65-7F9D-12A9-047481BB13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10C7204-4103-91C7-ECF7-913B11C1D1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0421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0D1A-4300-52E2-42C1-78553127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CC3561-8C82-90CC-3445-B8161832D23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08FE299-0DF2-4523-433C-8CFC215D23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35852A6-1F9B-949C-F8E3-7A6692C9B3A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EE87093-A13F-7B81-3199-11FB08CF71F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FBE0CA0-2C7E-83FB-C200-0DDA532617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7EB152-B8CA-02B7-5064-ECE5FCD602D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A496BDA-E75E-EB34-9C9A-B3F7B12B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9230767-58B1-669C-FC4B-DC4619B48FA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FF76568-AB76-1CB4-54FF-F27B98DDEE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3035A2B-5553-C109-3DB8-6825C26400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A1D3360-63DE-ED96-0395-17E55201C4C4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951A4C5-4DD3-BF34-1304-F0D78C3DC3C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3D0487A-0832-310D-AF04-400A3FE03E0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BB93DE74-518A-B147-2E92-3B3F3E618CC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772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61259-66E0-3BE7-0ED2-9F5FA3FD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D81C1B-333B-E679-63E4-1C68358CA5A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752798A-BF99-9E4A-340B-F9A38B167E2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1A1A388-7471-509A-FFA4-A3FE0792C9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45BDDA-E28B-6E1A-FEB9-A76559317FD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D78C539-73C2-592B-C766-A3513AB0DD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1DDD03-7456-6E3D-D83F-EF10D1AB28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ED93745-E3CB-345D-3589-11ABD9B2C14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A6D8D5B-5142-E736-6BC6-301970FCA5F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EA36AC8-0B63-1C4D-9FA6-9904029B6BB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5AE91EE-12BD-B94F-59AF-4B556A0244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13B388E-91FC-F14B-3692-6DB17A62E841}"/>
              </a:ext>
            </a:extLst>
          </p:cNvPr>
          <p:cNvSpPr txBox="1"/>
          <p:nvPr/>
        </p:nvSpPr>
        <p:spPr>
          <a:xfrm>
            <a:off x="760907" y="1522187"/>
            <a:ext cx="7809458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Motivación y usos típicos</a:t>
            </a:r>
          </a:p>
          <a:p>
            <a:endParaRPr lang="es-ES" sz="2400" b="1" dirty="0"/>
          </a:p>
          <a:p>
            <a:r>
              <a:rPr lang="es-ES" sz="2400" b="1" dirty="0"/>
              <a:t>Simplificación</a:t>
            </a:r>
            <a:endParaRPr lang="es-ES" sz="2400" dirty="0"/>
          </a:p>
          <a:p>
            <a:pPr lvl="7"/>
            <a:r>
              <a:rPr lang="es-ES" sz="2400" dirty="0"/>
              <a:t>Reutilizar </a:t>
            </a:r>
            <a:r>
              <a:rPr lang="es-ES" sz="2400" dirty="0" err="1"/>
              <a:t>joins</a:t>
            </a:r>
            <a:r>
              <a:rPr lang="es-ES" sz="2400" dirty="0"/>
              <a:t> y filtros largos sin repetirlos en cada consulta.</a:t>
            </a:r>
          </a:p>
          <a:p>
            <a:pPr lvl="7"/>
            <a:r>
              <a:rPr lang="es-ES" sz="2400" dirty="0"/>
              <a:t>Dar a los analistas una “tabla lógica” ya preparada.</a:t>
            </a:r>
          </a:p>
          <a:p>
            <a:pPr lvl="7"/>
            <a:endParaRPr lang="es-ES" sz="2400" dirty="0"/>
          </a:p>
          <a:p>
            <a:r>
              <a:rPr lang="es-ES" sz="2400" b="1" dirty="0"/>
              <a:t>Seguridad</a:t>
            </a:r>
            <a:endParaRPr lang="es-ES" sz="2400" dirty="0"/>
          </a:p>
          <a:p>
            <a:pPr lvl="1"/>
            <a:r>
              <a:rPr lang="es-ES" sz="2400" dirty="0"/>
              <a:t>Exponer solo ciertas columnas o filas (por ejemplo: ocultar datos sensibles).</a:t>
            </a:r>
          </a:p>
          <a:p>
            <a:pPr lvl="1"/>
            <a:r>
              <a:rPr lang="es-ES" sz="2400" dirty="0"/>
              <a:t>Dar permisos sobre la vista, no sobre la tabla física.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Abstracción</a:t>
            </a:r>
            <a:endParaRPr lang="es-ES" sz="2400" dirty="0"/>
          </a:p>
          <a:p>
            <a:pPr lvl="1"/>
            <a:r>
              <a:rPr lang="es-ES" sz="2400" dirty="0"/>
              <a:t>Ocultar la complejidad del modelo físico.</a:t>
            </a:r>
          </a:p>
          <a:p>
            <a:pPr lvl="1"/>
            <a:r>
              <a:rPr lang="es-ES" sz="2400" dirty="0"/>
              <a:t>Permitir cambios internos en tablas sin romper los reportes, mientras la vista conserve las mismas columnas.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Estandarización</a:t>
            </a:r>
            <a:endParaRPr lang="es-ES" sz="2400" dirty="0"/>
          </a:p>
          <a:p>
            <a:pPr lvl="1"/>
            <a:r>
              <a:rPr lang="es-ES" sz="2400" dirty="0"/>
              <a:t>Definir métricas o lógicas calculadas de forma única y centralizada.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FBB0B89-CCAA-0722-F88B-C0679439AC06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C26FC243-92C4-8E59-94F7-4A9CC354F119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56E8D5-97CD-4C59-FA39-941D383CA1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B7850D7C-FDBE-DAAB-B3EA-631183BE9425}"/>
              </a:ext>
            </a:extLst>
          </p:cNvPr>
          <p:cNvSpPr txBox="1"/>
          <p:nvPr/>
        </p:nvSpPr>
        <p:spPr>
          <a:xfrm>
            <a:off x="9144000" y="1522187"/>
            <a:ext cx="7952539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Tipos de vistas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lógicas (normales)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Solo almacenan la definición del SELECT.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Siempre muestran datos actualizados.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materializadas</a:t>
            </a:r>
            <a:r>
              <a:rPr lang="es-ES" sz="2400" dirty="0"/>
              <a:t> (si el motor las soporta)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Guardan el resultado del SELECT en disco.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Pueden </a:t>
            </a:r>
            <a:r>
              <a:rPr lang="es-ES" sz="2400" b="1" dirty="0"/>
              <a:t>refrescarse</a:t>
            </a:r>
            <a:r>
              <a:rPr lang="es-ES" sz="2400" dirty="0"/>
              <a:t> cada cierto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Útiles cuando la consulta original es muy pesada.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Otras clasificaciones: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Simples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Se basan en una sola tabla, sin agregaciones complicadas.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Complejas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Incluyen </a:t>
            </a:r>
            <a:r>
              <a:rPr lang="es-ES" sz="2400" dirty="0" err="1"/>
              <a:t>joins</a:t>
            </a:r>
            <a:r>
              <a:rPr lang="es-ES" sz="2400" dirty="0"/>
              <a:t>, agregaciones, subconsultas, funciones de ventana,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Actualizables vs no actualizables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Algunas vistas permiten </a:t>
            </a:r>
            <a:r>
              <a:rPr lang="es-ES" sz="2400" dirty="0">
                <a:latin typeface="Courier New" panose="02070309020205020404" pitchFamily="49" charset="0"/>
              </a:rPr>
              <a:t>INSERT/UPDATE/DELETE</a:t>
            </a:r>
            <a:r>
              <a:rPr lang="es-ES" sz="2400" dirty="0"/>
              <a:t> sobre ellas, otras no (depende del motor y de la complejidad de la vista).</a:t>
            </a:r>
          </a:p>
        </p:txBody>
      </p:sp>
    </p:spTree>
    <p:extLst>
      <p:ext uri="{BB962C8B-B14F-4D97-AF65-F5344CB8AC3E}">
        <p14:creationId xmlns:p14="http://schemas.microsoft.com/office/powerpoint/2010/main" val="48531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0F21-7311-2DDA-7FE2-880FB272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5CB0C8-B8AF-F22C-BF88-08CC5CC5541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E9FEDEA-6659-6A02-B523-378CF8B7B40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0F5C0F-D41A-24AA-94FA-A8DFDC7377D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C257417-3E6E-B245-3F81-B125673B28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23440E2-C3C9-4C85-8096-7BFCF1C232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4F6DF2-3DF1-84E1-12E0-20592FA53D0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B62DE5-60EE-7853-5DDD-322AE1435E5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643A279-5B48-60AA-7659-78E23F3853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C2E1E6A-697A-5E51-218C-7578A25AB7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A1B7CA-EAC7-E0B0-7E9D-C2A9027479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C23251A-E987-D800-2C0A-E678A2E2E373}"/>
              </a:ext>
            </a:extLst>
          </p:cNvPr>
          <p:cNvSpPr txBox="1"/>
          <p:nvPr/>
        </p:nvSpPr>
        <p:spPr>
          <a:xfrm>
            <a:off x="986141" y="1982892"/>
            <a:ext cx="758968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Limitaciones y riesgos</a:t>
            </a:r>
          </a:p>
          <a:p>
            <a:endParaRPr lang="es-ES" sz="2400" b="1" dirty="0"/>
          </a:p>
          <a:p>
            <a:r>
              <a:rPr lang="es-ES" sz="2400" b="1" dirty="0"/>
              <a:t>Dependencia excesiva de vistas en cascada:</a:t>
            </a:r>
          </a:p>
          <a:p>
            <a:pPr lvl="1"/>
            <a:r>
              <a:rPr lang="es-ES" sz="2400" dirty="0"/>
              <a:t>Vistas que llaman vistas que llaman otras vistas</a:t>
            </a:r>
          </a:p>
          <a:p>
            <a:pPr lvl="2"/>
            <a:r>
              <a:rPr lang="es-ES" sz="2400" dirty="0"/>
              <a:t>Puede generar consultas gigantes, difíciles de optimizar.</a:t>
            </a:r>
          </a:p>
          <a:p>
            <a:pPr lvl="2"/>
            <a:endParaRPr lang="es-ES" sz="2400" dirty="0"/>
          </a:p>
          <a:p>
            <a:r>
              <a:rPr lang="es-ES" sz="2400" b="1" dirty="0"/>
              <a:t>Rendimiento:</a:t>
            </a:r>
          </a:p>
          <a:p>
            <a:pPr lvl="1"/>
            <a:r>
              <a:rPr lang="es-ES" sz="2400" dirty="0"/>
              <a:t>Una vista lógica es solo azúcar sintáctica; si la consulta base es mala, la vista también.</a:t>
            </a:r>
          </a:p>
          <a:p>
            <a:pPr lvl="1"/>
            <a:r>
              <a:rPr lang="es-ES" sz="2400" dirty="0"/>
              <a:t>Las vistas muy complejas pueden impedir que el optimizador use índices de forma eficiente.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Confusión:</a:t>
            </a:r>
          </a:p>
          <a:p>
            <a:pPr lvl="1"/>
            <a:r>
              <a:rPr lang="es-ES" sz="2400" dirty="0"/>
              <a:t>El usuario puede creer que es una “tabla” y no entender el costo real de la consulta.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En vistas materializadas:</a:t>
            </a:r>
          </a:p>
          <a:p>
            <a:pPr lvl="1"/>
            <a:r>
              <a:rPr lang="es-ES" sz="2400" dirty="0"/>
              <a:t>Los datos pueden quedar desactualizados si el refresco no está bien diseñado.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E81821B-2366-6959-6E2D-44FFF99BE91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759D344-4CA4-1A56-1274-5BFCA0EA092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B4AD46-9D74-3BFB-7826-7399FDB9942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541A43D-3844-E8F3-9033-89723D0FEBD8}"/>
              </a:ext>
            </a:extLst>
          </p:cNvPr>
          <p:cNvSpPr txBox="1"/>
          <p:nvPr/>
        </p:nvSpPr>
        <p:spPr>
          <a:xfrm>
            <a:off x="9144000" y="1697904"/>
            <a:ext cx="83332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Buenas prácticas con vistas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Documentar: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Origen de los datos (tablas base).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Significado de los campos calculados.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Frecuencia de refresco, si es materializada.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Evitar: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Vistas gigantescas con cien columnas “por si acaso”.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Cadenas largas de vistas que se apilan una sobre otra.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err="1"/>
              <a:t>Naming</a:t>
            </a:r>
            <a:r>
              <a:rPr lang="es-E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Nombres claros y consistentes, por ejemplo: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vw</a:t>
            </a:r>
            <a:r>
              <a:rPr lang="es-ES" sz="2400" dirty="0">
                <a:latin typeface="Courier New" panose="02070309020205020404" pitchFamily="49" charset="0"/>
              </a:rPr>
              <a:t>_</a:t>
            </a:r>
            <a:r>
              <a:rPr lang="es-ES" sz="2400" dirty="0"/>
              <a:t> para vistas lógicas (</a:t>
            </a:r>
            <a:r>
              <a:rPr lang="es-ES" sz="2400" dirty="0" err="1">
                <a:latin typeface="Courier New" panose="02070309020205020404" pitchFamily="49" charset="0"/>
              </a:rPr>
              <a:t>vw_ventas_diarias</a:t>
            </a:r>
            <a:r>
              <a:rPr lang="es-ES" sz="2400" dirty="0"/>
              <a:t>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mvw</a:t>
            </a:r>
            <a:r>
              <a:rPr lang="es-ES" sz="2400" dirty="0">
                <a:latin typeface="Courier New" panose="02070309020205020404" pitchFamily="49" charset="0"/>
              </a:rPr>
              <a:t>_</a:t>
            </a:r>
            <a:r>
              <a:rPr lang="es-ES" sz="2400" dirty="0"/>
              <a:t> para materializadas (</a:t>
            </a:r>
            <a:r>
              <a:rPr lang="es-ES" sz="2400" dirty="0" err="1">
                <a:latin typeface="Courier New" panose="02070309020205020404" pitchFamily="49" charset="0"/>
              </a:rPr>
              <a:t>mvw_ventas_diarias</a:t>
            </a:r>
            <a:r>
              <a:rPr lang="es-E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350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36F7-7763-52A2-F97E-638B89D7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5A9214-23A2-0034-B584-514A94F530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53A6414-27F3-91C4-8568-7EF52DEB7A6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327425F-2F10-1F9A-93EA-5048021D59B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EAE00F-CF4E-BA09-B4E5-4D51B76A741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05B9B8C-DD80-3BDF-A2F7-BEFCFC240E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987D25A-483D-C2DB-AFE5-963D08A1D43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5B0748-CF07-B5B5-A557-FC68D2D4D8C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A875CD7-11AE-81B3-54F0-7E3E51100C8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B4CBC1E-13F0-AFB0-0ECF-B960B8D611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530F9C-128E-1F80-E0EB-7DF8FE64EC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BC77534-9767-D1F3-F8B3-5EDCA9FDECDA}"/>
              </a:ext>
            </a:extLst>
          </p:cNvPr>
          <p:cNvSpPr txBox="1"/>
          <p:nvPr/>
        </p:nvSpPr>
        <p:spPr>
          <a:xfrm>
            <a:off x="1522970" y="1944715"/>
            <a:ext cx="1507237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Refrescar una vista materializada</a:t>
            </a:r>
          </a:p>
          <a:p>
            <a:endParaRPr lang="es-ES" sz="3200" b="1" dirty="0"/>
          </a:p>
          <a:p>
            <a:r>
              <a:rPr lang="es-ES" sz="3200" dirty="0"/>
              <a:t>Cuando las tablas base cambian, la vista </a:t>
            </a:r>
            <a:r>
              <a:rPr lang="es-ES" sz="3200" b="1" dirty="0"/>
              <a:t>no se actualiza sola</a:t>
            </a:r>
            <a:r>
              <a:rPr lang="es-ES" sz="3200" dirty="0"/>
              <a:t> (a menos que tengas algo automatizado encima). Tienes que hacer:</a:t>
            </a:r>
          </a:p>
          <a:p>
            <a:endParaRPr lang="es-ES" sz="3200" dirty="0"/>
          </a:p>
          <a:p>
            <a:r>
              <a:rPr lang="es-ES" sz="3200" dirty="0"/>
              <a:t>REFRESH MATERIALIZED VIEW </a:t>
            </a:r>
            <a:r>
              <a:rPr lang="es-ES" sz="3200" dirty="0" err="1"/>
              <a:t>mvw_daily_payments</a:t>
            </a:r>
            <a:r>
              <a:rPr lang="es-ES" sz="3200" dirty="0"/>
              <a:t>;</a:t>
            </a:r>
          </a:p>
          <a:p>
            <a:endParaRPr lang="es-ES" sz="3200" dirty="0"/>
          </a:p>
          <a:p>
            <a:r>
              <a:rPr lang="es-ES" sz="3200" dirty="0"/>
              <a:t>Eso:</a:t>
            </a:r>
          </a:p>
          <a:p>
            <a:r>
              <a:rPr lang="es-ES" sz="3200" dirty="0"/>
              <a:t>Borra el contenido actual de la vista materializada.</a:t>
            </a:r>
          </a:p>
          <a:p>
            <a:r>
              <a:rPr lang="es-ES" sz="3200" dirty="0"/>
              <a:t>Vuelve a ejecutar el </a:t>
            </a:r>
            <a:r>
              <a:rPr lang="es-ES" sz="1800" dirty="0"/>
              <a:t>SELECT</a:t>
            </a:r>
            <a:r>
              <a:rPr lang="es-ES" sz="3200" dirty="0"/>
              <a:t> original.</a:t>
            </a:r>
          </a:p>
          <a:p>
            <a:r>
              <a:rPr lang="es-ES" sz="3200" dirty="0"/>
              <a:t>Rellena la vista con datos nuevos.</a:t>
            </a:r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b="1" dirty="0"/>
              <a:t>Importante:</a:t>
            </a:r>
            <a:r>
              <a:rPr lang="es-ES" sz="3200" dirty="0"/>
              <a:t> durante el </a:t>
            </a:r>
            <a:r>
              <a:rPr lang="es-ES" sz="1800" dirty="0"/>
              <a:t>REFRESH</a:t>
            </a:r>
            <a:r>
              <a:rPr lang="es-ES" sz="3200" dirty="0"/>
              <a:t> normal, la vista puede quedar bloqueada para lectura.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1E69738-20AE-B3A2-5DD8-3D94C36BB0A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40A6047-C597-EE0B-87EE-90298C1C7E68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C29E4A-6DDE-AF56-3D7C-C8E7D7139A2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45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AF51-F999-630D-8AD5-15A9E543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0BA30-B9CD-3F30-E325-3D1EB574ABF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23BEA2E-7AD0-D640-C3E6-D1B1D6BA8B8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1C5A15-B330-3820-2414-66E3B6104BE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96269CA-16DB-15EB-F2E8-AB1B4E29F65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D3DECB0-BBD2-4F2C-E989-0B0257E878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45B4547-3CC3-25E6-BCB3-42CF604131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1815C6-D1F9-390D-9FFA-F786D6C7DEB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D5EC597-7869-D72F-3487-E02A15B270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FEFD526-A251-CF60-D480-E03A32D0C61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8123148-56C3-387A-1FA9-ECE0983BA8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E28BA2FC-7DB5-2136-2F85-FF1B34C28FF6}"/>
              </a:ext>
            </a:extLst>
          </p:cNvPr>
          <p:cNvSpPr txBox="1"/>
          <p:nvPr/>
        </p:nvSpPr>
        <p:spPr>
          <a:xfrm>
            <a:off x="1168344" y="1671582"/>
            <a:ext cx="1507237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PostgreSQL permite refrescar “en caliente” con </a:t>
            </a:r>
            <a:r>
              <a:rPr lang="es-CO" sz="1100" dirty="0"/>
              <a:t>CONCURRENTLY</a:t>
            </a:r>
            <a:r>
              <a:rPr lang="es-CO" sz="2400" dirty="0"/>
              <a:t>, pero pide dos cosas:</a:t>
            </a:r>
          </a:p>
          <a:p>
            <a:r>
              <a:rPr lang="es-CO" sz="2400" dirty="0"/>
              <a:t>Que la vista tenga un </a:t>
            </a:r>
            <a:r>
              <a:rPr lang="es-CO" sz="2400" b="1" dirty="0"/>
              <a:t>índice único</a:t>
            </a:r>
            <a:r>
              <a:rPr lang="es-CO" sz="2400" dirty="0"/>
              <a:t> que cubra todas las filas.</a:t>
            </a:r>
          </a:p>
          <a:p>
            <a:r>
              <a:rPr lang="es-CO" sz="2400" dirty="0"/>
              <a:t>Que la vista se haya creado con </a:t>
            </a:r>
            <a:r>
              <a:rPr lang="es-CO" sz="1100" dirty="0"/>
              <a:t>WITH DATA</a:t>
            </a:r>
            <a:r>
              <a:rPr lang="es-CO" sz="2400" dirty="0"/>
              <a:t> (por defecto es así).</a:t>
            </a:r>
          </a:p>
          <a:p>
            <a:r>
              <a:rPr lang="es-CO" sz="2400" dirty="0"/>
              <a:t>Ejemplo:</a:t>
            </a:r>
          </a:p>
          <a:p>
            <a:endParaRPr lang="es-CO" sz="2400" dirty="0"/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-- 1. Crear la vista materializada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CREATE MATERIALIZED VIEW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o.order_purchase_timestamp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::date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SUM(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p.payment_value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COUNT(DISTINCT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o.order_id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     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num_orders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o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ON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o.order_id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p.order_id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o.order_purchase_timestamp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::date;</a:t>
            </a:r>
          </a:p>
          <a:p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-- 2. Crear índice único sobre la clave "natural" de la vista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CREATE UNIQUE INDEX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idx_mvw_daily_payments_pk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ON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-- 3. Refrescar concurrentemente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REFRESH MATERIALIZED VIEW CONCURRENTLY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s-CO" dirty="0"/>
          </a:p>
          <a:p>
            <a:r>
              <a:rPr lang="es-CO" sz="2800" dirty="0"/>
              <a:t>Ventaja:</a:t>
            </a:r>
          </a:p>
          <a:p>
            <a:r>
              <a:rPr lang="es-CO" sz="2800" dirty="0"/>
              <a:t>Mientras corre el </a:t>
            </a:r>
            <a:r>
              <a:rPr lang="es-CO" sz="1200" dirty="0"/>
              <a:t>REFRESH MATERIALIZED VIEW CONCURRENTLY</a:t>
            </a:r>
            <a:r>
              <a:rPr lang="es-CO" sz="2800" dirty="0"/>
              <a:t>, los usuarios pueden seguir leyendo la versión vieja.</a:t>
            </a:r>
          </a:p>
          <a:p>
            <a:r>
              <a:rPr lang="es-CO" sz="2800" dirty="0"/>
              <a:t>Cuando termina, “cambia” a la nueva versión casi sin interrupción.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E3B533-7124-394F-7F7E-C7F4D199F96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A065389-5CC0-E344-D48F-88D338576F6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FA21169-8C68-DB1B-7AE0-6815DE533EE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REFRESH CONCURRENTLY (sin bloquear lecturas)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41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24B3-5E4F-0B54-8B32-A55F97BE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DFF449-9CBA-9F29-5000-21B4D7563F6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94FC162-E85B-8A85-17C9-7FEDFE85EE1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9234E5-D4A9-98D8-7DBC-F20D10725E3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34DC5F8-4AD6-576E-4B56-F50431B2897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5E3ADC0-1CD8-1043-62C1-870D45EDB4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35797E-005B-65E5-3BB0-FB26CF23122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F4B9668-C55D-8FBB-AB53-8CC27428A41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9371C99-E65E-86E8-6858-86B93276B55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4E0BE68-A585-D489-BF40-67B5434DBD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D5AAED2-CEC1-D0D5-98B2-6F5CB45F3F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E2391FF-9D35-4C5B-D77C-D3F48EFA76F2}"/>
              </a:ext>
            </a:extLst>
          </p:cNvPr>
          <p:cNvSpPr txBox="1"/>
          <p:nvPr/>
        </p:nvSpPr>
        <p:spPr>
          <a:xfrm>
            <a:off x="658769" y="1765851"/>
            <a:ext cx="6857283" cy="7909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La sentencia SQL es siempre:</a:t>
            </a:r>
          </a:p>
          <a:p>
            <a:endParaRPr lang="es-CO" sz="2400" dirty="0"/>
          </a:p>
          <a:p>
            <a:r>
              <a:rPr lang="es-CO" sz="2400" dirty="0"/>
              <a:t>REFRESH MATERIALIZED VIEW [CONCURRENTLY] nombre;</a:t>
            </a:r>
          </a:p>
          <a:p>
            <a:endParaRPr lang="es-CO" sz="2400" dirty="0"/>
          </a:p>
          <a:p>
            <a:r>
              <a:rPr lang="es-CO" sz="2400" dirty="0"/>
              <a:t>La </a:t>
            </a:r>
            <a:r>
              <a:rPr lang="es-CO" sz="2400" b="1" dirty="0"/>
              <a:t>automatización</a:t>
            </a:r>
            <a:r>
              <a:rPr lang="es-CO" sz="2400" dirty="0"/>
              <a:t> depende del entorno:</a:t>
            </a:r>
          </a:p>
          <a:p>
            <a:r>
              <a:rPr lang="es-CO" sz="2400" dirty="0"/>
              <a:t>En PostgreSQL puro</a:t>
            </a:r>
          </a:p>
          <a:p>
            <a:pPr lvl="1"/>
            <a:r>
              <a:rPr lang="es-CO" sz="2400" dirty="0"/>
              <a:t>cron en el sistema operativo llamando a </a:t>
            </a:r>
            <a:r>
              <a:rPr lang="es-CO" sz="2400" dirty="0" err="1"/>
              <a:t>psql</a:t>
            </a:r>
            <a:r>
              <a:rPr lang="es-CO" sz="2400" dirty="0"/>
              <a:t>.</a:t>
            </a:r>
          </a:p>
          <a:p>
            <a:pPr lvl="1"/>
            <a:r>
              <a:rPr lang="es-CO" sz="2400" dirty="0"/>
              <a:t>Herramientas tipo </a:t>
            </a:r>
            <a:r>
              <a:rPr lang="es-CO" sz="2400" dirty="0" err="1"/>
              <a:t>pg_cron</a:t>
            </a:r>
            <a:r>
              <a:rPr lang="es-CO" sz="2400" dirty="0"/>
              <a:t>, </a:t>
            </a:r>
            <a:r>
              <a:rPr lang="es-CO" sz="2400" dirty="0" err="1"/>
              <a:t>pgAgent</a:t>
            </a:r>
            <a:r>
              <a:rPr lang="es-CO" sz="2400" dirty="0"/>
              <a:t>, </a:t>
            </a:r>
            <a:r>
              <a:rPr lang="es-CO" sz="2400" dirty="0" err="1"/>
              <a:t>Airflow</a:t>
            </a:r>
            <a:r>
              <a:rPr lang="es-CO" sz="2400" dirty="0"/>
              <a:t>, </a:t>
            </a:r>
            <a:r>
              <a:rPr lang="es-CO" sz="2400" dirty="0" err="1"/>
              <a:t>dbt</a:t>
            </a:r>
            <a:r>
              <a:rPr lang="es-CO" sz="2400" dirty="0"/>
              <a:t>, etc.</a:t>
            </a:r>
          </a:p>
          <a:p>
            <a:r>
              <a:rPr lang="es-CO" sz="2400" dirty="0"/>
              <a:t>En data </a:t>
            </a:r>
            <a:r>
              <a:rPr lang="es-CO" sz="2400" dirty="0" err="1"/>
              <a:t>warehouses</a:t>
            </a:r>
            <a:r>
              <a:rPr lang="es-CO" sz="2400" dirty="0"/>
              <a:t>:</a:t>
            </a:r>
          </a:p>
          <a:p>
            <a:endParaRPr lang="es-CO" sz="2400" dirty="0"/>
          </a:p>
          <a:p>
            <a:pPr lvl="1"/>
            <a:r>
              <a:rPr lang="es-CO" sz="2400" b="1" dirty="0" err="1"/>
              <a:t>Redshift</a:t>
            </a:r>
            <a:endParaRPr lang="es-CO" sz="2400" dirty="0"/>
          </a:p>
          <a:p>
            <a:pPr lvl="2"/>
            <a:r>
              <a:rPr lang="es-CO" sz="2400" dirty="0"/>
              <a:t>CREATE MATERIALIZED VIEW ...</a:t>
            </a:r>
          </a:p>
          <a:p>
            <a:pPr lvl="2"/>
            <a:r>
              <a:rPr lang="es-CO" sz="2400" dirty="0"/>
              <a:t>REFRESH MATERIALIZED VIEW nombre;</a:t>
            </a:r>
          </a:p>
          <a:p>
            <a:pPr lvl="2"/>
            <a:r>
              <a:rPr lang="es-CO" sz="2400" dirty="0"/>
              <a:t>O AUTO REFRESH en la definición.</a:t>
            </a:r>
          </a:p>
          <a:p>
            <a:pPr lvl="1"/>
            <a:r>
              <a:rPr lang="es-CO" sz="2400" b="1" dirty="0" err="1"/>
              <a:t>Snowflake</a:t>
            </a:r>
            <a:endParaRPr lang="es-CO" sz="2400" dirty="0"/>
          </a:p>
          <a:p>
            <a:pPr lvl="2"/>
            <a:r>
              <a:rPr lang="es-CO" sz="2400" dirty="0" err="1"/>
              <a:t>Materialized</a:t>
            </a:r>
            <a:r>
              <a:rPr lang="es-CO" sz="2400" dirty="0"/>
              <a:t> </a:t>
            </a:r>
            <a:r>
              <a:rPr lang="es-CO" sz="2400" dirty="0" err="1"/>
              <a:t>views</a:t>
            </a:r>
            <a:r>
              <a:rPr lang="es-CO" sz="2400" dirty="0"/>
              <a:t> se refrescan automáticamente según cambios en la tabla base.</a:t>
            </a:r>
          </a:p>
          <a:p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2303DA9-9CF2-CE9C-7754-DEBF19EDCB2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82A0F8B-73E4-0E51-2A85-8F4713A16C8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806442D-4C46-9DBF-990F-006E4CC5727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Cómo se “programa” el refresco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63AF0-F869-77F9-BB3F-2CD6DB206B5A}"/>
              </a:ext>
            </a:extLst>
          </p:cNvPr>
          <p:cNvSpPr txBox="1"/>
          <p:nvPr/>
        </p:nvSpPr>
        <p:spPr>
          <a:xfrm>
            <a:off x="7840761" y="4040101"/>
            <a:ext cx="1033697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cron.schedule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job_name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=&gt; '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refresh_mvw_daily_payments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schedule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=&gt; '5 1 * * *',  -- formato cron: min hora día mes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día_semana</a:t>
            </a:r>
            <a:endParaRPr lang="es-CO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=&gt; $$REFRESH MATERIALIZED VIEW CONCURRENTLY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;$$</a:t>
            </a:r>
          </a:p>
          <a:p>
            <a:r>
              <a:rPr lang="es-CO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753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5ED6-0D27-CB26-FF52-5C4B1E15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213E4F-51AD-C8ED-9EA7-4C055CAE979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1904CA2-98FF-B190-A15B-1F92F91EF2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B6C7B7B-B25B-7B0E-C69C-E76ADCAE359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A22082-EB86-13FF-25C8-A55F25AD528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31B8344-C7D3-6F32-8DD7-C063A4AEA5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4E9E526-8368-7BD8-6F97-AAAB0D0436C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A933B4-AB82-DC66-369F-B6593B7F8FC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C47E7ED-63CD-EDB6-4504-CB333F282B8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A8BC31E-A898-C87E-E3CA-098F3D52B5C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9F087DB-E55C-8A9C-5A28-9F6DE0066F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0BEF6EE-49DC-5F10-2D54-A82FC22A4A28}"/>
              </a:ext>
            </a:extLst>
          </p:cNvPr>
          <p:cNvSpPr txBox="1"/>
          <p:nvPr/>
        </p:nvSpPr>
        <p:spPr>
          <a:xfrm>
            <a:off x="832013" y="1671582"/>
            <a:ext cx="150723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TW" sz="4000" dirty="0">
                <a:ea typeface="新細明體" panose="02020500000000000000" pitchFamily="18" charset="-120"/>
              </a:rPr>
              <a:t>Comando de 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minutos, horas, días, meses y días laborables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      *           17         2         *                   *</a:t>
            </a:r>
          </a:p>
          <a:p>
            <a:endParaRPr lang="es-ES" altLang="zh-TW" sz="4000" dirty="0">
              <a:ea typeface="新細明體" panose="02020500000000000000" pitchFamily="18" charset="-120"/>
            </a:endParaRPr>
          </a:p>
          <a:p>
            <a:r>
              <a:rPr lang="es-ES" altLang="zh-TW" sz="4000" dirty="0">
                <a:ea typeface="新細明體" panose="02020500000000000000" pitchFamily="18" charset="-120"/>
              </a:rPr>
              <a:t>* coincide con todo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carácter coincide exactamente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</a:t>
            </a:r>
            <a:r>
              <a:rPr lang="es-ES" altLang="zh-TW" sz="4000" dirty="0" err="1">
                <a:ea typeface="新細明體" panose="02020500000000000000" pitchFamily="18" charset="-120"/>
              </a:rPr>
              <a:t>guión</a:t>
            </a:r>
            <a:r>
              <a:rPr lang="es-ES" altLang="zh-TW" sz="4000" dirty="0">
                <a:ea typeface="新細明體" panose="02020500000000000000" pitchFamily="18" charset="-120"/>
              </a:rPr>
              <a:t> coincide con el rango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Una coma coincide con cualquier valor de la lista</a:t>
            </a:r>
            <a:endParaRPr lang="es-CO" sz="4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1D04A8E-1BF9-9709-1468-1367B286D9AC}"/>
              </a:ext>
            </a:extLst>
          </p:cNvPr>
          <p:cNvGrpSpPr/>
          <p:nvPr/>
        </p:nvGrpSpPr>
        <p:grpSpPr>
          <a:xfrm>
            <a:off x="283666" y="280517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29299AD-2E92-8058-4F19-2DFB0740108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FACCD11-983F-CFAD-498A-4C6657B2FA8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Formato de archivo </a:t>
              </a:r>
              <a:r>
                <a:rPr lang="es-ES" altLang="zh-TW" sz="2800" dirty="0" err="1">
                  <a:solidFill>
                    <a:schemeClr val="bg1"/>
                  </a:solidFill>
                  <a:ea typeface="新細明體" panose="02020500000000000000" pitchFamily="18" charset="-120"/>
                </a:rPr>
                <a:t>crontab</a:t>
              </a:r>
              <a:endParaRPr lang="es-ES" altLang="zh-TW" sz="2800" dirty="0">
                <a:solidFill>
                  <a:schemeClr val="bg1"/>
                </a:solidFill>
                <a:ea typeface="新細明體" panose="02020500000000000000" pitchFamily="18" charset="-120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oogle Shape;108;p2">
            <a:extLst>
              <a:ext uri="{FF2B5EF4-FFF2-40B4-BE49-F238E27FC236}">
                <a16:creationId xmlns:a16="http://schemas.microsoft.com/office/drawing/2014/main" id="{9C4077E0-5F67-BC96-DB31-C53D64CBC4AD}"/>
              </a:ext>
            </a:extLst>
          </p:cNvPr>
          <p:cNvGrpSpPr/>
          <p:nvPr/>
        </p:nvGrpSpPr>
        <p:grpSpPr>
          <a:xfrm>
            <a:off x="13043337" y="299016"/>
            <a:ext cx="4358794" cy="1247699"/>
            <a:chOff x="0" y="-1"/>
            <a:chExt cx="7433261" cy="1190824"/>
          </a:xfrm>
        </p:grpSpPr>
        <p:sp>
          <p:nvSpPr>
            <p:cNvPr id="5" name="Google Shape;110;p2">
              <a:extLst>
                <a:ext uri="{FF2B5EF4-FFF2-40B4-BE49-F238E27FC236}">
                  <a16:creationId xmlns:a16="http://schemas.microsoft.com/office/drawing/2014/main" id="{1BD9157F-6B02-4FEE-B07A-966D5A867DA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2;p2">
              <a:extLst>
                <a:ext uri="{FF2B5EF4-FFF2-40B4-BE49-F238E27FC236}">
                  <a16:creationId xmlns:a16="http://schemas.microsoft.com/office/drawing/2014/main" id="{4C5E21FB-ED54-EA36-0C3F-5822D74FD05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Intermezzo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8B774B65-0C93-0ED3-4DE2-0F7C002B9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80483"/>
              </p:ext>
            </p:extLst>
          </p:nvPr>
        </p:nvGraphicFramePr>
        <p:xfrm>
          <a:off x="3586655" y="6773940"/>
          <a:ext cx="11114690" cy="3108960"/>
        </p:xfrm>
        <a:graphic>
          <a:graphicData uri="http://schemas.openxmlformats.org/drawingml/2006/table">
            <a:tbl>
              <a:tblPr/>
              <a:tblGrid>
                <a:gridCol w="2702309">
                  <a:extLst>
                    <a:ext uri="{9D8B030D-6E8A-4147-A177-3AD203B41FA5}">
                      <a16:colId xmlns:a16="http://schemas.microsoft.com/office/drawing/2014/main" val="3365279484"/>
                    </a:ext>
                  </a:extLst>
                </a:gridCol>
                <a:gridCol w="4037450">
                  <a:extLst>
                    <a:ext uri="{9D8B030D-6E8A-4147-A177-3AD203B41FA5}">
                      <a16:colId xmlns:a16="http://schemas.microsoft.com/office/drawing/2014/main" val="2513443"/>
                    </a:ext>
                  </a:extLst>
                </a:gridCol>
                <a:gridCol w="4374931">
                  <a:extLst>
                    <a:ext uri="{9D8B030D-6E8A-4147-A177-3AD203B41FA5}">
                      <a16:colId xmlns:a16="http://schemas.microsoft.com/office/drawing/2014/main" val="2995590912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Field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6552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 of the hour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23243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 of the 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63325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month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7905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 of the 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315588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weekday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week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6  (0 = Sunday)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763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8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6AC2-5E75-6FD1-B8DE-72E40A91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878458-2CDE-292C-5B63-DE53595F5E5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DCE774E-3657-1B67-8F22-4517C1C9627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6F91D38-5FDC-5F78-758C-10EA4E37F7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953F5C5-3BFB-F03F-8F6A-C84DE7D548B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8CC50A4-99F4-46EA-0535-9E2564FFDE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3DB5EC-39A1-E26C-AD2F-454E524F4A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A8C583-FBE7-BF75-4A0E-6303C24477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E8FCA4B-D03F-62BB-5511-4C4CECB3343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FF0A318-8C9C-DAD3-D18C-396A77D6AC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B54B097-704B-422E-4FFC-265E01CDD3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7A4EA6AB-FDF3-9853-9461-54717EAA8A15}"/>
              </a:ext>
            </a:extLst>
          </p:cNvPr>
          <p:cNvSpPr txBox="1"/>
          <p:nvPr/>
        </p:nvSpPr>
        <p:spPr>
          <a:xfrm>
            <a:off x="1189652" y="1671582"/>
            <a:ext cx="1507237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Una transacción consiste en una secuencia de sentencias de consulta o actualización y es una "unidad" de trabajo.</a:t>
            </a:r>
          </a:p>
          <a:p>
            <a:endParaRPr lang="es-ES" sz="2800" dirty="0"/>
          </a:p>
          <a:p>
            <a:r>
              <a:rPr lang="es-ES" sz="2800" dirty="0"/>
              <a:t>El estándar SQL especifica que una transacción comienza implícitamente cuando se ejecuta una sentencia SQL.</a:t>
            </a:r>
          </a:p>
          <a:p>
            <a:endParaRPr lang="es-ES" sz="2800" dirty="0"/>
          </a:p>
          <a:p>
            <a:r>
              <a:rPr lang="es-ES" sz="2800" dirty="0"/>
              <a:t>La transacción debe finalizar con una de las siguientes sentencias:</a:t>
            </a:r>
          </a:p>
          <a:p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Commit work </a:t>
            </a:r>
            <a:r>
              <a:rPr lang="es-ES" sz="2800" dirty="0"/>
              <a:t>: Las actualizaciones realizadas por la transacción se vuelven permanentes en la base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Rollback work </a:t>
            </a:r>
            <a:r>
              <a:rPr lang="es-ES" sz="2800" dirty="0"/>
              <a:t>: Todas las actualizaciones realizadas por las sentencias SQL de la transacción se deshacen.</a:t>
            </a:r>
          </a:p>
          <a:p>
            <a:endParaRPr lang="es-ES" sz="2800" dirty="0"/>
          </a:p>
          <a:p>
            <a:r>
              <a:rPr lang="es-ES" sz="2800" dirty="0"/>
              <a:t>Transacción atómica: Se ejecuta completamente o se revierte como si nunca hubiera ocurrido.</a:t>
            </a:r>
          </a:p>
          <a:p>
            <a:endParaRPr lang="es-ES" sz="2800" dirty="0"/>
          </a:p>
          <a:p>
            <a:r>
              <a:rPr lang="es-ES" sz="2800" dirty="0"/>
              <a:t>Aislamiento de transacciones concurrentes.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22D665E-6EFB-FC5B-C7AD-E7C20818DE5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4BB55A2-3557-154F-8B59-82680EE0BDE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90D1979-B7B6-8B0D-C783-3197174E3FB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Transacciones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19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FDFE-3CF2-E9CD-C1C1-FED5833E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B2E468-D973-E6D6-7A0C-F62065098A7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4B3E34-3E92-2F58-8E75-6F1ABA1C5B6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339208C-3CE8-C523-AC68-16DE7DFE546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F33FE92-FC8A-0D30-5F2B-BC563A9CC85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93986F8-44F6-5F98-CA07-DCCBEB0B23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6E10F1A-1D38-002F-6683-A9B19AB8FBF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E862EF3-F58E-6947-9EAC-30A44112A8C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DD612C8-0511-0D57-1E97-60FAD84393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A1483F2-09DB-2A95-903C-E8D85D25BB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B1031-1F80-3CD4-ED1B-34AC5AD769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E7D9B91-752D-D616-39FB-B4E54D553277}"/>
              </a:ext>
            </a:extLst>
          </p:cNvPr>
          <p:cNvSpPr txBox="1"/>
          <p:nvPr/>
        </p:nvSpPr>
        <p:spPr>
          <a:xfrm>
            <a:off x="832013" y="1671582"/>
            <a:ext cx="15072378" cy="7894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Dos operaciones distintas quieren cambiar el mismo pedido </a:t>
            </a:r>
            <a:r>
              <a:rPr lang="es-CO" sz="1100" dirty="0"/>
              <a:t>ORDER-300</a:t>
            </a:r>
            <a:r>
              <a:rPr lang="es-CO" sz="2000" dirty="0"/>
              <a:t> al mismo tiempo:</a:t>
            </a:r>
          </a:p>
          <a:p>
            <a:endParaRPr lang="es-CO" sz="2000" dirty="0"/>
          </a:p>
          <a:p>
            <a:r>
              <a:rPr lang="es-CO" sz="2000" dirty="0"/>
              <a:t>T1: servicio al cliente quiere </a:t>
            </a:r>
            <a:r>
              <a:rPr lang="es-CO" sz="2000" b="1" dirty="0"/>
              <a:t>cancelar</a:t>
            </a:r>
            <a:r>
              <a:rPr lang="es-CO" sz="2000" dirty="0"/>
              <a:t> el pedido.</a:t>
            </a:r>
          </a:p>
          <a:p>
            <a:r>
              <a:rPr lang="es-CO" sz="2000" dirty="0"/>
              <a:t>T2: logística quiere marcarlo como </a:t>
            </a:r>
            <a:r>
              <a:rPr lang="es-CO" sz="2000" b="1" dirty="0" err="1"/>
              <a:t>delivered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1600" b="1" dirty="0"/>
              <a:t>Transacción T1 (ventanilla de servicio al cliente)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  -- bloquea la fila para evitar cambios concurrentes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canceled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r>
              <a:rPr lang="es-CO" sz="1600" b="1" dirty="0"/>
              <a:t>Transacción T2 (bodega)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delivered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endParaRPr lang="es-CO" sz="1100" dirty="0"/>
          </a:p>
          <a:p>
            <a:r>
              <a:rPr lang="es-CO" sz="2000" dirty="0"/>
              <a:t>El </a:t>
            </a:r>
            <a:r>
              <a:rPr lang="es-CO" sz="1100" dirty="0"/>
              <a:t>FOR UPDATE</a:t>
            </a:r>
            <a:r>
              <a:rPr lang="es-CO" sz="2000" dirty="0"/>
              <a:t> hace que solo </a:t>
            </a:r>
            <a:r>
              <a:rPr lang="es-CO" sz="2000" b="1" dirty="0"/>
              <a:t>una</a:t>
            </a:r>
            <a:r>
              <a:rPr lang="es-CO" sz="2000" dirty="0"/>
              <a:t> transacción pueda modificar ese pedido a la vez.</a:t>
            </a:r>
          </a:p>
          <a:p>
            <a:r>
              <a:rPr lang="es-CO" sz="2000" dirty="0"/>
              <a:t>La otra transacción espera o falla, según el motor y el </a:t>
            </a:r>
            <a:r>
              <a:rPr lang="es-CO" sz="2000" dirty="0" err="1"/>
              <a:t>timeout</a:t>
            </a:r>
            <a:r>
              <a:rPr lang="es-CO" sz="2000" dirty="0"/>
              <a:t>.</a:t>
            </a:r>
          </a:p>
          <a:p>
            <a:r>
              <a:rPr lang="es-CO" sz="2000" dirty="0"/>
              <a:t>Se evita que el pedido termine con un estado incoherente por choques de usuarios.</a:t>
            </a:r>
          </a:p>
          <a:p>
            <a:r>
              <a:rPr lang="es-CO" sz="2000" dirty="0"/>
              <a:t>Frase resumen:</a:t>
            </a:r>
          </a:p>
          <a:p>
            <a:r>
              <a:rPr lang="es-CO" sz="2000" i="1" dirty="0"/>
              <a:t>Aislamiento: cada transacción se comporta como si fuera la única que modifica </a:t>
            </a:r>
            <a:r>
              <a:rPr lang="es-CO" sz="1100" i="1" dirty="0" err="1"/>
              <a:t>olist_orders</a:t>
            </a:r>
            <a:r>
              <a:rPr lang="es-CO" sz="2000" i="1" dirty="0"/>
              <a:t>, aunque haya muchas sesiones conectadas.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3507549-EA5D-66E1-9398-36CE05F422E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68559D8-D3DB-4508-5842-5BA5E2CC347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104843B-EE84-64D6-D1A0-19C10E3D3192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Aislamiento frente a transacciones concurrentes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207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5FB8-9355-8F45-6803-48E5B745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BA6B7D-2B32-3D1E-20A7-992FACF2CB1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0728BC2-8E23-79E9-A0A3-930DF5A6391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8FB96C7-4344-5830-FEF7-C828F8F73B4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7CD6C29-7AEE-3698-A747-895D9719321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78164C-BE01-1F59-DF73-0EF890143A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3C7245C-E2C6-F71E-3987-586B1C6AB24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9BB1EC7-F8A8-267E-CC5E-45F313FA790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8590ADF-BD7E-7580-979F-841E4DBF28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B8716B-9E78-8269-9D36-4DA8D23D465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6E619B-366D-87B1-3317-2D6F292767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8B4F339-AA72-91CD-7C70-ACF296BA6A82}"/>
              </a:ext>
            </a:extLst>
          </p:cNvPr>
          <p:cNvSpPr txBox="1"/>
          <p:nvPr/>
        </p:nvSpPr>
        <p:spPr>
          <a:xfrm>
            <a:off x="832013" y="1671582"/>
            <a:ext cx="1507237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Bloqueos básicos</a:t>
            </a:r>
          </a:p>
          <a:p>
            <a:r>
              <a:rPr lang="es-CO" sz="2800" dirty="0"/>
              <a:t>Piénsalo como “candados” sobre filas / tablas mientras una transacción las toca.</a:t>
            </a:r>
          </a:p>
          <a:p>
            <a:r>
              <a:rPr lang="es-CO" sz="2800" b="1" dirty="0"/>
              <a:t>Ejemplo: soporte cambiando el estado de un pedido en </a:t>
            </a:r>
            <a:r>
              <a:rPr lang="es-CO" sz="1800" b="1" dirty="0" err="1"/>
              <a:t>olist_orders</a:t>
            </a:r>
            <a:endParaRPr lang="es-CO" sz="1800" b="1" dirty="0"/>
          </a:p>
          <a:p>
            <a:endParaRPr lang="es-CO" sz="2800" dirty="0"/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BEGIN;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'ORDER-123'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UPDATE;  -- bloquea la fila de ese pedido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order_status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canceled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'ORDER-123';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COMMIT;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2800" dirty="0"/>
              <a:t>Mientras esa transacción está abierta:</a:t>
            </a:r>
          </a:p>
          <a:p>
            <a:r>
              <a:rPr lang="es-CO" sz="2800" dirty="0"/>
              <a:t>Otra transacción que haga </a:t>
            </a:r>
            <a:r>
              <a:rPr lang="es-CO" sz="1800" dirty="0"/>
              <a:t>UPDATE </a:t>
            </a:r>
            <a:r>
              <a:rPr lang="es-CO" sz="1800" dirty="0" err="1"/>
              <a:t>olist_orders</a:t>
            </a:r>
            <a:r>
              <a:rPr lang="es-CO" sz="1800" dirty="0"/>
              <a:t> ... WHERE </a:t>
            </a:r>
            <a:r>
              <a:rPr lang="es-CO" sz="1800" dirty="0" err="1"/>
              <a:t>order_id</a:t>
            </a:r>
            <a:r>
              <a:rPr lang="es-CO" sz="1800" dirty="0"/>
              <a:t> = 'ORDER-123'</a:t>
            </a:r>
            <a:r>
              <a:rPr lang="es-CO" sz="2800" dirty="0"/>
              <a:t> se queda </a:t>
            </a:r>
            <a:r>
              <a:rPr lang="es-CO" sz="2800" b="1" dirty="0"/>
              <a:t>esperando</a:t>
            </a:r>
            <a:r>
              <a:rPr lang="es-CO" sz="2800" dirty="0"/>
              <a:t> a que se libere el </a:t>
            </a:r>
            <a:r>
              <a:rPr lang="es-CO" sz="2800" dirty="0" err="1"/>
              <a:t>lock</a:t>
            </a:r>
            <a:r>
              <a:rPr lang="es-CO" sz="2800" dirty="0"/>
              <a:t>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5DB368-C74E-6375-EB30-8186FCB23DF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DABC58-E353-E028-6D2C-48E0ACC23A9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42D3389A-8C2D-53F5-BA2C-8175E517226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Bloqueos, </a:t>
              </a:r>
              <a:r>
                <a:rPr lang="es-CO" sz="2800" b="1" dirty="0" err="1">
                  <a:solidFill>
                    <a:schemeClr val="bg1"/>
                  </a:solidFill>
                </a:rPr>
                <a:t>deadlocks</a:t>
              </a:r>
              <a:r>
                <a:rPr lang="es-CO" sz="2800" b="1" dirty="0">
                  <a:solidFill>
                    <a:schemeClr val="bg1"/>
                  </a:solidFill>
                </a:rPr>
                <a:t> y cómo evitarlos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83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0FFA-C0B7-8556-37C8-0BA69BE5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196ED3-5A0F-1C53-0CCC-CDA361A068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C6A1739-D607-A96D-0BCA-898E1D3899F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7309962-6189-FAC3-E497-C2E1111311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9D981B8-98A2-1CB5-9603-E3F537F010E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4CEAB99-70F5-C1F6-2800-F5E7BFC2752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7E483A-7871-7CC6-4338-A7B94E39D83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929FD71-AE00-69D2-9964-D613276F0C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2D7F238-1E2E-431D-3A0C-6E925A62EE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4E78E56-9BDD-B175-2D55-BFF9B4AF95F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A7E7AB5-0BA3-197D-4692-BB216500D5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D78647A-3774-550D-A6EB-E17214A2D864}"/>
              </a:ext>
            </a:extLst>
          </p:cNvPr>
          <p:cNvSpPr txBox="1"/>
          <p:nvPr/>
        </p:nvSpPr>
        <p:spPr>
          <a:xfrm>
            <a:off x="808126" y="1310440"/>
            <a:ext cx="11416967" cy="8802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 err="1"/>
              <a:t>Deadlock</a:t>
            </a:r>
            <a:r>
              <a:rPr lang="es-CO" sz="2000" dirty="0"/>
              <a:t> es cuando </a:t>
            </a:r>
            <a:r>
              <a:rPr lang="es-CO" sz="2000" b="1" dirty="0"/>
              <a:t>T1 espera a T2</a:t>
            </a:r>
            <a:r>
              <a:rPr lang="es-CO" sz="2000" dirty="0"/>
              <a:t> y </a:t>
            </a:r>
            <a:r>
              <a:rPr lang="es-CO" sz="2000" b="1" dirty="0"/>
              <a:t>T2 espera a T1</a:t>
            </a:r>
            <a:r>
              <a:rPr lang="es-CO" sz="2000" dirty="0"/>
              <a:t>.</a:t>
            </a:r>
          </a:p>
          <a:p>
            <a:br>
              <a:rPr lang="es-CO" sz="2000" dirty="0"/>
            </a:br>
            <a:r>
              <a:rPr lang="es-CO" sz="2000" dirty="0"/>
              <a:t>Ejemplo típico con dos tablas: </a:t>
            </a:r>
            <a:r>
              <a:rPr lang="es-CO" dirty="0" err="1"/>
              <a:t>olist_orders</a:t>
            </a:r>
            <a:r>
              <a:rPr lang="es-CO" sz="2000" dirty="0"/>
              <a:t> y </a:t>
            </a:r>
            <a:r>
              <a:rPr lang="es-CO" dirty="0" err="1"/>
              <a:t>olist_order_payments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2000" b="1" dirty="0"/>
              <a:t>Transacción T1 </a:t>
            </a:r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processing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</a:t>
            </a:r>
            <a:r>
              <a:rPr lang="es-CO" sz="1200" dirty="0" err="1"/>
              <a:t>Lock</a:t>
            </a:r>
            <a:r>
              <a:rPr lang="es-CO" sz="1200" dirty="0"/>
              <a:t> A (fila en </a:t>
            </a:r>
            <a:r>
              <a:rPr lang="es-CO" sz="1200" dirty="0" err="1"/>
              <a:t>orders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</a:t>
            </a:r>
            <a:r>
              <a:rPr lang="es-CO" sz="1200" dirty="0" err="1"/>
              <a:t>payments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+ 10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B</a:t>
            </a:r>
          </a:p>
          <a:p>
            <a:endParaRPr lang="es-CO" sz="1200" dirty="0"/>
          </a:p>
          <a:p>
            <a:r>
              <a:rPr lang="es-CO" sz="2000" b="1" dirty="0"/>
              <a:t>Transacción T2</a:t>
            </a:r>
            <a:endParaRPr lang="es-CO" sz="2000" dirty="0"/>
          </a:p>
          <a:p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- 10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toma primero </a:t>
            </a:r>
            <a:r>
              <a:rPr lang="es-CO" sz="1200" dirty="0" err="1"/>
              <a:t>Lock</a:t>
            </a:r>
            <a:r>
              <a:rPr lang="es-CO" sz="1200" dirty="0"/>
              <a:t> B (</a:t>
            </a:r>
            <a:r>
              <a:rPr lang="es-CO" sz="1200" dirty="0" err="1"/>
              <a:t>payments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la misma fila en </a:t>
            </a:r>
            <a:r>
              <a:rPr lang="es-CO" sz="1200" dirty="0" err="1"/>
              <a:t>orders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invoiced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A</a:t>
            </a:r>
          </a:p>
          <a:p>
            <a:endParaRPr lang="es-CO" sz="1200" dirty="0"/>
          </a:p>
          <a:p>
            <a:r>
              <a:rPr lang="es-CO" sz="1800" dirty="0"/>
              <a:t>Situación:</a:t>
            </a:r>
          </a:p>
          <a:p>
            <a:r>
              <a:rPr lang="es-CO" sz="1800" dirty="0"/>
              <a:t>T1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(B).</a:t>
            </a:r>
          </a:p>
          <a:p>
            <a:r>
              <a:rPr lang="es-CO" sz="1800" dirty="0"/>
              <a:t>T2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(A).</a:t>
            </a:r>
          </a:p>
          <a:p>
            <a:r>
              <a:rPr lang="es-CO" sz="1800" dirty="0" err="1"/>
              <a:t>Postgres</a:t>
            </a:r>
            <a:r>
              <a:rPr lang="es-CO" sz="1800" dirty="0"/>
              <a:t> detecta el ciclo y aborta una de las dos transacciones con:</a:t>
            </a:r>
          </a:p>
          <a:p>
            <a:endParaRPr lang="es-CO" sz="1800" dirty="0"/>
          </a:p>
          <a:p>
            <a:r>
              <a:rPr lang="es-CO" sz="1200" b="1" i="1" dirty="0"/>
              <a:t>ERROR: </a:t>
            </a:r>
            <a:r>
              <a:rPr lang="es-CO" sz="1200" b="1" i="1" dirty="0" err="1"/>
              <a:t>deadlock</a:t>
            </a:r>
            <a:r>
              <a:rPr lang="es-CO" sz="1200" b="1" i="1" dirty="0"/>
              <a:t> </a:t>
            </a:r>
            <a:r>
              <a:rPr lang="es-CO" sz="1200" b="1" i="1" dirty="0" err="1"/>
              <a:t>detected</a:t>
            </a:r>
            <a:endParaRPr lang="es-CO" sz="1800" b="1" i="1" dirty="0"/>
          </a:p>
          <a:p>
            <a:r>
              <a:rPr lang="es-CO" sz="1800" b="1" dirty="0"/>
              <a:t>Cómo evitar </a:t>
            </a:r>
            <a:r>
              <a:rPr lang="es-CO" sz="1800" b="1" dirty="0" err="1"/>
              <a:t>deadlocks</a:t>
            </a:r>
            <a:r>
              <a:rPr lang="es-CO" sz="1800" b="1" dirty="0"/>
              <a:t> </a:t>
            </a:r>
            <a:r>
              <a:rPr lang="es-CO" sz="1800" dirty="0"/>
              <a:t>Siempre actualizar tablas en el </a:t>
            </a:r>
            <a:r>
              <a:rPr lang="es-CO" sz="1800" b="1" dirty="0"/>
              <a:t>mismo orden</a:t>
            </a:r>
            <a:r>
              <a:rPr lang="es-CO" sz="1800" dirty="0"/>
              <a:t> en todas las transacciones</a:t>
            </a:r>
            <a:br>
              <a:rPr lang="es-CO" sz="1800" dirty="0"/>
            </a:br>
            <a:endParaRPr lang="es-CO" sz="1800" dirty="0"/>
          </a:p>
          <a:p>
            <a:r>
              <a:rPr lang="es-CO" sz="1800" dirty="0"/>
              <a:t>Mantener las transacciones </a:t>
            </a:r>
            <a:r>
              <a:rPr lang="es-CO" sz="1800" b="1" dirty="0"/>
              <a:t>cortas</a:t>
            </a:r>
            <a:r>
              <a:rPr lang="es-CO" sz="1800" dirty="0"/>
              <a:t> (no pedir datos al usuario en medio de un </a:t>
            </a:r>
            <a:r>
              <a:rPr lang="es-CO" sz="1200" dirty="0"/>
              <a:t>BEGIN</a:t>
            </a:r>
            <a:r>
              <a:rPr lang="es-CO" sz="1800" dirty="0"/>
              <a:t>).</a:t>
            </a:r>
          </a:p>
          <a:p>
            <a:r>
              <a:rPr lang="es-CO" sz="1800" dirty="0"/>
              <a:t>Evitar “mezclar” lecturas con </a:t>
            </a:r>
            <a:r>
              <a:rPr lang="es-CO" sz="1200" dirty="0"/>
              <a:t>FOR UPDATE</a:t>
            </a:r>
            <a:r>
              <a:rPr lang="es-CO" sz="1800" dirty="0"/>
              <a:t> en muchas tablas si no es necesario.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4FD37D4-EAB8-208B-14D9-A9C9A4E27F3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87AB0081-4F10-59AB-6E81-997EF56C2E1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FF248C8-37D1-12A4-718E-8FC7248637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 err="1">
                  <a:solidFill>
                    <a:schemeClr val="bg1"/>
                  </a:solidFill>
                </a:rPr>
                <a:t>Deadlock</a:t>
              </a:r>
              <a:r>
                <a:rPr lang="es-CO" sz="2800" b="1" dirty="0">
                  <a:solidFill>
                    <a:schemeClr val="bg1"/>
                  </a:solidFill>
                </a:rPr>
                <a:t> (interbloqueo)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63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0F8A-EA39-3189-B1F3-0DDE771F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CF6887A-AC01-662C-F98D-219D324FF5B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B6E23DC-842A-8B68-C1C8-174503EBC8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535AEC9-DCEC-B6FD-96E8-D407E5E73B4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C2D0C18-84CC-8052-09DB-6C90E97AF9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2E2703-12CF-05DA-A853-C2968FAFDE1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739BD5B-8F94-D349-AFDE-ED1B0A18770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C4EB2FD-2A2D-9E54-FA6F-5B8B660F747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15A1524-04A6-1EA3-071A-AE9A29A23F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55BA1B1-406A-B844-C50D-C2DAAFE932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43667D4-2237-3AA0-9D9F-83AB5E8F8160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56B713A-50A4-5435-3BEE-EF35EAFB945B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9397C8E6-AFBD-3CC3-7B6D-AC0803514C8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384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Lecturas sucias, no repetibles y </a:t>
              </a:r>
              <a:r>
                <a:rPr lang="es-ES" sz="4800" dirty="0" err="1">
                  <a:solidFill>
                    <a:schemeClr val="bg1"/>
                  </a:solidFill>
                </a:rPr>
                <a:t>phantom</a:t>
              </a:r>
              <a:r>
                <a:rPr lang="es-ES" sz="4800" dirty="0">
                  <a:solidFill>
                    <a:schemeClr val="bg1"/>
                  </a:solidFill>
                </a:rPr>
                <a:t> </a:t>
              </a:r>
              <a:r>
                <a:rPr lang="es-ES" sz="4800" dirty="0" err="1">
                  <a:solidFill>
                    <a:schemeClr val="bg1"/>
                  </a:solidFill>
                </a:rPr>
                <a:t>reads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51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7D41-A8AC-9F6B-0D10-DBD90FB3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D38F18-6CCC-06D3-D3BD-0527C3D1A32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48F77F9-EC78-DBCC-1AFD-9A08F4A116F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AE59E4E-E6C2-4088-2B5C-A53551D3AF2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4D20952-55FC-3337-E9D9-DA776DBB6A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AE0CEAE-EA2C-9531-070B-BC3B98F8A9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F0BB51F-C0EE-4E9B-4728-756CB37B5D7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3B4869-FCE2-2312-53F4-9DE0608998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E9BA4CC-DF48-2E49-D420-B6D355C31A9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908718E-7A7D-60A3-22FF-196D6F22F9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D4BA19-588C-1468-23C1-181C8B72E8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2BCB274-799F-5A8B-4E57-54BABDD17DA0}"/>
              </a:ext>
            </a:extLst>
          </p:cNvPr>
          <p:cNvSpPr txBox="1"/>
          <p:nvPr/>
        </p:nvSpPr>
        <p:spPr>
          <a:xfrm>
            <a:off x="640944" y="2450455"/>
            <a:ext cx="1507237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Ver datos que </a:t>
            </a:r>
            <a:r>
              <a:rPr lang="es-ES" sz="3600" b="1" dirty="0"/>
              <a:t>otra transacción aún no ha hecho COMMIT</a:t>
            </a:r>
            <a:r>
              <a:rPr lang="es-ES" sz="3600" dirty="0"/>
              <a:t>.</a:t>
            </a:r>
          </a:p>
          <a:p>
            <a:r>
              <a:rPr lang="es-ES" sz="3600" dirty="0"/>
              <a:t>Solo pasa en READ UNCOMMITTED (y algunos motores lo permiten).</a:t>
            </a:r>
          </a:p>
          <a:p>
            <a:r>
              <a:rPr lang="es-ES" sz="3600" dirty="0"/>
              <a:t>En </a:t>
            </a:r>
            <a:r>
              <a:rPr lang="es-ES" sz="3600" dirty="0" err="1"/>
              <a:t>Postgres</a:t>
            </a:r>
            <a:r>
              <a:rPr lang="es-ES" sz="3600" dirty="0"/>
              <a:t> </a:t>
            </a:r>
            <a:r>
              <a:rPr lang="es-ES" sz="3600" b="1" dirty="0"/>
              <a:t>no ocurre</a:t>
            </a:r>
            <a:r>
              <a:rPr lang="es-ES" sz="3600" dirty="0"/>
              <a:t>, incluso en READ UNCOMMITTED.</a:t>
            </a:r>
          </a:p>
          <a:p>
            <a:endParaRPr lang="es-ES" sz="3600" dirty="0"/>
          </a:p>
          <a:p>
            <a:r>
              <a:rPr lang="es-ES" sz="3600" dirty="0"/>
              <a:t>Ejemplo :</a:t>
            </a:r>
          </a:p>
          <a:p>
            <a:r>
              <a:rPr lang="es-ES" sz="3600" dirty="0"/>
              <a:t>T1: cambia </a:t>
            </a:r>
            <a:r>
              <a:rPr lang="es-ES" sz="2400" dirty="0" err="1"/>
              <a:t>order_status</a:t>
            </a:r>
            <a:r>
              <a:rPr lang="es-ES" sz="3600" dirty="0"/>
              <a:t> de </a:t>
            </a:r>
            <a:r>
              <a:rPr lang="es-ES" sz="2400" dirty="0"/>
              <a:t>ORDER-700</a:t>
            </a:r>
            <a:r>
              <a:rPr lang="es-ES" sz="3600" dirty="0"/>
              <a:t> a </a:t>
            </a:r>
            <a:r>
              <a:rPr lang="es-ES" sz="2400" dirty="0" err="1"/>
              <a:t>canceled</a:t>
            </a:r>
            <a:r>
              <a:rPr lang="es-ES" sz="3600" dirty="0"/>
              <a:t> pero aún no hace COMMIT.</a:t>
            </a:r>
          </a:p>
          <a:p>
            <a:r>
              <a:rPr lang="es-ES" sz="3600" dirty="0"/>
              <a:t>T2: hace un </a:t>
            </a:r>
            <a:r>
              <a:rPr lang="es-ES" sz="2400" dirty="0"/>
              <a:t>SELECT</a:t>
            </a:r>
            <a:r>
              <a:rPr lang="es-ES" sz="3600" dirty="0"/>
              <a:t> y ya ve </a:t>
            </a:r>
            <a:r>
              <a:rPr lang="es-ES" sz="2400" dirty="0" err="1"/>
              <a:t>canceled</a:t>
            </a:r>
            <a:r>
              <a:rPr lang="es-ES" sz="3600" dirty="0"/>
              <a:t>.</a:t>
            </a:r>
          </a:p>
          <a:p>
            <a:r>
              <a:rPr lang="es-ES" sz="3600" dirty="0"/>
              <a:t>Luego T1 hace </a:t>
            </a:r>
            <a:r>
              <a:rPr lang="es-ES" sz="2400" dirty="0"/>
              <a:t>ROLLBACK</a:t>
            </a:r>
            <a:r>
              <a:rPr lang="es-ES" sz="3600" dirty="0"/>
              <a:t>.</a:t>
            </a:r>
          </a:p>
          <a:p>
            <a:r>
              <a:rPr lang="es-ES" sz="3600" dirty="0"/>
              <a:t>T2 tomó decisiones con un dato que </a:t>
            </a:r>
            <a:r>
              <a:rPr lang="es-ES" sz="3600" b="1" dirty="0"/>
              <a:t>nunca existió de verdad</a:t>
            </a:r>
            <a:r>
              <a:rPr lang="es-ES" sz="3600" dirty="0"/>
              <a:t>.</a:t>
            </a:r>
          </a:p>
          <a:p>
            <a:endParaRPr lang="es-ES" sz="3600" dirty="0"/>
          </a:p>
          <a:p>
            <a:r>
              <a:rPr lang="es-ES" sz="3600" dirty="0"/>
              <a:t>“Esto es una lectura sucia, y </a:t>
            </a:r>
            <a:r>
              <a:rPr lang="es-ES" sz="3600" dirty="0" err="1"/>
              <a:t>Postgres</a:t>
            </a:r>
            <a:r>
              <a:rPr lang="es-ES" sz="3600" dirty="0"/>
              <a:t> la bloquea por diseño.”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699F312-A0DC-ED8F-F662-6D670046849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2C44EE0-0CFD-F6A7-DA66-E06AD72E9D43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3A8675-14C2-1D28-ACB0-36C82B5295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Lectura sucia (</a:t>
              </a:r>
              <a:r>
                <a:rPr lang="es-ES" sz="2800" b="1" dirty="0" err="1">
                  <a:solidFill>
                    <a:schemeClr val="bg1"/>
                  </a:solidFill>
                </a:rPr>
                <a:t>Dirty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r>
                <a:rPr lang="es-ES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120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6836-7274-2FFF-C2A0-612F3B22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7DEE5-AF67-6A9A-9B7D-39F40D7AF82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0E7AA3D-AF24-1241-7E34-B5A7AAEA771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135DBE3-81C1-9463-B27F-7B60D82BCAE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A12BF7A-5158-67DD-CADC-0DC5D3D12E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8193D3C-D313-0012-8551-76B56BA256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9C0E87A-2FE5-2641-5C0A-2D2BE2AAB6B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E2741E5-662A-43A4-827B-581B493DCD0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453725-0C71-4E87-1E9A-ACAA8DAE01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7C7B452-483A-AA5F-8DEB-4517B709BB0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2C567CF-FE6A-B7F4-6625-4986750EB5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77F5047-0B09-5BA3-AB04-B52A513B0D9B}"/>
              </a:ext>
            </a:extLst>
          </p:cNvPr>
          <p:cNvSpPr txBox="1"/>
          <p:nvPr/>
        </p:nvSpPr>
        <p:spPr>
          <a:xfrm>
            <a:off x="658769" y="1671582"/>
            <a:ext cx="15072378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Dentro de la misma transacción, lees la misma fila dos veces y ves </a:t>
            </a:r>
            <a:r>
              <a:rPr lang="es-CO" sz="3200" b="1" dirty="0"/>
              <a:t>valores distintos</a:t>
            </a:r>
            <a:r>
              <a:rPr lang="es-CO" sz="3200" dirty="0"/>
              <a:t> porque otra transacción la cambió y hizo </a:t>
            </a:r>
            <a:r>
              <a:rPr lang="es-CO" sz="3200" dirty="0" err="1"/>
              <a:t>commit</a:t>
            </a:r>
            <a:r>
              <a:rPr lang="es-CO" sz="3200" dirty="0"/>
              <a:t> entre medias.</a:t>
            </a:r>
          </a:p>
          <a:p>
            <a:r>
              <a:rPr lang="es-CO" sz="3200" dirty="0"/>
              <a:t>Ejemplo con </a:t>
            </a:r>
            <a:r>
              <a:rPr lang="es-CO" sz="3200" dirty="0" err="1"/>
              <a:t>Olist</a:t>
            </a:r>
            <a:r>
              <a:rPr lang="es-CO" sz="3200" dirty="0"/>
              <a:t> en READ COMMITTED:</a:t>
            </a:r>
          </a:p>
          <a:p>
            <a:endParaRPr lang="es-CO" sz="3200" dirty="0"/>
          </a:p>
          <a:p>
            <a:r>
              <a:rPr lang="es-CO" sz="2400" b="1" dirty="0"/>
              <a:t>Transacción T1 (reporte)</a:t>
            </a:r>
            <a:endParaRPr lang="es-CO" sz="2400" dirty="0"/>
          </a:p>
          <a:p>
            <a:r>
              <a:rPr lang="es-CO" dirty="0"/>
              <a:t>BEGIN;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devuelve '</a:t>
            </a:r>
            <a:r>
              <a:rPr lang="es-CO" dirty="0" err="1"/>
              <a:t>created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-- ... aquí pasa tiempo ...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ahora devuelve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COMMIT;</a:t>
            </a:r>
          </a:p>
          <a:p>
            <a:r>
              <a:rPr lang="es-CO" sz="2400" b="1" dirty="0"/>
              <a:t>Transacción T2 (logística)</a:t>
            </a:r>
            <a:endParaRPr lang="es-CO" sz="2400" dirty="0"/>
          </a:p>
          <a:p>
            <a:r>
              <a:rPr lang="es-CO" dirty="0"/>
              <a:t>UPDATE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SET </a:t>
            </a:r>
            <a:r>
              <a:rPr lang="es-CO" dirty="0" err="1"/>
              <a:t>order_status</a:t>
            </a:r>
            <a:r>
              <a:rPr lang="es-CO" dirty="0"/>
              <a:t> =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</a:t>
            </a:r>
          </a:p>
          <a:p>
            <a:r>
              <a:rPr lang="es-CO" dirty="0"/>
              <a:t>-- COMMIT implícito</a:t>
            </a:r>
          </a:p>
          <a:p>
            <a:r>
              <a:rPr lang="es-CO" sz="2800" dirty="0"/>
              <a:t>T1 vio dos estados distintos del mismo pedido durante la misma transacción.</a:t>
            </a:r>
            <a:br>
              <a:rPr lang="es-CO" sz="2800" dirty="0"/>
            </a:br>
            <a:r>
              <a:rPr lang="es-CO" sz="2800" dirty="0"/>
              <a:t>En </a:t>
            </a:r>
            <a:r>
              <a:rPr lang="es-CO" sz="2800" b="1" dirty="0"/>
              <a:t>REPEATABLE READ</a:t>
            </a:r>
            <a:r>
              <a:rPr lang="es-CO" sz="2800" dirty="0"/>
              <a:t>, esto no debería pasar: T1 ve el </a:t>
            </a:r>
            <a:r>
              <a:rPr lang="es-CO" sz="2800" dirty="0" err="1"/>
              <a:t>snapshot</a:t>
            </a:r>
            <a:r>
              <a:rPr lang="es-CO" sz="2800" dirty="0"/>
              <a:t> del inicio.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8FC2876-3AC7-FA12-8E3C-67BA4B1574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48393BB-5D4B-F4A9-F0A2-F4A3C62F074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8913CE6-91F3-E14C-55BF-CE24DD1A387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Lectura no repetible (Non-</a:t>
              </a:r>
              <a:r>
                <a:rPr lang="es-CO" sz="2800" b="1" dirty="0" err="1">
                  <a:solidFill>
                    <a:schemeClr val="bg1"/>
                  </a:solidFill>
                </a:rPr>
                <a:t>repeatable</a:t>
              </a:r>
              <a:r>
                <a:rPr lang="es-CO" sz="2800" b="1" dirty="0">
                  <a:solidFill>
                    <a:schemeClr val="bg1"/>
                  </a:solidFill>
                </a:rPr>
                <a:t> </a:t>
              </a:r>
              <a:r>
                <a:rPr lang="es-CO" sz="2800" b="1" dirty="0" err="1">
                  <a:solidFill>
                    <a:schemeClr val="bg1"/>
                  </a:solidFill>
                </a:rPr>
                <a:t>Read</a:t>
              </a:r>
              <a:r>
                <a:rPr lang="es-CO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35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DD56-929B-B5F7-2C90-7CB46E2E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3252F5-4613-6EDE-6993-1A9771D3914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52F4A91-7A2B-7137-2781-1C79CDE737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AF9B891-8856-742D-FCD9-DB1B16DBCD5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5A5B46B-F5F0-97F9-1C0C-602424EC24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F38A01F-913D-6A89-B089-24DCA0E74F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8ED942-E5A6-133C-BEDD-86C258861D2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5E9D4A-17E0-E4F8-92C9-884F54E2023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9BE1DA-8191-8677-1ED3-60485B10D7B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DAA71FA-8F66-7BCE-4B39-A9F934D08B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7ED99-F24A-032B-D69F-EA5C42C2F5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899B446-F3B4-BB66-EA6D-8091D4C324E4}"/>
              </a:ext>
            </a:extLst>
          </p:cNvPr>
          <p:cNvSpPr txBox="1"/>
          <p:nvPr/>
        </p:nvSpPr>
        <p:spPr>
          <a:xfrm>
            <a:off x="658769" y="1671582"/>
            <a:ext cx="1507237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Dentro de la misma transacción, repites una </a:t>
            </a:r>
            <a:r>
              <a:rPr lang="es-ES" sz="3200" b="1" dirty="0"/>
              <a:t>consulta con condición</a:t>
            </a:r>
            <a:r>
              <a:rPr lang="es-ES" sz="3200" dirty="0"/>
              <a:t> y aparecen o desaparecen </a:t>
            </a:r>
            <a:r>
              <a:rPr lang="es-ES" sz="3200" b="1" dirty="0"/>
              <a:t>nuevas filas</a:t>
            </a:r>
            <a:r>
              <a:rPr lang="es-ES" sz="3200" dirty="0"/>
              <a:t> que antes no estaban.</a:t>
            </a:r>
          </a:p>
          <a:p>
            <a:r>
              <a:rPr lang="es-ES" sz="3200" dirty="0"/>
              <a:t>Ejemplo con </a:t>
            </a:r>
            <a:r>
              <a:rPr lang="es-ES" sz="3200" dirty="0" err="1"/>
              <a:t>Olist</a:t>
            </a:r>
            <a:r>
              <a:rPr lang="es-ES" sz="3200" dirty="0"/>
              <a:t>:</a:t>
            </a:r>
          </a:p>
          <a:p>
            <a:r>
              <a:rPr lang="es-ES" sz="3200" b="1" dirty="0"/>
              <a:t>Transacción T1 (reporte de pedidos abiertos)</a:t>
            </a:r>
            <a:endParaRPr lang="es-ES" sz="3200" dirty="0"/>
          </a:p>
          <a:p>
            <a:r>
              <a:rPr lang="es-ES" dirty="0"/>
              <a:t>BEGIN;</a:t>
            </a:r>
          </a:p>
          <a:p>
            <a:endParaRPr lang="es-ES" dirty="0"/>
          </a:p>
          <a:p>
            <a:r>
              <a:rPr lang="es-ES" dirty="0"/>
              <a:t>SELECT COUNT(*) 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devuelve 120</a:t>
            </a:r>
          </a:p>
          <a:p>
            <a:endParaRPr lang="es-ES" dirty="0"/>
          </a:p>
          <a:p>
            <a:r>
              <a:rPr lang="es-ES" dirty="0"/>
              <a:t>-- ... pasa tiempo ...</a:t>
            </a:r>
          </a:p>
          <a:p>
            <a:endParaRPr lang="es-ES" dirty="0"/>
          </a:p>
          <a:p>
            <a:r>
              <a:rPr lang="es-ES" dirty="0"/>
              <a:t>SELECT COUNT(*)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ahora devuelve 125</a:t>
            </a:r>
          </a:p>
          <a:p>
            <a:endParaRPr lang="es-ES" dirty="0"/>
          </a:p>
          <a:p>
            <a:r>
              <a:rPr lang="es-ES" dirty="0"/>
              <a:t>COMMIT;</a:t>
            </a:r>
          </a:p>
          <a:p>
            <a:r>
              <a:rPr lang="es-ES" sz="3200" b="1" dirty="0"/>
              <a:t>Transacción T2 (nuevos pedidos entrando)</a:t>
            </a:r>
            <a:endParaRPr lang="es-ES" sz="3200" dirty="0"/>
          </a:p>
          <a:p>
            <a:r>
              <a:rPr lang="es-ES" dirty="0"/>
              <a:t>INSERT INTO </a:t>
            </a:r>
            <a:r>
              <a:rPr lang="es-ES" dirty="0" err="1"/>
              <a:t>olist_orders</a:t>
            </a:r>
            <a:r>
              <a:rPr lang="es-ES" dirty="0"/>
              <a:t> (...)</a:t>
            </a:r>
          </a:p>
          <a:p>
            <a:r>
              <a:rPr lang="es-ES" dirty="0"/>
              <a:t>VALUES (..., '</a:t>
            </a:r>
            <a:r>
              <a:rPr lang="es-ES" dirty="0" err="1"/>
              <a:t>created</a:t>
            </a:r>
            <a:r>
              <a:rPr lang="es-ES" dirty="0"/>
              <a:t>', ...);  -- 5 pedidos nuevos</a:t>
            </a:r>
          </a:p>
          <a:p>
            <a:r>
              <a:rPr lang="es-ES" sz="3200" dirty="0"/>
              <a:t>Esas 5 filas son los “fantasmas” que entran/salen entre lecturas.</a:t>
            </a:r>
            <a:br>
              <a:rPr lang="es-ES" sz="3200" dirty="0"/>
            </a:br>
            <a:r>
              <a:rPr lang="es-ES" sz="3200" dirty="0"/>
              <a:t>En niveles altos (SERIALIZABLE) el motor puede abortar alguna transacción para evitar este tipo de efectos.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788B67F-31E1-AC06-9029-0104D3C6734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16FE82-7A0C-EB4E-8EF5-8C0BBCEC0A6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912CA69-B666-4EB6-4F52-7751591C2CB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 err="1">
                  <a:solidFill>
                    <a:schemeClr val="bg1"/>
                  </a:solidFill>
                </a:rPr>
                <a:t>Phantom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endParaRPr lang="es-ES" sz="2800" b="1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797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5E3A-ADCD-309C-4A6E-6A88B258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A0E539-E25B-5390-772F-A86BD698335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F3265F9-E2FD-9DDD-B89C-5F4ABEAFD1E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F2F972A-B10D-3333-42F4-E22FE4B6158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F5D912D-BB90-5E92-99F4-BA4303BE57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AA563AF-AF5D-AFC0-09B1-7EDF22374E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5525EB-0B76-9F2F-C814-4513122C304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41A9DA-6BD0-E6D9-DD44-4729F5C18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09FC6EC-8EAD-E019-8021-1FFC386FCD2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20EFBCF-AA4D-863C-4CEE-954B33EEF7B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ECA9194-8D92-8E82-7EFF-697860D3FF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BC221FD-77B0-2F4C-2C18-B552EC7770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599946"/>
              </p:ext>
            </p:extLst>
          </p:nvPr>
        </p:nvGraphicFramePr>
        <p:xfrm>
          <a:off x="658769" y="1671582"/>
          <a:ext cx="15964204" cy="7786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C7E1A53-14A9-BFC9-94CC-34EFEBD8B0AF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53251CA4-3C0F-4FF3-E21D-A4A9274B440A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4C0C7FA-95EF-2E47-D08E-FD16B2F5EA3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Niveles de aislamiento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449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5845-9EFD-151E-8786-953EF012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B6B2CA1-0FD7-8825-6A22-0903198128D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6A0915A-8FD1-EB32-BDDD-669D9293E3D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6F7E913-E8AE-AB2B-63B9-E5BBE697267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473B2C-A6A3-0CB6-ED0E-0F965B5BF1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0EC2115-7DA1-B8C3-7FBA-32A378D4571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100FB39-BE4E-85A4-2EA3-58192C4A2DF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E63E868-598D-1E23-9301-19893645D37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A80E44C-9F7A-8CDB-ED60-E6ED4C98720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3BAD312-240B-1F40-C3BC-C6BCDF6C75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BC795BF-0C79-C0C4-FD13-D57EAB4559AB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607A2C0-1189-573B-3A46-DE5C726C1662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48F35F83-ABDC-209D-A97C-C6C28D4C07D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273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Restricciones de Integridad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68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9DF7-07E5-135A-3BDF-776CAFFB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A19AC8-C101-E2F0-C243-919687E71A4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594752D-3E3C-F00B-2730-89DA812FEFD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B7660B-BEAE-11EF-9335-CC2C7CD53F5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0CD306B-E405-AEA4-0EC9-FD7F34A85DC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C253E34-5F3A-DA24-D399-BFF7851892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C947E93-E73F-5042-B02C-F3D208D3C4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DAB6F4F-9510-AD1B-E32C-9E9229148C2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5FFDF45-8C7D-4198-7FFA-479E68985EA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F326124-BC6B-FFF9-37E8-E21C3A16D2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9572BAA-64EE-F44F-3D5E-A73A672C783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14EFF38A-89BF-D043-CA61-C63777F7DF2E}"/>
              </a:ext>
            </a:extLst>
          </p:cNvPr>
          <p:cNvSpPr txBox="1"/>
          <p:nvPr/>
        </p:nvSpPr>
        <p:spPr>
          <a:xfrm>
            <a:off x="832013" y="1671582"/>
            <a:ext cx="15072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Las restricciones de integridad protegen contra daños accidentales a la base de datos, garantizando que los cambios autorizados no provoquen una pérdida de consistencia.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Una cuenta corriente debe tener un saldo superior a $10,000.00.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El salario de un empleado bancario debe ser de al menos $50.000 por hora.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 cliente debe tener un número de teléfono (no nulo).</a:t>
            </a:r>
            <a:r>
              <a:rPr lang="es-CO" sz="3200" i="1" dirty="0"/>
              <a:t>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30C64A-843D-8EB4-E7E4-DA0A0355147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C7753CF-F1B0-594C-5AF3-6A4144DFB59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23F415DD-07CF-E50B-EAE3-9D1C35DC550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094898-5CC6-3B38-0722-8F50C47E2C1E}"/>
              </a:ext>
            </a:extLst>
          </p:cNvPr>
          <p:cNvSpPr txBox="1"/>
          <p:nvPr/>
        </p:nvSpPr>
        <p:spPr>
          <a:xfrm>
            <a:off x="1020549" y="5437261"/>
            <a:ext cx="91781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Restricciones en una sola relación (Tabla)</a:t>
            </a:r>
          </a:p>
          <a:p>
            <a:endParaRPr lang="es-CO" sz="2800" dirty="0"/>
          </a:p>
          <a:p>
            <a:endParaRPr lang="es-CO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not null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primary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unique</a:t>
            </a: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check </a:t>
            </a:r>
            <a:r>
              <a:rPr lang="en-US" altLang="en-US" sz="2800" dirty="0"/>
              <a:t>(P), </a:t>
            </a:r>
            <a:r>
              <a:rPr lang="en-US" altLang="en-US" sz="2800" dirty="0" err="1"/>
              <a:t>donde</a:t>
            </a:r>
            <a:r>
              <a:rPr lang="en-US" altLang="en-US" sz="2800" dirty="0"/>
              <a:t> P es un </a:t>
            </a:r>
            <a:r>
              <a:rPr lang="en-US" altLang="en-US" sz="2800" dirty="0" err="1"/>
              <a:t>predicado</a:t>
            </a:r>
            <a:endParaRPr lang="es-CO" sz="28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2715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27B7-B275-DF2C-9BAC-8EAADCE7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DE978A-52D4-FBF7-8B15-C5F45C79BB0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26D358-C87F-7BF3-D54E-D738AECB8A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CD97D0C-3673-DC0A-46D5-B6EB1259443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DA09585-834A-A894-AE6D-253AB853FFC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5461F02-068A-3500-0242-7B6ED7B7C8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A964BF-91DA-0B59-A026-5B3EBA5EA0D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2EB6FCE-3623-FDD9-2EDE-C4889C320BE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E7FCA33-BCAD-363B-D7B3-75533FECD1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887267-1E86-158C-D0C1-5CB2309A2E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F879B53-A87A-D3F3-222F-4A4B54A3527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BA40A03-52BA-2A05-F310-CEB2F41DF1C9}"/>
              </a:ext>
            </a:extLst>
          </p:cNvPr>
          <p:cNvSpPr txBox="1"/>
          <p:nvPr/>
        </p:nvSpPr>
        <p:spPr>
          <a:xfrm>
            <a:off x="832013" y="1671582"/>
            <a:ext cx="1507237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No nulo</a:t>
            </a:r>
          </a:p>
          <a:p>
            <a:r>
              <a:rPr lang="es-ES" sz="3200" dirty="0"/>
              <a:t>Declarar nombre y presupuesto como no nulos</a:t>
            </a:r>
          </a:p>
          <a:p>
            <a:endParaRPr lang="es-ES" sz="3200" dirty="0"/>
          </a:p>
          <a:p>
            <a:r>
              <a:rPr lang="en-US" altLang="en-US" sz="2400" i="1" dirty="0"/>
              <a:t>CREATE TABLE </a:t>
            </a:r>
            <a:r>
              <a:rPr lang="en-US" altLang="en-US" sz="2400" i="1" dirty="0" err="1"/>
              <a:t>olist_orders</a:t>
            </a:r>
            <a:r>
              <a:rPr lang="en-US" altLang="en-US" sz="2400" i="1" dirty="0"/>
              <a:t> (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order_id</a:t>
            </a:r>
            <a:r>
              <a:rPr lang="en-US" altLang="en-US" sz="2400" i="1" dirty="0"/>
              <a:t>                        VARCHAR(50) PRIMARY KEY,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customer_id</a:t>
            </a:r>
            <a:r>
              <a:rPr lang="en-US" altLang="en-US" sz="2400" i="1" dirty="0"/>
              <a:t>                 VARCHAR(50) NOT NULL,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order_status</a:t>
            </a:r>
            <a:r>
              <a:rPr lang="en-US" altLang="en-US" sz="2400" i="1" dirty="0"/>
              <a:t>                VARCHAR(20) NOT NULL,   -- no se </a:t>
            </a:r>
            <a:r>
              <a:rPr lang="en-US" altLang="en-US" sz="2400" i="1" dirty="0" err="1"/>
              <a:t>permiten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estados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nulos</a:t>
            </a:r>
            <a:endParaRPr lang="en-US" altLang="en-US" sz="2400" i="1" dirty="0"/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order_purchase_timestamp</a:t>
            </a:r>
            <a:r>
              <a:rPr lang="en-US" altLang="en-US" sz="2400" i="1" dirty="0"/>
              <a:t>    TIMESTAMP   NOT NULL    -- </a:t>
            </a:r>
            <a:r>
              <a:rPr lang="en-US" altLang="en-US" sz="2400" i="1" dirty="0" err="1"/>
              <a:t>siempre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debe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existir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fecha</a:t>
            </a:r>
            <a:r>
              <a:rPr lang="en-US" altLang="en-US" sz="2400" i="1" dirty="0"/>
              <a:t> de </a:t>
            </a:r>
            <a:r>
              <a:rPr lang="en-US" altLang="en-US" sz="2400" i="1" dirty="0" err="1"/>
              <a:t>compra</a:t>
            </a:r>
            <a:endParaRPr lang="en-US" altLang="en-US" sz="2400" i="1" dirty="0"/>
          </a:p>
          <a:p>
            <a:r>
              <a:rPr lang="en-US" altLang="en-US" sz="2400" i="1" dirty="0"/>
              <a:t>);</a:t>
            </a:r>
            <a:endParaRPr lang="es-CO" sz="2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A1CEFE90-3BAB-F5E7-8052-134F51FCC4B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042442A7-FAD4-EBCB-D2B3-6326A515429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4E047B8-DF88-BF26-06FD-FA62CD8CB1E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5121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B25B-E6BA-21E3-A967-ED45AA9A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B992A-61E4-BCD8-1D08-DF0499D45F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22F8401-818B-5819-ABBE-E4F99934A7C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FC3AF28-E142-8A72-AB16-ECE62DBF8BF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1F68BBD-ED72-8678-6F2D-1F67ACA86A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9408357-7E8B-9157-F23F-78C3AB5421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E6BE89-412A-6E23-CBEA-CF80C84ECCA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AA4656-6D55-684A-936C-5666BB94E71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EEE5E0-8558-8AC2-6CE3-BA286AF928A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48287E-B248-5753-C515-891707AA43F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B0C97EC-131A-7014-6663-C780A5BDAC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6D61DC8-84A6-21A7-86B6-119A66B29245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73BA0F-2411-C920-866B-A76D455C4F5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E3EEB82-C2F1-8826-6811-B3ABA6D0481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55BC7C-AD08-2E91-1429-8A160DB0868D}"/>
              </a:ext>
            </a:extLst>
          </p:cNvPr>
          <p:cNvSpPr txBox="1"/>
          <p:nvPr/>
        </p:nvSpPr>
        <p:spPr>
          <a:xfrm>
            <a:off x="1095963" y="1671582"/>
            <a:ext cx="144125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 err="1"/>
              <a:t>Restricciones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únicas</a:t>
            </a:r>
            <a:endParaRPr lang="en-US" altLang="en-US" sz="2800" b="1" dirty="0"/>
          </a:p>
          <a:p>
            <a:r>
              <a:rPr lang="en-US" altLang="en-US" sz="2800" dirty="0"/>
              <a:t>unique</a:t>
            </a:r>
            <a:r>
              <a:rPr lang="es-ES" sz="2800" dirty="0"/>
              <a:t> (A1, A2, …, Am)</a:t>
            </a:r>
          </a:p>
          <a:p>
            <a:r>
              <a:rPr lang="es-ES" sz="2800" dirty="0"/>
              <a:t>La especificación única establece que los atributos A1, A2, …, Am forman una clave candidata.</a:t>
            </a:r>
          </a:p>
          <a:p>
            <a:r>
              <a:rPr lang="es-ES" sz="2800" dirty="0"/>
              <a:t>Las claves candidatas pueden ser nulas (a diferencia de las claves primarias).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C1F4E-E07A-F9B0-4422-C73BFA7B2410}"/>
              </a:ext>
            </a:extLst>
          </p:cNvPr>
          <p:cNvSpPr txBox="1"/>
          <p:nvPr/>
        </p:nvSpPr>
        <p:spPr>
          <a:xfrm>
            <a:off x="1309801" y="4318694"/>
            <a:ext cx="76164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b="1" dirty="0"/>
              <a:t>Ejemplo 1 – id “lógico” de cliente en </a:t>
            </a:r>
            <a:r>
              <a:rPr lang="es-CO" sz="1800" b="1" dirty="0" err="1">
                <a:latin typeface="Courier New" panose="02070309020205020404" pitchFamily="49" charset="0"/>
              </a:rPr>
              <a:t>olist_customers</a:t>
            </a:r>
            <a:endParaRPr lang="es-CO" sz="1800" dirty="0"/>
          </a:p>
          <a:p>
            <a:pPr>
              <a:buNone/>
            </a:pPr>
            <a:r>
              <a:rPr lang="es-CO" sz="1800" dirty="0"/>
              <a:t>En </a:t>
            </a:r>
            <a:r>
              <a:rPr lang="es-CO" sz="1800" dirty="0" err="1"/>
              <a:t>Olist</a:t>
            </a:r>
            <a:r>
              <a:rPr lang="es-CO" sz="1800" dirty="0"/>
              <a:t>, un mismo cliente puede tener varias cuentas técnicas, pero su 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/>
              <a:t> debería ser único.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CREATE TABLE 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r>
              <a:rPr lang="es-CO" sz="18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customer_zip_code_prefix</a:t>
            </a:r>
            <a:r>
              <a:rPr lang="es-CO" sz="1800" dirty="0">
                <a:latin typeface="Courier New" panose="02070309020205020404" pitchFamily="49" charset="0"/>
              </a:rPr>
              <a:t> INT,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customer_city</a:t>
            </a:r>
            <a:r>
              <a:rPr lang="es-CO" sz="1800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customer_state</a:t>
            </a:r>
            <a:r>
              <a:rPr lang="es-CO" sz="1800" dirty="0">
                <a:latin typeface="Courier New" panose="02070309020205020404" pitchFamily="49" charset="0"/>
              </a:rPr>
              <a:t>         CHAR(2),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CONSTRAINT </a:t>
            </a:r>
            <a:r>
              <a:rPr lang="es-CO" sz="1800" dirty="0" err="1">
                <a:latin typeface="Courier New" panose="02070309020205020404" pitchFamily="49" charset="0"/>
              </a:rPr>
              <a:t>uq_customer_unique_id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    UNIQUE (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F1BA733-D1D9-5AE5-07E8-F0A2EAE6DFD5}"/>
              </a:ext>
            </a:extLst>
          </p:cNvPr>
          <p:cNvSpPr txBox="1"/>
          <p:nvPr/>
        </p:nvSpPr>
        <p:spPr>
          <a:xfrm>
            <a:off x="9826165" y="4934115"/>
            <a:ext cx="61875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asegurarse de un solo registro de pago “principal” por pedido</a:t>
            </a:r>
            <a:endParaRPr lang="es-CO" dirty="0"/>
          </a:p>
          <a:p>
            <a:pPr>
              <a:buNone/>
            </a:pPr>
            <a:r>
              <a:rPr lang="es-CO" dirty="0"/>
              <a:t>Supón que quieres garantizar que solo haya </a:t>
            </a:r>
            <a:r>
              <a:rPr lang="es-CO" b="1" dirty="0"/>
              <a:t>una fila</a:t>
            </a:r>
            <a:r>
              <a:rPr lang="es-CO" dirty="0"/>
              <a:t> marcada como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 por pedido: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      BOOLEAN    NOT NULL DEFAULT false,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uq_main_payment_per_order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UNIQUE 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Eso permite varias filas por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/>
              <a:t>, pero solo </a:t>
            </a:r>
            <a:r>
              <a:rPr lang="es-CO" b="1" dirty="0"/>
              <a:t>una</a:t>
            </a:r>
            <a:r>
              <a:rPr lang="es-CO" dirty="0"/>
              <a:t> puede tener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.</a:t>
            </a:r>
            <a:br>
              <a:rPr lang="es-CO" dirty="0"/>
            </a:br>
            <a:r>
              <a:rPr lang="es-CO" dirty="0"/>
              <a:t>(Porque la combinación </a:t>
            </a:r>
            <a:r>
              <a:rPr lang="es-CO" dirty="0">
                <a:latin typeface="Courier New" panose="02070309020205020404" pitchFamily="49" charset="0"/>
              </a:rPr>
              <a:t>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true)</a:t>
            </a:r>
            <a:r>
              <a:rPr lang="es-CO" dirty="0"/>
              <a:t> solo puede aparecer una vez.)</a:t>
            </a:r>
          </a:p>
        </p:txBody>
      </p:sp>
    </p:spTree>
    <p:extLst>
      <p:ext uri="{BB962C8B-B14F-4D97-AF65-F5344CB8AC3E}">
        <p14:creationId xmlns:p14="http://schemas.microsoft.com/office/powerpoint/2010/main" val="1368222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944E-2B7C-458A-3F2A-45371C23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147A21-77A6-2F58-7E4E-9A58C9566A0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3E62D-0DBF-CFA8-186E-7AA0225A9C6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8C54755-AA41-C80A-3759-09D32A8FBDF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6238D8B-3F4C-223B-054C-2798484EDD6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1F42C45-C3A5-034D-DA63-0AA0A240C1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8A7BF7-E781-7417-CA2C-0A14B794737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33CC73-2853-EE50-A7BB-8CACB4B574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ED65600-3141-9761-3D2D-332BAFF065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78D716A-89AF-2224-AF43-22E174BD0B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8A576F-34C8-D657-EC70-110CADB6FB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35CE3259-5C9A-8AFD-D9D6-149D6DD1C3D7}"/>
              </a:ext>
            </a:extLst>
          </p:cNvPr>
          <p:cNvSpPr txBox="1"/>
          <p:nvPr/>
        </p:nvSpPr>
        <p:spPr>
          <a:xfrm>
            <a:off x="832013" y="1671582"/>
            <a:ext cx="15072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La cláusula de </a:t>
            </a:r>
            <a:r>
              <a:rPr lang="es-ES" sz="4000" dirty="0" err="1"/>
              <a:t>check</a:t>
            </a:r>
            <a:r>
              <a:rPr lang="es-ES" sz="4000" dirty="0"/>
              <a:t> (P) especifica un predicado P que debe ser satisfecho por cada tupla en una relación.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C9A8112-34CE-22E4-E94D-3D48616A1C32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A26E810-8BEF-3792-0744-A7FBB2BD2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CF60FD9-41FA-9C99-2057-A27460697E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405C7D3-6EA4-8EAA-95DF-4B5F042B63FB}"/>
              </a:ext>
            </a:extLst>
          </p:cNvPr>
          <p:cNvSpPr txBox="1"/>
          <p:nvPr/>
        </p:nvSpPr>
        <p:spPr>
          <a:xfrm>
            <a:off x="1290348" y="4100438"/>
            <a:ext cx="62900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1 – montos y cuotas no negativas en pagos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chk_payment_value_positive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&gt;= 0),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chk_payment_installments_positive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&gt;= 1)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6BFB846-1A1B-F556-7A97-8F9CFF8F5183}"/>
              </a:ext>
            </a:extLst>
          </p:cNvPr>
          <p:cNvSpPr txBox="1"/>
          <p:nvPr/>
        </p:nvSpPr>
        <p:spPr>
          <a:xfrm>
            <a:off x="8776946" y="3960040"/>
            <a:ext cx="917699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valores válidos de </a:t>
            </a:r>
            <a:r>
              <a:rPr lang="es-CO" b="1" dirty="0" err="1">
                <a:latin typeface="Courier New" panose="02070309020205020404" pitchFamily="49" charset="0"/>
              </a:rPr>
              <a:t>order_status</a:t>
            </a:r>
            <a:r>
              <a:rPr lang="es-CO" b="1" dirty="0"/>
              <a:t> en </a:t>
            </a:r>
            <a:r>
              <a:rPr lang="es-CO" b="1" dirty="0" err="1">
                <a:latin typeface="Courier New" panose="02070309020205020404" pitchFamily="49" charset="0"/>
              </a:rPr>
              <a:t>olist_orders</a:t>
            </a:r>
            <a:endParaRPr lang="es-CO" b="1" dirty="0"/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               VARCHAR(20)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order_purchase_timestamp</a:t>
            </a:r>
            <a:r>
              <a:rPr lang="es-CO" dirty="0">
                <a:latin typeface="Courier New" panose="02070309020205020404" pitchFamily="49" charset="0"/>
              </a:rPr>
              <a:t>    TIMESTAMP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chk_order_status_valid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IN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created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approved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shipped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delivered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canceled</a:t>
            </a:r>
            <a:r>
              <a:rPr lang="es-CO" dirty="0">
                <a:latin typeface="Courier New" panose="02070309020205020404" pitchFamily="49" charset="0"/>
              </a:rPr>
              <a:t>’, 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?</a:t>
            </a:r>
            <a:r>
              <a:rPr lang="es-CO" dirty="0" err="1">
                <a:latin typeface="Courier New" panose="02070309020205020404" pitchFamily="49" charset="0"/>
              </a:rPr>
              <a:t>Espera_APreobacio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))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Solo se aceptan esos valores de estado.</a:t>
            </a:r>
          </a:p>
        </p:txBody>
      </p:sp>
    </p:spTree>
    <p:extLst>
      <p:ext uri="{BB962C8B-B14F-4D97-AF65-F5344CB8AC3E}">
        <p14:creationId xmlns:p14="http://schemas.microsoft.com/office/powerpoint/2010/main" val="77709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FEE7-0A38-C13F-2CDA-51DB27EE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DAE99B-328A-743F-EFD7-A9F6CCDC334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B514C10-00D2-C9C4-C523-F5D6DBA1623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3EE5E96-B20C-7F3C-DBA9-A0D942B52B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102560-1344-A47D-9A58-63EDB9AFBB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C7D185F-524A-A569-1159-20714D71A2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79C5362-E693-4C75-6D81-21CB2DAEF5E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46759F-1E33-EAAC-49E4-8ED202D96CC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E005A8-24DB-ACEB-B435-B74722D0821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A7E334A-5351-85D0-10E6-70B512C5E8B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A446E09-26F9-39FB-4495-0BC067B486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391DE96-4A51-A434-259B-A4E40DDE00FB}"/>
              </a:ext>
            </a:extLst>
          </p:cNvPr>
          <p:cNvSpPr txBox="1"/>
          <p:nvPr/>
        </p:nvSpPr>
        <p:spPr>
          <a:xfrm>
            <a:off x="832012" y="1671582"/>
            <a:ext cx="165279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Garantiza que un valor que aparece en una relación para un conjunto dado de atributos también aparezca para un conjunto determinado de atributos en otra relación.</a:t>
            </a:r>
          </a:p>
          <a:p>
            <a:endParaRPr lang="es-ES" sz="4000" dirty="0"/>
          </a:p>
          <a:p>
            <a:pPr marL="571500" lvl="4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r>
              <a:rPr lang="es-ES" sz="4000" dirty="0"/>
              <a:t>Sea A un conjunto de atributos. Sean R y S dos relaciones que contienen los atributos A y S, donde A es la clave principal de S. Se dice que A es una clave foránea de R si, para cualquier valor de A que aparezca en R, este valor también aparece en S.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357BF37-778D-DD74-BC49-29FF0055996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3908D0-186D-3FE4-E6B9-50D7972A79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D0F9BAD-2A7A-341D-B544-8A470E27E36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38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A651-AD19-6110-7A69-7A2055ED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CA1F8F-9028-2DC9-C39E-879FB622F7B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A36E516-F2A2-2801-9273-4994814E4F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FAF3D4-9AC4-1B18-C3E4-D27EEEEA40C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4514CE6-62A2-5D6A-51E1-822B23ADC92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12609E0-7D1D-07BA-E825-8530699359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BE19938-0A69-9DD5-2ED7-E008150DA35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AA6913C-34E0-AA4A-E555-66D61CE2CF8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21F4ED1-946E-5BF9-A40E-8DB4423E62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F042C6D-C1CC-06B6-8D32-CB79F303BED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CE9E7F7-BEDE-F6AA-DC1F-60113507AD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BBC500B-6FFD-7C9D-BA0F-FFA8F679F1E4}"/>
              </a:ext>
            </a:extLst>
          </p:cNvPr>
          <p:cNvSpPr txBox="1"/>
          <p:nvPr/>
        </p:nvSpPr>
        <p:spPr>
          <a:xfrm>
            <a:off x="832012" y="1671582"/>
            <a:ext cx="1652793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Las </a:t>
            </a:r>
            <a:r>
              <a:rPr lang="en-US" altLang="en-US" sz="4000" b="1" dirty="0"/>
              <a:t>foreign keys </a:t>
            </a:r>
            <a:r>
              <a:rPr lang="es-ES" sz="4000" dirty="0"/>
              <a:t>se pueden especificar como parte de la instrucción SQL de creación de tabla.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De forma predeterminada, una clave externa hace referencia a los atributos de clave principal de la tabla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SQL permite especificar explícitamente una lista de atributos de la relación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 (</a:t>
            </a:r>
            <a:r>
              <a:rPr lang="es-ES" sz="4000" dirty="0" err="1"/>
              <a:t>nombre_departamento</a:t>
            </a:r>
            <a:r>
              <a:rPr lang="es-ES" sz="4000" dirty="0"/>
              <a:t>)..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E56E78A-EB30-1A96-69F5-72F311868BD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FF3F212-72DE-4B47-821C-55D9D838095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43F7CE0-4277-DCC1-96FC-29BFC3090479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94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4733-220C-2A1B-3B89-5A40CAE6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BFC94B-7B80-8870-3962-1BB8544368E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E597F9-5C71-AD0C-C149-C4940B1572C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83EAB9A-035D-47EF-4A1D-4A6FDEE7EF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6101BB-8903-E044-6602-AF17BF14F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9F5B544-3400-00AA-45FB-2E1F180842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93218D0-9201-04E1-F8B3-98B1ABCDE3D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B67CC6-4917-AE78-9303-62D9B18BED7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A3E2CBD-0F5E-08D3-A459-22C15D5A2C5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BCA9ECF-E0AA-B7DB-50B8-EE5BA419F3D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4D7679-40C4-313B-971F-C73A932B91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0DCCDE11-2457-1332-89EC-BBE8A460F79C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EC67A35-5C28-9558-A3E2-F3A3C038090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69B3F88-3EFC-3642-81CC-DA2169C192F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ED63D58F-4F55-1050-373E-773A328DA53A}"/>
              </a:ext>
            </a:extLst>
          </p:cNvPr>
          <p:cNvSpPr txBox="1"/>
          <p:nvPr/>
        </p:nvSpPr>
        <p:spPr>
          <a:xfrm>
            <a:off x="1343221" y="2404288"/>
            <a:ext cx="69335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600" b="1" dirty="0"/>
              <a:t>Regla:</a:t>
            </a:r>
            <a:r>
              <a:rPr lang="es-CO" sz="1600" dirty="0"/>
              <a:t> todo pedido debe pertenecer a un cliente existente.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CREATE TABLE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customer_unique_id</a:t>
            </a:r>
            <a:r>
              <a:rPr lang="es-CO" sz="1600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customer_city</a:t>
            </a:r>
            <a:r>
              <a:rPr lang="es-CO" sz="1600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customer_state</a:t>
            </a:r>
            <a:r>
              <a:rPr lang="es-CO" sz="1600" dirty="0">
                <a:latin typeface="Courier New" panose="02070309020205020404" pitchFamily="49" charset="0"/>
              </a:rPr>
              <a:t>         CHAR(2)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CREATE TABLE </a:t>
            </a:r>
            <a:r>
              <a:rPr lang="es-CO" sz="1600" dirty="0" err="1">
                <a:latin typeface="Courier New" panose="02070309020205020404" pitchFamily="49" charset="0"/>
              </a:rPr>
              <a:t>olist_orders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order_id</a:t>
            </a:r>
            <a:r>
              <a:rPr lang="es-CO" sz="1600" dirty="0">
                <a:latin typeface="Courier New" panose="02070309020205020404" pitchFamily="49" charset="0"/>
              </a:rPr>
              <a:t>                 VARCHAR(50) PRIMARY KEY,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order_status</a:t>
            </a:r>
            <a:r>
              <a:rPr lang="es-CO" sz="1600" dirty="0">
                <a:latin typeface="Courier New" panose="02070309020205020404" pitchFamily="49" charset="0"/>
              </a:rPr>
              <a:t>             VARCHAR(20)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order_purchase_timestamp</a:t>
            </a:r>
            <a:r>
              <a:rPr lang="es-CO" sz="1600" dirty="0">
                <a:latin typeface="Courier New" panose="02070309020205020404" pitchFamily="49" charset="0"/>
              </a:rPr>
              <a:t> TIMESTAMP  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CONSTRAINT </a:t>
            </a:r>
            <a:r>
              <a:rPr lang="es-CO" sz="1600" dirty="0" err="1">
                <a:latin typeface="Courier New" panose="02070309020205020404" pitchFamily="49" charset="0"/>
              </a:rPr>
              <a:t>fk_orders_customer</a:t>
            </a:r>
            <a:endParaRPr lang="es-CO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    FOREIGN KEY (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    REFERENCES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s-CO" sz="1600" b="1" dirty="0"/>
              <a:t>Qué asegura:</a:t>
            </a:r>
            <a:endParaRPr lang="es-CO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/>
              <a:t>No puedes insertar en </a:t>
            </a:r>
            <a:r>
              <a:rPr lang="es-CO" sz="1600" dirty="0" err="1">
                <a:latin typeface="Courier New" panose="02070309020205020404" pitchFamily="49" charset="0"/>
              </a:rPr>
              <a:t>olist_orders</a:t>
            </a:r>
            <a:r>
              <a:rPr lang="es-CO" sz="1600" dirty="0"/>
              <a:t> un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/>
              <a:t> que no esté en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/>
              <a:t>No puedes borrar un </a:t>
            </a:r>
            <a:r>
              <a:rPr lang="es-CO" sz="1600" dirty="0" err="1">
                <a:latin typeface="Courier New" panose="02070309020205020404" pitchFamily="49" charset="0"/>
              </a:rPr>
              <a:t>customer</a:t>
            </a:r>
            <a:r>
              <a:rPr lang="es-CO" sz="1600" dirty="0"/>
              <a:t> que aún tenga pedidos (según la acción de borrado, por defecto </a:t>
            </a:r>
            <a:r>
              <a:rPr lang="es-CO" sz="1600" dirty="0">
                <a:latin typeface="Courier New" panose="02070309020205020404" pitchFamily="49" charset="0"/>
              </a:rPr>
              <a:t>RESTRICT</a:t>
            </a:r>
            <a:r>
              <a:rPr lang="es-CO" sz="1600" dirty="0"/>
              <a:t>/</a:t>
            </a:r>
            <a:r>
              <a:rPr lang="es-CO" sz="1600" dirty="0">
                <a:latin typeface="Courier New" panose="02070309020205020404" pitchFamily="49" charset="0"/>
              </a:rPr>
              <a:t>NO ACTION</a:t>
            </a:r>
            <a:r>
              <a:rPr lang="es-CO" sz="1600" dirty="0"/>
              <a:t>).</a:t>
            </a:r>
          </a:p>
          <a:p>
            <a:pPr>
              <a:buNone/>
            </a:pPr>
            <a:r>
              <a:rPr lang="es-CO" sz="1600" dirty="0"/>
              <a:t>Tu error con </a:t>
            </a:r>
            <a:r>
              <a:rPr lang="es-CO" sz="1600" dirty="0">
                <a:latin typeface="Courier New" panose="02070309020205020404" pitchFamily="49" charset="0"/>
              </a:rPr>
              <a:t>CUST-123</a:t>
            </a:r>
            <a:r>
              <a:rPr lang="es-CO" sz="1600" dirty="0"/>
              <a:t> fue exactamente esta regla actuando.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0D5C72-24C5-FA69-A88B-B958266172EC}"/>
              </a:ext>
            </a:extLst>
          </p:cNvPr>
          <p:cNvSpPr txBox="1"/>
          <p:nvPr/>
        </p:nvSpPr>
        <p:spPr>
          <a:xfrm>
            <a:off x="9270779" y="2327511"/>
            <a:ext cx="78403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b="1" dirty="0"/>
              <a:t>Ejemplo de violación de integridad referencial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INSERT INTO </a:t>
            </a:r>
            <a:r>
              <a:rPr lang="es-CO" sz="1800" dirty="0" err="1">
                <a:latin typeface="Courier New" panose="02070309020205020404" pitchFamily="49" charset="0"/>
              </a:rPr>
              <a:t>olist_orders</a:t>
            </a:r>
            <a:r>
              <a:rPr lang="es-CO" sz="18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order_status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order_purchase_timestamp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VALUES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'ORDER-XYZ',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'CUST-123',                 -- NO existe en 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</a:t>
            </a:r>
            <a:r>
              <a:rPr lang="es-CO" sz="1800" dirty="0" err="1">
                <a:latin typeface="Courier New" panose="02070309020205020404" pitchFamily="49" charset="0"/>
              </a:rPr>
              <a:t>created</a:t>
            </a:r>
            <a:r>
              <a:rPr lang="es-CO" sz="1800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now</a:t>
            </a:r>
            <a:r>
              <a:rPr lang="es-CO" sz="1800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s-CO" sz="1800" dirty="0"/>
              <a:t>Resultado (lo que ya viste):</a:t>
            </a:r>
          </a:p>
          <a:p>
            <a:pPr>
              <a:buNone/>
            </a:pPr>
            <a:r>
              <a:rPr lang="es-CO" sz="1800" dirty="0">
                <a:latin typeface="Courier New" panose="02070309020205020404" pitchFamily="49" charset="0"/>
              </a:rPr>
              <a:t>ERROR: </a:t>
            </a:r>
            <a:r>
              <a:rPr lang="es-CO" sz="1800" dirty="0" err="1">
                <a:latin typeface="Courier New" panose="02070309020205020404" pitchFamily="49" charset="0"/>
              </a:rPr>
              <a:t>insert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or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update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on</a:t>
            </a:r>
            <a:r>
              <a:rPr lang="es-CO" sz="1800" dirty="0">
                <a:latin typeface="Courier New" panose="02070309020205020404" pitchFamily="49" charset="0"/>
              </a:rPr>
              <a:t> table "</a:t>
            </a:r>
            <a:r>
              <a:rPr lang="es-CO" sz="1800" dirty="0" err="1">
                <a:latin typeface="Courier New" panose="02070309020205020404" pitchFamily="49" charset="0"/>
              </a:rPr>
              <a:t>olist_orders</a:t>
            </a:r>
            <a:r>
              <a:rPr lang="es-CO" sz="1800" dirty="0">
                <a:latin typeface="Courier New" panose="02070309020205020404" pitchFamily="49" charset="0"/>
              </a:rPr>
              <a:t>" </a:t>
            </a:r>
            <a:r>
              <a:rPr lang="es-CO" sz="1800" dirty="0" err="1">
                <a:latin typeface="Courier New" panose="02070309020205020404" pitchFamily="49" charset="0"/>
              </a:rPr>
              <a:t>violates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foreign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key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constraint</a:t>
            </a:r>
            <a:r>
              <a:rPr lang="es-CO" sz="1800" dirty="0">
                <a:latin typeface="Courier New" panose="02070309020205020404" pitchFamily="49" charset="0"/>
              </a:rPr>
              <a:t> ...</a:t>
            </a:r>
            <a:br>
              <a:rPr lang="es-CO" sz="1800" dirty="0"/>
            </a:br>
            <a:r>
              <a:rPr lang="es-CO" sz="1800" dirty="0" err="1">
                <a:latin typeface="Courier New" panose="02070309020205020404" pitchFamily="49" charset="0"/>
              </a:rPr>
              <a:t>Detail</a:t>
            </a:r>
            <a:r>
              <a:rPr lang="es-CO" sz="1800" dirty="0">
                <a:latin typeface="Courier New" panose="02070309020205020404" pitchFamily="49" charset="0"/>
              </a:rPr>
              <a:t>: Key (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)=(CUST-123) </a:t>
            </a:r>
            <a:r>
              <a:rPr lang="es-CO" sz="1800" dirty="0" err="1">
                <a:latin typeface="Courier New" panose="02070309020205020404" pitchFamily="49" charset="0"/>
              </a:rPr>
              <a:t>is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not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present</a:t>
            </a:r>
            <a:r>
              <a:rPr lang="es-CO" sz="1800" dirty="0">
                <a:latin typeface="Courier New" panose="02070309020205020404" pitchFamily="49" charset="0"/>
              </a:rPr>
              <a:t> in table "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r>
              <a:rPr lang="es-CO" sz="1800" dirty="0">
                <a:latin typeface="Courier New" panose="02070309020205020404" pitchFamily="49" charset="0"/>
              </a:rPr>
              <a:t>".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07994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1DD2-E3DD-4DC5-8868-2EAC3EEF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4AF739-36DB-1F0F-2B3E-1822AF94370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8962045-A763-EA98-9982-C10371A453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D80995A-F07B-73D7-0EDD-B8D8E03045C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2A8D692-B611-EAA9-1BC5-B5C67DCB65E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9944A97-B4B4-54BE-1967-DC000DC945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DE205E-8DF2-6DF5-FCAE-24C0EF07C0A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A19F21-93FF-CB18-B89B-C44EAA549BE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9B6E173-B017-82CE-1418-83006C863B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081F70A-2112-E673-C0AB-C4CD617344C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E1C5D5-B447-91B7-3688-C21A1A9C9A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86309FE6-AF46-98BE-9615-E1215495E28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DD1528E-02E1-D97B-B8DD-4E5696123C4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6C0B773-1113-90CC-ECDC-1C7A5B4077B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922FC19-B904-6F35-BCFF-7035605818AB}"/>
              </a:ext>
            </a:extLst>
          </p:cNvPr>
          <p:cNvSpPr txBox="1"/>
          <p:nvPr/>
        </p:nvSpPr>
        <p:spPr>
          <a:xfrm>
            <a:off x="1362074" y="2534900"/>
            <a:ext cx="1306093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/>
              <a:t>Ejemplo con acciones en cascada: ON DELETE CASCADE</a:t>
            </a:r>
          </a:p>
          <a:p>
            <a:r>
              <a:rPr lang="es-CO" sz="1800" dirty="0"/>
              <a:t>A veces </a:t>
            </a:r>
            <a:r>
              <a:rPr lang="es-CO" sz="1800" b="1" dirty="0"/>
              <a:t>sí</a:t>
            </a:r>
            <a:r>
              <a:rPr lang="es-CO" sz="1800" dirty="0"/>
              <a:t> quieres que al borrar el padre se borren automáticamente los hijos. Por ejemplo, borrar un pedido de prueba y que se vayan sus ítems.</a:t>
            </a:r>
          </a:p>
          <a:p>
            <a:endParaRPr lang="es-CO" sz="1800" dirty="0"/>
          </a:p>
          <a:p>
            <a:endParaRPr lang="es-CO" sz="1800" dirty="0"/>
          </a:p>
          <a:p>
            <a:r>
              <a:rPr lang="es-CO" sz="1800" dirty="0"/>
              <a:t>CREATE TABLE </a:t>
            </a:r>
            <a:r>
              <a:rPr lang="es-CO" sz="1800" dirty="0" err="1"/>
              <a:t>olist_orders</a:t>
            </a:r>
            <a:r>
              <a:rPr lang="es-CO" sz="1800" dirty="0"/>
              <a:t> (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order_id</a:t>
            </a:r>
            <a:r>
              <a:rPr lang="es-CO" sz="1800" dirty="0"/>
              <a:t>   VARCHAR(50) PRIMARY KEY,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customer_id</a:t>
            </a:r>
            <a:r>
              <a:rPr lang="es-CO" sz="1800" dirty="0"/>
              <a:t> VARCHAR(50) NOT NULL</a:t>
            </a:r>
          </a:p>
          <a:p>
            <a:r>
              <a:rPr lang="es-CO" sz="1800" dirty="0"/>
              <a:t>    -- ...</a:t>
            </a:r>
          </a:p>
          <a:p>
            <a:r>
              <a:rPr lang="es-CO" sz="1800" dirty="0"/>
              <a:t>);</a:t>
            </a:r>
          </a:p>
          <a:p>
            <a:endParaRPr lang="es-CO" sz="1800" dirty="0"/>
          </a:p>
          <a:p>
            <a:r>
              <a:rPr lang="es-CO" sz="1800" dirty="0"/>
              <a:t>CREATE TABLE </a:t>
            </a:r>
            <a:r>
              <a:rPr lang="es-CO" sz="1800" dirty="0" err="1"/>
              <a:t>olist_order_items</a:t>
            </a:r>
            <a:r>
              <a:rPr lang="es-CO" sz="1800" dirty="0"/>
              <a:t> (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order_id</a:t>
            </a:r>
            <a:r>
              <a:rPr lang="es-CO" sz="1800" dirty="0"/>
              <a:t>         VARCHAR(50) NOT NULL,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order_item_id</a:t>
            </a:r>
            <a:r>
              <a:rPr lang="es-CO" sz="1800" dirty="0"/>
              <a:t>    INT         NOT NULL,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product_id</a:t>
            </a:r>
            <a:r>
              <a:rPr lang="es-CO" sz="1800" dirty="0"/>
              <a:t>       VARCHAR(50) NOT NULL,</a:t>
            </a:r>
          </a:p>
          <a:p>
            <a:r>
              <a:rPr lang="es-CO" sz="1800" dirty="0"/>
              <a:t>    -- ...</a:t>
            </a:r>
          </a:p>
          <a:p>
            <a:r>
              <a:rPr lang="es-CO" sz="1800" dirty="0"/>
              <a:t>    CONSTRAINT </a:t>
            </a:r>
            <a:r>
              <a:rPr lang="es-CO" sz="1800" dirty="0" err="1"/>
              <a:t>pk_olist_order_items</a:t>
            </a:r>
            <a:endParaRPr lang="es-CO" sz="1800" dirty="0"/>
          </a:p>
          <a:p>
            <a:r>
              <a:rPr lang="es-CO" sz="1800" dirty="0"/>
              <a:t>        PRIMARY KEY (</a:t>
            </a:r>
            <a:r>
              <a:rPr lang="es-CO" sz="1800" dirty="0" err="1"/>
              <a:t>order_id</a:t>
            </a:r>
            <a:r>
              <a:rPr lang="es-CO" sz="1800" dirty="0"/>
              <a:t>, </a:t>
            </a:r>
            <a:r>
              <a:rPr lang="es-CO" sz="1800" dirty="0" err="1"/>
              <a:t>order_item_id</a:t>
            </a:r>
            <a:r>
              <a:rPr lang="es-CO" sz="1800" dirty="0"/>
              <a:t>),</a:t>
            </a:r>
          </a:p>
          <a:p>
            <a:r>
              <a:rPr lang="es-CO" sz="1800" dirty="0"/>
              <a:t>    CONSTRAINT </a:t>
            </a:r>
            <a:r>
              <a:rPr lang="es-CO" sz="1800" dirty="0" err="1"/>
              <a:t>fk_items_order</a:t>
            </a:r>
            <a:endParaRPr lang="es-CO" sz="1800" dirty="0"/>
          </a:p>
          <a:p>
            <a:r>
              <a:rPr lang="es-CO" sz="1800" dirty="0"/>
              <a:t>        FOREIGN KEY (</a:t>
            </a:r>
            <a:r>
              <a:rPr lang="es-CO" sz="1800" dirty="0" err="1"/>
              <a:t>order_id</a:t>
            </a:r>
            <a:r>
              <a:rPr lang="es-CO" sz="1800" dirty="0"/>
              <a:t>)</a:t>
            </a:r>
          </a:p>
          <a:p>
            <a:r>
              <a:rPr lang="es-CO" sz="1800" dirty="0"/>
              <a:t>        REFERENCES </a:t>
            </a:r>
            <a:r>
              <a:rPr lang="es-CO" sz="1800" dirty="0" err="1"/>
              <a:t>olist_orders</a:t>
            </a:r>
            <a:r>
              <a:rPr lang="es-CO" sz="1800" dirty="0"/>
              <a:t> (</a:t>
            </a:r>
            <a:r>
              <a:rPr lang="es-CO" sz="1800" dirty="0" err="1"/>
              <a:t>order_id</a:t>
            </a:r>
            <a:r>
              <a:rPr lang="es-CO" sz="1800" dirty="0"/>
              <a:t>)</a:t>
            </a:r>
          </a:p>
          <a:p>
            <a:r>
              <a:rPr lang="es-CO" sz="1800" dirty="0"/>
              <a:t>        ON DELETE CASCADE</a:t>
            </a:r>
          </a:p>
          <a:p>
            <a:r>
              <a:rPr lang="es-CO" sz="1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27661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51A3-A820-8E4D-23FA-668BE238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4FDE0C-282D-F03F-8614-2545F33E73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9E9FE-DE0B-5F18-9AE3-C91B460C78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0EE7F84-4092-14EC-5905-7B56164442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79E20F7-D575-A25C-812D-413AA2CEDAA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29B9A3-E443-0136-5C57-C407DF494C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04CE29-AC43-A11E-19DC-ED64601DFE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09B085B-67A1-19A1-7068-E6D442E15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DC143B-9810-C8AF-4298-A0B1E39592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167D1-BE17-2783-1E0D-3D360F02F8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2C3C46-2004-2222-629A-CDC6FA806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" name="object 5">
            <a:extLst>
              <a:ext uri="{FF2B5EF4-FFF2-40B4-BE49-F238E27FC236}">
                <a16:creationId xmlns:a16="http://schemas.microsoft.com/office/drawing/2014/main" id="{DE777E31-0FE3-E3B9-9C2F-E36B5549B9B9}"/>
              </a:ext>
            </a:extLst>
          </p:cNvPr>
          <p:cNvGrpSpPr/>
          <p:nvPr/>
        </p:nvGrpSpPr>
        <p:grpSpPr>
          <a:xfrm>
            <a:off x="10108100" y="1321187"/>
            <a:ext cx="5058779" cy="3237428"/>
            <a:chOff x="5331950" y="1701684"/>
            <a:chExt cx="3787775" cy="1872614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592A78B3-3EBB-EB4D-CD28-5CBE554F9937}"/>
                </a:ext>
              </a:extLst>
            </p:cNvPr>
            <p:cNvSpPr/>
            <p:nvPr/>
          </p:nvSpPr>
          <p:spPr>
            <a:xfrm>
              <a:off x="5346242" y="1715972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1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140CEAB-9C54-6212-8D3F-F62F1CFFDC74}"/>
                </a:ext>
              </a:extLst>
            </p:cNvPr>
            <p:cNvSpPr/>
            <p:nvPr/>
          </p:nvSpPr>
          <p:spPr>
            <a:xfrm>
              <a:off x="5346242" y="2218893"/>
              <a:ext cx="1524000" cy="1005840"/>
            </a:xfrm>
            <a:custGeom>
              <a:avLst/>
              <a:gdLst/>
              <a:ahLst/>
              <a:cxnLst/>
              <a:rect l="l" t="t" r="r" b="b"/>
              <a:pathLst>
                <a:path w="1524000" h="100583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40"/>
                  </a:lnTo>
                  <a:lnTo>
                    <a:pt x="508000" y="1005840"/>
                  </a:lnTo>
                  <a:lnTo>
                    <a:pt x="1016000" y="1005840"/>
                  </a:lnTo>
                  <a:lnTo>
                    <a:pt x="1524000" y="1005840"/>
                  </a:lnTo>
                  <a:lnTo>
                    <a:pt x="1524000" y="838200"/>
                  </a:lnTo>
                  <a:lnTo>
                    <a:pt x="1524000" y="67056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4E5BAA7-516E-19C5-3CB3-A1BDF0B38FB2}"/>
                </a:ext>
              </a:extLst>
            </p:cNvPr>
            <p:cNvSpPr/>
            <p:nvPr/>
          </p:nvSpPr>
          <p:spPr>
            <a:xfrm>
              <a:off x="5346242" y="32247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C53C4921-6BC6-6C00-0F6D-7D497EFC0AB7}"/>
                </a:ext>
              </a:extLst>
            </p:cNvPr>
            <p:cNvSpPr/>
            <p:nvPr/>
          </p:nvSpPr>
          <p:spPr>
            <a:xfrm>
              <a:off x="5854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9AD20909-E16D-D0D1-C9C1-FD555BAB55AE}"/>
                </a:ext>
              </a:extLst>
            </p:cNvPr>
            <p:cNvSpPr/>
            <p:nvPr/>
          </p:nvSpPr>
          <p:spPr>
            <a:xfrm>
              <a:off x="6362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2C775221-ABB7-BF68-2933-50CB1DD0C559}"/>
                </a:ext>
              </a:extLst>
            </p:cNvPr>
            <p:cNvSpPr/>
            <p:nvPr/>
          </p:nvSpPr>
          <p:spPr>
            <a:xfrm>
              <a:off x="5331950" y="18836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2">
              <a:extLst>
                <a:ext uri="{FF2B5EF4-FFF2-40B4-BE49-F238E27FC236}">
                  <a16:creationId xmlns:a16="http://schemas.microsoft.com/office/drawing/2014/main" id="{F0148D7A-AAB0-F9AF-2B35-E079B58EFF88}"/>
                </a:ext>
              </a:extLst>
            </p:cNvPr>
            <p:cNvSpPr/>
            <p:nvPr/>
          </p:nvSpPr>
          <p:spPr>
            <a:xfrm>
              <a:off x="5331950" y="20512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C13E2878-7A81-B14F-406C-13A3B7BBB8CA}"/>
                </a:ext>
              </a:extLst>
            </p:cNvPr>
            <p:cNvSpPr/>
            <p:nvPr/>
          </p:nvSpPr>
          <p:spPr>
            <a:xfrm>
              <a:off x="5331950" y="22188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0E6F9E75-521E-FF1F-3D11-9B5BA50D3228}"/>
                </a:ext>
              </a:extLst>
            </p:cNvPr>
            <p:cNvSpPr/>
            <p:nvPr/>
          </p:nvSpPr>
          <p:spPr>
            <a:xfrm>
              <a:off x="5331950" y="23865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5">
              <a:extLst>
                <a:ext uri="{FF2B5EF4-FFF2-40B4-BE49-F238E27FC236}">
                  <a16:creationId xmlns:a16="http://schemas.microsoft.com/office/drawing/2014/main" id="{6446A0CC-4640-F987-9D7F-8D8E259120C5}"/>
                </a:ext>
              </a:extLst>
            </p:cNvPr>
            <p:cNvSpPr/>
            <p:nvPr/>
          </p:nvSpPr>
          <p:spPr>
            <a:xfrm>
              <a:off x="5331950" y="2554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655CAF8F-A94A-961C-05AA-5CF56A33F05A}"/>
                </a:ext>
              </a:extLst>
            </p:cNvPr>
            <p:cNvSpPr/>
            <p:nvPr/>
          </p:nvSpPr>
          <p:spPr>
            <a:xfrm>
              <a:off x="5331950" y="27218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7">
              <a:extLst>
                <a:ext uri="{FF2B5EF4-FFF2-40B4-BE49-F238E27FC236}">
                  <a16:creationId xmlns:a16="http://schemas.microsoft.com/office/drawing/2014/main" id="{6049A242-C4F3-EC2B-9930-EC756390E795}"/>
                </a:ext>
              </a:extLst>
            </p:cNvPr>
            <p:cNvSpPr/>
            <p:nvPr/>
          </p:nvSpPr>
          <p:spPr>
            <a:xfrm>
              <a:off x="5331950" y="28894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EA8F0F04-9D34-0671-DD31-FD14AC403FE1}"/>
                </a:ext>
              </a:extLst>
            </p:cNvPr>
            <p:cNvSpPr/>
            <p:nvPr/>
          </p:nvSpPr>
          <p:spPr>
            <a:xfrm>
              <a:off x="5331950" y="3057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9">
              <a:extLst>
                <a:ext uri="{FF2B5EF4-FFF2-40B4-BE49-F238E27FC236}">
                  <a16:creationId xmlns:a16="http://schemas.microsoft.com/office/drawing/2014/main" id="{D2E2A529-39D6-12AA-C4AD-26D7D769BC39}"/>
                </a:ext>
              </a:extLst>
            </p:cNvPr>
            <p:cNvSpPr/>
            <p:nvPr/>
          </p:nvSpPr>
          <p:spPr>
            <a:xfrm>
              <a:off x="5331950" y="32247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0">
              <a:extLst>
                <a:ext uri="{FF2B5EF4-FFF2-40B4-BE49-F238E27FC236}">
                  <a16:creationId xmlns:a16="http://schemas.microsoft.com/office/drawing/2014/main" id="{6F09F5C9-3A0B-2FFC-DF81-3906A49593A2}"/>
                </a:ext>
              </a:extLst>
            </p:cNvPr>
            <p:cNvSpPr/>
            <p:nvPr/>
          </p:nvSpPr>
          <p:spPr>
            <a:xfrm>
              <a:off x="5331950" y="3392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1">
              <a:extLst>
                <a:ext uri="{FF2B5EF4-FFF2-40B4-BE49-F238E27FC236}">
                  <a16:creationId xmlns:a16="http://schemas.microsoft.com/office/drawing/2014/main" id="{7AA13431-022B-0C3C-04C9-89C93BA64122}"/>
                </a:ext>
              </a:extLst>
            </p:cNvPr>
            <p:cNvSpPr/>
            <p:nvPr/>
          </p:nvSpPr>
          <p:spPr>
            <a:xfrm>
              <a:off x="5346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2">
              <a:extLst>
                <a:ext uri="{FF2B5EF4-FFF2-40B4-BE49-F238E27FC236}">
                  <a16:creationId xmlns:a16="http://schemas.microsoft.com/office/drawing/2014/main" id="{A610B748-CEBB-1BFD-990A-55253DD026D1}"/>
                </a:ext>
              </a:extLst>
            </p:cNvPr>
            <p:cNvSpPr/>
            <p:nvPr/>
          </p:nvSpPr>
          <p:spPr>
            <a:xfrm>
              <a:off x="6870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3">
              <a:extLst>
                <a:ext uri="{FF2B5EF4-FFF2-40B4-BE49-F238E27FC236}">
                  <a16:creationId xmlns:a16="http://schemas.microsoft.com/office/drawing/2014/main" id="{41401817-4C68-A1D5-508E-8CFD4E83200C}"/>
                </a:ext>
              </a:extLst>
            </p:cNvPr>
            <p:cNvSpPr/>
            <p:nvPr/>
          </p:nvSpPr>
          <p:spPr>
            <a:xfrm>
              <a:off x="5331950" y="17159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4">
              <a:extLst>
                <a:ext uri="{FF2B5EF4-FFF2-40B4-BE49-F238E27FC236}">
                  <a16:creationId xmlns:a16="http://schemas.microsoft.com/office/drawing/2014/main" id="{6CB4DF5C-3438-D484-DCE4-1B9974071052}"/>
                </a:ext>
              </a:extLst>
            </p:cNvPr>
            <p:cNvSpPr/>
            <p:nvPr/>
          </p:nvSpPr>
          <p:spPr>
            <a:xfrm>
              <a:off x="5331950" y="3560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5">
              <a:extLst>
                <a:ext uri="{FF2B5EF4-FFF2-40B4-BE49-F238E27FC236}">
                  <a16:creationId xmlns:a16="http://schemas.microsoft.com/office/drawing/2014/main" id="{9D1BA2D2-5AAD-D431-5555-8AF4872FE5AC}"/>
                </a:ext>
              </a:extLst>
            </p:cNvPr>
            <p:cNvSpPr/>
            <p:nvPr/>
          </p:nvSpPr>
          <p:spPr>
            <a:xfrm>
              <a:off x="8089443" y="240653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6">
              <a:extLst>
                <a:ext uri="{FF2B5EF4-FFF2-40B4-BE49-F238E27FC236}">
                  <a16:creationId xmlns:a16="http://schemas.microsoft.com/office/drawing/2014/main" id="{B2CB7179-0E7A-7EF0-88A2-CADE5E816A79}"/>
                </a:ext>
              </a:extLst>
            </p:cNvPr>
            <p:cNvSpPr/>
            <p:nvPr/>
          </p:nvSpPr>
          <p:spPr>
            <a:xfrm>
              <a:off x="8089443" y="257417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26BFBA6C-3404-3263-D990-8310818F3ABD}"/>
                </a:ext>
              </a:extLst>
            </p:cNvPr>
            <p:cNvSpPr/>
            <p:nvPr/>
          </p:nvSpPr>
          <p:spPr>
            <a:xfrm>
              <a:off x="8089443" y="274181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8">
              <a:extLst>
                <a:ext uri="{FF2B5EF4-FFF2-40B4-BE49-F238E27FC236}">
                  <a16:creationId xmlns:a16="http://schemas.microsoft.com/office/drawing/2014/main" id="{7E907FFC-F141-5E44-FAED-FB24FCC9D830}"/>
                </a:ext>
              </a:extLst>
            </p:cNvPr>
            <p:cNvSpPr/>
            <p:nvPr/>
          </p:nvSpPr>
          <p:spPr>
            <a:xfrm>
              <a:off x="8597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9">
              <a:extLst>
                <a:ext uri="{FF2B5EF4-FFF2-40B4-BE49-F238E27FC236}">
                  <a16:creationId xmlns:a16="http://schemas.microsoft.com/office/drawing/2014/main" id="{0D110D30-09A7-DDFE-BFAE-D372C8706A25}"/>
                </a:ext>
              </a:extLst>
            </p:cNvPr>
            <p:cNvSpPr/>
            <p:nvPr/>
          </p:nvSpPr>
          <p:spPr>
            <a:xfrm>
              <a:off x="8075151" y="257417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0">
              <a:extLst>
                <a:ext uri="{FF2B5EF4-FFF2-40B4-BE49-F238E27FC236}">
                  <a16:creationId xmlns:a16="http://schemas.microsoft.com/office/drawing/2014/main" id="{8AB1AA92-5016-2358-3341-D0F94A8ED16D}"/>
                </a:ext>
              </a:extLst>
            </p:cNvPr>
            <p:cNvSpPr/>
            <p:nvPr/>
          </p:nvSpPr>
          <p:spPr>
            <a:xfrm>
              <a:off x="8075151" y="274181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1">
              <a:extLst>
                <a:ext uri="{FF2B5EF4-FFF2-40B4-BE49-F238E27FC236}">
                  <a16:creationId xmlns:a16="http://schemas.microsoft.com/office/drawing/2014/main" id="{62C7C8C7-26F1-7E87-2E59-91B97A0F4B06}"/>
                </a:ext>
              </a:extLst>
            </p:cNvPr>
            <p:cNvSpPr/>
            <p:nvPr/>
          </p:nvSpPr>
          <p:spPr>
            <a:xfrm>
              <a:off x="8089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2">
              <a:extLst>
                <a:ext uri="{FF2B5EF4-FFF2-40B4-BE49-F238E27FC236}">
                  <a16:creationId xmlns:a16="http://schemas.microsoft.com/office/drawing/2014/main" id="{AF6C3D45-C070-3D2D-42BD-2F4295CF008C}"/>
                </a:ext>
              </a:extLst>
            </p:cNvPr>
            <p:cNvSpPr/>
            <p:nvPr/>
          </p:nvSpPr>
          <p:spPr>
            <a:xfrm>
              <a:off x="9105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3">
              <a:extLst>
                <a:ext uri="{FF2B5EF4-FFF2-40B4-BE49-F238E27FC236}">
                  <a16:creationId xmlns:a16="http://schemas.microsoft.com/office/drawing/2014/main" id="{405627E7-3F14-355D-45CD-D4DBC626DC94}"/>
                </a:ext>
              </a:extLst>
            </p:cNvPr>
            <p:cNvSpPr/>
            <p:nvPr/>
          </p:nvSpPr>
          <p:spPr>
            <a:xfrm>
              <a:off x="8075151" y="240653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4">
              <a:extLst>
                <a:ext uri="{FF2B5EF4-FFF2-40B4-BE49-F238E27FC236}">
                  <a16:creationId xmlns:a16="http://schemas.microsoft.com/office/drawing/2014/main" id="{8CC4670B-E8EC-F354-BC7D-D0516C3BFC4C}"/>
                </a:ext>
              </a:extLst>
            </p:cNvPr>
            <p:cNvSpPr/>
            <p:nvPr/>
          </p:nvSpPr>
          <p:spPr>
            <a:xfrm>
              <a:off x="8075151" y="290945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5">
              <a:extLst>
                <a:ext uri="{FF2B5EF4-FFF2-40B4-BE49-F238E27FC236}">
                  <a16:creationId xmlns:a16="http://schemas.microsoft.com/office/drawing/2014/main" id="{BDE64FDD-94B3-0C57-FB61-8E50E8AFF52D}"/>
                </a:ext>
              </a:extLst>
            </p:cNvPr>
            <p:cNvSpPr/>
            <p:nvPr/>
          </p:nvSpPr>
          <p:spPr>
            <a:xfrm>
              <a:off x="6413037" y="2254134"/>
              <a:ext cx="533400" cy="914400"/>
            </a:xfrm>
            <a:custGeom>
              <a:avLst/>
              <a:gdLst/>
              <a:ahLst/>
              <a:cxnLst/>
              <a:rect l="l" t="t" r="r" b="b"/>
              <a:pathLst>
                <a:path w="533400" h="914400">
                  <a:moveTo>
                    <a:pt x="0" y="0"/>
                  </a:moveTo>
                  <a:lnTo>
                    <a:pt x="533400" y="0"/>
                  </a:lnTo>
                  <a:lnTo>
                    <a:pt x="533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6">
              <a:extLst>
                <a:ext uri="{FF2B5EF4-FFF2-40B4-BE49-F238E27FC236}">
                  <a16:creationId xmlns:a16="http://schemas.microsoft.com/office/drawing/2014/main" id="{5E8DC478-7EFB-FD36-0C15-7CB8CB5C533F}"/>
                </a:ext>
              </a:extLst>
            </p:cNvPr>
            <p:cNvSpPr/>
            <p:nvPr/>
          </p:nvSpPr>
          <p:spPr>
            <a:xfrm>
              <a:off x="6946437" y="2635134"/>
              <a:ext cx="1879600" cy="0"/>
            </a:xfrm>
            <a:custGeom>
              <a:avLst/>
              <a:gdLst/>
              <a:ahLst/>
              <a:cxnLst/>
              <a:rect l="l" t="t" r="r" b="b"/>
              <a:pathLst>
                <a:path w="1879600">
                  <a:moveTo>
                    <a:pt x="0" y="0"/>
                  </a:moveTo>
                  <a:lnTo>
                    <a:pt x="18796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7">
              <a:extLst>
                <a:ext uri="{FF2B5EF4-FFF2-40B4-BE49-F238E27FC236}">
                  <a16:creationId xmlns:a16="http://schemas.microsoft.com/office/drawing/2014/main" id="{7E587E8C-1882-96FA-3CBB-95E060BE442E}"/>
                </a:ext>
              </a:extLst>
            </p:cNvPr>
            <p:cNvSpPr/>
            <p:nvPr/>
          </p:nvSpPr>
          <p:spPr>
            <a:xfrm>
              <a:off x="8775237" y="25970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FEC9C923-C011-9EEB-D837-4C20D83EBD70}"/>
                </a:ext>
              </a:extLst>
            </p:cNvPr>
            <p:cNvSpPr/>
            <p:nvPr/>
          </p:nvSpPr>
          <p:spPr>
            <a:xfrm>
              <a:off x="6870237" y="1720735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0"/>
                  </a:moveTo>
                  <a:lnTo>
                    <a:pt x="121920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9">
              <a:extLst>
                <a:ext uri="{FF2B5EF4-FFF2-40B4-BE49-F238E27FC236}">
                  <a16:creationId xmlns:a16="http://schemas.microsoft.com/office/drawing/2014/main" id="{DD007E71-8E59-5FA7-3B96-044A4A6537B4}"/>
                </a:ext>
              </a:extLst>
            </p:cNvPr>
            <p:cNvSpPr/>
            <p:nvPr/>
          </p:nvSpPr>
          <p:spPr>
            <a:xfrm>
              <a:off x="6870237" y="2177934"/>
              <a:ext cx="1219200" cy="381000"/>
            </a:xfrm>
            <a:custGeom>
              <a:avLst/>
              <a:gdLst/>
              <a:ahLst/>
              <a:cxnLst/>
              <a:rect l="l" t="t" r="r" b="b"/>
              <a:pathLst>
                <a:path w="1219200" h="381000">
                  <a:moveTo>
                    <a:pt x="0" y="0"/>
                  </a:moveTo>
                  <a:lnTo>
                    <a:pt x="1219200" y="381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0">
              <a:extLst>
                <a:ext uri="{FF2B5EF4-FFF2-40B4-BE49-F238E27FC236}">
                  <a16:creationId xmlns:a16="http://schemas.microsoft.com/office/drawing/2014/main" id="{0585605E-F386-030B-91F2-E5F12CB3AD6A}"/>
                </a:ext>
              </a:extLst>
            </p:cNvPr>
            <p:cNvSpPr/>
            <p:nvPr/>
          </p:nvSpPr>
          <p:spPr>
            <a:xfrm>
              <a:off x="6870237" y="2711334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1">
              <a:extLst>
                <a:ext uri="{FF2B5EF4-FFF2-40B4-BE49-F238E27FC236}">
                  <a16:creationId xmlns:a16="http://schemas.microsoft.com/office/drawing/2014/main" id="{8540F40C-0FC2-6CF0-2161-000CCB01C93E}"/>
                </a:ext>
              </a:extLst>
            </p:cNvPr>
            <p:cNvSpPr/>
            <p:nvPr/>
          </p:nvSpPr>
          <p:spPr>
            <a:xfrm>
              <a:off x="6870237" y="2863734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6858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42">
            <a:extLst>
              <a:ext uri="{FF2B5EF4-FFF2-40B4-BE49-F238E27FC236}">
                <a16:creationId xmlns:a16="http://schemas.microsoft.com/office/drawing/2014/main" id="{68AB145B-F664-76D9-A7A3-8AA3424DF132}"/>
              </a:ext>
            </a:extLst>
          </p:cNvPr>
          <p:cNvGrpSpPr/>
          <p:nvPr/>
        </p:nvGrpSpPr>
        <p:grpSpPr>
          <a:xfrm>
            <a:off x="10350636" y="5941477"/>
            <a:ext cx="4969338" cy="2872581"/>
            <a:chOff x="5331950" y="4444884"/>
            <a:chExt cx="4378325" cy="1872614"/>
          </a:xfrm>
        </p:grpSpPr>
        <p:sp>
          <p:nvSpPr>
            <p:cNvPr id="53" name="object 43">
              <a:extLst>
                <a:ext uri="{FF2B5EF4-FFF2-40B4-BE49-F238E27FC236}">
                  <a16:creationId xmlns:a16="http://schemas.microsoft.com/office/drawing/2014/main" id="{F7B0CCA4-3ACE-2FFC-E2CD-1705E07D24F7}"/>
                </a:ext>
              </a:extLst>
            </p:cNvPr>
            <p:cNvSpPr/>
            <p:nvPr/>
          </p:nvSpPr>
          <p:spPr>
            <a:xfrm>
              <a:off x="5346242" y="445917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4">
              <a:extLst>
                <a:ext uri="{FF2B5EF4-FFF2-40B4-BE49-F238E27FC236}">
                  <a16:creationId xmlns:a16="http://schemas.microsoft.com/office/drawing/2014/main" id="{E6BA34CA-40C2-12F9-73BB-80B09779967C}"/>
                </a:ext>
              </a:extLst>
            </p:cNvPr>
            <p:cNvSpPr/>
            <p:nvPr/>
          </p:nvSpPr>
          <p:spPr>
            <a:xfrm>
              <a:off x="5346242" y="496209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45">
              <a:extLst>
                <a:ext uri="{FF2B5EF4-FFF2-40B4-BE49-F238E27FC236}">
                  <a16:creationId xmlns:a16="http://schemas.microsoft.com/office/drawing/2014/main" id="{FA15D7B9-8E75-EB97-74A9-7DF4A1038C85}"/>
                </a:ext>
              </a:extLst>
            </p:cNvPr>
            <p:cNvSpPr/>
            <p:nvPr/>
          </p:nvSpPr>
          <p:spPr>
            <a:xfrm>
              <a:off x="6362242" y="5297373"/>
              <a:ext cx="508000" cy="167640"/>
            </a:xfrm>
            <a:custGeom>
              <a:avLst/>
              <a:gdLst/>
              <a:ahLst/>
              <a:cxnLst/>
              <a:rect l="l" t="t" r="r" b="b"/>
              <a:pathLst>
                <a:path w="508000" h="167639">
                  <a:moveTo>
                    <a:pt x="507999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507999" y="167640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46">
              <a:extLst>
                <a:ext uri="{FF2B5EF4-FFF2-40B4-BE49-F238E27FC236}">
                  <a16:creationId xmlns:a16="http://schemas.microsoft.com/office/drawing/2014/main" id="{56BD81DD-315B-DFF7-B772-EF3DAA965B2D}"/>
                </a:ext>
              </a:extLst>
            </p:cNvPr>
            <p:cNvSpPr/>
            <p:nvPr/>
          </p:nvSpPr>
          <p:spPr>
            <a:xfrm>
              <a:off x="5346242" y="5465013"/>
              <a:ext cx="1524000" cy="503555"/>
            </a:xfrm>
            <a:custGeom>
              <a:avLst/>
              <a:gdLst/>
              <a:ahLst/>
              <a:cxnLst/>
              <a:rect l="l" t="t" r="r" b="b"/>
              <a:pathLst>
                <a:path w="1524000" h="503554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32"/>
                  </a:lnTo>
                  <a:lnTo>
                    <a:pt x="508000" y="502932"/>
                  </a:lnTo>
                  <a:lnTo>
                    <a:pt x="1016000" y="502932"/>
                  </a:lnTo>
                  <a:lnTo>
                    <a:pt x="1524000" y="502932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7">
              <a:extLst>
                <a:ext uri="{FF2B5EF4-FFF2-40B4-BE49-F238E27FC236}">
                  <a16:creationId xmlns:a16="http://schemas.microsoft.com/office/drawing/2014/main" id="{92B0C46E-511B-8443-A133-7C58D741C96E}"/>
                </a:ext>
              </a:extLst>
            </p:cNvPr>
            <p:cNvSpPr/>
            <p:nvPr/>
          </p:nvSpPr>
          <p:spPr>
            <a:xfrm>
              <a:off x="5346242" y="59679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48">
              <a:extLst>
                <a:ext uri="{FF2B5EF4-FFF2-40B4-BE49-F238E27FC236}">
                  <a16:creationId xmlns:a16="http://schemas.microsoft.com/office/drawing/2014/main" id="{0F7DFC23-5F9C-B253-7689-B405A73A586B}"/>
                </a:ext>
              </a:extLst>
            </p:cNvPr>
            <p:cNvSpPr/>
            <p:nvPr/>
          </p:nvSpPr>
          <p:spPr>
            <a:xfrm>
              <a:off x="5854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49">
              <a:extLst>
                <a:ext uri="{FF2B5EF4-FFF2-40B4-BE49-F238E27FC236}">
                  <a16:creationId xmlns:a16="http://schemas.microsoft.com/office/drawing/2014/main" id="{416A7D1C-08BE-B073-9924-544FA6511032}"/>
                </a:ext>
              </a:extLst>
            </p:cNvPr>
            <p:cNvSpPr/>
            <p:nvPr/>
          </p:nvSpPr>
          <p:spPr>
            <a:xfrm>
              <a:off x="6362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0">
              <a:extLst>
                <a:ext uri="{FF2B5EF4-FFF2-40B4-BE49-F238E27FC236}">
                  <a16:creationId xmlns:a16="http://schemas.microsoft.com/office/drawing/2014/main" id="{62746276-15A3-B369-A957-78F8F3060279}"/>
                </a:ext>
              </a:extLst>
            </p:cNvPr>
            <p:cNvSpPr/>
            <p:nvPr/>
          </p:nvSpPr>
          <p:spPr>
            <a:xfrm>
              <a:off x="5331950" y="46268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1">
              <a:extLst>
                <a:ext uri="{FF2B5EF4-FFF2-40B4-BE49-F238E27FC236}">
                  <a16:creationId xmlns:a16="http://schemas.microsoft.com/office/drawing/2014/main" id="{B876B9A2-5302-C3CA-4CB0-F0568BC083C5}"/>
                </a:ext>
              </a:extLst>
            </p:cNvPr>
            <p:cNvSpPr/>
            <p:nvPr/>
          </p:nvSpPr>
          <p:spPr>
            <a:xfrm>
              <a:off x="5331950" y="47944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2">
              <a:extLst>
                <a:ext uri="{FF2B5EF4-FFF2-40B4-BE49-F238E27FC236}">
                  <a16:creationId xmlns:a16="http://schemas.microsoft.com/office/drawing/2014/main" id="{4BD34BCB-4E73-B05B-D81E-B13779E2574A}"/>
                </a:ext>
              </a:extLst>
            </p:cNvPr>
            <p:cNvSpPr/>
            <p:nvPr/>
          </p:nvSpPr>
          <p:spPr>
            <a:xfrm>
              <a:off x="5331950" y="4962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3">
              <a:extLst>
                <a:ext uri="{FF2B5EF4-FFF2-40B4-BE49-F238E27FC236}">
                  <a16:creationId xmlns:a16="http://schemas.microsoft.com/office/drawing/2014/main" id="{EA8BB322-3F7C-296F-EACB-7441D040A9D3}"/>
                </a:ext>
              </a:extLst>
            </p:cNvPr>
            <p:cNvSpPr/>
            <p:nvPr/>
          </p:nvSpPr>
          <p:spPr>
            <a:xfrm>
              <a:off x="5331950" y="51297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4">
              <a:extLst>
                <a:ext uri="{FF2B5EF4-FFF2-40B4-BE49-F238E27FC236}">
                  <a16:creationId xmlns:a16="http://schemas.microsoft.com/office/drawing/2014/main" id="{441A0628-01BB-E6A4-DFBB-CEA7A9A6CBAB}"/>
                </a:ext>
              </a:extLst>
            </p:cNvPr>
            <p:cNvSpPr/>
            <p:nvPr/>
          </p:nvSpPr>
          <p:spPr>
            <a:xfrm>
              <a:off x="5331950" y="5297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55">
              <a:extLst>
                <a:ext uri="{FF2B5EF4-FFF2-40B4-BE49-F238E27FC236}">
                  <a16:creationId xmlns:a16="http://schemas.microsoft.com/office/drawing/2014/main" id="{F381754F-E7A1-1A3F-0B99-D8809A39B5B1}"/>
                </a:ext>
              </a:extLst>
            </p:cNvPr>
            <p:cNvSpPr/>
            <p:nvPr/>
          </p:nvSpPr>
          <p:spPr>
            <a:xfrm>
              <a:off x="5331950" y="5465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6">
              <a:extLst>
                <a:ext uri="{FF2B5EF4-FFF2-40B4-BE49-F238E27FC236}">
                  <a16:creationId xmlns:a16="http://schemas.microsoft.com/office/drawing/2014/main" id="{A6B35B84-CD40-17FA-BEE0-945D7D93474E}"/>
                </a:ext>
              </a:extLst>
            </p:cNvPr>
            <p:cNvSpPr/>
            <p:nvPr/>
          </p:nvSpPr>
          <p:spPr>
            <a:xfrm>
              <a:off x="5331950" y="56326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57">
              <a:extLst>
                <a:ext uri="{FF2B5EF4-FFF2-40B4-BE49-F238E27FC236}">
                  <a16:creationId xmlns:a16="http://schemas.microsoft.com/office/drawing/2014/main" id="{69311AB2-A561-A148-AE00-B25505DA11CD}"/>
                </a:ext>
              </a:extLst>
            </p:cNvPr>
            <p:cNvSpPr/>
            <p:nvPr/>
          </p:nvSpPr>
          <p:spPr>
            <a:xfrm>
              <a:off x="5331950" y="58002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58">
              <a:extLst>
                <a:ext uri="{FF2B5EF4-FFF2-40B4-BE49-F238E27FC236}">
                  <a16:creationId xmlns:a16="http://schemas.microsoft.com/office/drawing/2014/main" id="{08D7EB0A-E2C0-3BD9-8684-346BFF271A8C}"/>
                </a:ext>
              </a:extLst>
            </p:cNvPr>
            <p:cNvSpPr/>
            <p:nvPr/>
          </p:nvSpPr>
          <p:spPr>
            <a:xfrm>
              <a:off x="5331950" y="59679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59">
              <a:extLst>
                <a:ext uri="{FF2B5EF4-FFF2-40B4-BE49-F238E27FC236}">
                  <a16:creationId xmlns:a16="http://schemas.microsoft.com/office/drawing/2014/main" id="{B0EFCAD3-27FA-F1D4-E195-FADB8FB11748}"/>
                </a:ext>
              </a:extLst>
            </p:cNvPr>
            <p:cNvSpPr/>
            <p:nvPr/>
          </p:nvSpPr>
          <p:spPr>
            <a:xfrm>
              <a:off x="5331950" y="61355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0">
              <a:extLst>
                <a:ext uri="{FF2B5EF4-FFF2-40B4-BE49-F238E27FC236}">
                  <a16:creationId xmlns:a16="http://schemas.microsoft.com/office/drawing/2014/main" id="{44AD3D13-020E-A057-E870-D65C015B7E3D}"/>
                </a:ext>
              </a:extLst>
            </p:cNvPr>
            <p:cNvSpPr/>
            <p:nvPr/>
          </p:nvSpPr>
          <p:spPr>
            <a:xfrm>
              <a:off x="5346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61">
              <a:extLst>
                <a:ext uri="{FF2B5EF4-FFF2-40B4-BE49-F238E27FC236}">
                  <a16:creationId xmlns:a16="http://schemas.microsoft.com/office/drawing/2014/main" id="{550976FC-DC24-E0EB-EB45-91EBDB706737}"/>
                </a:ext>
              </a:extLst>
            </p:cNvPr>
            <p:cNvSpPr/>
            <p:nvPr/>
          </p:nvSpPr>
          <p:spPr>
            <a:xfrm>
              <a:off x="6870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504F77F4-A3C0-E68F-6771-59817E4756D7}"/>
                </a:ext>
              </a:extLst>
            </p:cNvPr>
            <p:cNvSpPr/>
            <p:nvPr/>
          </p:nvSpPr>
          <p:spPr>
            <a:xfrm>
              <a:off x="5331950" y="4459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63">
              <a:extLst>
                <a:ext uri="{FF2B5EF4-FFF2-40B4-BE49-F238E27FC236}">
                  <a16:creationId xmlns:a16="http://schemas.microsoft.com/office/drawing/2014/main" id="{4924CCEE-7C55-EBD2-4B0B-A33DC0B1B99C}"/>
                </a:ext>
              </a:extLst>
            </p:cNvPr>
            <p:cNvSpPr/>
            <p:nvPr/>
          </p:nvSpPr>
          <p:spPr>
            <a:xfrm>
              <a:off x="5331950" y="63032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4">
              <a:extLst>
                <a:ext uri="{FF2B5EF4-FFF2-40B4-BE49-F238E27FC236}">
                  <a16:creationId xmlns:a16="http://schemas.microsoft.com/office/drawing/2014/main" id="{C8FE09B7-23F2-933F-5C46-98501B376BF1}"/>
                </a:ext>
              </a:extLst>
            </p:cNvPr>
            <p:cNvSpPr/>
            <p:nvPr/>
          </p:nvSpPr>
          <p:spPr>
            <a:xfrm>
              <a:off x="8044993" y="4459173"/>
              <a:ext cx="1651000" cy="502920"/>
            </a:xfrm>
            <a:custGeom>
              <a:avLst/>
              <a:gdLst/>
              <a:ahLst/>
              <a:cxnLst/>
              <a:rect l="l" t="t" r="r" b="b"/>
              <a:pathLst>
                <a:path w="1651000" h="502920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412750" y="502920"/>
                  </a:lnTo>
                  <a:lnTo>
                    <a:pt x="825500" y="502920"/>
                  </a:lnTo>
                  <a:lnTo>
                    <a:pt x="1238250" y="50292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65">
              <a:extLst>
                <a:ext uri="{FF2B5EF4-FFF2-40B4-BE49-F238E27FC236}">
                  <a16:creationId xmlns:a16="http://schemas.microsoft.com/office/drawing/2014/main" id="{4DC93B1D-15DC-0954-4ECE-EDAF47750272}"/>
                </a:ext>
              </a:extLst>
            </p:cNvPr>
            <p:cNvSpPr/>
            <p:nvPr/>
          </p:nvSpPr>
          <p:spPr>
            <a:xfrm>
              <a:off x="8044993" y="4962093"/>
              <a:ext cx="1651000" cy="1006475"/>
            </a:xfrm>
            <a:custGeom>
              <a:avLst/>
              <a:gdLst/>
              <a:ahLst/>
              <a:cxnLst/>
              <a:rect l="l" t="t" r="r" b="b"/>
              <a:pathLst>
                <a:path w="1651000" h="1006475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52"/>
                  </a:lnTo>
                  <a:lnTo>
                    <a:pt x="412750" y="1005852"/>
                  </a:lnTo>
                  <a:lnTo>
                    <a:pt x="825500" y="1005852"/>
                  </a:lnTo>
                  <a:lnTo>
                    <a:pt x="1238250" y="1005852"/>
                  </a:lnTo>
                  <a:lnTo>
                    <a:pt x="1651000" y="1005852"/>
                  </a:lnTo>
                  <a:lnTo>
                    <a:pt x="1651000" y="838200"/>
                  </a:lnTo>
                  <a:lnTo>
                    <a:pt x="1651000" y="67056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66">
              <a:extLst>
                <a:ext uri="{FF2B5EF4-FFF2-40B4-BE49-F238E27FC236}">
                  <a16:creationId xmlns:a16="http://schemas.microsoft.com/office/drawing/2014/main" id="{55C18E66-9522-FD23-6F71-37D8238F17BD}"/>
                </a:ext>
              </a:extLst>
            </p:cNvPr>
            <p:cNvSpPr/>
            <p:nvPr/>
          </p:nvSpPr>
          <p:spPr>
            <a:xfrm>
              <a:off x="8044993" y="5967933"/>
              <a:ext cx="1651000" cy="335280"/>
            </a:xfrm>
            <a:custGeom>
              <a:avLst/>
              <a:gdLst/>
              <a:ahLst/>
              <a:cxnLst/>
              <a:rect l="l" t="t" r="r" b="b"/>
              <a:pathLst>
                <a:path w="1651000" h="335279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412750" y="335280"/>
                  </a:lnTo>
                  <a:lnTo>
                    <a:pt x="825500" y="335280"/>
                  </a:lnTo>
                  <a:lnTo>
                    <a:pt x="1238250" y="33528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67">
              <a:extLst>
                <a:ext uri="{FF2B5EF4-FFF2-40B4-BE49-F238E27FC236}">
                  <a16:creationId xmlns:a16="http://schemas.microsoft.com/office/drawing/2014/main" id="{8C6340FC-0760-AF97-EEDA-794033B33CBB}"/>
                </a:ext>
              </a:extLst>
            </p:cNvPr>
            <p:cNvSpPr/>
            <p:nvPr/>
          </p:nvSpPr>
          <p:spPr>
            <a:xfrm>
              <a:off x="8044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68">
              <a:extLst>
                <a:ext uri="{FF2B5EF4-FFF2-40B4-BE49-F238E27FC236}">
                  <a16:creationId xmlns:a16="http://schemas.microsoft.com/office/drawing/2014/main" id="{CFEA862A-A0C5-95BA-49EA-42FB3EC5B10B}"/>
                </a:ext>
              </a:extLst>
            </p:cNvPr>
            <p:cNvSpPr/>
            <p:nvPr/>
          </p:nvSpPr>
          <p:spPr>
            <a:xfrm>
              <a:off x="84577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69">
              <a:extLst>
                <a:ext uri="{FF2B5EF4-FFF2-40B4-BE49-F238E27FC236}">
                  <a16:creationId xmlns:a16="http://schemas.microsoft.com/office/drawing/2014/main" id="{B3BF50F2-7D5C-07BB-8A4C-F106F21941D7}"/>
                </a:ext>
              </a:extLst>
            </p:cNvPr>
            <p:cNvSpPr/>
            <p:nvPr/>
          </p:nvSpPr>
          <p:spPr>
            <a:xfrm>
              <a:off x="88704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70">
              <a:extLst>
                <a:ext uri="{FF2B5EF4-FFF2-40B4-BE49-F238E27FC236}">
                  <a16:creationId xmlns:a16="http://schemas.microsoft.com/office/drawing/2014/main" id="{7E82DB31-DEFE-E8B2-74F7-14B9B2E0FC22}"/>
                </a:ext>
              </a:extLst>
            </p:cNvPr>
            <p:cNvSpPr/>
            <p:nvPr/>
          </p:nvSpPr>
          <p:spPr>
            <a:xfrm>
              <a:off x="9283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71">
              <a:extLst>
                <a:ext uri="{FF2B5EF4-FFF2-40B4-BE49-F238E27FC236}">
                  <a16:creationId xmlns:a16="http://schemas.microsoft.com/office/drawing/2014/main" id="{1436C403-6308-C07A-276F-10F45FC1A750}"/>
                </a:ext>
              </a:extLst>
            </p:cNvPr>
            <p:cNvSpPr/>
            <p:nvPr/>
          </p:nvSpPr>
          <p:spPr>
            <a:xfrm>
              <a:off x="6870237" y="462681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72">
              <a:extLst>
                <a:ext uri="{FF2B5EF4-FFF2-40B4-BE49-F238E27FC236}">
                  <a16:creationId xmlns:a16="http://schemas.microsoft.com/office/drawing/2014/main" id="{B663E125-A727-B55F-602E-82EA7942B2E7}"/>
                </a:ext>
              </a:extLst>
            </p:cNvPr>
            <p:cNvSpPr/>
            <p:nvPr/>
          </p:nvSpPr>
          <p:spPr>
            <a:xfrm>
              <a:off x="6870237" y="479445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73">
              <a:extLst>
                <a:ext uri="{FF2B5EF4-FFF2-40B4-BE49-F238E27FC236}">
                  <a16:creationId xmlns:a16="http://schemas.microsoft.com/office/drawing/2014/main" id="{0736F975-4DB0-C489-6920-505A76A53DF6}"/>
                </a:ext>
              </a:extLst>
            </p:cNvPr>
            <p:cNvSpPr/>
            <p:nvPr/>
          </p:nvSpPr>
          <p:spPr>
            <a:xfrm>
              <a:off x="6870237" y="49620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74">
              <a:extLst>
                <a:ext uri="{FF2B5EF4-FFF2-40B4-BE49-F238E27FC236}">
                  <a16:creationId xmlns:a16="http://schemas.microsoft.com/office/drawing/2014/main" id="{CFD9CA93-856A-9797-CCED-7E423D92716E}"/>
                </a:ext>
              </a:extLst>
            </p:cNvPr>
            <p:cNvSpPr/>
            <p:nvPr/>
          </p:nvSpPr>
          <p:spPr>
            <a:xfrm>
              <a:off x="6870237" y="512973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75">
              <a:extLst>
                <a:ext uri="{FF2B5EF4-FFF2-40B4-BE49-F238E27FC236}">
                  <a16:creationId xmlns:a16="http://schemas.microsoft.com/office/drawing/2014/main" id="{66598A2C-AE59-8E6E-E75D-3910E96249A5}"/>
                </a:ext>
              </a:extLst>
            </p:cNvPr>
            <p:cNvSpPr/>
            <p:nvPr/>
          </p:nvSpPr>
          <p:spPr>
            <a:xfrm>
              <a:off x="6870237" y="52973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76">
              <a:extLst>
                <a:ext uri="{FF2B5EF4-FFF2-40B4-BE49-F238E27FC236}">
                  <a16:creationId xmlns:a16="http://schemas.microsoft.com/office/drawing/2014/main" id="{84D3B44D-8B69-2F70-4F73-45ECC41C5F3B}"/>
                </a:ext>
              </a:extLst>
            </p:cNvPr>
            <p:cNvSpPr/>
            <p:nvPr/>
          </p:nvSpPr>
          <p:spPr>
            <a:xfrm>
              <a:off x="6870237" y="546501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77">
              <a:extLst>
                <a:ext uri="{FF2B5EF4-FFF2-40B4-BE49-F238E27FC236}">
                  <a16:creationId xmlns:a16="http://schemas.microsoft.com/office/drawing/2014/main" id="{B078F059-A2EF-3087-4733-32347B26C084}"/>
                </a:ext>
              </a:extLst>
            </p:cNvPr>
            <p:cNvSpPr/>
            <p:nvPr/>
          </p:nvSpPr>
          <p:spPr>
            <a:xfrm>
              <a:off x="6870237" y="563265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8">
              <a:extLst>
                <a:ext uri="{FF2B5EF4-FFF2-40B4-BE49-F238E27FC236}">
                  <a16:creationId xmlns:a16="http://schemas.microsoft.com/office/drawing/2014/main" id="{BE5B480A-FC47-069D-9584-9DD68E861639}"/>
                </a:ext>
              </a:extLst>
            </p:cNvPr>
            <p:cNvSpPr/>
            <p:nvPr/>
          </p:nvSpPr>
          <p:spPr>
            <a:xfrm>
              <a:off x="6870237" y="58002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79">
              <a:extLst>
                <a:ext uri="{FF2B5EF4-FFF2-40B4-BE49-F238E27FC236}">
                  <a16:creationId xmlns:a16="http://schemas.microsoft.com/office/drawing/2014/main" id="{B30608FA-0F4E-805A-CD7C-3FFA3827F3DA}"/>
                </a:ext>
              </a:extLst>
            </p:cNvPr>
            <p:cNvSpPr/>
            <p:nvPr/>
          </p:nvSpPr>
          <p:spPr>
            <a:xfrm>
              <a:off x="6870237" y="596793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80">
              <a:extLst>
                <a:ext uri="{FF2B5EF4-FFF2-40B4-BE49-F238E27FC236}">
                  <a16:creationId xmlns:a16="http://schemas.microsoft.com/office/drawing/2014/main" id="{66E05CD3-5AE5-2464-B6A3-B3F7EAEEE01F}"/>
                </a:ext>
              </a:extLst>
            </p:cNvPr>
            <p:cNvSpPr/>
            <p:nvPr/>
          </p:nvSpPr>
          <p:spPr>
            <a:xfrm>
              <a:off x="6870237" y="61355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1">
              <a:extLst>
                <a:ext uri="{FF2B5EF4-FFF2-40B4-BE49-F238E27FC236}">
                  <a16:creationId xmlns:a16="http://schemas.microsoft.com/office/drawing/2014/main" id="{C79F1FD0-9A7F-07E2-AB2F-294069FDD6E1}"/>
                </a:ext>
              </a:extLst>
            </p:cNvPr>
            <p:cNvSpPr/>
            <p:nvPr/>
          </p:nvSpPr>
          <p:spPr>
            <a:xfrm>
              <a:off x="9695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2">
              <a:extLst>
                <a:ext uri="{FF2B5EF4-FFF2-40B4-BE49-F238E27FC236}">
                  <a16:creationId xmlns:a16="http://schemas.microsoft.com/office/drawing/2014/main" id="{BB135D4E-A981-1614-0E94-20002BF9A4A3}"/>
                </a:ext>
              </a:extLst>
            </p:cNvPr>
            <p:cNvSpPr/>
            <p:nvPr/>
          </p:nvSpPr>
          <p:spPr>
            <a:xfrm>
              <a:off x="6870237" y="4459172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83">
              <a:extLst>
                <a:ext uri="{FF2B5EF4-FFF2-40B4-BE49-F238E27FC236}">
                  <a16:creationId xmlns:a16="http://schemas.microsoft.com/office/drawing/2014/main" id="{662C4616-8A0C-FF50-CA76-8A22402576FE}"/>
                </a:ext>
              </a:extLst>
            </p:cNvPr>
            <p:cNvSpPr/>
            <p:nvPr/>
          </p:nvSpPr>
          <p:spPr>
            <a:xfrm>
              <a:off x="8038637" y="4459172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84">
              <a:extLst>
                <a:ext uri="{FF2B5EF4-FFF2-40B4-BE49-F238E27FC236}">
                  <a16:creationId xmlns:a16="http://schemas.microsoft.com/office/drawing/2014/main" id="{C6BB3A55-7508-754C-4C53-BCB28E502483}"/>
                </a:ext>
              </a:extLst>
            </p:cNvPr>
            <p:cNvSpPr/>
            <p:nvPr/>
          </p:nvSpPr>
          <p:spPr>
            <a:xfrm>
              <a:off x="6870237" y="6303211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85">
              <a:extLst>
                <a:ext uri="{FF2B5EF4-FFF2-40B4-BE49-F238E27FC236}">
                  <a16:creationId xmlns:a16="http://schemas.microsoft.com/office/drawing/2014/main" id="{6FE70A05-BE99-D458-BE79-2EEBBF8561F6}"/>
                </a:ext>
              </a:extLst>
            </p:cNvPr>
            <p:cNvSpPr/>
            <p:nvPr/>
          </p:nvSpPr>
          <p:spPr>
            <a:xfrm>
              <a:off x="8038637" y="6303211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86">
              <a:extLst>
                <a:ext uri="{FF2B5EF4-FFF2-40B4-BE49-F238E27FC236}">
                  <a16:creationId xmlns:a16="http://schemas.microsoft.com/office/drawing/2014/main" id="{F8BCB63A-1BE3-0DD3-48C7-420A2ED2A3AF}"/>
                </a:ext>
              </a:extLst>
            </p:cNvPr>
            <p:cNvSpPr/>
            <p:nvPr/>
          </p:nvSpPr>
          <p:spPr>
            <a:xfrm>
              <a:off x="6108237" y="4997334"/>
              <a:ext cx="0" cy="889000"/>
            </a:xfrm>
            <a:custGeom>
              <a:avLst/>
              <a:gdLst/>
              <a:ahLst/>
              <a:cxnLst/>
              <a:rect l="l" t="t" r="r" b="b"/>
              <a:pathLst>
                <a:path h="889000">
                  <a:moveTo>
                    <a:pt x="0" y="0"/>
                  </a:moveTo>
                  <a:lnTo>
                    <a:pt x="0" y="889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87">
              <a:extLst>
                <a:ext uri="{FF2B5EF4-FFF2-40B4-BE49-F238E27FC236}">
                  <a16:creationId xmlns:a16="http://schemas.microsoft.com/office/drawing/2014/main" id="{893DFA2B-5604-35A1-ABD0-53D2CB66097C}"/>
                </a:ext>
              </a:extLst>
            </p:cNvPr>
            <p:cNvSpPr/>
            <p:nvPr/>
          </p:nvSpPr>
          <p:spPr>
            <a:xfrm>
              <a:off x="6070137" y="58355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88">
              <a:extLst>
                <a:ext uri="{FF2B5EF4-FFF2-40B4-BE49-F238E27FC236}">
                  <a16:creationId xmlns:a16="http://schemas.microsoft.com/office/drawing/2014/main" id="{7F9C8773-FFDB-E38D-D014-6EBEA0C4289C}"/>
                </a:ext>
              </a:extLst>
            </p:cNvPr>
            <p:cNvSpPr/>
            <p:nvPr/>
          </p:nvSpPr>
          <p:spPr>
            <a:xfrm>
              <a:off x="6108237" y="454013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89">
              <a:extLst>
                <a:ext uri="{FF2B5EF4-FFF2-40B4-BE49-F238E27FC236}">
                  <a16:creationId xmlns:a16="http://schemas.microsoft.com/office/drawing/2014/main" id="{66B9484C-C776-D439-FDF1-EE5E3E5595D6}"/>
                </a:ext>
              </a:extLst>
            </p:cNvPr>
            <p:cNvSpPr/>
            <p:nvPr/>
          </p:nvSpPr>
          <p:spPr>
            <a:xfrm>
              <a:off x="6070137" y="4768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0">
              <a:extLst>
                <a:ext uri="{FF2B5EF4-FFF2-40B4-BE49-F238E27FC236}">
                  <a16:creationId xmlns:a16="http://schemas.microsoft.com/office/drawing/2014/main" id="{C9CEB3CB-560F-BB1A-6FE0-83D477635083}"/>
                </a:ext>
              </a:extLst>
            </p:cNvPr>
            <p:cNvSpPr/>
            <p:nvPr/>
          </p:nvSpPr>
          <p:spPr>
            <a:xfrm>
              <a:off x="6108237" y="5987934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91">
              <a:extLst>
                <a:ext uri="{FF2B5EF4-FFF2-40B4-BE49-F238E27FC236}">
                  <a16:creationId xmlns:a16="http://schemas.microsoft.com/office/drawing/2014/main" id="{9FB6D4DF-A391-797F-CF97-F580D4D06652}"/>
                </a:ext>
              </a:extLst>
            </p:cNvPr>
            <p:cNvSpPr/>
            <p:nvPr/>
          </p:nvSpPr>
          <p:spPr>
            <a:xfrm>
              <a:off x="6070137" y="61403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92">
              <a:extLst>
                <a:ext uri="{FF2B5EF4-FFF2-40B4-BE49-F238E27FC236}">
                  <a16:creationId xmlns:a16="http://schemas.microsoft.com/office/drawing/2014/main" id="{71B93125-77DD-3F97-1A50-D005371BCF72}"/>
                </a:ext>
              </a:extLst>
            </p:cNvPr>
            <p:cNvSpPr/>
            <p:nvPr/>
          </p:nvSpPr>
          <p:spPr>
            <a:xfrm>
              <a:off x="6413037" y="4997334"/>
              <a:ext cx="533400" cy="762000"/>
            </a:xfrm>
            <a:custGeom>
              <a:avLst/>
              <a:gdLst/>
              <a:ahLst/>
              <a:cxnLst/>
              <a:rect l="l" t="t" r="r" b="b"/>
              <a:pathLst>
                <a:path w="533400" h="762000">
                  <a:moveTo>
                    <a:pt x="0" y="0"/>
                  </a:moveTo>
                  <a:lnTo>
                    <a:pt x="533400" y="0"/>
                  </a:lnTo>
                  <a:lnTo>
                    <a:pt x="533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93">
              <a:extLst>
                <a:ext uri="{FF2B5EF4-FFF2-40B4-BE49-F238E27FC236}">
                  <a16:creationId xmlns:a16="http://schemas.microsoft.com/office/drawing/2014/main" id="{67BC3279-8328-13DF-2EED-E3D75D7BB040}"/>
                </a:ext>
              </a:extLst>
            </p:cNvPr>
            <p:cNvSpPr/>
            <p:nvPr/>
          </p:nvSpPr>
          <p:spPr>
            <a:xfrm>
              <a:off x="6946437" y="5378334"/>
              <a:ext cx="2489200" cy="0"/>
            </a:xfrm>
            <a:custGeom>
              <a:avLst/>
              <a:gdLst/>
              <a:ahLst/>
              <a:cxnLst/>
              <a:rect l="l" t="t" r="r" b="b"/>
              <a:pathLst>
                <a:path w="2489200">
                  <a:moveTo>
                    <a:pt x="0" y="0"/>
                  </a:moveTo>
                  <a:lnTo>
                    <a:pt x="24892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94">
              <a:extLst>
                <a:ext uri="{FF2B5EF4-FFF2-40B4-BE49-F238E27FC236}">
                  <a16:creationId xmlns:a16="http://schemas.microsoft.com/office/drawing/2014/main" id="{7093C63C-09C5-6DAD-8A6C-EED546AA8666}"/>
                </a:ext>
              </a:extLst>
            </p:cNvPr>
            <p:cNvSpPr/>
            <p:nvPr/>
          </p:nvSpPr>
          <p:spPr>
            <a:xfrm>
              <a:off x="9384837" y="53402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184CC7DF-7D53-6723-6E15-E077DB84B017}"/>
              </a:ext>
            </a:extLst>
          </p:cNvPr>
          <p:cNvSpPr txBox="1"/>
          <p:nvPr/>
        </p:nvSpPr>
        <p:spPr>
          <a:xfrm>
            <a:off x="1524786" y="2128771"/>
            <a:ext cx="91769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conjunto (funciones de agregación)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endParaRPr lang="es-CO" sz="2400" dirty="0"/>
          </a:p>
          <a:p>
            <a:r>
              <a:rPr lang="es-CO" sz="2400" dirty="0"/>
              <a:t>GROUP BY </a:t>
            </a:r>
            <a:r>
              <a:rPr lang="es-CO" sz="2400" dirty="0" err="1"/>
              <a:t>dept</a:t>
            </a:r>
            <a:endParaRPr lang="es-CO" sz="24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168BE2CF-B6C6-C210-E996-05A4F987EA47}"/>
              </a:ext>
            </a:extLst>
          </p:cNvPr>
          <p:cNvSpPr txBox="1"/>
          <p:nvPr/>
        </p:nvSpPr>
        <p:spPr>
          <a:xfrm>
            <a:off x="1439945" y="5298923"/>
            <a:ext cx="9176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tabla ventana (agregación basada en tuplas)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</a:t>
            </a:r>
            <a:r>
              <a:rPr lang="es-CO" sz="2400" dirty="0" err="1"/>
              <a:t>empno</a:t>
            </a:r>
            <a:r>
              <a:rPr lang="es-CO" sz="2400" dirty="0"/>
              <a:t>, </a:t>
            </a:r>
            <a:r>
              <a:rPr lang="es-CO" sz="2400" dirty="0" err="1"/>
              <a:t>salary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OVER(</a:t>
            </a:r>
          </a:p>
          <a:p>
            <a:pPr lvl="4"/>
            <a:r>
              <a:rPr lang="es-CO" sz="2400" dirty="0"/>
              <a:t>               PARTITIOM BY </a:t>
            </a:r>
            <a:r>
              <a:rPr lang="es-CO" sz="2400" dirty="0" err="1"/>
              <a:t>dept</a:t>
            </a:r>
            <a:endParaRPr lang="es-CO" sz="2400" dirty="0"/>
          </a:p>
          <a:p>
            <a:pPr lvl="4"/>
            <a:r>
              <a:rPr lang="es-CO" sz="2400" dirty="0"/>
              <a:t>               ORDER BY </a:t>
            </a:r>
            <a:r>
              <a:rPr lang="es-CO" sz="2400" dirty="0" err="1"/>
              <a:t>age</a:t>
            </a:r>
            <a:r>
              <a:rPr lang="es-CO" sz="2400" dirty="0"/>
              <a:t> </a:t>
            </a:r>
          </a:p>
          <a:p>
            <a:pPr lvl="4"/>
            <a:r>
              <a:rPr lang="es-CO" sz="2400" dirty="0"/>
              <a:t>               ROWS</a:t>
            </a:r>
          </a:p>
          <a:p>
            <a:pPr lvl="4"/>
            <a:r>
              <a:rPr lang="es-CO" sz="2400" dirty="0"/>
              <a:t>BETWEEN 2 </a:t>
            </a:r>
            <a:r>
              <a:rPr lang="es-CO" sz="2400" spc="-10" dirty="0">
                <a:latin typeface="Tahoma"/>
                <a:cs typeface="Tahoma"/>
              </a:rPr>
              <a:t>PRECEEDING</a:t>
            </a:r>
            <a:endParaRPr lang="es-CO" sz="2400" dirty="0"/>
          </a:p>
          <a:p>
            <a:pPr lvl="4"/>
            <a:r>
              <a:rPr lang="es-CO" sz="2400" dirty="0"/>
              <a:t>AND 2 </a:t>
            </a:r>
            <a:r>
              <a:rPr lang="es-CO" sz="2400" spc="-10" dirty="0">
                <a:latin typeface="Tahoma"/>
                <a:cs typeface="Tahoma"/>
              </a:rPr>
              <a:t>FOLLOWING</a:t>
            </a:r>
            <a:r>
              <a:rPr lang="es-CO" sz="2400" dirty="0"/>
              <a:t>)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r>
              <a:rPr lang="es-CO" sz="2400" dirty="0"/>
              <a:t> 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CCF0BC65-DFB0-6710-2017-6DD9DCA0704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D06C1BA-84B5-8570-D922-B6FD9FAD3E7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D2329DA2-E2D0-6DB6-35A6-E2675E30535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8374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4C2F-16E4-D747-A3B0-B50C5C06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CABE54-7399-09CF-5FDE-4D8AE3848F2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4B7270-4323-4484-C2DA-E47AD54790E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77B34A9-2B58-D1FC-1D1F-F255F905E3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D15F28D-6E3E-7C57-4998-5928852E773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8850E27-69C0-E734-4CC8-B7613DCC38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15D2F55-02DF-B7F7-ACF2-BEF6C35FD9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B678FEF-53F1-3EC5-7AAE-47C68126381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B302D22-33C3-F696-F4BD-DA7B3DA3C0E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3ABE1B3-B2FE-A832-6F12-0168C25AC49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D5821E5-F5EB-8238-66BB-0B7BB69449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91C9814-65AA-20FB-6B1A-E3023A0A25D5}"/>
              </a:ext>
            </a:extLst>
          </p:cNvPr>
          <p:cNvSpPr txBox="1"/>
          <p:nvPr/>
        </p:nvSpPr>
        <p:spPr>
          <a:xfrm>
            <a:off x="2290712" y="1675373"/>
            <a:ext cx="1168216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Devuelve la posición relativa de un valor en un grupo ordenado.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valores iguales (empates) se clasifican de la misma manera.</a:t>
            </a:r>
          </a:p>
          <a:p>
            <a:r>
              <a:rPr lang="es-ES" sz="2800" dirty="0"/>
              <a:t>DENSE_RANK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Igual que RANK, pero sin espacios en la clasificación en caso de empates.</a:t>
            </a:r>
          </a:p>
          <a:p>
            <a:r>
              <a:rPr lang="es-ES" sz="2800" dirty="0"/>
              <a:t>ROW_NUMBER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empates se numeran de forma no determinista.</a:t>
            </a:r>
          </a:p>
          <a:p>
            <a:r>
              <a:rPr lang="es-ES" sz="2800" dirty="0"/>
              <a:t>¡Es necesario ordenar!</a:t>
            </a:r>
          </a:p>
          <a:p>
            <a:r>
              <a:rPr lang="es-ES" sz="2800" dirty="0"/>
              <a:t>Ejemplo:</a:t>
            </a:r>
          </a:p>
          <a:p>
            <a:pPr lvl="2"/>
            <a:r>
              <a:rPr lang="es-ES" sz="2800" dirty="0" err="1"/>
              <a:t>select</a:t>
            </a:r>
            <a:r>
              <a:rPr lang="es-ES" sz="2800" dirty="0"/>
              <a:t> </a:t>
            </a:r>
            <a:r>
              <a:rPr lang="es-ES" sz="2800" dirty="0" err="1"/>
              <a:t>empnum</a:t>
            </a:r>
            <a:r>
              <a:rPr lang="es-ES" sz="2800" dirty="0"/>
              <a:t>, </a:t>
            </a:r>
            <a:r>
              <a:rPr lang="es-ES" sz="2800" dirty="0" err="1"/>
              <a:t>dept</a:t>
            </a:r>
            <a:r>
              <a:rPr lang="es-ES" sz="2800" dirty="0"/>
              <a:t>, </a:t>
            </a:r>
            <a:r>
              <a:rPr lang="es-ES" sz="2800" dirty="0" err="1"/>
              <a:t>salary</a:t>
            </a:r>
            <a:r>
              <a:rPr lang="es-ES" sz="2800" dirty="0"/>
              <a:t>,</a:t>
            </a:r>
          </a:p>
          <a:p>
            <a:pPr lvl="2"/>
            <a:r>
              <a:rPr lang="es-ES" sz="2800" dirty="0" err="1"/>
              <a:t>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rank</a:t>
            </a:r>
            <a:r>
              <a:rPr lang="es-ES" sz="2800" dirty="0"/>
              <a:t>, </a:t>
            </a:r>
            <a:r>
              <a:rPr lang="es-ES" sz="2800" dirty="0" err="1"/>
              <a:t>dense_rank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denserank</a:t>
            </a:r>
            <a:r>
              <a:rPr lang="es-ES" sz="2800" dirty="0"/>
              <a:t>, </a:t>
            </a:r>
            <a:r>
              <a:rPr lang="es-ES" sz="2800" dirty="0" err="1"/>
              <a:t>row_number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rownum</a:t>
            </a:r>
            <a:endParaRPr lang="es-ES" sz="2800" dirty="0"/>
          </a:p>
          <a:p>
            <a:pPr lvl="2"/>
            <a:r>
              <a:rPr lang="es-ES" sz="2800" dirty="0" err="1"/>
              <a:t>from</a:t>
            </a:r>
            <a:r>
              <a:rPr lang="es-ES" sz="2800" dirty="0"/>
              <a:t> </a:t>
            </a:r>
            <a:r>
              <a:rPr lang="es-ES" sz="2800" dirty="0" err="1"/>
              <a:t>emptab</a:t>
            </a:r>
            <a:r>
              <a:rPr lang="es-ES" sz="2800" dirty="0"/>
              <a:t>;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7553C5E-C14A-FF22-2CD4-3FCCD85735E7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5D26E4E-F940-92C0-8265-2E683AEC6D3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835C1BD0-4497-56E3-3F45-F9AC2034406F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88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05F2-86C5-5446-8103-1861886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900C8E-463B-191D-F615-8B95D3D706A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6A338E-D7CC-33E2-958E-AE6D66F6F8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4BD0BA8-97EC-2CF5-2420-F8F98D66750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A1158A0-01CA-58E1-0583-A026A54AD41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308BA6-6497-5078-0426-3A85014A51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4B9BDA-8E05-9921-9054-41D0F9E92EA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002714D-A41D-D8EB-D359-7F97DC25C8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94B39B3-BB29-B6D1-52EB-D584BD96150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796928D-82CA-49DF-779D-DC13EDA093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D7881C7-CDA9-1E0F-B0A1-2568864514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E2BDA59-2EBE-A650-2A5B-79786914F6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E8FC44F-12ED-7DD6-E2C0-81F9DCE888F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58BC9797-6A90-5829-83A9-DCA87EB9EDE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BF9FF68-0008-FCD4-E97A-AB91CC54DFD7}"/>
              </a:ext>
            </a:extLst>
          </p:cNvPr>
          <p:cNvSpPr txBox="1"/>
          <p:nvPr/>
        </p:nvSpPr>
        <p:spPr>
          <a:xfrm>
            <a:off x="9483365" y="1686078"/>
            <a:ext cx="8145866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WITH </a:t>
            </a:r>
            <a:r>
              <a:rPr lang="en-US" sz="1600" dirty="0" err="1"/>
              <a:t>items_with_category</a:t>
            </a:r>
            <a:r>
              <a:rPr lang="en-US" sz="1600" dirty="0"/>
              <a:t> AS (</a:t>
            </a:r>
          </a:p>
          <a:p>
            <a:r>
              <a:rPr lang="en-US" sz="1600" dirty="0"/>
              <a:t>    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oi.order_id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oi.price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p.product_category_name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olist_order_items</a:t>
            </a:r>
            <a:r>
              <a:rPr lang="en-US" sz="1600" dirty="0"/>
              <a:t> AS oi</a:t>
            </a:r>
          </a:p>
          <a:p>
            <a:r>
              <a:rPr lang="en-US" sz="1600" dirty="0"/>
              <a:t>    JOIN </a:t>
            </a:r>
            <a:r>
              <a:rPr lang="en-US" sz="1600" dirty="0" err="1"/>
              <a:t>olist_products</a:t>
            </a:r>
            <a:r>
              <a:rPr lang="en-US" sz="1600" dirty="0"/>
              <a:t> AS p</a:t>
            </a:r>
          </a:p>
          <a:p>
            <a:r>
              <a:rPr lang="en-US" sz="1600" dirty="0"/>
              <a:t>        ON </a:t>
            </a:r>
            <a:r>
              <a:rPr lang="en-US" sz="1600" dirty="0" err="1"/>
              <a:t>oi.product_id</a:t>
            </a:r>
            <a:r>
              <a:rPr lang="en-US" sz="1600" dirty="0"/>
              <a:t> = </a:t>
            </a:r>
            <a:r>
              <a:rPr lang="en-US" sz="1600" dirty="0" err="1"/>
              <a:t>p.product_id</a:t>
            </a:r>
            <a:endParaRPr lang="en-US" sz="1600" dirty="0"/>
          </a:p>
          <a:p>
            <a:r>
              <a:rPr lang="en-US" sz="1600" dirty="0"/>
              <a:t>), </a:t>
            </a:r>
            <a:r>
              <a:rPr lang="en-US" sz="1600" dirty="0" err="1"/>
              <a:t>rnk_cat</a:t>
            </a:r>
            <a:r>
              <a:rPr lang="en-US" sz="1600" dirty="0"/>
              <a:t> as(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SUM(price) AS revenue,</a:t>
            </a:r>
          </a:p>
          <a:p>
            <a:r>
              <a:rPr lang="en-US" sz="1600" dirty="0"/>
              <a:t>        RANK() OVER (</a:t>
            </a:r>
          </a:p>
          <a:p>
            <a:r>
              <a:rPr lang="en-US" sz="1600" dirty="0"/>
              <a:t>            PARTITION BY </a:t>
            </a:r>
            <a:r>
              <a:rPr lang="en-US" sz="1600" dirty="0" err="1"/>
              <a:t>product_category_name</a:t>
            </a:r>
            <a:endParaRPr lang="en-US" sz="1600" dirty="0"/>
          </a:p>
          <a:p>
            <a:r>
              <a:rPr lang="en-US" sz="1600" dirty="0"/>
              <a:t>            ORDER BY SUM(price) DESC</a:t>
            </a:r>
          </a:p>
          <a:p>
            <a:r>
              <a:rPr lang="en-US" sz="1600" dirty="0"/>
              <a:t>        ) AS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items_with_category</a:t>
            </a:r>
            <a:endParaRPr lang="en-US" sz="1600" dirty="0"/>
          </a:p>
          <a:p>
            <a:r>
              <a:rPr lang="en-US" sz="1600" dirty="0"/>
              <a:t>    GROUP BY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endParaRPr lang="en-US" sz="1600" dirty="0"/>
          </a:p>
          <a:p>
            <a:r>
              <a:rPr lang="en-US" sz="1600" dirty="0"/>
              <a:t>)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revenue,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rnk_cat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dirty="0" err="1"/>
              <a:t>rnk</a:t>
            </a:r>
            <a:r>
              <a:rPr lang="en-US" sz="1600" dirty="0"/>
              <a:t> &lt;= 3</a:t>
            </a:r>
          </a:p>
          <a:p>
            <a:r>
              <a:rPr lang="en-US" sz="1600" dirty="0"/>
              <a:t>ORDER BY </a:t>
            </a:r>
            <a:r>
              <a:rPr lang="en-US" sz="1600" dirty="0" err="1"/>
              <a:t>product_category_name</a:t>
            </a:r>
            <a:r>
              <a:rPr lang="en-US" sz="1600" dirty="0"/>
              <a:t>, </a:t>
            </a:r>
            <a:r>
              <a:rPr lang="en-US" sz="1600" dirty="0" err="1"/>
              <a:t>rnk</a:t>
            </a:r>
            <a:r>
              <a:rPr lang="en-US" sz="1600" dirty="0"/>
              <a:t>;</a:t>
            </a:r>
            <a:endParaRPr lang="es-CO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D1A90C-6066-BCB6-1B4A-89720D6FEB2A}"/>
              </a:ext>
            </a:extLst>
          </p:cNvPr>
          <p:cNvSpPr txBox="1"/>
          <p:nvPr/>
        </p:nvSpPr>
        <p:spPr>
          <a:xfrm>
            <a:off x="739413" y="2924649"/>
            <a:ext cx="74754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Ranking y Top-N por grupo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Problema:</a:t>
            </a:r>
            <a:r>
              <a:rPr lang="es-ES" sz="3200" dirty="0"/>
              <a:t> “dame los 3 productos más vendidos por categoría”, “el pedido más grande por día”.</a:t>
            </a:r>
          </a:p>
        </p:txBody>
      </p:sp>
    </p:spTree>
    <p:extLst>
      <p:ext uri="{BB962C8B-B14F-4D97-AF65-F5344CB8AC3E}">
        <p14:creationId xmlns:p14="http://schemas.microsoft.com/office/powerpoint/2010/main" val="2214872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7319-989A-70F7-2AF7-134C3ED2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49075E-F10A-AA4F-AEF1-D118F0E9C53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656BBD-F280-5762-9220-4D2104B47F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5759B3-6ECD-FE05-5059-93235AEDC7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C2F52B3-3B37-AAAB-E50A-B4318D5CF4D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9D50AEE-F58F-5B1F-30F1-DB5F895914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6667746-F28B-FF2C-8042-F737AD026D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0BB8C0-861C-9A0D-DBCD-7374A10E0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69A69DB-6482-7F0C-534B-BD9A7AEA706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0E7991-9FF1-35B8-1C4B-C364A76EBD6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ED3DB63-9026-6E8D-E7D1-79499F776B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F31BEB7-4F71-3872-5A4C-34150DE4329A}"/>
              </a:ext>
            </a:extLst>
          </p:cNvPr>
          <p:cNvSpPr txBox="1"/>
          <p:nvPr/>
        </p:nvSpPr>
        <p:spPr>
          <a:xfrm>
            <a:off x="2290712" y="1675373"/>
            <a:ext cx="11682167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Función de tabla con ventana</a:t>
            </a:r>
          </a:p>
          <a:p>
            <a:endParaRPr lang="es-E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Opera sobre una ventana de una tabla.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Devuelve un valor por cada fila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El valor se calcula considerando los valores del conjunto de filas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5 nuevas funciones de tabla con ventana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DENSE_RANK()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PERCENT_RANK()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CUME_DIST()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ROW_NUMBER()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Además, 8 funciones de agregación antiguas y 16 nuevas también se pueden usar como funciones de tabla con ventana:</a:t>
            </a:r>
          </a:p>
          <a:p>
            <a:r>
              <a:rPr lang="es-ES" sz="2800" dirty="0"/>
              <a:t>Ejemplo: SUM(salario) OVER...</a:t>
            </a:r>
          </a:p>
          <a:p>
            <a:r>
              <a:rPr lang="es-ES" sz="2800" dirty="0"/>
              <a:t>Permite el cálculo de valores agregados móviles y acumulativos.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D172303-C4EB-A5C1-197A-E9281179D92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C7DDEE-A336-D29B-0619-C0744B9EB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F2418FB-295E-B2D4-0435-82F5D0F8F69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275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2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6158</TotalTime>
  <Words>4298</Words>
  <Application>Microsoft Office PowerPoint</Application>
  <PresentationFormat>Personalizado</PresentationFormat>
  <Paragraphs>612</Paragraphs>
  <Slides>38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Courier New</vt:lpstr>
      <vt:lpstr>Tahoma</vt:lpstr>
      <vt:lpstr>Poppins 1 Bold</vt:lpstr>
      <vt:lpstr>Calibri</vt:lpstr>
      <vt:lpstr>新細明體</vt:lpstr>
      <vt:lpstr>Poppins</vt:lpstr>
      <vt:lpstr>Arial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23</cp:revision>
  <dcterms:created xsi:type="dcterms:W3CDTF">2006-08-16T00:00:00Z</dcterms:created>
  <dcterms:modified xsi:type="dcterms:W3CDTF">2025-11-25T03:24:54Z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